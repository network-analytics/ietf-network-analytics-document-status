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handoutMasterIdLst>
    <p:handoutMasterId r:id="rId18"/>
  </p:handoutMasterIdLst>
  <p:sldIdLst>
    <p:sldId id="1041" r:id="rId2"/>
    <p:sldId id="2145706287" r:id="rId3"/>
    <p:sldId id="2145706314" r:id="rId4"/>
    <p:sldId id="2145706297" r:id="rId5"/>
    <p:sldId id="2145706306" r:id="rId6"/>
    <p:sldId id="2145706309" r:id="rId7"/>
    <p:sldId id="2145706313" r:id="rId8"/>
    <p:sldId id="2145706316" r:id="rId9"/>
    <p:sldId id="2145706305" r:id="rId10"/>
    <p:sldId id="2145706307" r:id="rId11"/>
    <p:sldId id="2145706310" r:id="rId12"/>
    <p:sldId id="2145706317" r:id="rId13"/>
    <p:sldId id="2145706298" r:id="rId14"/>
    <p:sldId id="2145706308" r:id="rId15"/>
    <p:sldId id="2145706312"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ting Du" initials="WD" lastIdx="1" clrIdx="0">
    <p:extLst>
      <p:ext uri="{19B8F6BF-5375-455C-9EA6-DF929625EA0E}">
        <p15:presenceInfo xmlns:p15="http://schemas.microsoft.com/office/powerpoint/2012/main" userId="6645cbcc430c37f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53"/>
    <p:restoredTop sz="75082"/>
  </p:normalViewPr>
  <p:slideViewPr>
    <p:cSldViewPr snapToGrid="0" snapToObjects="1">
      <p:cViewPr varScale="1">
        <p:scale>
          <a:sx n="71" d="100"/>
          <a:sy n="71" d="100"/>
        </p:scale>
        <p:origin x="1229" y="62"/>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121" d="100"/>
          <a:sy n="121" d="100"/>
        </p:scale>
        <p:origin x="232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C66A2B-7AAE-2E17-9A2D-60576A7608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a:extLst>
              <a:ext uri="{FF2B5EF4-FFF2-40B4-BE49-F238E27FC236}">
                <a16:creationId xmlns:a16="http://schemas.microsoft.com/office/drawing/2014/main" id="{5795258A-E119-6F74-6A5C-71806DDE2A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04DF18-294A-1942-9DCF-44575627E94A}" type="datetimeFigureOut">
              <a:rPr lang="en-CH" smtClean="0"/>
              <a:t>07/11/2026</a:t>
            </a:fld>
            <a:endParaRPr lang="en-CH"/>
          </a:p>
        </p:txBody>
      </p:sp>
      <p:sp>
        <p:nvSpPr>
          <p:cNvPr id="4" name="Footer Placeholder 3">
            <a:extLst>
              <a:ext uri="{FF2B5EF4-FFF2-40B4-BE49-F238E27FC236}">
                <a16:creationId xmlns:a16="http://schemas.microsoft.com/office/drawing/2014/main" id="{903C5252-208C-77D5-3947-763A030589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5" name="Slide Number Placeholder 4">
            <a:extLst>
              <a:ext uri="{FF2B5EF4-FFF2-40B4-BE49-F238E27FC236}">
                <a16:creationId xmlns:a16="http://schemas.microsoft.com/office/drawing/2014/main" id="{45DED27D-694F-F828-9F2C-667E99DB01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5B7031-5F2E-A04D-86E5-4936D048E87B}" type="slidenum">
              <a:rPr lang="en-CH" smtClean="0"/>
              <a:t>‹#›</a:t>
            </a:fld>
            <a:endParaRPr lang="en-CH"/>
          </a:p>
        </p:txBody>
      </p:sp>
    </p:spTree>
    <p:extLst>
      <p:ext uri="{BB962C8B-B14F-4D97-AF65-F5344CB8AC3E}">
        <p14:creationId xmlns:p14="http://schemas.microsoft.com/office/powerpoint/2010/main" val="29066602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3D56C8-71B6-624F-AE43-15F6568A2909}" type="datetimeFigureOut">
              <a:rPr lang="en-CH" smtClean="0"/>
              <a:t>07/11/2026</a:t>
            </a:fld>
            <a:endParaRPr lang="en-CH"/>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DE7E3-6817-D34F-9F2D-16E920BB51A9}" type="slidenum">
              <a:rPr lang="en-CH" smtClean="0"/>
              <a:t>‹#›</a:t>
            </a:fld>
            <a:endParaRPr lang="en-CH"/>
          </a:p>
        </p:txBody>
      </p:sp>
    </p:spTree>
    <p:extLst>
      <p:ext uri="{BB962C8B-B14F-4D97-AF65-F5344CB8AC3E}">
        <p14:creationId xmlns:p14="http://schemas.microsoft.com/office/powerpoint/2010/main" val="3930486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1</a:t>
            </a:fld>
            <a:endParaRPr lang="en-CH"/>
          </a:p>
        </p:txBody>
      </p:sp>
    </p:spTree>
    <p:extLst>
      <p:ext uri="{BB962C8B-B14F-4D97-AF65-F5344CB8AC3E}">
        <p14:creationId xmlns:p14="http://schemas.microsoft.com/office/powerpoint/2010/main" val="3594752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4</a:t>
            </a:fld>
            <a:endParaRPr lang="en-CH"/>
          </a:p>
        </p:txBody>
      </p:sp>
    </p:spTree>
    <p:extLst>
      <p:ext uri="{BB962C8B-B14F-4D97-AF65-F5344CB8AC3E}">
        <p14:creationId xmlns:p14="http://schemas.microsoft.com/office/powerpoint/2010/main" val="89408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Out-scoping: </a:t>
            </a:r>
            <a:r>
              <a:rPr lang="en-US" sz="1200" dirty="0"/>
              <a:t>Rüdiger Geib</a:t>
            </a:r>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5</a:t>
            </a:fld>
            <a:endParaRPr lang="en-CH"/>
          </a:p>
        </p:txBody>
      </p:sp>
    </p:spTree>
    <p:extLst>
      <p:ext uri="{BB962C8B-B14F-4D97-AF65-F5344CB8AC3E}">
        <p14:creationId xmlns:p14="http://schemas.microsoft.com/office/powerpoint/2010/main" val="4110580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Our Blue TV service is currently severely impaired. Both the Blue TV‐boxes and TV Air on the web and in the Blue TV app are affected. When switching on the TV‐ Box, our customers receive an error message. Restarting the TV‐Box does not resolve the fault.</a:t>
            </a:r>
            <a:br>
              <a:rPr lang="en-GB" dirty="0"/>
            </a:br>
            <a:r>
              <a:rPr lang="en-GB" dirty="0"/>
              <a:t>Root cause: 2 physical servers crashed in one of the 2 </a:t>
            </a:r>
            <a:r>
              <a:rPr lang="en-GB" dirty="0" err="1"/>
              <a:t>redis</a:t>
            </a:r>
            <a:r>
              <a:rPr lang="en-GB" dirty="0"/>
              <a:t> clusters, which puts Redis cluster in to an unstable state -&gt; re-authentication new connection burst (</a:t>
            </a:r>
            <a:r>
              <a:rPr lang="en-GB" sz="1200" b="0" i="0" kern="1200" dirty="0">
                <a:solidFill>
                  <a:schemeClr val="tx1"/>
                </a:solidFill>
                <a:effectLst/>
                <a:latin typeface="+mn-lt"/>
                <a:ea typeface="+mn-ea"/>
                <a:cs typeface="+mn-cs"/>
              </a:rPr>
              <a:t>Connection timeouts were incorrect</a:t>
            </a:r>
          </a:p>
          <a:p>
            <a:r>
              <a:rPr lang="en-GB" dirty="0"/>
              <a:t>) -&gt; Denial-of-Service </a:t>
            </a:r>
            <a:r>
              <a:rPr lang="en-GB" dirty="0">
                <a:sym typeface="Wingdings" pitchFamily="2" charset="2"/>
              </a:rPr>
              <a:t> the secondary </a:t>
            </a:r>
            <a:r>
              <a:rPr lang="en-GB" dirty="0" err="1">
                <a:sym typeface="Wingdings" pitchFamily="2" charset="2"/>
              </a:rPr>
              <a:t>redis</a:t>
            </a:r>
            <a:r>
              <a:rPr lang="en-GB" dirty="0">
                <a:sym typeface="Wingdings" pitchFamily="2" charset="2"/>
              </a:rPr>
              <a:t> cluster also failed</a:t>
            </a:r>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6</a:t>
            </a:fld>
            <a:endParaRPr lang="en-CH"/>
          </a:p>
        </p:txBody>
      </p:sp>
    </p:spTree>
    <p:extLst>
      <p:ext uri="{BB962C8B-B14F-4D97-AF65-F5344CB8AC3E}">
        <p14:creationId xmlns:p14="http://schemas.microsoft.com/office/powerpoint/2010/main" val="2119585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6F8C3-9A5E-3CC2-1C97-EC9904582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95C7A-43AB-8E51-EDFA-25D60B00A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0FC28-8E31-FFEF-A4BA-3D1359514E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Our Blue TV service is currently severely impaired. Both the Blue TV‐boxes and TV Air on the web and in the Blue TV app are affected. When switching on the TV‐ Box, our customers receive an error message. Restarting the TV‐Box does not resolve the fault.</a:t>
            </a:r>
            <a:br>
              <a:rPr lang="en-GB" dirty="0"/>
            </a:br>
            <a:r>
              <a:rPr lang="en-GB" dirty="0"/>
              <a:t>Root cause: 2 physical servers crashed in one of the 2 </a:t>
            </a:r>
            <a:r>
              <a:rPr lang="en-GB" dirty="0" err="1"/>
              <a:t>redis</a:t>
            </a:r>
            <a:r>
              <a:rPr lang="en-GB" dirty="0"/>
              <a:t> clusters, which puts Redis cluster into an unstable state -&gt; re-authentication new connection burst (</a:t>
            </a:r>
            <a:r>
              <a:rPr lang="en-GB" sz="1200" b="0" i="0" kern="1200" dirty="0">
                <a:solidFill>
                  <a:schemeClr val="tx1"/>
                </a:solidFill>
                <a:effectLst/>
                <a:latin typeface="+mn-lt"/>
                <a:ea typeface="+mn-ea"/>
                <a:cs typeface="+mn-cs"/>
              </a:rPr>
              <a:t>Connection timeouts were incorrect</a:t>
            </a:r>
          </a:p>
          <a:p>
            <a:r>
              <a:rPr lang="en-GB" dirty="0"/>
              <a:t>) -&gt; Denial-of-Service </a:t>
            </a:r>
            <a:r>
              <a:rPr lang="en-GB" dirty="0">
                <a:sym typeface="Wingdings" pitchFamily="2" charset="2"/>
              </a:rPr>
              <a:t> the secondary </a:t>
            </a:r>
            <a:r>
              <a:rPr lang="en-GB" dirty="0" err="1">
                <a:sym typeface="Wingdings" pitchFamily="2" charset="2"/>
              </a:rPr>
              <a:t>redis</a:t>
            </a:r>
            <a:r>
              <a:rPr lang="en-GB" dirty="0">
                <a:sym typeface="Wingdings" pitchFamily="2" charset="2"/>
              </a:rPr>
              <a:t> cluster also failed</a:t>
            </a:r>
            <a:endParaRPr lang="en-CH" dirty="0"/>
          </a:p>
        </p:txBody>
      </p:sp>
      <p:sp>
        <p:nvSpPr>
          <p:cNvPr id="4" name="Slide Number Placeholder 3">
            <a:extLst>
              <a:ext uri="{FF2B5EF4-FFF2-40B4-BE49-F238E27FC236}">
                <a16:creationId xmlns:a16="http://schemas.microsoft.com/office/drawing/2014/main" id="{A3CE2A89-4A22-E043-71C1-15575779D375}"/>
              </a:ext>
            </a:extLst>
          </p:cNvPr>
          <p:cNvSpPr>
            <a:spLocks noGrp="1"/>
          </p:cNvSpPr>
          <p:nvPr>
            <p:ph type="sldNum" sz="quarter" idx="5"/>
          </p:nvPr>
        </p:nvSpPr>
        <p:spPr/>
        <p:txBody>
          <a:bodyPr/>
          <a:lstStyle/>
          <a:p>
            <a:fld id="{4C0DE7E3-6817-D34F-9F2D-16E920BB51A9}" type="slidenum">
              <a:rPr lang="en-CH" smtClean="0"/>
              <a:t>7</a:t>
            </a:fld>
            <a:endParaRPr lang="en-CH"/>
          </a:p>
        </p:txBody>
      </p:sp>
    </p:spTree>
    <p:extLst>
      <p:ext uri="{BB962C8B-B14F-4D97-AF65-F5344CB8AC3E}">
        <p14:creationId xmlns:p14="http://schemas.microsoft.com/office/powerpoint/2010/main" val="688627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2BBC52A0-2F3F-497F-8536-39D60282E9C2}" type="slidenum">
              <a:rPr lang="de-CH" smtClean="0"/>
              <a:t>9</a:t>
            </a:fld>
            <a:endParaRPr lang="de-CH"/>
          </a:p>
        </p:txBody>
      </p:sp>
    </p:spTree>
    <p:extLst>
      <p:ext uri="{BB962C8B-B14F-4D97-AF65-F5344CB8AC3E}">
        <p14:creationId xmlns:p14="http://schemas.microsoft.com/office/powerpoint/2010/main" val="1705007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EA172-0CFE-BA31-FB30-9E1C336B5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0438D-2CDA-51AD-6A85-5BE4EF145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49488-6AF3-FD2D-65A3-98B7B1847E3B}"/>
              </a:ext>
            </a:extLst>
          </p:cNvPr>
          <p:cNvSpPr>
            <a:spLocks noGrp="1"/>
          </p:cNvSpPr>
          <p:nvPr>
            <p:ph type="body" idx="1"/>
          </p:nvPr>
        </p:nvSpPr>
        <p:spPr/>
        <p:txBody>
          <a:bodyPr/>
          <a:lstStyle/>
          <a:p>
            <a:endParaRPr lang="de-CH" dirty="0"/>
          </a:p>
        </p:txBody>
      </p:sp>
      <p:sp>
        <p:nvSpPr>
          <p:cNvPr id="4" name="Slide Number Placeholder 3">
            <a:extLst>
              <a:ext uri="{FF2B5EF4-FFF2-40B4-BE49-F238E27FC236}">
                <a16:creationId xmlns:a16="http://schemas.microsoft.com/office/drawing/2014/main" id="{B8A45EA2-E8CB-F34E-E281-ABF88AC905EB}"/>
              </a:ext>
            </a:extLst>
          </p:cNvPr>
          <p:cNvSpPr>
            <a:spLocks noGrp="1"/>
          </p:cNvSpPr>
          <p:nvPr>
            <p:ph type="sldNum" sz="quarter" idx="5"/>
          </p:nvPr>
        </p:nvSpPr>
        <p:spPr/>
        <p:txBody>
          <a:bodyPr/>
          <a:lstStyle/>
          <a:p>
            <a:fld id="{2BBC52A0-2F3F-497F-8536-39D60282E9C2}" type="slidenum">
              <a:rPr lang="de-CH" smtClean="0"/>
              <a:t>10</a:t>
            </a:fld>
            <a:endParaRPr lang="de-CH"/>
          </a:p>
        </p:txBody>
      </p:sp>
    </p:spTree>
    <p:extLst>
      <p:ext uri="{BB962C8B-B14F-4D97-AF65-F5344CB8AC3E}">
        <p14:creationId xmlns:p14="http://schemas.microsoft.com/office/powerpoint/2010/main" val="3866752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8AD8E-3989-FFEB-6995-A867671CD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23E0E-5A7F-9049-4BDA-2CABF8E44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B95B2-D0B3-3F64-0B32-8CE5458681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*Only the schema has been updated. Operational metadata population not yet implemented.</a:t>
            </a:r>
            <a:endParaRPr lang="en-CH" sz="1200" dirty="0"/>
          </a:p>
        </p:txBody>
      </p:sp>
      <p:sp>
        <p:nvSpPr>
          <p:cNvPr id="4" name="Slide Number Placeholder 3">
            <a:extLst>
              <a:ext uri="{FF2B5EF4-FFF2-40B4-BE49-F238E27FC236}">
                <a16:creationId xmlns:a16="http://schemas.microsoft.com/office/drawing/2014/main" id="{5D711265-3C9D-E27A-6D84-A68179D91224}"/>
              </a:ext>
            </a:extLst>
          </p:cNvPr>
          <p:cNvSpPr>
            <a:spLocks noGrp="1"/>
          </p:cNvSpPr>
          <p:nvPr>
            <p:ph type="sldNum" sz="quarter" idx="5"/>
          </p:nvPr>
        </p:nvSpPr>
        <p:spPr/>
        <p:txBody>
          <a:bodyPr/>
          <a:lstStyle/>
          <a:p>
            <a:fld id="{2BBC52A0-2F3F-497F-8536-39D60282E9C2}" type="slidenum">
              <a:rPr lang="de-CH" smtClean="0"/>
              <a:t>11</a:t>
            </a:fld>
            <a:endParaRPr lang="de-CH"/>
          </a:p>
        </p:txBody>
      </p:sp>
    </p:spTree>
    <p:extLst>
      <p:ext uri="{BB962C8B-B14F-4D97-AF65-F5344CB8AC3E}">
        <p14:creationId xmlns:p14="http://schemas.microsoft.com/office/powerpoint/2010/main" val="143228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4C0DE7E3-6817-D34F-9F2D-16E920BB51A9}" type="slidenum">
              <a:rPr lang="en-CH" smtClean="0"/>
              <a:t>15</a:t>
            </a:fld>
            <a:endParaRPr lang="en-CH"/>
          </a:p>
        </p:txBody>
      </p:sp>
    </p:spTree>
    <p:extLst>
      <p:ext uri="{BB962C8B-B14F-4D97-AF65-F5344CB8AC3E}">
        <p14:creationId xmlns:p14="http://schemas.microsoft.com/office/powerpoint/2010/main" val="2412726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E003D89-8BCB-CD45-BFFB-53322C8FC40E}" type="datetime1">
              <a:rPr lang="de-CH" smtClean="0"/>
              <a:t>11.07.2026</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9D91F7-C961-8C44-9299-BF84FF39514E}" type="datetime1">
              <a:rPr lang="de-CH" smtClean="0"/>
              <a:t>11.07.2026</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FEC2240F-8AA3-2746-9A51-9D1A136F1E49}" type="datetime1">
              <a:rPr lang="de-CH" smtClean="0"/>
              <a:t>11.07.2026</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314D2E-D8E2-384B-82FD-655D508953A3}" type="datetime1">
              <a:rPr lang="de-CH" smtClean="0"/>
              <a:t>11.07.2026</a:t>
            </a:fld>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A34BA8-55CE-D34A-9C2D-BEEE7446B5FC}" type="datetime1">
              <a:rPr lang="de-CH" smtClean="0"/>
              <a:t>11.07.2026</a:t>
            </a:fld>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043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469DC1D-08EC-344C-AFC6-70566B114C19}" type="datetime1">
              <a:rPr lang="de-CH" smtClean="0"/>
              <a:t>11.07.2026</a:t>
            </a:fld>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0EF599-0014-1B46-9369-317248A83AAA}" type="datetime1">
              <a:rPr lang="de-CH" smtClean="0"/>
              <a:t>11.07.2026</a:t>
            </a:fld>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1C5E05-3C90-7247-87A0-D89349E8E13C}" type="datetime1">
              <a:rPr lang="de-CH" smtClean="0"/>
              <a:t>11.07.2026</a:t>
            </a:fld>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65A632-B168-4E45-8147-A4CCCC7F8728}" type="datetime1">
              <a:rPr lang="de-CH" smtClean="0"/>
              <a:t>11.07.2026</a:t>
            </a:fld>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21205-D078-FD46-AF85-0EF064AD968E}" type="datetime1">
              <a:rPr lang="de-CH" smtClean="0"/>
              <a:t>11.07.2026</a:t>
            </a:fld>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8CCE81-C62E-2040-8EF1-B2DD76AF35C8}" type="datetime1">
              <a:rPr lang="de-CH" smtClean="0"/>
              <a:t>11.07.2026</a:t>
            </a:fld>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black">
          <a:xfrm>
            <a:off x="899592" y="1484784"/>
            <a:ext cx="7884000" cy="4896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Click to edit text. Use the buttons “Increase List Level” and “Decrease List Level” for copytext or bullet levels.</a:t>
            </a:r>
          </a:p>
          <a:p>
            <a:pPr lvl="1"/>
            <a:r>
              <a:rPr lang="en-GB"/>
              <a:t>Level 2</a:t>
            </a:r>
          </a:p>
          <a:p>
            <a:pPr lvl="2"/>
            <a:r>
              <a:rPr lang="en-GB"/>
              <a:t>Level 3</a:t>
            </a:r>
          </a:p>
          <a:p>
            <a:pPr lvl="3"/>
            <a:r>
              <a:rPr lang="en-GB"/>
              <a:t>Level 4</a:t>
            </a:r>
          </a:p>
          <a:p>
            <a:pPr lvl="4"/>
            <a:r>
              <a:rPr lang="en-GB"/>
              <a:t>Level 5</a:t>
            </a:r>
          </a:p>
          <a:p>
            <a:pPr lvl="5"/>
            <a:r>
              <a:rPr lang="en-GB"/>
              <a:t>Level 6</a:t>
            </a:r>
          </a:p>
          <a:p>
            <a:pPr lvl="6"/>
            <a:r>
              <a:rPr lang="en-GB"/>
              <a:t>Level 7</a:t>
            </a:r>
          </a:p>
          <a:p>
            <a:pPr lvl="7"/>
            <a:r>
              <a:rPr lang="en-GB"/>
              <a:t>Level 8</a:t>
            </a:r>
          </a:p>
          <a:p>
            <a:pPr lvl="8"/>
            <a:r>
              <a:rPr lang="en-GB"/>
              <a:t>Level 9</a:t>
            </a:r>
          </a:p>
        </p:txBody>
      </p:sp>
      <p:sp>
        <p:nvSpPr>
          <p:cNvPr id="5" name="Fußzeilenplatzhalter 4"/>
          <p:cNvSpPr>
            <a:spLocks noGrp="1"/>
          </p:cNvSpPr>
          <p:nvPr>
            <p:ph type="ftr" sz="quarter" idx="11"/>
          </p:nvPr>
        </p:nvSpPr>
        <p:spPr bwMode="black">
          <a:xfrm rot="16200000">
            <a:off x="-1747160" y="3428988"/>
            <a:ext cx="4105278" cy="215927"/>
          </a:xfrm>
          <a:prstGeom prst="rect">
            <a:avLst/>
          </a:prstGeom>
        </p:spPr>
        <p:txBody>
          <a:bodyPr/>
          <a:lstStyle/>
          <a:p>
            <a:r>
              <a:rPr lang="en-US"/>
              <a:t>Introduction to Telemetry </a:t>
            </a:r>
            <a:endParaRPr lang="en-GB"/>
          </a:p>
        </p:txBody>
      </p:sp>
      <p:sp>
        <p:nvSpPr>
          <p:cNvPr id="12" name="Titel 11"/>
          <p:cNvSpPr>
            <a:spLocks noGrp="1"/>
          </p:cNvSpPr>
          <p:nvPr>
            <p:ph type="title" hasCustomPrompt="1"/>
          </p:nvPr>
        </p:nvSpPr>
        <p:spPr bwMode="black">
          <a:xfrm>
            <a:off x="899592" y="332656"/>
            <a:ext cx="7884000" cy="720000"/>
          </a:xfrm>
        </p:spPr>
        <p:txBody>
          <a:bodyPr/>
          <a:lstStyle>
            <a:lvl1pPr>
              <a:defRPr/>
            </a:lvl1pPr>
          </a:lstStyle>
          <a:p>
            <a:r>
              <a:rPr lang="en-GB"/>
              <a:t>Click to edit title</a:t>
            </a:r>
          </a:p>
        </p:txBody>
      </p:sp>
      <p:sp>
        <p:nvSpPr>
          <p:cNvPr id="8" name="Date Placeholder 3">
            <a:extLst>
              <a:ext uri="{FF2B5EF4-FFF2-40B4-BE49-F238E27FC236}">
                <a16:creationId xmlns:a16="http://schemas.microsoft.com/office/drawing/2014/main" id="{5A066266-3B90-9ACF-0B7C-027471A09E14}"/>
              </a:ext>
            </a:extLst>
          </p:cNvPr>
          <p:cNvSpPr>
            <a:spLocks noGrp="1"/>
          </p:cNvSpPr>
          <p:nvPr>
            <p:ph type="dt" sz="half" idx="10"/>
          </p:nvPr>
        </p:nvSpPr>
        <p:spPr>
          <a:xfrm>
            <a:off x="457200" y="6356350"/>
            <a:ext cx="2133600" cy="365125"/>
          </a:xfrm>
        </p:spPr>
        <p:txBody>
          <a:bodyPr/>
          <a:lstStyle/>
          <a:p>
            <a:fld id="{79121205-D078-FD46-AF85-0EF064AD968E}" type="datetime1">
              <a:rPr lang="de-CH" smtClean="0"/>
              <a:t>11.07.2026</a:t>
            </a:fld>
            <a:endParaRPr lang="en-US"/>
          </a:p>
        </p:txBody>
      </p:sp>
      <p:sp>
        <p:nvSpPr>
          <p:cNvPr id="10" name="Slide Number Placeholder 5">
            <a:extLst>
              <a:ext uri="{FF2B5EF4-FFF2-40B4-BE49-F238E27FC236}">
                <a16:creationId xmlns:a16="http://schemas.microsoft.com/office/drawing/2014/main" id="{9470299E-69B1-CFB1-806F-43D43F417629}"/>
              </a:ext>
            </a:extLst>
          </p:cNvPr>
          <p:cNvSpPr>
            <a:spLocks noGrp="1"/>
          </p:cNvSpPr>
          <p:nvPr>
            <p:ph type="sldNum" sz="quarter" idx="12"/>
          </p:nvPr>
        </p:nvSpPr>
        <p:spPr>
          <a:xfrm>
            <a:off x="6553200" y="6356350"/>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259858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91580A-F933-684E-A19D-31DC6358EE9E}" type="datetime1">
              <a:rPr lang="de-CH" smtClean="0"/>
              <a:t>11.07.2026</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1"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datatracker.ietf.org/doc/html/draft-ietf-nmop-network-anomaly-semantics" TargetMode="External"/><Relationship Id="rId2" Type="http://schemas.openxmlformats.org/officeDocument/2006/relationships/hyperlink" Target="https://datatracker.ietf.org/doc/html/draft-ietf-nmop-network-anomaly-architecture" TargetMode="Externa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hyperlink" Target="https://datatracker.ietf.org/doc/html/draft-ietf-nmop-network-anomaly-lifecycl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datatracker.ietf.org/doc/html/draft-ietf-nmop-network-anomaly-architecture"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www.tagesanzeiger.ch/swisscom-stoerung-bei-swisscom-tv-und-blue-tv-app-769659583423"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atatracker.ietf.org/doc/html/draft-ietf-nmop-network-anomaly-semantics-05"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datatracker.ietf.org/doc/draft-ietf-nmop-network-anomaly-lifecycle/0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455122" y="1881579"/>
            <a:ext cx="8546486" cy="2429252"/>
          </a:xfrm>
          <a:prstGeom prst="rect">
            <a:avLst/>
          </a:prstGeom>
        </p:spPr>
        <p:txBody>
          <a:bodyPr vert="horz" lIns="68580" tIns="34290" rIns="68580" bIns="3429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50" b="1" dirty="0"/>
              <a:t>An Architecture for a </a:t>
            </a:r>
            <a:r>
              <a:rPr lang="en-US" sz="2550" b="1" dirty="0">
                <a:solidFill>
                  <a:srgbClr val="FF0000"/>
                </a:solidFill>
              </a:rPr>
              <a:t>Network Anomaly Detection </a:t>
            </a:r>
            <a:r>
              <a:rPr lang="en-US" sz="2550" b="1" dirty="0"/>
              <a:t>Framework </a:t>
            </a:r>
            <a:br>
              <a:rPr lang="en-US" sz="2700" b="1" dirty="0"/>
            </a:br>
            <a:r>
              <a:rPr lang="en-US" sz="2100" dirty="0"/>
              <a:t>draft-ietf-nmop-network-anomaly-architecture-07</a:t>
            </a:r>
          </a:p>
          <a:p>
            <a:r>
              <a:rPr lang="en-US" sz="2100" dirty="0"/>
              <a:t>draft-ietf-nmop-network-anomaly-semantics-05</a:t>
            </a:r>
          </a:p>
          <a:p>
            <a:r>
              <a:rPr lang="en-US" sz="2100" dirty="0"/>
              <a:t>draft-ietf-nmop-network-anomaly-lifecycle-05</a:t>
            </a:r>
          </a:p>
          <a:p>
            <a:endParaRPr lang="en-US" sz="2100" dirty="0"/>
          </a:p>
          <a:p>
            <a:r>
              <a:rPr lang="en-US" sz="2100" dirty="0">
                <a:solidFill>
                  <a:schemeClr val="bg2">
                    <a:lumMod val="75000"/>
                  </a:schemeClr>
                </a:solidFill>
              </a:rPr>
              <a:t>Motivation and architecture of a Network Anomaly Detection Framework</a:t>
            </a:r>
          </a:p>
          <a:p>
            <a:r>
              <a:rPr lang="en-US" sz="2100" dirty="0">
                <a:solidFill>
                  <a:schemeClr val="bg2">
                    <a:lumMod val="75000"/>
                  </a:schemeClr>
                </a:solidFill>
              </a:rPr>
              <a:t>    and the relationships to other documents describing</a:t>
            </a:r>
          </a:p>
          <a:p>
            <a:r>
              <a:rPr lang="en-US" sz="2100" dirty="0">
                <a:solidFill>
                  <a:schemeClr val="bg2">
                    <a:lumMod val="75000"/>
                  </a:schemeClr>
                </a:solidFill>
              </a:rPr>
              <a:t>        network symptom semantics and network incident lifecycle</a:t>
            </a:r>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628651" y="4825093"/>
            <a:ext cx="8372957" cy="80338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225"/>
              </a:spcBef>
              <a:buNone/>
              <a:defRPr sz="1782"/>
            </a:pPr>
            <a:r>
              <a:rPr lang="de-CH" sz="1200" b="1" dirty="0">
                <a:latin typeface="+mj-lt"/>
              </a:rPr>
              <a:t>wanting.du@swisscom.com</a:t>
            </a:r>
          </a:p>
          <a:p>
            <a:pPr marL="0" indent="0" algn="r">
              <a:spcBef>
                <a:spcPts val="225"/>
              </a:spcBef>
              <a:buNone/>
              <a:defRPr sz="1782"/>
            </a:pPr>
            <a:r>
              <a:rPr lang="de-CH" sz="1200" dirty="0" err="1"/>
              <a:t>thomas.graf@swisscom.com</a:t>
            </a:r>
            <a:br>
              <a:rPr lang="de-CH" sz="1200" dirty="0">
                <a:latin typeface="+mj-lt"/>
              </a:rPr>
            </a:br>
            <a:r>
              <a:rPr lang="de-CH" sz="1200" dirty="0" err="1">
                <a:latin typeface="+mj-lt"/>
              </a:rPr>
              <a:t>pierre.francois@insa-lyon.fr</a:t>
            </a:r>
            <a:br>
              <a:rPr lang="de-CH" sz="1200" dirty="0">
                <a:latin typeface="+mj-lt"/>
              </a:rPr>
            </a:br>
            <a:r>
              <a:rPr lang="de-CH" sz="1200" dirty="0">
                <a:latin typeface="+mj-lt"/>
              </a:rPr>
              <a:t>vincenzo.riccobene@huawei-partners.com</a:t>
            </a:r>
            <a:br>
              <a:rPr lang="de-CH" sz="1200" dirty="0">
                <a:latin typeface="+mj-lt"/>
              </a:rPr>
            </a:br>
            <a:r>
              <a:rPr lang="de-CH" sz="1200" dirty="0">
                <a:latin typeface="+mj-lt"/>
              </a:rPr>
              <a:t>alex.huang-feng@insa-lyon.fr</a:t>
            </a:r>
            <a:br>
              <a:rPr lang="de-CH" sz="1200" dirty="0">
                <a:latin typeface="+mj-lt"/>
              </a:rPr>
            </a:br>
            <a:endParaRPr lang="de-CH" sz="1200" dirty="0">
              <a:latin typeface="+mj-lt"/>
            </a:endParaRPr>
          </a:p>
        </p:txBody>
      </p:sp>
      <p:sp>
        <p:nvSpPr>
          <p:cNvPr id="8" name="Date Placeholder 7">
            <a:extLst>
              <a:ext uri="{FF2B5EF4-FFF2-40B4-BE49-F238E27FC236}">
                <a16:creationId xmlns:a16="http://schemas.microsoft.com/office/drawing/2014/main" id="{9FA697C2-2EA5-AEF9-84DD-75D8C1F5B0E8}"/>
              </a:ext>
            </a:extLst>
          </p:cNvPr>
          <p:cNvSpPr>
            <a:spLocks noGrp="1"/>
          </p:cNvSpPr>
          <p:nvPr>
            <p:ph type="dt" sz="half" idx="10"/>
          </p:nvPr>
        </p:nvSpPr>
        <p:spPr/>
        <p:txBody>
          <a:bodyPr/>
          <a:lstStyle/>
          <a:p>
            <a:r>
              <a:rPr lang="de-CH" dirty="0"/>
              <a:t>18.03.2026</a:t>
            </a:r>
            <a:endParaRPr lang="en-US" dirty="0"/>
          </a:p>
        </p:txBody>
      </p:sp>
      <p:sp>
        <p:nvSpPr>
          <p:cNvPr id="9" name="Slide Number Placeholder 8">
            <a:extLst>
              <a:ext uri="{FF2B5EF4-FFF2-40B4-BE49-F238E27FC236}">
                <a16:creationId xmlns:a16="http://schemas.microsoft.com/office/drawing/2014/main" id="{EEEED876-F545-3795-B19C-92945234B7A7}"/>
              </a:ext>
            </a:extLst>
          </p:cNvPr>
          <p:cNvSpPr>
            <a:spLocks noGrp="1"/>
          </p:cNvSpPr>
          <p:nvPr>
            <p:ph type="sldNum" sz="quarter" idx="12"/>
          </p:nvPr>
        </p:nvSpPr>
        <p:spPr/>
        <p:txBody>
          <a:bodyPr/>
          <a:lstStyle/>
          <a:p>
            <a:fld id="{C1FF6DA9-008F-8B48-92A6-B652298478BF}" type="slidenum">
              <a:rPr lang="en-US" smtClean="0"/>
              <a:t>1</a:t>
            </a:fld>
            <a:endParaRPr lang="en-US"/>
          </a:p>
        </p:txBody>
      </p:sp>
      <p:sp>
        <p:nvSpPr>
          <p:cNvPr id="2" name="TextBox 1">
            <a:extLst>
              <a:ext uri="{FF2B5EF4-FFF2-40B4-BE49-F238E27FC236}">
                <a16:creationId xmlns:a16="http://schemas.microsoft.com/office/drawing/2014/main" id="{B96F14DD-DA49-5D8A-34C3-1676818C68D0}"/>
              </a:ext>
            </a:extLst>
          </p:cNvPr>
          <p:cNvSpPr txBox="1"/>
          <p:nvPr/>
        </p:nvSpPr>
        <p:spPr>
          <a:xfrm>
            <a:off x="3911600" y="5346700"/>
            <a:ext cx="184731" cy="369332"/>
          </a:xfrm>
          <a:prstGeom prst="rect">
            <a:avLst/>
          </a:prstGeom>
          <a:noFill/>
        </p:spPr>
        <p:txBody>
          <a:bodyPr wrap="none" rtlCol="0">
            <a:spAutoFit/>
          </a:bodyPr>
          <a:lstStyle/>
          <a:p>
            <a:endParaRPr lang="en-CH"/>
          </a:p>
        </p:txBody>
      </p:sp>
    </p:spTree>
    <p:extLst>
      <p:ext uri="{BB962C8B-B14F-4D97-AF65-F5344CB8AC3E}">
        <p14:creationId xmlns:p14="http://schemas.microsoft.com/office/powerpoint/2010/main" val="3578665336"/>
      </p:ext>
    </p:extLst>
  </p:cSld>
  <p:clrMapOvr>
    <a:masterClrMapping/>
  </p:clrMapOvr>
  <mc:AlternateContent xmlns:mc="http://schemas.openxmlformats.org/markup-compatibility/2006" xmlns:p14="http://schemas.microsoft.com/office/powerpoint/2010/main">
    <mc:Choice Requires="p14">
      <p:transition spd="slow" p14:dur="2000" advTm="8774"/>
    </mc:Choice>
    <mc:Fallback xmlns="">
      <p:transition spd="slow" advTm="877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0194B37B-813A-99FE-7B78-4D87D8C30D44}"/>
              </a:ext>
            </a:extLst>
          </p:cNvPr>
          <p:cNvSpPr txBox="1">
            <a:spLocks/>
          </p:cNvSpPr>
          <p:nvPr/>
        </p:nvSpPr>
        <p:spPr bwMode="black">
          <a:xfrm>
            <a:off x="720000" y="1742312"/>
            <a:ext cx="7965650" cy="3963163"/>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r>
              <a:rPr lang="en-GB" sz="1600" dirty="0"/>
              <a:t>To </a:t>
            </a:r>
            <a:r>
              <a:rPr lang="en-GB" sz="1600" b="1" dirty="0">
                <a:solidFill>
                  <a:schemeClr val="accent4"/>
                </a:solidFill>
              </a:rPr>
              <a:t>detect service interruptions</a:t>
            </a:r>
            <a:r>
              <a:rPr lang="en-GB" sz="1600" dirty="0"/>
              <a:t> before users do, network operations must use </a:t>
            </a:r>
            <a:r>
              <a:rPr lang="en-GB" sz="1600" b="1" dirty="0"/>
              <a:t>automated</a:t>
            </a:r>
            <a:r>
              <a:rPr lang="en-GB" sz="1600" dirty="0"/>
              <a:t>, </a:t>
            </a:r>
            <a:r>
              <a:rPr lang="en-GB" sz="1600" b="1" dirty="0"/>
              <a:t>holistic</a:t>
            </a:r>
            <a:r>
              <a:rPr lang="en-GB" sz="1600" dirty="0"/>
              <a:t> monitoring across all </a:t>
            </a:r>
            <a:r>
              <a:rPr lang="en-GB" sz="1600" b="1" dirty="0"/>
              <a:t>three network planes</a:t>
            </a:r>
            <a:r>
              <a:rPr lang="en-GB" sz="1600" dirty="0"/>
              <a:t>. </a:t>
            </a:r>
          </a:p>
          <a:p>
            <a:pPr marL="285750" indent="-285750">
              <a:buFont typeface="Wingdings" pitchFamily="2" charset="2"/>
              <a:buChar char="Ø"/>
            </a:pPr>
            <a:r>
              <a:rPr lang="en-US" sz="1600" dirty="0">
                <a:solidFill>
                  <a:schemeClr val="accent4"/>
                </a:solidFill>
                <a:hlinkClick r:id="rId2">
                  <a:extLst>
                    <a:ext uri="{A12FA001-AC4F-418D-AE19-62706E023703}">
                      <ahyp:hlinkClr xmlns:ahyp="http://schemas.microsoft.com/office/drawing/2018/hyperlinkcolor" val="tx"/>
                    </a:ext>
                  </a:extLst>
                </a:hlinkClick>
              </a:rPr>
              <a:t>draft-ietf-nmop-network-anomaly-architecture</a:t>
            </a:r>
            <a:r>
              <a:rPr lang="en-US" sz="1600" dirty="0"/>
              <a:t> describes the </a:t>
            </a:r>
            <a:r>
              <a:rPr lang="en-US" sz="1600" b="1" dirty="0"/>
              <a:t>motivation</a:t>
            </a:r>
            <a:r>
              <a:rPr lang="en-US" sz="1600" dirty="0"/>
              <a:t>, </a:t>
            </a:r>
            <a:r>
              <a:rPr lang="en-US" sz="1600" b="1" dirty="0"/>
              <a:t>architecture</a:t>
            </a:r>
            <a:r>
              <a:rPr lang="en-US" sz="1600" dirty="0"/>
              <a:t> and the </a:t>
            </a:r>
            <a:r>
              <a:rPr lang="en-US" sz="1600" b="1" dirty="0"/>
              <a:t>relationship</a:t>
            </a:r>
            <a:r>
              <a:rPr lang="en-US" sz="1600" dirty="0"/>
              <a:t> to other two documents.</a:t>
            </a:r>
            <a:endParaRPr lang="en-GB" sz="1600" dirty="0"/>
          </a:p>
          <a:p>
            <a:r>
              <a:rPr lang="en-GB" sz="1600" dirty="0"/>
              <a:t>By </a:t>
            </a:r>
            <a:r>
              <a:rPr lang="en-GB" sz="1600" b="1" dirty="0">
                <a:solidFill>
                  <a:schemeClr val="accent1"/>
                </a:solidFill>
              </a:rPr>
              <a:t>standardizing </a:t>
            </a:r>
            <a:r>
              <a:rPr lang="en-GB" sz="1600" b="1" dirty="0" err="1">
                <a:solidFill>
                  <a:schemeClr val="accent1"/>
                </a:solidFill>
              </a:rPr>
              <a:t>labeled</a:t>
            </a:r>
            <a:r>
              <a:rPr lang="en-GB" sz="1600" b="1" dirty="0">
                <a:solidFill>
                  <a:schemeClr val="accent1"/>
                </a:solidFill>
              </a:rPr>
              <a:t> incident data </a:t>
            </a:r>
            <a:r>
              <a:rPr lang="en-GB" sz="1600" dirty="0"/>
              <a:t>and </a:t>
            </a:r>
            <a:r>
              <a:rPr lang="en-GB" sz="1600" b="1" dirty="0">
                <a:solidFill>
                  <a:schemeClr val="accent6"/>
                </a:solidFill>
              </a:rPr>
              <a:t>automating the </a:t>
            </a:r>
            <a:r>
              <a:rPr lang="en-GB" sz="1600" b="1">
                <a:solidFill>
                  <a:schemeClr val="accent6"/>
                </a:solidFill>
              </a:rPr>
              <a:t>postmortem process</a:t>
            </a:r>
            <a:r>
              <a:rPr lang="en-GB" sz="1600" b="1"/>
              <a:t>, </a:t>
            </a:r>
            <a:r>
              <a:rPr lang="en-GB" sz="1600" dirty="0"/>
              <a:t>operators can</a:t>
            </a:r>
            <a:r>
              <a:rPr lang="en-GB" sz="1600" b="1" dirty="0"/>
              <a:t> improve machine learning </a:t>
            </a:r>
            <a:r>
              <a:rPr lang="en-GB" sz="1600" dirty="0"/>
              <a:t>models continuously and </a:t>
            </a:r>
            <a:r>
              <a:rPr lang="en-GB" sz="1600" b="1" dirty="0"/>
              <a:t>foster better collaboration </a:t>
            </a:r>
            <a:r>
              <a:rPr lang="en-GB" sz="1600" dirty="0"/>
              <a:t>between vendors and academia.</a:t>
            </a:r>
          </a:p>
          <a:p>
            <a:pPr marL="214313" indent="-214313">
              <a:buFont typeface="Wingdings" panose="05000000000000000000" pitchFamily="2" charset="2"/>
              <a:buChar char="Ø"/>
            </a:pPr>
            <a:r>
              <a:rPr lang="en-US" sz="1600" dirty="0">
                <a:solidFill>
                  <a:schemeClr val="accent1"/>
                </a:solidFill>
                <a:hlinkClick r:id="rId3">
                  <a:extLst>
                    <a:ext uri="{A12FA001-AC4F-418D-AE19-62706E023703}">
                      <ahyp:hlinkClr xmlns:ahyp="http://schemas.microsoft.com/office/drawing/2018/hyperlinkcolor" val="tx"/>
                    </a:ext>
                  </a:extLst>
                </a:hlinkClick>
              </a:rPr>
              <a:t>draft-ietf-nmop-network-anomaly-semantics</a:t>
            </a:r>
            <a:r>
              <a:rPr lang="en-US" sz="1600" dirty="0"/>
              <a:t> defines Symptom semantics to enable </a:t>
            </a:r>
            <a:r>
              <a:rPr lang="en-US" sz="1600" b="1" dirty="0"/>
              <a:t>standardized data exchange </a:t>
            </a:r>
            <a:r>
              <a:rPr lang="en-US" sz="1600" dirty="0"/>
              <a:t>to </a:t>
            </a:r>
            <a:r>
              <a:rPr lang="en-US" sz="1600" b="1" dirty="0"/>
              <a:t>validate results</a:t>
            </a:r>
            <a:r>
              <a:rPr lang="en-US" sz="1600" dirty="0"/>
              <a:t> with network engineers and improve supervised and semi-supervised machine learning systems. </a:t>
            </a:r>
          </a:p>
          <a:p>
            <a:pPr marL="214313" indent="-214313">
              <a:buFont typeface="Wingdings" panose="05000000000000000000" pitchFamily="2" charset="2"/>
              <a:buChar char="Ø"/>
            </a:pPr>
            <a:r>
              <a:rPr lang="en-US" sz="1600" dirty="0">
                <a:solidFill>
                  <a:schemeClr val="accent6"/>
                </a:solidFill>
                <a:hlinkClick r:id="rId4">
                  <a:extLst>
                    <a:ext uri="{A12FA001-AC4F-418D-AE19-62706E023703}">
                      <ahyp:hlinkClr xmlns:ahyp="http://schemas.microsoft.com/office/drawing/2018/hyperlinkcolor" val="tx"/>
                    </a:ext>
                  </a:extLst>
                </a:hlinkClick>
              </a:rPr>
              <a:t>draft-ietf-nmop-network-anomaly-lifecycle</a:t>
            </a:r>
            <a:r>
              <a:rPr lang="en-US" sz="1600" dirty="0"/>
              <a:t> describes the lifecycle process, enabling network engineers to </a:t>
            </a:r>
            <a:r>
              <a:rPr lang="en-US" sz="1600" b="1" dirty="0"/>
              <a:t>interact</a:t>
            </a:r>
            <a:r>
              <a:rPr lang="en-US" sz="1600" dirty="0"/>
              <a:t> with the network anomaly detection system to </a:t>
            </a:r>
            <a:r>
              <a:rPr lang="en-US" sz="1600" b="1" dirty="0"/>
              <a:t>refine the detection abilities</a:t>
            </a:r>
            <a:r>
              <a:rPr lang="en-US" sz="1600" dirty="0"/>
              <a:t> over time. </a:t>
            </a:r>
            <a:endParaRPr lang="en-GB" sz="1600" dirty="0"/>
          </a:p>
          <a:p>
            <a:br>
              <a:rPr lang="en-GB" sz="1600" dirty="0"/>
            </a:br>
            <a:endParaRPr lang="en-GB" sz="1600" dirty="0"/>
          </a:p>
        </p:txBody>
      </p:sp>
      <p:sp>
        <p:nvSpPr>
          <p:cNvPr id="2" name="Inhaltsplatzhalter 2">
            <a:extLst>
              <a:ext uri="{FF2B5EF4-FFF2-40B4-BE49-F238E27FC236}">
                <a16:creationId xmlns:a16="http://schemas.microsoft.com/office/drawing/2014/main" id="{40698F20-E35A-7859-BBD7-0DF9260329A7}"/>
              </a:ext>
            </a:extLst>
          </p:cNvPr>
          <p:cNvSpPr txBox="1">
            <a:spLocks/>
          </p:cNvSpPr>
          <p:nvPr/>
        </p:nvSpPr>
        <p:spPr bwMode="black">
          <a:xfrm>
            <a:off x="5451411" y="1641514"/>
            <a:ext cx="3484984" cy="3125923"/>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marL="214313" indent="-214313">
              <a:buFont typeface="Wingdings" panose="05000000000000000000" pitchFamily="2" charset="2"/>
              <a:buChar char="Ø"/>
            </a:pPr>
            <a:endParaRPr lang="en-US" sz="1400" dirty="0"/>
          </a:p>
        </p:txBody>
      </p:sp>
      <p:sp>
        <p:nvSpPr>
          <p:cNvPr id="3" name="Text Placeholder 10">
            <a:extLst>
              <a:ext uri="{FF2B5EF4-FFF2-40B4-BE49-F238E27FC236}">
                <a16:creationId xmlns:a16="http://schemas.microsoft.com/office/drawing/2014/main" id="{AC32D27E-E01A-131C-C4B7-9A918341F560}"/>
              </a:ext>
            </a:extLst>
          </p:cNvPr>
          <p:cNvSpPr txBox="1">
            <a:spLocks/>
          </p:cNvSpPr>
          <p:nvPr/>
        </p:nvSpPr>
        <p:spPr bwMode="black">
          <a:xfrm>
            <a:off x="5451411" y="498514"/>
            <a:ext cx="1987421" cy="695247"/>
          </a:xfrm>
          <a:prstGeom prst="rect">
            <a:avLst/>
          </a:prstGeom>
        </p:spPr>
        <p:txBody>
          <a:bodyPr lIns="0" tIns="21600" rIns="0" bIns="21600" anchor="b"/>
          <a:lstStyle>
            <a:lvl1pPr marL="0" indent="0" algn="l" defTabSz="914400" rtl="0" eaLnBrk="1" latinLnBrk="0" hangingPunct="1">
              <a:lnSpc>
                <a:spcPct val="90000"/>
              </a:lnSpc>
              <a:spcBef>
                <a:spcPts val="0"/>
              </a:spcBef>
              <a:spcAft>
                <a:spcPts val="0"/>
              </a:spcAft>
              <a:buFont typeface="Arial" panose="020B0604020202020204" pitchFamily="34" charset="0"/>
              <a:buNone/>
              <a:defRPr sz="3200" b="1" kern="1200">
                <a:solidFill>
                  <a:schemeClr val="tx1"/>
                </a:solidFill>
                <a:latin typeface="+mj-lt"/>
                <a:ea typeface="+mn-ea"/>
                <a:cs typeface="+mn-cs"/>
              </a:defRPr>
            </a:lvl1pPr>
            <a:lvl2pPr marL="0" indent="0" algn="l" defTabSz="914400" rtl="0" eaLnBrk="1" latinLnBrk="0" hangingPunct="1">
              <a:lnSpc>
                <a:spcPct val="90000"/>
              </a:lnSpc>
              <a:spcBef>
                <a:spcPts val="0"/>
              </a:spcBef>
              <a:spcAft>
                <a:spcPts val="0"/>
              </a:spcAft>
              <a:buFont typeface="Arial" panose="020B0604020202020204" pitchFamily="34" charset="0"/>
              <a:buNone/>
              <a:defRPr sz="3200" b="1" kern="1200">
                <a:solidFill>
                  <a:schemeClr val="tx1"/>
                </a:solidFill>
                <a:latin typeface="+mj-lt"/>
                <a:ea typeface="+mn-ea"/>
                <a:cs typeface="+mn-cs"/>
              </a:defRPr>
            </a:lvl2pPr>
            <a:lvl3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3pPr>
            <a:lvl4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4pPr>
            <a:lvl5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5pPr>
            <a:lvl6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6pPr>
            <a:lvl7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7pPr>
            <a:lvl8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8pPr>
            <a:lvl9pPr marL="0" indent="0" algn="l" defTabSz="914400" rtl="0" eaLnBrk="1" latinLnBrk="0" hangingPunct="1">
              <a:lnSpc>
                <a:spcPct val="90000"/>
              </a:lnSpc>
              <a:spcBef>
                <a:spcPts val="0"/>
              </a:spcBef>
              <a:spcAft>
                <a:spcPts val="0"/>
              </a:spcAft>
              <a:buFont typeface="TheSans Swisscom Light" panose="020B0300040303060204" pitchFamily="34" charset="0"/>
              <a:buNone/>
              <a:defRPr sz="3200" b="1" kern="1200">
                <a:solidFill>
                  <a:schemeClr val="tx1"/>
                </a:solidFill>
                <a:latin typeface="+mj-lt"/>
                <a:ea typeface="+mn-ea"/>
                <a:cs typeface="+mn-cs"/>
              </a:defRPr>
            </a:lvl9pPr>
          </a:lstStyle>
          <a:p>
            <a:pPr algn="r" defTabSz="685800">
              <a:defRPr/>
            </a:pPr>
            <a:r>
              <a:rPr lang="en-US" sz="2100" spc="-38">
                <a:solidFill>
                  <a:prstClr val="black"/>
                </a:solidFill>
                <a:latin typeface="Calibri Light" panose="020F0302020204030204"/>
              </a:rPr>
              <a:t>Network Anomaly Detection</a:t>
            </a:r>
            <a:endParaRPr lang="en-US" sz="2100" spc="-38" dirty="0">
              <a:solidFill>
                <a:prstClr val="black"/>
              </a:solidFill>
              <a:latin typeface="Calibri Light" panose="020F0302020204030204"/>
            </a:endParaRPr>
          </a:p>
        </p:txBody>
      </p:sp>
      <p:pic>
        <p:nvPicPr>
          <p:cNvPr id="4" name="Picture 3">
            <a:extLst>
              <a:ext uri="{FF2B5EF4-FFF2-40B4-BE49-F238E27FC236}">
                <a16:creationId xmlns:a16="http://schemas.microsoft.com/office/drawing/2014/main" id="{A10DB6D2-AE41-F640-9B4A-96205F1AB05E}"/>
              </a:ext>
            </a:extLst>
          </p:cNvPr>
          <p:cNvPicPr>
            <a:picLocks noChangeAspect="1"/>
          </p:cNvPicPr>
          <p:nvPr/>
        </p:nvPicPr>
        <p:blipFill>
          <a:blip r:embed="rId5"/>
          <a:stretch>
            <a:fillRect/>
          </a:stretch>
        </p:blipFill>
        <p:spPr>
          <a:xfrm>
            <a:off x="7581820" y="425441"/>
            <a:ext cx="1264444" cy="1092994"/>
          </a:xfrm>
          <a:prstGeom prst="rect">
            <a:avLst/>
          </a:prstGeom>
        </p:spPr>
      </p:pic>
      <p:sp>
        <p:nvSpPr>
          <p:cNvPr id="7" name="Title 1">
            <a:extLst>
              <a:ext uri="{FF2B5EF4-FFF2-40B4-BE49-F238E27FC236}">
                <a16:creationId xmlns:a16="http://schemas.microsoft.com/office/drawing/2014/main" id="{97C4EA3D-200C-4259-0358-FFA150A6CCE2}"/>
              </a:ext>
            </a:extLst>
          </p:cNvPr>
          <p:cNvSpPr txBox="1">
            <a:spLocks/>
          </p:cNvSpPr>
          <p:nvPr/>
        </p:nvSpPr>
        <p:spPr bwMode="black">
          <a:xfrm>
            <a:off x="457200" y="274638"/>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t>Problem Statement and Motivation</a:t>
            </a:r>
            <a:br>
              <a:rPr lang="en-US" sz="2700" dirty="0"/>
            </a:br>
            <a:r>
              <a:rPr lang="en-US" sz="2000" dirty="0">
                <a:solidFill>
                  <a:schemeClr val="bg2">
                    <a:lumMod val="75000"/>
                  </a:schemeClr>
                </a:solidFill>
              </a:rPr>
              <a:t>How it is being addressed in each document</a:t>
            </a:r>
          </a:p>
        </p:txBody>
      </p:sp>
      <p:sp>
        <p:nvSpPr>
          <p:cNvPr id="13" name="Slide Number Placeholder 12">
            <a:extLst>
              <a:ext uri="{FF2B5EF4-FFF2-40B4-BE49-F238E27FC236}">
                <a16:creationId xmlns:a16="http://schemas.microsoft.com/office/drawing/2014/main" id="{5DA7F251-DE10-E6ED-95F7-B1F0A94BE153}"/>
              </a:ext>
            </a:extLst>
          </p:cNvPr>
          <p:cNvSpPr>
            <a:spLocks noGrp="1"/>
          </p:cNvSpPr>
          <p:nvPr>
            <p:ph type="sldNum" sz="quarter" idx="12"/>
          </p:nvPr>
        </p:nvSpPr>
        <p:spPr>
          <a:xfrm>
            <a:off x="6553200" y="6356350"/>
            <a:ext cx="2133600" cy="365125"/>
          </a:xfrm>
        </p:spPr>
        <p:txBody>
          <a:bodyPr/>
          <a:lstStyle/>
          <a:p>
            <a:fld id="{8FF9B0DE-3FEB-4AA0-B465-B80EF7C1333D}" type="slidenum">
              <a:rPr lang="en-GB" smtClean="0"/>
              <a:t>2</a:t>
            </a:fld>
            <a:endParaRPr lang="en-GB"/>
          </a:p>
        </p:txBody>
      </p:sp>
    </p:spTree>
    <p:extLst>
      <p:ext uri="{BB962C8B-B14F-4D97-AF65-F5344CB8AC3E}">
        <p14:creationId xmlns:p14="http://schemas.microsoft.com/office/powerpoint/2010/main" val="428523796"/>
      </p:ext>
    </p:extLst>
  </p:cSld>
  <p:clrMapOvr>
    <a:masterClrMapping/>
  </p:clrMapOvr>
  <mc:AlternateContent xmlns:mc="http://schemas.openxmlformats.org/markup-compatibility/2006" xmlns:p14="http://schemas.microsoft.com/office/powerpoint/2010/main">
    <mc:Choice Requires="p14">
      <p:transition spd="slow" p14:dur="2000" advTm="2903"/>
    </mc:Choice>
    <mc:Fallback xmlns="">
      <p:transition spd="slow" advTm="290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D337-A87D-6A31-8BFF-B7502D2E9D13}"/>
              </a:ext>
            </a:extLst>
          </p:cNvPr>
          <p:cNvSpPr>
            <a:spLocks noGrp="1"/>
          </p:cNvSpPr>
          <p:nvPr>
            <p:ph type="title"/>
          </p:nvPr>
        </p:nvSpPr>
        <p:spPr/>
        <p:txBody>
          <a:bodyPr>
            <a:normAutofit fontScale="90000"/>
          </a:bodyPr>
          <a:lstStyle/>
          <a:p>
            <a:r>
              <a:rPr lang="en-US"/>
              <a:t>draft-ietf-nmop-network-anomaly-architecture-07</a:t>
            </a:r>
            <a:br>
              <a:rPr lang="en-CH" dirty="0"/>
            </a:br>
            <a:endParaRPr lang="en-CH" dirty="0"/>
          </a:p>
        </p:txBody>
      </p:sp>
      <p:sp>
        <p:nvSpPr>
          <p:cNvPr id="3" name="Text Placeholder 2">
            <a:extLst>
              <a:ext uri="{FF2B5EF4-FFF2-40B4-BE49-F238E27FC236}">
                <a16:creationId xmlns:a16="http://schemas.microsoft.com/office/drawing/2014/main" id="{397C8812-E8AA-5178-B95B-CD0E7BB287BA}"/>
              </a:ext>
            </a:extLst>
          </p:cNvPr>
          <p:cNvSpPr>
            <a:spLocks noGrp="1"/>
          </p:cNvSpPr>
          <p:nvPr>
            <p:ph type="body" idx="1"/>
          </p:nvPr>
        </p:nvSpPr>
        <p:spPr/>
        <p:txBody>
          <a:bodyPr/>
          <a:lstStyle/>
          <a:p>
            <a:r>
              <a:rPr lang="en-US" b="1" dirty="0"/>
              <a:t>Network Anomaly Detection Architecture</a:t>
            </a:r>
            <a:endParaRPr lang="en-CH" dirty="0"/>
          </a:p>
        </p:txBody>
      </p:sp>
      <p:sp>
        <p:nvSpPr>
          <p:cNvPr id="5" name="Slide Number Placeholder 4">
            <a:extLst>
              <a:ext uri="{FF2B5EF4-FFF2-40B4-BE49-F238E27FC236}">
                <a16:creationId xmlns:a16="http://schemas.microsoft.com/office/drawing/2014/main" id="{9663B77D-4946-EFAA-2DE6-7E277F6AC942}"/>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34230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pPr algn="l"/>
            <a:r>
              <a:rPr lang="en-US" sz="2400" b="1" dirty="0"/>
              <a:t>Network Anomaly Detection Architecture</a:t>
            </a:r>
            <a:br>
              <a:rPr lang="en-US" sz="3200" dirty="0"/>
            </a:br>
            <a:r>
              <a:rPr lang="en-US" sz="2000" dirty="0">
                <a:solidFill>
                  <a:schemeClr val="bg2">
                    <a:lumMod val="75000"/>
                  </a:schemeClr>
                </a:solidFill>
              </a:rPr>
              <a:t>Document summary</a:t>
            </a: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720000" y="1800000"/>
            <a:ext cx="3382389" cy="3997755"/>
          </a:xfrm>
        </p:spPr>
        <p:txBody>
          <a:bodyPr>
            <a:noAutofit/>
          </a:bodyPr>
          <a:lstStyle/>
          <a:p>
            <a:pPr marL="0" indent="0">
              <a:spcBef>
                <a:spcPts val="225"/>
              </a:spcBef>
              <a:spcAft>
                <a:spcPts val="225"/>
              </a:spcAft>
              <a:buNone/>
            </a:pPr>
            <a:r>
              <a:rPr lang="en-GB" sz="1600" b="1" dirty="0"/>
              <a:t>Motivation</a:t>
            </a:r>
            <a:r>
              <a:rPr lang="en-GB" sz="1600" dirty="0"/>
              <a:t>: </a:t>
            </a:r>
          </a:p>
          <a:p>
            <a:pPr marL="0" indent="0">
              <a:spcBef>
                <a:spcPts val="225"/>
              </a:spcBef>
              <a:spcAft>
                <a:spcPts val="225"/>
              </a:spcAft>
              <a:buNone/>
            </a:pPr>
            <a:r>
              <a:rPr lang="en-GB" sz="1600" dirty="0"/>
              <a:t>Human‑driven troubleshooting does not </a:t>
            </a:r>
            <a:r>
              <a:rPr lang="en-GB" sz="1600" dirty="0">
                <a:solidFill>
                  <a:schemeClr val="accent2"/>
                </a:solidFill>
              </a:rPr>
              <a:t>scale</a:t>
            </a:r>
            <a:r>
              <a:rPr lang="en-GB" sz="1600" dirty="0"/>
              <a:t> due to the growing number of dependencies</a:t>
            </a:r>
          </a:p>
          <a:p>
            <a:pPr marL="0" indent="0">
              <a:spcBef>
                <a:spcPts val="225"/>
              </a:spcBef>
              <a:spcAft>
                <a:spcPts val="225"/>
              </a:spcAft>
              <a:buNone/>
            </a:pPr>
            <a:endParaRPr lang="en-GB" sz="1600" dirty="0"/>
          </a:p>
          <a:p>
            <a:pPr marL="0" indent="0">
              <a:spcBef>
                <a:spcPts val="225"/>
              </a:spcBef>
              <a:spcAft>
                <a:spcPts val="225"/>
              </a:spcAft>
              <a:buNone/>
            </a:pPr>
            <a:r>
              <a:rPr lang="en-GB" sz="1600" b="1" dirty="0"/>
              <a:t>Approach:</a:t>
            </a:r>
          </a:p>
          <a:p>
            <a:pPr marL="0" indent="0">
              <a:spcBef>
                <a:spcPts val="225"/>
              </a:spcBef>
              <a:spcAft>
                <a:spcPts val="225"/>
              </a:spcAft>
              <a:buNone/>
            </a:pPr>
            <a:r>
              <a:rPr lang="en-GB" sz="1600" dirty="0"/>
              <a:t>This draft defines a </a:t>
            </a:r>
            <a:r>
              <a:rPr lang="en-GB" sz="1600" dirty="0">
                <a:solidFill>
                  <a:schemeClr val="accent2"/>
                </a:solidFill>
              </a:rPr>
              <a:t>standardized, architecture‑level framework</a:t>
            </a:r>
          </a:p>
          <a:p>
            <a:pPr marL="0" indent="0">
              <a:spcBef>
                <a:spcPts val="225"/>
              </a:spcBef>
              <a:spcAft>
                <a:spcPts val="225"/>
              </a:spcAft>
              <a:buNone/>
            </a:pPr>
            <a:endParaRPr lang="en-GB" sz="1600" dirty="0">
              <a:solidFill>
                <a:schemeClr val="accent2"/>
              </a:solidFill>
            </a:endParaRPr>
          </a:p>
          <a:p>
            <a:pPr marL="0" indent="0">
              <a:spcBef>
                <a:spcPts val="225"/>
              </a:spcBef>
              <a:spcAft>
                <a:spcPts val="225"/>
              </a:spcAft>
              <a:buNone/>
            </a:pPr>
            <a:r>
              <a:rPr lang="en-GB" sz="1600" b="1" dirty="0"/>
              <a:t>Outcome</a:t>
            </a:r>
            <a:r>
              <a:rPr lang="en-GB" sz="1600" dirty="0"/>
              <a:t>:</a:t>
            </a:r>
          </a:p>
          <a:p>
            <a:pPr marL="0" indent="0">
              <a:spcBef>
                <a:spcPts val="225"/>
              </a:spcBef>
              <a:spcAft>
                <a:spcPts val="225"/>
              </a:spcAft>
              <a:buNone/>
            </a:pPr>
            <a:r>
              <a:rPr lang="en-GB" sz="1600" dirty="0"/>
              <a:t>Enable </a:t>
            </a:r>
            <a:r>
              <a:rPr lang="en-GB" sz="1600" dirty="0">
                <a:solidFill>
                  <a:schemeClr val="accent2"/>
                </a:solidFill>
              </a:rPr>
              <a:t>automated service disruption detection</a:t>
            </a:r>
            <a:endParaRPr lang="en-US" sz="1600" dirty="0">
              <a:solidFill>
                <a:schemeClr val="accent2"/>
              </a:solidFill>
            </a:endParaRPr>
          </a:p>
        </p:txBody>
      </p:sp>
      <p:sp>
        <p:nvSpPr>
          <p:cNvPr id="4" name="Title 1">
            <a:extLst>
              <a:ext uri="{FF2B5EF4-FFF2-40B4-BE49-F238E27FC236}">
                <a16:creationId xmlns:a16="http://schemas.microsoft.com/office/drawing/2014/main" id="{DF201438-AEE1-9346-3506-A4640812DA37}"/>
              </a:ext>
            </a:extLst>
          </p:cNvPr>
          <p:cNvSpPr txBox="1">
            <a:spLocks/>
          </p:cNvSpPr>
          <p:nvPr/>
        </p:nvSpPr>
        <p:spPr>
          <a:xfrm>
            <a:off x="628650" y="458592"/>
            <a:ext cx="7886700"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950" dirty="0">
              <a:solidFill>
                <a:schemeClr val="bg2">
                  <a:lumMod val="75000"/>
                </a:schemeClr>
              </a:solidFill>
            </a:endParaRPr>
          </a:p>
        </p:txBody>
      </p:sp>
      <p:pic>
        <p:nvPicPr>
          <p:cNvPr id="5" name="Picture 4">
            <a:extLst>
              <a:ext uri="{FF2B5EF4-FFF2-40B4-BE49-F238E27FC236}">
                <a16:creationId xmlns:a16="http://schemas.microsoft.com/office/drawing/2014/main" id="{6F71B775-5030-10FF-6E64-5FE9ACC04F78}"/>
              </a:ext>
            </a:extLst>
          </p:cNvPr>
          <p:cNvPicPr>
            <a:picLocks noChangeAspect="1"/>
          </p:cNvPicPr>
          <p:nvPr/>
        </p:nvPicPr>
        <p:blipFill>
          <a:blip r:embed="rId3"/>
          <a:stretch>
            <a:fillRect/>
          </a:stretch>
        </p:blipFill>
        <p:spPr>
          <a:xfrm>
            <a:off x="4413048" y="1176005"/>
            <a:ext cx="3823213" cy="5223403"/>
          </a:xfrm>
          <a:prstGeom prst="rect">
            <a:avLst/>
          </a:prstGeom>
        </p:spPr>
      </p:pic>
      <p:sp>
        <p:nvSpPr>
          <p:cNvPr id="7" name="Slide Number Placeholder 6">
            <a:extLst>
              <a:ext uri="{FF2B5EF4-FFF2-40B4-BE49-F238E27FC236}">
                <a16:creationId xmlns:a16="http://schemas.microsoft.com/office/drawing/2014/main" id="{C7D5667A-3B98-E7BC-B5FB-5FA45380074F}"/>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10" name="TextBox 9">
            <a:extLst>
              <a:ext uri="{FF2B5EF4-FFF2-40B4-BE49-F238E27FC236}">
                <a16:creationId xmlns:a16="http://schemas.microsoft.com/office/drawing/2014/main" id="{70F02209-FFEC-E5F1-046B-29DC3FB03908}"/>
              </a:ext>
            </a:extLst>
          </p:cNvPr>
          <p:cNvSpPr txBox="1"/>
          <p:nvPr/>
        </p:nvSpPr>
        <p:spPr>
          <a:xfrm>
            <a:off x="5162604" y="6323468"/>
            <a:ext cx="2324100" cy="215444"/>
          </a:xfrm>
          <a:prstGeom prst="rect">
            <a:avLst/>
          </a:prstGeom>
          <a:noFill/>
        </p:spPr>
        <p:txBody>
          <a:bodyPr wrap="square" rtlCol="0">
            <a:spAutoFit/>
          </a:bodyPr>
          <a:lstStyle/>
          <a:p>
            <a:r>
              <a:rPr lang="en-US" sz="800" dirty="0">
                <a:hlinkClick r:id="rId4"/>
              </a:rPr>
              <a:t>draft-ietf-nmop-network-anomaly-architecture</a:t>
            </a:r>
            <a:endParaRPr lang="en-CH" sz="800" dirty="0"/>
          </a:p>
        </p:txBody>
      </p:sp>
    </p:spTree>
    <p:extLst>
      <p:ext uri="{BB962C8B-B14F-4D97-AF65-F5344CB8AC3E}">
        <p14:creationId xmlns:p14="http://schemas.microsoft.com/office/powerpoint/2010/main" val="650935492"/>
      </p:ext>
    </p:extLst>
  </p:cSld>
  <p:clrMapOvr>
    <a:masterClrMapping/>
  </p:clrMapOvr>
  <mc:AlternateContent xmlns:mc="http://schemas.openxmlformats.org/markup-compatibility/2006" xmlns:p14="http://schemas.microsoft.com/office/powerpoint/2010/main">
    <mc:Choice Requires="p14">
      <p:transition spd="slow" p14:dur="2000" advTm="2658"/>
    </mc:Choice>
    <mc:Fallback xmlns="">
      <p:transition spd="slow" advTm="265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6F9E6-44E5-6FAF-A0CF-82C0B55D4F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209B5F-12F6-9A75-A5C8-FB699F15D6EB}"/>
              </a:ext>
            </a:extLst>
          </p:cNvPr>
          <p:cNvSpPr>
            <a:spLocks noGrp="1"/>
          </p:cNvSpPr>
          <p:nvPr>
            <p:ph idx="1"/>
          </p:nvPr>
        </p:nvSpPr>
        <p:spPr>
          <a:xfrm>
            <a:off x="576000" y="1440000"/>
            <a:ext cx="7939350" cy="4551726"/>
          </a:xfrm>
        </p:spPr>
        <p:txBody>
          <a:bodyPr>
            <a:noAutofit/>
          </a:bodyPr>
          <a:lstStyle/>
          <a:p>
            <a:pPr>
              <a:spcBef>
                <a:spcPts val="225"/>
              </a:spcBef>
              <a:spcAft>
                <a:spcPts val="225"/>
              </a:spcAft>
            </a:pPr>
            <a:r>
              <a:rPr lang="en-US" sz="1400" b="1" dirty="0"/>
              <a:t>Terminology update</a:t>
            </a:r>
          </a:p>
          <a:p>
            <a:pPr lvl="1">
              <a:spcBef>
                <a:spcPts val="225"/>
              </a:spcBef>
              <a:spcAft>
                <a:spcPts val="225"/>
              </a:spcAft>
            </a:pPr>
            <a:r>
              <a:rPr lang="en-US" sz="1400" dirty="0"/>
              <a:t>Change from “customer profile” to “service profile” </a:t>
            </a:r>
            <a:r>
              <a:rPr lang="en-GB" sz="1400" dirty="0"/>
              <a:t>to ensure consistency across reference documentation (RFC 8969).</a:t>
            </a:r>
          </a:p>
          <a:p>
            <a:pPr lvl="1">
              <a:spcBef>
                <a:spcPts val="225"/>
              </a:spcBef>
              <a:spcAft>
                <a:spcPts val="225"/>
              </a:spcAft>
            </a:pPr>
            <a:r>
              <a:rPr lang="en-GB" sz="1400" dirty="0"/>
              <a:t>Added formal “Rules" definition</a:t>
            </a:r>
            <a:r>
              <a:rPr lang="en-US" sz="1400" dirty="0"/>
              <a:t> to distinguish between knowledge-based approach and ML approach.</a:t>
            </a:r>
          </a:p>
          <a:p>
            <a:pPr>
              <a:spcBef>
                <a:spcPts val="225"/>
              </a:spcBef>
              <a:spcAft>
                <a:spcPts val="225"/>
              </a:spcAft>
            </a:pPr>
            <a:r>
              <a:rPr lang="en-US" sz="1400" b="1" dirty="0"/>
              <a:t>Restructure</a:t>
            </a:r>
          </a:p>
          <a:p>
            <a:pPr lvl="1">
              <a:spcBef>
                <a:spcPts val="225"/>
              </a:spcBef>
              <a:spcAft>
                <a:spcPts val="225"/>
              </a:spcAft>
            </a:pPr>
            <a:r>
              <a:rPr lang="en-GB" sz="1400" dirty="0"/>
              <a:t>Reorganisation Service Disruption Section to improve reading</a:t>
            </a:r>
          </a:p>
          <a:p>
            <a:pPr>
              <a:spcBef>
                <a:spcPts val="225"/>
              </a:spcBef>
              <a:spcAft>
                <a:spcPts val="225"/>
              </a:spcAft>
            </a:pPr>
            <a:r>
              <a:rPr lang="en-GB" sz="1400" b="1" dirty="0"/>
              <a:t>Refinement</a:t>
            </a:r>
          </a:p>
          <a:p>
            <a:pPr lvl="1"/>
            <a:r>
              <a:rPr lang="en-GB" sz="1400" dirty="0"/>
              <a:t>Clarified the relationship between Semantic, Rule, &amp; Knowledge-based detection.</a:t>
            </a:r>
          </a:p>
          <a:p>
            <a:pPr lvl="1"/>
            <a:r>
              <a:rPr lang="en-GB" sz="1400" dirty="0"/>
              <a:t>Refined definition: collective outlier, confidence score, concern score. </a:t>
            </a:r>
          </a:p>
          <a:p>
            <a:pPr lvl="1"/>
            <a:r>
              <a:rPr lang="en-GB" sz="1400" dirty="0"/>
              <a:t>Refined clarification: Alarm-raising criteria, Data storage considerations, Operational data aggregation</a:t>
            </a:r>
          </a:p>
          <a:p>
            <a:r>
              <a:rPr lang="en-GB" sz="1400" dirty="0"/>
              <a:t> Explicitly </a:t>
            </a:r>
            <a:r>
              <a:rPr lang="en-GB" sz="1400" b="1" dirty="0"/>
              <a:t>out-scoped</a:t>
            </a:r>
            <a:r>
              <a:rPr lang="en-GB" sz="1400" dirty="0"/>
              <a:t> Service Degradation based on WG review feedback</a:t>
            </a:r>
          </a:p>
        </p:txBody>
      </p:sp>
      <p:sp>
        <p:nvSpPr>
          <p:cNvPr id="2" name="Title 1">
            <a:extLst>
              <a:ext uri="{FF2B5EF4-FFF2-40B4-BE49-F238E27FC236}">
                <a16:creationId xmlns:a16="http://schemas.microsoft.com/office/drawing/2014/main" id="{3219CA57-C4F2-8E12-EB3C-B9496482903B}"/>
              </a:ext>
            </a:extLst>
          </p:cNvPr>
          <p:cNvSpPr>
            <a:spLocks noGrp="1"/>
          </p:cNvSpPr>
          <p:nvPr>
            <p:ph type="title"/>
          </p:nvPr>
        </p:nvSpPr>
        <p:spPr/>
        <p:txBody>
          <a:bodyPr>
            <a:normAutofit/>
          </a:bodyPr>
          <a:lstStyle/>
          <a:p>
            <a:pPr algn="l"/>
            <a:r>
              <a:rPr lang="en-US" sz="2400" b="1" dirty="0"/>
              <a:t>Network Anomaly Detection Architecture</a:t>
            </a:r>
            <a:br>
              <a:rPr lang="en-US" sz="3200" dirty="0"/>
            </a:br>
            <a:r>
              <a:rPr lang="en-US" sz="2000" dirty="0">
                <a:solidFill>
                  <a:schemeClr val="bg2">
                    <a:lumMod val="75000"/>
                  </a:schemeClr>
                </a:solidFill>
              </a:rPr>
              <a:t>Key draft updates since v-05</a:t>
            </a:r>
          </a:p>
        </p:txBody>
      </p:sp>
      <p:sp>
        <p:nvSpPr>
          <p:cNvPr id="4" name="Title 1">
            <a:extLst>
              <a:ext uri="{FF2B5EF4-FFF2-40B4-BE49-F238E27FC236}">
                <a16:creationId xmlns:a16="http://schemas.microsoft.com/office/drawing/2014/main" id="{BD683859-82C2-A142-ED34-82FDB4B6D333}"/>
              </a:ext>
            </a:extLst>
          </p:cNvPr>
          <p:cNvSpPr txBox="1">
            <a:spLocks/>
          </p:cNvSpPr>
          <p:nvPr/>
        </p:nvSpPr>
        <p:spPr>
          <a:xfrm>
            <a:off x="628650" y="458592"/>
            <a:ext cx="7886700"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950" dirty="0">
              <a:solidFill>
                <a:schemeClr val="bg2">
                  <a:lumMod val="75000"/>
                </a:schemeClr>
              </a:solidFill>
            </a:endParaRPr>
          </a:p>
        </p:txBody>
      </p:sp>
      <p:sp>
        <p:nvSpPr>
          <p:cNvPr id="6" name="Slide Number Placeholder 5">
            <a:extLst>
              <a:ext uri="{FF2B5EF4-FFF2-40B4-BE49-F238E27FC236}">
                <a16:creationId xmlns:a16="http://schemas.microsoft.com/office/drawing/2014/main" id="{CD4F497C-A7FD-B42B-DEBC-3C43CBD64062}"/>
              </a:ext>
            </a:extLst>
          </p:cNvPr>
          <p:cNvSpPr>
            <a:spLocks noGrp="1"/>
          </p:cNvSpPr>
          <p:nvPr>
            <p:ph type="sldNum" sz="quarter" idx="12"/>
          </p:nvPr>
        </p:nvSpPr>
        <p:spPr/>
        <p:txBody>
          <a:bodyPr/>
          <a:lstStyle/>
          <a:p>
            <a:fld id="{C1FF6DA9-008F-8B48-92A6-B652298478BF}" type="slidenum">
              <a:rPr lang="en-US" smtClean="0"/>
              <a:t>5</a:t>
            </a:fld>
            <a:endParaRPr lang="en-US"/>
          </a:p>
        </p:txBody>
      </p:sp>
    </p:spTree>
    <p:extLst>
      <p:ext uri="{BB962C8B-B14F-4D97-AF65-F5344CB8AC3E}">
        <p14:creationId xmlns:p14="http://schemas.microsoft.com/office/powerpoint/2010/main" val="3476293507"/>
      </p:ext>
    </p:extLst>
  </p:cSld>
  <p:clrMapOvr>
    <a:masterClrMapping/>
  </p:clrMapOvr>
  <mc:AlternateContent xmlns:mc="http://schemas.openxmlformats.org/markup-compatibility/2006" xmlns:p14="http://schemas.microsoft.com/office/powerpoint/2010/main">
    <mc:Choice Requires="p14">
      <p:transition spd="slow" p14:dur="2000" advTm="7225"/>
    </mc:Choice>
    <mc:Fallback xmlns="">
      <p:transition spd="slow" advTm="722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6E293-7B46-EFFF-8859-6D07AD4BA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3E638-8879-D8CE-6BCE-69025F1EFCFE}"/>
              </a:ext>
            </a:extLst>
          </p:cNvPr>
          <p:cNvSpPr>
            <a:spLocks noGrp="1"/>
          </p:cNvSpPr>
          <p:nvPr>
            <p:ph type="title"/>
          </p:nvPr>
        </p:nvSpPr>
        <p:spPr/>
        <p:txBody>
          <a:bodyPr>
            <a:normAutofit/>
          </a:bodyPr>
          <a:lstStyle/>
          <a:p>
            <a:pPr algn="l"/>
            <a:r>
              <a:rPr lang="en-US" sz="2400" b="1" dirty="0"/>
              <a:t>Network Anomaly Detection Architecture</a:t>
            </a:r>
            <a:br>
              <a:rPr lang="en-US" sz="3200" dirty="0"/>
            </a:br>
            <a:r>
              <a:rPr lang="en-US" sz="2000" dirty="0">
                <a:solidFill>
                  <a:schemeClr val="bg2">
                    <a:lumMod val="75000"/>
                  </a:schemeClr>
                </a:solidFill>
              </a:rPr>
              <a:t>Document implementation and operational experience</a:t>
            </a:r>
          </a:p>
        </p:txBody>
      </p:sp>
      <p:sp>
        <p:nvSpPr>
          <p:cNvPr id="3" name="Content Placeholder 2">
            <a:extLst>
              <a:ext uri="{FF2B5EF4-FFF2-40B4-BE49-F238E27FC236}">
                <a16:creationId xmlns:a16="http://schemas.microsoft.com/office/drawing/2014/main" id="{A3D7B4C2-2F7A-F68D-B869-A4311925833D}"/>
              </a:ext>
            </a:extLst>
          </p:cNvPr>
          <p:cNvSpPr>
            <a:spLocks noGrp="1"/>
          </p:cNvSpPr>
          <p:nvPr>
            <p:ph idx="1"/>
          </p:nvPr>
        </p:nvSpPr>
        <p:spPr>
          <a:xfrm>
            <a:off x="612000" y="1440000"/>
            <a:ext cx="3754801" cy="4524642"/>
          </a:xfrm>
        </p:spPr>
        <p:txBody>
          <a:bodyPr>
            <a:noAutofit/>
          </a:bodyPr>
          <a:lstStyle/>
          <a:p>
            <a:pPr marL="0" indent="0">
              <a:spcBef>
                <a:spcPts val="225"/>
              </a:spcBef>
              <a:spcAft>
                <a:spcPts val="225"/>
              </a:spcAft>
              <a:buNone/>
            </a:pPr>
            <a:r>
              <a:rPr lang="en-US" sz="1600" b="1" dirty="0"/>
              <a:t>L3 VPN – Real-Time Incident Analysis</a:t>
            </a:r>
          </a:p>
          <a:p>
            <a:pPr marL="0" indent="0">
              <a:spcBef>
                <a:spcPts val="225"/>
              </a:spcBef>
              <a:spcAft>
                <a:spcPts val="225"/>
              </a:spcAft>
              <a:buNone/>
            </a:pPr>
            <a:r>
              <a:rPr lang="en-US" sz="1400" dirty="0"/>
              <a:t>Swisscom TV service was severely impaired during 6 hours due to hardware faults and a software defect, which together led to a DoS condition.</a:t>
            </a:r>
          </a:p>
        </p:txBody>
      </p:sp>
      <p:sp>
        <p:nvSpPr>
          <p:cNvPr id="4" name="Title 1">
            <a:extLst>
              <a:ext uri="{FF2B5EF4-FFF2-40B4-BE49-F238E27FC236}">
                <a16:creationId xmlns:a16="http://schemas.microsoft.com/office/drawing/2014/main" id="{0675CE26-29E4-710E-5D8F-3FA178E9970B}"/>
              </a:ext>
            </a:extLst>
          </p:cNvPr>
          <p:cNvSpPr txBox="1">
            <a:spLocks/>
          </p:cNvSpPr>
          <p:nvPr/>
        </p:nvSpPr>
        <p:spPr>
          <a:xfrm>
            <a:off x="628650" y="458592"/>
            <a:ext cx="7886700"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950" dirty="0">
              <a:solidFill>
                <a:schemeClr val="bg2">
                  <a:lumMod val="75000"/>
                </a:schemeClr>
              </a:solidFill>
            </a:endParaRPr>
          </a:p>
        </p:txBody>
      </p:sp>
      <p:sp>
        <p:nvSpPr>
          <p:cNvPr id="6" name="Slide Number Placeholder 5">
            <a:extLst>
              <a:ext uri="{FF2B5EF4-FFF2-40B4-BE49-F238E27FC236}">
                <a16:creationId xmlns:a16="http://schemas.microsoft.com/office/drawing/2014/main" id="{CCFC418C-72F6-FAF2-1F1B-4E77FD8011FB}"/>
              </a:ext>
            </a:extLst>
          </p:cNvPr>
          <p:cNvSpPr>
            <a:spLocks noGrp="1"/>
          </p:cNvSpPr>
          <p:nvPr>
            <p:ph type="sldNum" sz="quarter" idx="12"/>
          </p:nvPr>
        </p:nvSpPr>
        <p:spPr/>
        <p:txBody>
          <a:bodyPr/>
          <a:lstStyle/>
          <a:p>
            <a:fld id="{C1FF6DA9-008F-8B48-92A6-B652298478BF}" type="slidenum">
              <a:rPr lang="en-US" smtClean="0"/>
              <a:t>6</a:t>
            </a:fld>
            <a:endParaRPr lang="en-US"/>
          </a:p>
        </p:txBody>
      </p:sp>
      <p:pic>
        <p:nvPicPr>
          <p:cNvPr id="7" name="Picture 6">
            <a:extLst>
              <a:ext uri="{FF2B5EF4-FFF2-40B4-BE49-F238E27FC236}">
                <a16:creationId xmlns:a16="http://schemas.microsoft.com/office/drawing/2014/main" id="{35C8FFB6-7AD4-850B-7418-8851D606135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53136" y="1798115"/>
            <a:ext cx="3600000" cy="1814516"/>
          </a:xfrm>
          <a:prstGeom prst="rect">
            <a:avLst/>
          </a:prstGeom>
        </p:spPr>
      </p:pic>
      <p:pic>
        <p:nvPicPr>
          <p:cNvPr id="12" name="Picture 11">
            <a:extLst>
              <a:ext uri="{FF2B5EF4-FFF2-40B4-BE49-F238E27FC236}">
                <a16:creationId xmlns:a16="http://schemas.microsoft.com/office/drawing/2014/main" id="{39B6DC9C-E3B7-C26F-413B-68572023D397}"/>
              </a:ext>
            </a:extLst>
          </p:cNvPr>
          <p:cNvPicPr>
            <a:picLocks noChangeAspect="1"/>
          </p:cNvPicPr>
          <p:nvPr/>
        </p:nvPicPr>
        <p:blipFill>
          <a:blip r:embed="rId4"/>
          <a:stretch>
            <a:fillRect/>
          </a:stretch>
        </p:blipFill>
        <p:spPr>
          <a:xfrm>
            <a:off x="5153136" y="3702321"/>
            <a:ext cx="3600000" cy="1740554"/>
          </a:xfrm>
          <a:prstGeom prst="rect">
            <a:avLst/>
          </a:prstGeom>
        </p:spPr>
      </p:pic>
      <p:pic>
        <p:nvPicPr>
          <p:cNvPr id="13" name="Picture 12">
            <a:hlinkClick r:id="rId5"/>
            <a:extLst>
              <a:ext uri="{FF2B5EF4-FFF2-40B4-BE49-F238E27FC236}">
                <a16:creationId xmlns:a16="http://schemas.microsoft.com/office/drawing/2014/main" id="{0D19DAE1-AEBA-D59E-E8A9-023E9C48A40F}"/>
              </a:ext>
            </a:extLst>
          </p:cNvPr>
          <p:cNvPicPr>
            <a:picLocks noChangeAspect="1"/>
          </p:cNvPicPr>
          <p:nvPr/>
        </p:nvPicPr>
        <p:blipFill>
          <a:blip r:embed="rId6"/>
          <a:stretch>
            <a:fillRect/>
          </a:stretch>
        </p:blipFill>
        <p:spPr>
          <a:xfrm>
            <a:off x="390864" y="2908594"/>
            <a:ext cx="4577135" cy="1956799"/>
          </a:xfrm>
          <a:prstGeom prst="rect">
            <a:avLst/>
          </a:prstGeom>
        </p:spPr>
      </p:pic>
    </p:spTree>
    <p:extLst>
      <p:ext uri="{BB962C8B-B14F-4D97-AF65-F5344CB8AC3E}">
        <p14:creationId xmlns:p14="http://schemas.microsoft.com/office/powerpoint/2010/main" val="665221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B4004-D7F3-835F-1C1A-E52513B97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1A840-C972-F154-85F7-AA6C913AB9E9}"/>
              </a:ext>
            </a:extLst>
          </p:cNvPr>
          <p:cNvSpPr>
            <a:spLocks noGrp="1"/>
          </p:cNvSpPr>
          <p:nvPr>
            <p:ph type="title"/>
          </p:nvPr>
        </p:nvSpPr>
        <p:spPr/>
        <p:txBody>
          <a:bodyPr>
            <a:normAutofit/>
          </a:bodyPr>
          <a:lstStyle/>
          <a:p>
            <a:pPr algn="l"/>
            <a:r>
              <a:rPr lang="en-US" sz="2400" b="1" dirty="0"/>
              <a:t>Network Anomaly Detection Architecture</a:t>
            </a:r>
            <a:br>
              <a:rPr lang="en-US" sz="3200" dirty="0"/>
            </a:br>
            <a:r>
              <a:rPr lang="en-US" sz="2000" dirty="0">
                <a:solidFill>
                  <a:schemeClr val="bg2">
                    <a:lumMod val="75000"/>
                  </a:schemeClr>
                </a:solidFill>
              </a:rPr>
              <a:t>Document implementation and operational experience</a:t>
            </a:r>
          </a:p>
        </p:txBody>
      </p:sp>
      <p:sp>
        <p:nvSpPr>
          <p:cNvPr id="3" name="Content Placeholder 2">
            <a:extLst>
              <a:ext uri="{FF2B5EF4-FFF2-40B4-BE49-F238E27FC236}">
                <a16:creationId xmlns:a16="http://schemas.microsoft.com/office/drawing/2014/main" id="{EDC2E425-155D-8ABA-9C9B-C95E37451A70}"/>
              </a:ext>
            </a:extLst>
          </p:cNvPr>
          <p:cNvSpPr>
            <a:spLocks noGrp="1"/>
          </p:cNvSpPr>
          <p:nvPr>
            <p:ph idx="1"/>
          </p:nvPr>
        </p:nvSpPr>
        <p:spPr>
          <a:xfrm>
            <a:off x="612000" y="1440000"/>
            <a:ext cx="3854556" cy="4524642"/>
          </a:xfrm>
        </p:spPr>
        <p:txBody>
          <a:bodyPr>
            <a:noAutofit/>
          </a:bodyPr>
          <a:lstStyle/>
          <a:p>
            <a:pPr marL="0" indent="0">
              <a:spcBef>
                <a:spcPts val="225"/>
              </a:spcBef>
              <a:spcAft>
                <a:spcPts val="225"/>
              </a:spcAft>
              <a:buNone/>
            </a:pPr>
            <a:r>
              <a:rPr lang="en-US" sz="1600" b="1" dirty="0"/>
              <a:t>L3 VPN – Real-Time Incident Analysis</a:t>
            </a:r>
          </a:p>
        </p:txBody>
      </p:sp>
      <p:sp>
        <p:nvSpPr>
          <p:cNvPr id="4" name="Title 1">
            <a:extLst>
              <a:ext uri="{FF2B5EF4-FFF2-40B4-BE49-F238E27FC236}">
                <a16:creationId xmlns:a16="http://schemas.microsoft.com/office/drawing/2014/main" id="{1A71E184-E07A-87C3-557D-C5FFFB7C78C4}"/>
              </a:ext>
            </a:extLst>
          </p:cNvPr>
          <p:cNvSpPr txBox="1">
            <a:spLocks/>
          </p:cNvSpPr>
          <p:nvPr/>
        </p:nvSpPr>
        <p:spPr>
          <a:xfrm>
            <a:off x="628650" y="458592"/>
            <a:ext cx="7886700"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950" dirty="0">
              <a:solidFill>
                <a:schemeClr val="bg2">
                  <a:lumMod val="75000"/>
                </a:schemeClr>
              </a:solidFill>
            </a:endParaRPr>
          </a:p>
        </p:txBody>
      </p:sp>
      <p:sp>
        <p:nvSpPr>
          <p:cNvPr id="6" name="Slide Number Placeholder 5">
            <a:extLst>
              <a:ext uri="{FF2B5EF4-FFF2-40B4-BE49-F238E27FC236}">
                <a16:creationId xmlns:a16="http://schemas.microsoft.com/office/drawing/2014/main" id="{093854A5-F313-A954-61E4-797F5A62005A}"/>
              </a:ext>
            </a:extLst>
          </p:cNvPr>
          <p:cNvSpPr>
            <a:spLocks noGrp="1"/>
          </p:cNvSpPr>
          <p:nvPr>
            <p:ph type="sldNum" sz="quarter" idx="12"/>
          </p:nvPr>
        </p:nvSpPr>
        <p:spPr/>
        <p:txBody>
          <a:bodyPr/>
          <a:lstStyle/>
          <a:p>
            <a:fld id="{C1FF6DA9-008F-8B48-92A6-B652298478BF}" type="slidenum">
              <a:rPr lang="en-US" smtClean="0"/>
              <a:t>7</a:t>
            </a:fld>
            <a:endParaRPr lang="en-US" dirty="0"/>
          </a:p>
        </p:txBody>
      </p:sp>
      <p:pic>
        <p:nvPicPr>
          <p:cNvPr id="8" name="Picture 7">
            <a:extLst>
              <a:ext uri="{FF2B5EF4-FFF2-40B4-BE49-F238E27FC236}">
                <a16:creationId xmlns:a16="http://schemas.microsoft.com/office/drawing/2014/main" id="{805C8CB7-A2A4-C54C-F632-D253C8BC292A}"/>
              </a:ext>
            </a:extLst>
          </p:cNvPr>
          <p:cNvPicPr>
            <a:picLocks noChangeAspect="1"/>
          </p:cNvPicPr>
          <p:nvPr/>
        </p:nvPicPr>
        <p:blipFill>
          <a:blip r:embed="rId3"/>
          <a:srcRect l="12902" t="28228"/>
          <a:stretch>
            <a:fillRect/>
          </a:stretch>
        </p:blipFill>
        <p:spPr>
          <a:xfrm>
            <a:off x="457200" y="2896104"/>
            <a:ext cx="4915646" cy="3108345"/>
          </a:xfrm>
          <a:prstGeom prst="rect">
            <a:avLst/>
          </a:prstGeom>
        </p:spPr>
      </p:pic>
      <p:sp>
        <p:nvSpPr>
          <p:cNvPr id="10" name="Inhaltsplatzhalter 2">
            <a:extLst>
              <a:ext uri="{FF2B5EF4-FFF2-40B4-BE49-F238E27FC236}">
                <a16:creationId xmlns:a16="http://schemas.microsoft.com/office/drawing/2014/main" id="{BA77C990-AA39-8F4F-666D-13962288F02D}"/>
              </a:ext>
            </a:extLst>
          </p:cNvPr>
          <p:cNvSpPr txBox="1">
            <a:spLocks/>
          </p:cNvSpPr>
          <p:nvPr/>
        </p:nvSpPr>
        <p:spPr bwMode="black">
          <a:xfrm>
            <a:off x="6040340" y="1555604"/>
            <a:ext cx="2802335" cy="4409038"/>
          </a:xfrm>
          <a:prstGeom prst="rect">
            <a:avLst/>
          </a:prstGeom>
        </p:spPr>
        <p:txBody>
          <a:bodyPr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marL="171450" indent="-171450">
              <a:spcBef>
                <a:spcPts val="300"/>
              </a:spcBef>
              <a:spcAft>
                <a:spcPts val="300"/>
              </a:spcAft>
              <a:buFont typeface="Arial" panose="020B0604020202020204" pitchFamily="34" charset="0"/>
              <a:buChar char="•"/>
            </a:pPr>
            <a:r>
              <a:rPr lang="en-US" sz="1200" b="1" dirty="0"/>
              <a:t>BMP route-monitoring Update/Withdraw check detected </a:t>
            </a:r>
            <a:r>
              <a:rPr lang="en-US" sz="1200" b="1" dirty="0">
                <a:solidFill>
                  <a:srgbClr val="FF0000"/>
                </a:solidFill>
              </a:rPr>
              <a:t>continuous and</a:t>
            </a:r>
            <a:r>
              <a:rPr lang="en-US" sz="1200" b="1" dirty="0"/>
              <a:t> </a:t>
            </a:r>
            <a:r>
              <a:rPr lang="en-US" sz="1200" b="1" dirty="0">
                <a:solidFill>
                  <a:srgbClr val="FF0000"/>
                </a:solidFill>
              </a:rPr>
              <a:t>excessive routing topology changes </a:t>
            </a:r>
            <a:r>
              <a:rPr lang="en-US" sz="1200" b="1" dirty="0"/>
              <a:t>due to users restarting tv boxes.</a:t>
            </a:r>
          </a:p>
          <a:p>
            <a:pPr marL="171450" indent="-171450">
              <a:spcBef>
                <a:spcPts val="300"/>
              </a:spcBef>
              <a:spcAft>
                <a:spcPts val="300"/>
              </a:spcAft>
              <a:buFont typeface="Arial" panose="020B0604020202020204" pitchFamily="34" charset="0"/>
              <a:buChar char="•"/>
            </a:pPr>
            <a:r>
              <a:rPr lang="en-US" sz="1200" dirty="0"/>
              <a:t>BMP peer Down/Up check did not apply because the hardware crash happened at the application layer.</a:t>
            </a:r>
            <a:endParaRPr lang="en-US" sz="1200" b="1" dirty="0"/>
          </a:p>
          <a:p>
            <a:pPr marL="171450" indent="-171450">
              <a:spcBef>
                <a:spcPts val="300"/>
              </a:spcBef>
              <a:spcAft>
                <a:spcPts val="300"/>
              </a:spcAft>
              <a:buFont typeface="Arial" panose="020B0604020202020204" pitchFamily="34" charset="0"/>
              <a:buChar char="•"/>
            </a:pPr>
            <a:r>
              <a:rPr lang="en-US" sz="1200" dirty="0"/>
              <a:t>Interface Down/Up check did not apply.</a:t>
            </a:r>
          </a:p>
          <a:p>
            <a:pPr marL="171450" indent="-171450">
              <a:spcBef>
                <a:spcPts val="300"/>
              </a:spcBef>
              <a:spcAft>
                <a:spcPts val="300"/>
              </a:spcAft>
              <a:buFont typeface="Arial" panose="020B0604020202020204" pitchFamily="34" charset="0"/>
              <a:buChar char="•"/>
            </a:pPr>
            <a:r>
              <a:rPr lang="en-US" sz="1200" b="1" dirty="0"/>
              <a:t>Traffic Drop spike recognized drops due to unstable routing topology.</a:t>
            </a:r>
          </a:p>
          <a:p>
            <a:pPr marL="171450" indent="-171450">
              <a:spcBef>
                <a:spcPts val="300"/>
              </a:spcBef>
              <a:spcAft>
                <a:spcPts val="300"/>
              </a:spcAft>
              <a:buFont typeface="Arial" panose="020B0604020202020204" pitchFamily="34" charset="0"/>
              <a:buChar char="•"/>
            </a:pPr>
            <a:r>
              <a:rPr lang="en-US" sz="1200" b="1" dirty="0"/>
              <a:t>Missing Traffic </a:t>
            </a:r>
            <a:r>
              <a:rPr lang="en-US" sz="1200" dirty="0"/>
              <a:t>detected.</a:t>
            </a:r>
            <a:endParaRPr lang="en-US" sz="1200" dirty="0">
              <a:solidFill>
                <a:srgbClr val="FFC000"/>
              </a:solidFill>
            </a:endParaRPr>
          </a:p>
          <a:p>
            <a:pPr marL="171450" indent="-171450">
              <a:spcBef>
                <a:spcPts val="300"/>
              </a:spcBef>
              <a:spcAft>
                <a:spcPts val="300"/>
              </a:spcAft>
              <a:buFont typeface="Arial" panose="020B0604020202020204" pitchFamily="34" charset="0"/>
              <a:buChar char="•"/>
            </a:pPr>
            <a:r>
              <a:rPr lang="en-US" sz="1200" dirty="0"/>
              <a:t>Sudden increased or decreased Flow Count was not applicable.</a:t>
            </a:r>
          </a:p>
          <a:p>
            <a:pPr>
              <a:spcBef>
                <a:spcPts val="300"/>
              </a:spcBef>
              <a:spcAft>
                <a:spcPts val="300"/>
              </a:spcAft>
            </a:pPr>
            <a:endParaRPr lang="en-US" sz="1200" b="1" dirty="0"/>
          </a:p>
          <a:p>
            <a:pPr>
              <a:spcBef>
                <a:spcPts val="300"/>
              </a:spcBef>
              <a:spcAft>
                <a:spcPts val="300"/>
              </a:spcAft>
            </a:pPr>
            <a:r>
              <a:rPr lang="en-US" sz="1200" b="1" dirty="0"/>
              <a:t>Overall: data plane and control plane checks have detected the excessive routing topology changes with service disruption. </a:t>
            </a:r>
            <a:endParaRPr lang="en-US" sz="1200" b="1" dirty="0">
              <a:solidFill>
                <a:srgbClr val="FFC000"/>
              </a:solidFill>
            </a:endParaRPr>
          </a:p>
        </p:txBody>
      </p:sp>
      <p:sp>
        <p:nvSpPr>
          <p:cNvPr id="11" name="TextBox 10">
            <a:extLst>
              <a:ext uri="{FF2B5EF4-FFF2-40B4-BE49-F238E27FC236}">
                <a16:creationId xmlns:a16="http://schemas.microsoft.com/office/drawing/2014/main" id="{64250BE1-BAAF-A8C9-ED4F-7F16E01E1E62}"/>
              </a:ext>
            </a:extLst>
          </p:cNvPr>
          <p:cNvSpPr txBox="1"/>
          <p:nvPr/>
        </p:nvSpPr>
        <p:spPr bwMode="gray">
          <a:xfrm>
            <a:off x="628650" y="1741586"/>
            <a:ext cx="4696589" cy="1015663"/>
          </a:xfrm>
          <a:prstGeom prst="rect">
            <a:avLst/>
          </a:prstGeom>
          <a:noFill/>
        </p:spPr>
        <p:txBody>
          <a:bodyPr wrap="square">
            <a:spAutoFit/>
          </a:bodyPr>
          <a:lstStyle/>
          <a:p>
            <a:endParaRPr lang="en-US" sz="1200" b="1" dirty="0"/>
          </a:p>
          <a:p>
            <a:r>
              <a:rPr lang="en-US" sz="1200" b="1" dirty="0"/>
              <a:t>Concern Score: </a:t>
            </a:r>
            <a:r>
              <a:rPr lang="en-US" sz="1200" b="1" dirty="0">
                <a:solidFill>
                  <a:srgbClr val="FF0000"/>
                </a:solidFill>
              </a:rPr>
              <a:t>0.53</a:t>
            </a:r>
            <a:br>
              <a:rPr lang="en-US" sz="1200" dirty="0"/>
            </a:br>
            <a:r>
              <a:rPr lang="en-US" sz="1200" dirty="0"/>
              <a:t>Flow Count Spike: </a:t>
            </a:r>
            <a:r>
              <a:rPr lang="en-US" sz="1200" b="1" dirty="0">
                <a:solidFill>
                  <a:srgbClr val="FFC000"/>
                </a:solidFill>
              </a:rPr>
              <a:t>0.03 </a:t>
            </a:r>
            <a:r>
              <a:rPr lang="en-US" sz="1200" dirty="0"/>
              <a:t>Missing Traffic: </a:t>
            </a:r>
            <a:r>
              <a:rPr lang="en-US" sz="1200" b="1" dirty="0">
                <a:solidFill>
                  <a:srgbClr val="FF0000"/>
                </a:solidFill>
              </a:rPr>
              <a:t>0.37 </a:t>
            </a:r>
            <a:r>
              <a:rPr lang="en-US" sz="1200" dirty="0"/>
              <a:t>Traffic Drop: </a:t>
            </a:r>
            <a:r>
              <a:rPr lang="en-US" sz="1200" b="1" dirty="0">
                <a:solidFill>
                  <a:srgbClr val="FF0000"/>
                </a:solidFill>
              </a:rPr>
              <a:t>1.00 </a:t>
            </a:r>
          </a:p>
          <a:p>
            <a:r>
              <a:rPr lang="en-US" sz="1200" dirty="0"/>
              <a:t>BMP Peer: </a:t>
            </a:r>
            <a:r>
              <a:rPr lang="en-US" sz="1200" b="1" dirty="0">
                <a:solidFill>
                  <a:srgbClr val="FFC000"/>
                </a:solidFill>
              </a:rPr>
              <a:t>0.00 </a:t>
            </a:r>
            <a:r>
              <a:rPr lang="en-US" sz="1200" dirty="0"/>
              <a:t>Interface Down: </a:t>
            </a:r>
            <a:r>
              <a:rPr lang="en-US" sz="1200" b="1" dirty="0">
                <a:solidFill>
                  <a:srgbClr val="FFC000"/>
                </a:solidFill>
              </a:rPr>
              <a:t>0.00</a:t>
            </a:r>
            <a:br>
              <a:rPr lang="en-US" sz="1200" dirty="0"/>
            </a:br>
            <a:r>
              <a:rPr lang="en-US" sz="1200" dirty="0"/>
              <a:t>BMP Update: </a:t>
            </a:r>
            <a:r>
              <a:rPr lang="en-US" sz="1200" b="1" dirty="0">
                <a:solidFill>
                  <a:srgbClr val="FFC000"/>
                </a:solidFill>
              </a:rPr>
              <a:t>0.00 </a:t>
            </a:r>
            <a:r>
              <a:rPr lang="en-US" sz="1200" dirty="0"/>
              <a:t>BMP Withdrawal: </a:t>
            </a:r>
            <a:r>
              <a:rPr lang="en-US" sz="1200" b="1" dirty="0">
                <a:solidFill>
                  <a:srgbClr val="FF0000"/>
                </a:solidFill>
              </a:rPr>
              <a:t>1.00</a:t>
            </a:r>
            <a:endParaRPr lang="de-CH" sz="1200" b="1" dirty="0">
              <a:solidFill>
                <a:srgbClr val="FF0000"/>
              </a:solidFill>
            </a:endParaRPr>
          </a:p>
        </p:txBody>
      </p:sp>
      <p:pic>
        <p:nvPicPr>
          <p:cNvPr id="15" name="Grafik 8">
            <a:extLst>
              <a:ext uri="{FF2B5EF4-FFF2-40B4-BE49-F238E27FC236}">
                <a16:creationId xmlns:a16="http://schemas.microsoft.com/office/drawing/2014/main" id="{429B92E5-D27A-8484-59F1-D9AB454BD4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1580" y="3374291"/>
            <a:ext cx="409069" cy="409069"/>
          </a:xfrm>
          <a:prstGeom prst="rect">
            <a:avLst/>
          </a:prstGeom>
        </p:spPr>
      </p:pic>
      <p:pic>
        <p:nvPicPr>
          <p:cNvPr id="21" name="Grafik 8">
            <a:extLst>
              <a:ext uri="{FF2B5EF4-FFF2-40B4-BE49-F238E27FC236}">
                <a16:creationId xmlns:a16="http://schemas.microsoft.com/office/drawing/2014/main" id="{CFC5699A-1FB4-42D3-3012-06B70F1B82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03598" y="3783360"/>
            <a:ext cx="409069" cy="409069"/>
          </a:xfrm>
          <a:prstGeom prst="rect">
            <a:avLst/>
          </a:prstGeom>
        </p:spPr>
      </p:pic>
      <p:pic>
        <p:nvPicPr>
          <p:cNvPr id="23" name="Grafik 8">
            <a:extLst>
              <a:ext uri="{FF2B5EF4-FFF2-40B4-BE49-F238E27FC236}">
                <a16:creationId xmlns:a16="http://schemas.microsoft.com/office/drawing/2014/main" id="{08FF661C-B529-1828-C371-9B3A3FE652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03598" y="1524563"/>
            <a:ext cx="409069" cy="409069"/>
          </a:xfrm>
          <a:prstGeom prst="rect">
            <a:avLst/>
          </a:prstGeom>
        </p:spPr>
      </p:pic>
    </p:spTree>
    <p:extLst>
      <p:ext uri="{BB962C8B-B14F-4D97-AF65-F5344CB8AC3E}">
        <p14:creationId xmlns:p14="http://schemas.microsoft.com/office/powerpoint/2010/main" val="1548702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B2249-8EA3-AD1B-F541-4AB026F92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D7D68-AE35-F253-F991-5FB07AD4D934}"/>
              </a:ext>
            </a:extLst>
          </p:cNvPr>
          <p:cNvSpPr>
            <a:spLocks noGrp="1"/>
          </p:cNvSpPr>
          <p:nvPr>
            <p:ph type="title"/>
          </p:nvPr>
        </p:nvSpPr>
        <p:spPr/>
        <p:txBody>
          <a:bodyPr>
            <a:normAutofit fontScale="90000"/>
          </a:bodyPr>
          <a:lstStyle/>
          <a:p>
            <a:r>
              <a:rPr lang="en-US" dirty="0"/>
              <a:t>draft-ietf-nmop-network-anomaly-semantics-05</a:t>
            </a:r>
            <a:br>
              <a:rPr lang="en-CH" dirty="0"/>
            </a:br>
            <a:endParaRPr lang="en-CH" dirty="0"/>
          </a:p>
        </p:txBody>
      </p:sp>
      <p:sp>
        <p:nvSpPr>
          <p:cNvPr id="3" name="Text Placeholder 2">
            <a:extLst>
              <a:ext uri="{FF2B5EF4-FFF2-40B4-BE49-F238E27FC236}">
                <a16:creationId xmlns:a16="http://schemas.microsoft.com/office/drawing/2014/main" id="{46C4AD15-ADF2-CD3D-4115-04FBB7986E44}"/>
              </a:ext>
            </a:extLst>
          </p:cNvPr>
          <p:cNvSpPr>
            <a:spLocks noGrp="1"/>
          </p:cNvSpPr>
          <p:nvPr>
            <p:ph type="body" idx="1"/>
          </p:nvPr>
        </p:nvSpPr>
        <p:spPr/>
        <p:txBody>
          <a:bodyPr/>
          <a:lstStyle/>
          <a:p>
            <a:r>
              <a:rPr lang="en-US" b="1" dirty="0"/>
              <a:t>Semantic Metadata Annotation</a:t>
            </a:r>
          </a:p>
        </p:txBody>
      </p:sp>
      <p:sp>
        <p:nvSpPr>
          <p:cNvPr id="5" name="Slide Number Placeholder 4">
            <a:extLst>
              <a:ext uri="{FF2B5EF4-FFF2-40B4-BE49-F238E27FC236}">
                <a16:creationId xmlns:a16="http://schemas.microsoft.com/office/drawing/2014/main" id="{1025E98F-3AAC-47C5-95F2-2F537AA5445A}"/>
              </a:ext>
            </a:extLst>
          </p:cNvPr>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491232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pPr algn="l"/>
            <a:r>
              <a:rPr lang="en-US" sz="2400" b="1" dirty="0"/>
              <a:t>Semantic Metadata Annotation</a:t>
            </a:r>
            <a:br>
              <a:rPr lang="en-GB" sz="2700" dirty="0"/>
            </a:br>
            <a:r>
              <a:rPr lang="de-CH" sz="2000" dirty="0" err="1">
                <a:solidFill>
                  <a:schemeClr val="bg2">
                    <a:lumMod val="75000"/>
                  </a:schemeClr>
                </a:solidFill>
              </a:rPr>
              <a:t>Document</a:t>
            </a:r>
            <a:r>
              <a:rPr lang="de-CH" sz="2000" dirty="0">
                <a:solidFill>
                  <a:schemeClr val="bg2">
                    <a:lumMod val="75000"/>
                  </a:schemeClr>
                </a:solidFill>
              </a:rPr>
              <a:t> </a:t>
            </a:r>
            <a:r>
              <a:rPr lang="de-CH" sz="2000" dirty="0" err="1">
                <a:solidFill>
                  <a:schemeClr val="bg2">
                    <a:lumMod val="75000"/>
                  </a:schemeClr>
                </a:solidFill>
              </a:rPr>
              <a:t>summary</a:t>
            </a:r>
            <a:endParaRPr lang="en-US" sz="2000" dirty="0">
              <a:solidFill>
                <a:schemeClr val="bg2">
                  <a:lumMod val="75000"/>
                </a:schemeClr>
              </a:solidFill>
            </a:endParaRPr>
          </a:p>
        </p:txBody>
      </p:sp>
      <p:sp>
        <p:nvSpPr>
          <p:cNvPr id="7" name="Content Placeholder 2">
            <a:extLst>
              <a:ext uri="{FF2B5EF4-FFF2-40B4-BE49-F238E27FC236}">
                <a16:creationId xmlns:a16="http://schemas.microsoft.com/office/drawing/2014/main" id="{EA228C44-AD06-2820-5E3C-FF8DEA10453D}"/>
              </a:ext>
            </a:extLst>
          </p:cNvPr>
          <p:cNvSpPr txBox="1">
            <a:spLocks/>
          </p:cNvSpPr>
          <p:nvPr/>
        </p:nvSpPr>
        <p:spPr>
          <a:xfrm>
            <a:off x="720000" y="1800000"/>
            <a:ext cx="3634050" cy="42540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1600" b="1" dirty="0"/>
              <a:t>Motivation:</a:t>
            </a:r>
          </a:p>
          <a:p>
            <a:pPr marL="0" indent="0">
              <a:buNone/>
            </a:pPr>
            <a:r>
              <a:rPr lang="en-GB" sz="1600" dirty="0"/>
              <a:t>Enable the </a:t>
            </a:r>
            <a:r>
              <a:rPr lang="en-GB" sz="1600" dirty="0">
                <a:solidFill>
                  <a:schemeClr val="accent2"/>
                </a:solidFill>
              </a:rPr>
              <a:t>exchange</a:t>
            </a:r>
            <a:r>
              <a:rPr lang="en-GB" sz="1600" dirty="0"/>
              <a:t> of network anomaly data across diverse systems and support </a:t>
            </a:r>
            <a:r>
              <a:rPr lang="en-GB" sz="1600" dirty="0">
                <a:solidFill>
                  <a:schemeClr val="accent2"/>
                </a:solidFill>
              </a:rPr>
              <a:t>benchmarking</a:t>
            </a:r>
            <a:r>
              <a:rPr lang="en-GB" sz="1600" dirty="0"/>
              <a:t> of anomaly detection solutions</a:t>
            </a:r>
          </a:p>
          <a:p>
            <a:pPr marL="0" indent="0">
              <a:buNone/>
            </a:pPr>
            <a:endParaRPr lang="en-GB" sz="1600" dirty="0"/>
          </a:p>
          <a:p>
            <a:pPr marL="0" indent="0">
              <a:buNone/>
            </a:pPr>
            <a:r>
              <a:rPr lang="en-GB" sz="1600" b="1" dirty="0"/>
              <a:t>Approach:</a:t>
            </a:r>
          </a:p>
          <a:p>
            <a:pPr marL="0" indent="0">
              <a:buNone/>
            </a:pPr>
            <a:r>
              <a:rPr lang="en-GB" sz="1600" dirty="0"/>
              <a:t>Define a </a:t>
            </a:r>
            <a:r>
              <a:rPr lang="en-GB" sz="1600" dirty="0">
                <a:solidFill>
                  <a:schemeClr val="accent2"/>
                </a:solidFill>
              </a:rPr>
              <a:t>standardized semantic metadata schema</a:t>
            </a:r>
            <a:r>
              <a:rPr lang="en-GB" sz="1600" dirty="0"/>
              <a:t> and a set of </a:t>
            </a:r>
            <a:r>
              <a:rPr lang="en-GB" sz="1600" dirty="0">
                <a:solidFill>
                  <a:schemeClr val="accent2"/>
                </a:solidFill>
              </a:rPr>
              <a:t>semantically structured terms</a:t>
            </a:r>
          </a:p>
          <a:p>
            <a:pPr marL="0" indent="0">
              <a:buNone/>
            </a:pPr>
            <a:endParaRPr lang="en-GB" sz="1600" dirty="0"/>
          </a:p>
          <a:p>
            <a:pPr marL="0" indent="0">
              <a:buNone/>
            </a:pPr>
            <a:r>
              <a:rPr lang="en-GB" sz="1600" b="1" dirty="0"/>
              <a:t>Outcome:</a:t>
            </a:r>
          </a:p>
          <a:p>
            <a:pPr marL="0" indent="0">
              <a:buNone/>
            </a:pPr>
            <a:r>
              <a:rPr lang="en-GB" sz="1600" dirty="0"/>
              <a:t>Provide </a:t>
            </a:r>
            <a:r>
              <a:rPr lang="en-GB" sz="1600" dirty="0">
                <a:solidFill>
                  <a:schemeClr val="accent2"/>
                </a:solidFill>
              </a:rPr>
              <a:t>human‑readable context </a:t>
            </a:r>
            <a:r>
              <a:rPr lang="en-GB" sz="1600" dirty="0"/>
              <a:t>for describing and understanding network anomalies</a:t>
            </a:r>
          </a:p>
          <a:p>
            <a:pPr marL="0" indent="0">
              <a:buNone/>
            </a:pPr>
            <a:endParaRPr lang="en-GB" sz="1600" dirty="0"/>
          </a:p>
        </p:txBody>
      </p:sp>
      <p:sp>
        <p:nvSpPr>
          <p:cNvPr id="4" name="Slide Number Placeholder 3">
            <a:extLst>
              <a:ext uri="{FF2B5EF4-FFF2-40B4-BE49-F238E27FC236}">
                <a16:creationId xmlns:a16="http://schemas.microsoft.com/office/drawing/2014/main" id="{BFD17BF7-8839-A366-6517-3CD75407F2B2}"/>
              </a:ext>
            </a:extLst>
          </p:cNvPr>
          <p:cNvSpPr>
            <a:spLocks noGrp="1"/>
          </p:cNvSpPr>
          <p:nvPr>
            <p:ph type="sldNum" sz="quarter" idx="12"/>
          </p:nvPr>
        </p:nvSpPr>
        <p:spPr/>
        <p:txBody>
          <a:bodyPr/>
          <a:lstStyle/>
          <a:p>
            <a:fld id="{C1FF6DA9-008F-8B48-92A6-B652298478BF}" type="slidenum">
              <a:rPr lang="en-US" smtClean="0"/>
              <a:t>9</a:t>
            </a:fld>
            <a:endParaRPr lang="en-US"/>
          </a:p>
        </p:txBody>
      </p:sp>
      <p:pic>
        <p:nvPicPr>
          <p:cNvPr id="9" name="Picture 8">
            <a:extLst>
              <a:ext uri="{FF2B5EF4-FFF2-40B4-BE49-F238E27FC236}">
                <a16:creationId xmlns:a16="http://schemas.microsoft.com/office/drawing/2014/main" id="{C9EE802A-AAC0-3970-5D1D-8C06FC499A02}"/>
              </a:ext>
            </a:extLst>
          </p:cNvPr>
          <p:cNvPicPr>
            <a:picLocks noChangeAspect="1"/>
          </p:cNvPicPr>
          <p:nvPr/>
        </p:nvPicPr>
        <p:blipFill>
          <a:blip r:embed="rId3"/>
          <a:stretch>
            <a:fillRect/>
          </a:stretch>
        </p:blipFill>
        <p:spPr>
          <a:xfrm>
            <a:off x="4879975" y="2314575"/>
            <a:ext cx="3346450" cy="2228850"/>
          </a:xfrm>
          <a:prstGeom prst="rect">
            <a:avLst/>
          </a:prstGeom>
        </p:spPr>
      </p:pic>
    </p:spTree>
    <p:extLst>
      <p:ext uri="{BB962C8B-B14F-4D97-AF65-F5344CB8AC3E}">
        <p14:creationId xmlns:p14="http://schemas.microsoft.com/office/powerpoint/2010/main" val="1376393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9A088-43F4-675F-55B8-F900E67E7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9D996-32CC-F1DF-7AF4-6649A3C8B347}"/>
              </a:ext>
            </a:extLst>
          </p:cNvPr>
          <p:cNvSpPr>
            <a:spLocks noGrp="1"/>
          </p:cNvSpPr>
          <p:nvPr>
            <p:ph type="title"/>
          </p:nvPr>
        </p:nvSpPr>
        <p:spPr/>
        <p:txBody>
          <a:bodyPr>
            <a:normAutofit/>
          </a:bodyPr>
          <a:lstStyle/>
          <a:p>
            <a:pPr algn="l"/>
            <a:r>
              <a:rPr lang="en-US" sz="2400" b="1" dirty="0"/>
              <a:t>Semantic Metadata Annotation</a:t>
            </a:r>
            <a:br>
              <a:rPr lang="en-GB" sz="2700" dirty="0"/>
            </a:br>
            <a:r>
              <a:rPr lang="en-US" sz="2000" dirty="0">
                <a:solidFill>
                  <a:schemeClr val="bg2">
                    <a:lumMod val="75000"/>
                  </a:schemeClr>
                </a:solidFill>
              </a:rPr>
              <a:t>Key draft updates since v-03</a:t>
            </a:r>
          </a:p>
        </p:txBody>
      </p:sp>
      <p:sp>
        <p:nvSpPr>
          <p:cNvPr id="6" name="TextBox 5">
            <a:extLst>
              <a:ext uri="{FF2B5EF4-FFF2-40B4-BE49-F238E27FC236}">
                <a16:creationId xmlns:a16="http://schemas.microsoft.com/office/drawing/2014/main" id="{61FD69DD-927F-F130-C46D-D0FFD67FE037}"/>
              </a:ext>
            </a:extLst>
          </p:cNvPr>
          <p:cNvSpPr txBox="1"/>
          <p:nvPr/>
        </p:nvSpPr>
        <p:spPr>
          <a:xfrm>
            <a:off x="5569448" y="1615811"/>
            <a:ext cx="2998552" cy="3493200"/>
          </a:xfrm>
          <a:prstGeom prst="rect">
            <a:avLst/>
          </a:prstGeom>
          <a:noFill/>
        </p:spPr>
        <p:txBody>
          <a:bodyPr wrap="square">
            <a:spAutoFit/>
          </a:bodyPr>
          <a:lstStyle/>
          <a:p>
            <a:r>
              <a:rPr lang="en-GB" sz="638">
                <a:latin typeface="Courier New" panose="02070309020205020404" pitchFamily="49" charset="0"/>
                <a:cs typeface="Courier New" panose="02070309020205020404" pitchFamily="49" charset="0"/>
              </a:rPr>
              <a:t> augment /</a:t>
            </a:r>
            <a:r>
              <a:rPr lang="en-GB" sz="638" dirty="0" err="1">
                <a:latin typeface="Courier New" panose="02070309020205020404" pitchFamily="49" charset="0"/>
                <a:cs typeface="Courier New" panose="02070309020205020404" pitchFamily="49" charset="0"/>
              </a:rPr>
              <a:t>rsn:relevant-state</a:t>
            </a:r>
            <a:r>
              <a:rPr lang="en-GB" sz="638" dirty="0">
                <a:latin typeface="Courier New" panose="02070309020205020404" pitchFamily="49" charset="0"/>
                <a:cs typeface="Courier New" panose="02070309020205020404" pitchFamily="49" charset="0"/>
              </a:rPr>
              <a:t>/</a:t>
            </a:r>
            <a:r>
              <a:rPr lang="en-GB" sz="638" dirty="0" err="1">
                <a:latin typeface="Courier New" panose="02070309020205020404" pitchFamily="49" charset="0"/>
                <a:cs typeface="Courier New" panose="02070309020205020404" pitchFamily="49" charset="0"/>
              </a:rPr>
              <a:t>rsn:anomaly</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+--rw vpn-node-terminations* [hostname </a:t>
            </a:r>
            <a:r>
              <a:rPr lang="en-GB" sz="638">
                <a:highlight>
                  <a:srgbClr val="FFFF00"/>
                </a:highlight>
                <a:latin typeface="Courier New" panose="02070309020205020404" pitchFamily="49" charset="0"/>
                <a:cs typeface="Courier New" panose="02070309020205020404" pitchFamily="49" charset="0"/>
              </a:rPr>
              <a:t>vrf-name</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+--rw hostname               inet</a:t>
            </a:r>
            <a:r>
              <a:rPr lang="en-GB" sz="638" dirty="0" err="1">
                <a:latin typeface="Courier New" panose="02070309020205020404" pitchFamily="49" charset="0"/>
                <a:cs typeface="Courier New" panose="02070309020205020404" pitchFamily="49" charset="0"/>
              </a:rPr>
              <a:t>:host</a:t>
            </a:r>
            <a:endParaRPr lang="en-GB" sz="638" dirty="0">
              <a:latin typeface="Courier New" panose="02070309020205020404" pitchFamily="49" charset="0"/>
              <a:cs typeface="Courier New" panose="02070309020205020404" pitchFamily="49" charset="0"/>
            </a:endParaRPr>
          </a:p>
          <a:p>
            <a:r>
              <a:rPr lang="en-GB" sz="638">
                <a:highlight>
                  <a:srgbClr val="FFFF00"/>
                </a:highlight>
                <a:latin typeface="Courier New" panose="02070309020205020404" pitchFamily="49" charset="0"/>
                <a:cs typeface="Courier New" panose="02070309020205020404" pitchFamily="49" charset="0"/>
              </a:rPr>
              <a:t>          +--rw vrf-id?                uint32</a:t>
            </a:r>
            <a:endParaRPr lang="en-GB" sz="638" dirty="0">
              <a:highlight>
                <a:srgbClr val="FFFF00"/>
              </a:highlight>
              <a:latin typeface="Courier New" panose="02070309020205020404" pitchFamily="49" charset="0"/>
              <a:cs typeface="Courier New" panose="02070309020205020404" pitchFamily="49" charset="0"/>
            </a:endParaRPr>
          </a:p>
          <a:p>
            <a:r>
              <a:rPr lang="en-GB" sz="638">
                <a:highlight>
                  <a:srgbClr val="FFFF00"/>
                </a:highlight>
                <a:latin typeface="Courier New" panose="02070309020205020404" pitchFamily="49" charset="0"/>
                <a:cs typeface="Courier New" panose="02070309020205020404" pitchFamily="49" charset="0"/>
              </a:rPr>
              <a:t>          +--rw vrf-name               string</a:t>
            </a:r>
            <a:endParaRPr lang="en-GB" sz="638" dirty="0">
              <a:highlight>
                <a:srgbClr val="FFFF00"/>
              </a:highlight>
              <a:latin typeface="Courier New" panose="02070309020205020404" pitchFamily="49" charset="0"/>
              <a:cs typeface="Courier New" panose="02070309020205020404" pitchFamily="49" charset="0"/>
            </a:endParaRPr>
          </a:p>
          <a:p>
            <a:r>
              <a:rPr lang="en-GB" sz="638">
                <a:highlight>
                  <a:srgbClr val="FFFF00"/>
                </a:highlight>
                <a:latin typeface="Courier New" panose="02070309020205020404" pitchFamily="49" charset="0"/>
                <a:cs typeface="Courier New" panose="02070309020205020404" pitchFamily="49" charset="0"/>
              </a:rPr>
              <a:t>          +--rw route-distinguisher?   string</a:t>
            </a:r>
            <a:endParaRPr lang="en-GB" sz="638" dirty="0">
              <a:highlight>
                <a:srgbClr val="FFFF00"/>
              </a:highlight>
              <a:latin typeface="Courier New" panose="02070309020205020404" pitchFamily="49" charset="0"/>
              <a:cs typeface="Courier New" panose="02070309020205020404" pitchFamily="49" charset="0"/>
            </a:endParaRPr>
          </a:p>
          <a:p>
            <a:r>
              <a:rPr lang="en-GB" sz="638">
                <a:highlight>
                  <a:srgbClr val="FFFF00"/>
                </a:highlight>
                <a:latin typeface="Courier New" panose="02070309020205020404" pitchFamily="49" charset="0"/>
                <a:cs typeface="Courier New" panose="02070309020205020404" pitchFamily="49" charset="0"/>
              </a:rPr>
              <a:t>          +--rw interface-id*          uint32</a:t>
            </a:r>
            <a:endParaRPr lang="en-GB" sz="638" dirty="0">
              <a:highlight>
                <a:srgbClr val="FFFF00"/>
              </a:highlight>
              <a:latin typeface="Courier New" panose="02070309020205020404" pitchFamily="49" charset="0"/>
              <a:cs typeface="Courier New" panose="02070309020205020404" pitchFamily="49" charset="0"/>
            </a:endParaRPr>
          </a:p>
          <a:p>
            <a:r>
              <a:rPr lang="en-GB" sz="638">
                <a:highlight>
                  <a:srgbClr val="FFFF00"/>
                </a:highlight>
                <a:latin typeface="Courier New" panose="02070309020205020404" pitchFamily="49" charset="0"/>
                <a:cs typeface="Courier New" panose="02070309020205020404" pitchFamily="49" charset="0"/>
              </a:rPr>
              <a:t>          +--rw interface-name*        string</a:t>
            </a:r>
            <a:endParaRPr lang="en-GB" sz="638" dirty="0">
              <a:highlight>
                <a:srgbClr val="FFFF00"/>
              </a:highlight>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+--rw peer-ip*               inet</a:t>
            </a:r>
            <a:r>
              <a:rPr lang="en-GB" sz="638" dirty="0" err="1">
                <a:latin typeface="Courier New" panose="02070309020205020404" pitchFamily="49" charset="0"/>
                <a:cs typeface="Courier New" panose="02070309020205020404" pitchFamily="49" charset="0"/>
              </a:rPr>
              <a:t>:ip-address</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+--rw next-hop*              inet</a:t>
            </a:r>
            <a:r>
              <a:rPr lang="en-GB" sz="638" dirty="0" err="1">
                <a:latin typeface="Courier New" panose="02070309020205020404" pitchFamily="49" charset="0"/>
                <a:cs typeface="Courier New" panose="02070309020205020404" pitchFamily="49" charset="0"/>
              </a:rPr>
              <a:t>:ip-address</a:t>
            </a:r>
            <a:endParaRPr lang="de-CH" sz="638" dirty="0">
              <a:latin typeface="Courier New" panose="02070309020205020404" pitchFamily="49" charset="0"/>
              <a:cs typeface="Courier New" panose="02070309020205020404" pitchFamily="49" charset="0"/>
            </a:endParaRPr>
          </a:p>
          <a:p>
            <a:endParaRPr lang="de-CH" sz="638" dirty="0">
              <a:latin typeface="Courier New" panose="02070309020205020404" pitchFamily="49" charset="0"/>
              <a:cs typeface="Courier New" panose="02070309020205020404" pitchFamily="49" charset="0"/>
            </a:endParaRPr>
          </a:p>
          <a:p>
            <a:endParaRPr lang="en-GB" dirty="0"/>
          </a:p>
          <a:p>
            <a:r>
              <a:rPr lang="en-GB"/>
              <a:t> </a:t>
            </a:r>
            <a:r>
              <a:rPr lang="en-GB" sz="638">
                <a:latin typeface="Courier New" panose="02070309020205020404" pitchFamily="49" charset="0"/>
                <a:cs typeface="Courier New" panose="02070309020205020404" pitchFamily="49" charset="0"/>
              </a:rPr>
              <a:t>augment /</a:t>
            </a:r>
            <a:r>
              <a:rPr lang="en-GB" sz="638" dirty="0" err="1">
                <a:latin typeface="Courier New" panose="02070309020205020404" pitchFamily="49" charset="0"/>
                <a:cs typeface="Courier New" panose="02070309020205020404" pitchFamily="49" charset="0"/>
              </a:rPr>
              <a:t>rsn:relevant-state-notification</a:t>
            </a:r>
            <a:r>
              <a:rPr lang="en-GB" sz="638" dirty="0">
                <a:latin typeface="Courier New" panose="02070309020205020404" pitchFamily="49" charset="0"/>
                <a:cs typeface="Courier New" panose="02070309020205020404" pitchFamily="49" charset="0"/>
              </a:rPr>
              <a:t>/</a:t>
            </a:r>
            <a:r>
              <a:rPr lang="en-GB" sz="638" dirty="0" err="1">
                <a:latin typeface="Courier New" panose="02070309020205020404" pitchFamily="49" charset="0"/>
                <a:cs typeface="Courier New" panose="02070309020205020404" pitchFamily="49" charset="0"/>
              </a:rPr>
              <a:t>rsn:service</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a:t>
            </a:r>
            <a:r>
              <a:rPr lang="en-GB" sz="638" dirty="0">
                <a:latin typeface="Courier New" panose="02070309020205020404" pitchFamily="49" charset="0"/>
                <a:cs typeface="Courier New" panose="02070309020205020404" pitchFamily="49" charset="0"/>
              </a:rPr>
              <a:t>l2vpn)</a:t>
            </a:r>
          </a:p>
          <a:p>
            <a:r>
              <a:rPr lang="en-GB" sz="638">
                <a:latin typeface="Courier New" panose="02070309020205020404" pitchFamily="49" charset="0"/>
                <a:cs typeface="Courier New" panose="02070309020205020404" pitchFamily="49" charset="0"/>
              </a:rPr>
              <a:t>       |  </a:t>
            </a:r>
            <a:r>
              <a:rPr lang="en-GB" sz="638">
                <a:highlight>
                  <a:srgbClr val="FFFF00"/>
                </a:highlight>
                <a:latin typeface="Courier New" panose="02070309020205020404" pitchFamily="49" charset="0"/>
                <a:cs typeface="Courier New" panose="02070309020205020404" pitchFamily="49" charset="0"/>
              </a:rPr>
              <a:t>+-- l2vpn-service* [</a:t>
            </a:r>
            <a:r>
              <a:rPr lang="en-GB" sz="638" dirty="0" err="1">
                <a:highlight>
                  <a:srgbClr val="FFFF00"/>
                </a:highlight>
                <a:latin typeface="Courier New" panose="02070309020205020404" pitchFamily="49" charset="0"/>
                <a:cs typeface="Courier New" panose="02070309020205020404" pitchFamily="49" charset="0"/>
              </a:rPr>
              <a:t>vpn</a:t>
            </a:r>
            <a:r>
              <a:rPr lang="en-GB" sz="638" dirty="0">
                <a:highlight>
                  <a:srgbClr val="FFFF00"/>
                </a:highlight>
                <a:latin typeface="Courier New" panose="02070309020205020404" pitchFamily="49" charset="0"/>
                <a:cs typeface="Courier New" panose="02070309020205020404" pitchFamily="49" charset="0"/>
              </a:rPr>
              <a:t>-id]</a:t>
            </a:r>
          </a:p>
          <a:p>
            <a:r>
              <a:rPr lang="en-GB" sz="638">
                <a:latin typeface="Courier New" panose="02070309020205020404" pitchFamily="49" charset="0"/>
                <a:cs typeface="Courier New" panose="02070309020205020404" pitchFamily="49" charset="0"/>
              </a:rPr>
              <a:t>       |     +-- vpn-id               string</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 uri?                 inet</a:t>
            </a:r>
            <a:r>
              <a:rPr lang="en-GB" sz="638" dirty="0" err="1">
                <a:latin typeface="Courier New" panose="02070309020205020404" pitchFamily="49" charset="0"/>
                <a:cs typeface="Courier New" panose="02070309020205020404" pitchFamily="49" charset="0"/>
              </a:rPr>
              <a:t>:uri</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 vpn-name?            string</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 site-ids*            string</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 change-id?           yang</a:t>
            </a:r>
            <a:r>
              <a:rPr lang="en-GB" sz="638" dirty="0" err="1">
                <a:latin typeface="Courier New" panose="02070309020205020404" pitchFamily="49" charset="0"/>
                <a:cs typeface="Courier New" panose="02070309020205020404" pitchFamily="49" charset="0"/>
              </a:rPr>
              <a:t>:uuid</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 change-start-time?   yang</a:t>
            </a:r>
            <a:r>
              <a:rPr lang="en-GB" sz="638" dirty="0" err="1">
                <a:latin typeface="Courier New" panose="02070309020205020404" pitchFamily="49" charset="0"/>
                <a:cs typeface="Courier New" panose="02070309020205020404" pitchFamily="49" charset="0"/>
              </a:rPr>
              <a:t>:date-and-time</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 change-end-time?     yang</a:t>
            </a:r>
            <a:r>
              <a:rPr lang="en-GB" sz="638" dirty="0" err="1">
                <a:latin typeface="Courier New" panose="02070309020205020404" pitchFamily="49" charset="0"/>
                <a:cs typeface="Courier New" panose="02070309020205020404" pitchFamily="49" charset="0"/>
              </a:rPr>
              <a:t>:date-and-time</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a:t>
            </a:r>
            <a:r>
              <a:rPr lang="en-GB" sz="638" dirty="0">
                <a:latin typeface="Courier New" panose="02070309020205020404" pitchFamily="49" charset="0"/>
                <a:cs typeface="Courier New" panose="02070309020205020404" pitchFamily="49" charset="0"/>
              </a:rPr>
              <a:t>l3vpn)</a:t>
            </a:r>
          </a:p>
          <a:p>
            <a:r>
              <a:rPr lang="en-GB" sz="638">
                <a:latin typeface="Courier New" panose="02070309020205020404" pitchFamily="49" charset="0"/>
                <a:cs typeface="Courier New" panose="02070309020205020404" pitchFamily="49" charset="0"/>
              </a:rPr>
              <a:t>          </a:t>
            </a:r>
            <a:r>
              <a:rPr lang="en-GB" sz="638">
                <a:highlight>
                  <a:srgbClr val="FFFF00"/>
                </a:highlight>
                <a:latin typeface="Courier New" panose="02070309020205020404" pitchFamily="49" charset="0"/>
                <a:cs typeface="Courier New" panose="02070309020205020404" pitchFamily="49" charset="0"/>
              </a:rPr>
              <a:t>+-- l3vpn-service* [</a:t>
            </a:r>
            <a:r>
              <a:rPr lang="en-GB" sz="638" dirty="0" err="1">
                <a:highlight>
                  <a:srgbClr val="FFFF00"/>
                </a:highlight>
                <a:latin typeface="Courier New" panose="02070309020205020404" pitchFamily="49" charset="0"/>
                <a:cs typeface="Courier New" panose="02070309020205020404" pitchFamily="49" charset="0"/>
              </a:rPr>
              <a:t>vpn</a:t>
            </a:r>
            <a:r>
              <a:rPr lang="en-GB" sz="638" dirty="0">
                <a:highlight>
                  <a:srgbClr val="FFFF00"/>
                </a:highlight>
                <a:latin typeface="Courier New" panose="02070309020205020404" pitchFamily="49" charset="0"/>
                <a:cs typeface="Courier New" panose="02070309020205020404" pitchFamily="49" charset="0"/>
              </a:rPr>
              <a:t>-id]</a:t>
            </a:r>
          </a:p>
          <a:p>
            <a:r>
              <a:rPr lang="en-GB" sz="638">
                <a:latin typeface="Courier New" panose="02070309020205020404" pitchFamily="49" charset="0"/>
                <a:cs typeface="Courier New" panose="02070309020205020404" pitchFamily="49" charset="0"/>
              </a:rPr>
              <a:t>             +-- vpn-id               string</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uri?                 inet</a:t>
            </a:r>
            <a:r>
              <a:rPr lang="en-GB" sz="638" dirty="0" err="1">
                <a:latin typeface="Courier New" panose="02070309020205020404" pitchFamily="49" charset="0"/>
                <a:cs typeface="Courier New" panose="02070309020205020404" pitchFamily="49" charset="0"/>
              </a:rPr>
              <a:t>:uri</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vpn-name?            string</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site-ids*            string</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change-id?           yang</a:t>
            </a:r>
            <a:r>
              <a:rPr lang="en-GB" sz="638" dirty="0" err="1">
                <a:latin typeface="Courier New" panose="02070309020205020404" pitchFamily="49" charset="0"/>
                <a:cs typeface="Courier New" panose="02070309020205020404" pitchFamily="49" charset="0"/>
              </a:rPr>
              <a:t>:uuid</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change-start-time?   yang</a:t>
            </a:r>
            <a:r>
              <a:rPr lang="en-GB" sz="638" dirty="0" err="1">
                <a:latin typeface="Courier New" panose="02070309020205020404" pitchFamily="49" charset="0"/>
                <a:cs typeface="Courier New" panose="02070309020205020404" pitchFamily="49" charset="0"/>
              </a:rPr>
              <a:t>:date-and-time</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 change-end-time?     yang</a:t>
            </a:r>
            <a:r>
              <a:rPr lang="en-GB" sz="638" dirty="0" err="1">
                <a:latin typeface="Courier New" panose="02070309020205020404" pitchFamily="49" charset="0"/>
                <a:cs typeface="Courier New" panose="02070309020205020404" pitchFamily="49" charset="0"/>
              </a:rPr>
              <a:t>:date-and-time</a:t>
            </a:r>
            <a:endParaRPr lang="de-CH" sz="638"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310EB04B-BEBD-7B2E-9239-4C3E98F6A464}"/>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9" name="Content Placeholder 2">
            <a:extLst>
              <a:ext uri="{FF2B5EF4-FFF2-40B4-BE49-F238E27FC236}">
                <a16:creationId xmlns:a16="http://schemas.microsoft.com/office/drawing/2014/main" id="{E66745F8-8734-CD2B-509C-DCDC9D85D36B}"/>
              </a:ext>
            </a:extLst>
          </p:cNvPr>
          <p:cNvSpPr>
            <a:spLocks noGrp="1"/>
          </p:cNvSpPr>
          <p:nvPr>
            <p:ph idx="1"/>
          </p:nvPr>
        </p:nvSpPr>
        <p:spPr>
          <a:xfrm>
            <a:off x="576000" y="1440000"/>
            <a:ext cx="4900875" cy="4551726"/>
          </a:xfrm>
        </p:spPr>
        <p:txBody>
          <a:bodyPr>
            <a:noAutofit/>
          </a:bodyPr>
          <a:lstStyle/>
          <a:p>
            <a:pPr>
              <a:spcBef>
                <a:spcPts val="225"/>
              </a:spcBef>
              <a:spcAft>
                <a:spcPts val="225"/>
              </a:spcAft>
            </a:pPr>
            <a:r>
              <a:rPr lang="en-US" sz="1400" b="1" dirty="0"/>
              <a:t>Terminology update</a:t>
            </a:r>
          </a:p>
          <a:p>
            <a:pPr lvl="1">
              <a:spcBef>
                <a:spcPts val="225"/>
              </a:spcBef>
              <a:spcAft>
                <a:spcPts val="225"/>
              </a:spcAft>
            </a:pPr>
            <a:r>
              <a:rPr lang="en-GB" sz="1400" dirty="0"/>
              <a:t>Added missing definition of terminologies used in the draft such as concern score and symptom</a:t>
            </a:r>
            <a:r>
              <a:rPr lang="en-US" sz="1400" dirty="0"/>
              <a:t>.</a:t>
            </a:r>
          </a:p>
          <a:p>
            <a:pPr>
              <a:spcBef>
                <a:spcPts val="225"/>
              </a:spcBef>
              <a:spcAft>
                <a:spcPts val="225"/>
              </a:spcAft>
            </a:pPr>
            <a:r>
              <a:rPr lang="en-US" sz="1400" b="1" dirty="0"/>
              <a:t>Schema change</a:t>
            </a:r>
          </a:p>
          <a:p>
            <a:pPr lvl="1">
              <a:spcBef>
                <a:spcPts val="225"/>
              </a:spcBef>
              <a:spcAft>
                <a:spcPts val="225"/>
              </a:spcAft>
              <a:buFontTx/>
              <a:buChar char="-"/>
            </a:pPr>
            <a:r>
              <a:rPr lang="en-GB" sz="1400" dirty="0"/>
              <a:t>Removed unused typedef score</a:t>
            </a:r>
          </a:p>
          <a:p>
            <a:pPr lvl="1">
              <a:spcBef>
                <a:spcPts val="225"/>
              </a:spcBef>
              <a:spcAft>
                <a:spcPts val="225"/>
              </a:spcAft>
              <a:buFontTx/>
              <a:buChar char="-"/>
            </a:pPr>
            <a:r>
              <a:rPr lang="en-GB" sz="1400" dirty="0"/>
              <a:t>Refined </a:t>
            </a:r>
            <a:r>
              <a:rPr lang="en-GB" sz="1400" dirty="0" err="1"/>
              <a:t>vpn</a:t>
            </a:r>
            <a:r>
              <a:rPr lang="en-GB" sz="1400" dirty="0"/>
              <a:t>-node-termination</a:t>
            </a:r>
          </a:p>
          <a:p>
            <a:pPr lvl="1">
              <a:spcBef>
                <a:spcPts val="225"/>
              </a:spcBef>
              <a:spcAft>
                <a:spcPts val="225"/>
              </a:spcAft>
              <a:buFontTx/>
              <a:buChar char="-"/>
            </a:pPr>
            <a:r>
              <a:rPr lang="en-GB" sz="1400" dirty="0"/>
              <a:t>Introduced dedicated L2 &amp; L3 groupings for service</a:t>
            </a:r>
          </a:p>
          <a:p>
            <a:pPr>
              <a:spcBef>
                <a:spcPts val="225"/>
              </a:spcBef>
              <a:spcAft>
                <a:spcPts val="225"/>
              </a:spcAft>
            </a:pPr>
            <a:r>
              <a:rPr lang="en-GB" sz="1400" b="1" dirty="0"/>
              <a:t>Symptom table update</a:t>
            </a:r>
          </a:p>
          <a:p>
            <a:pPr lvl="1"/>
            <a:r>
              <a:rPr lang="en-GB" sz="1400" dirty="0"/>
              <a:t>Update symptom: reason “Previous” -&gt; “Drop”, trigger “Time” -&gt; “Outside Monitored Domain”</a:t>
            </a:r>
          </a:p>
          <a:p>
            <a:r>
              <a:rPr lang="en-GB" sz="1400" dirty="0"/>
              <a:t>Avro schema changed accordingly</a:t>
            </a:r>
          </a:p>
        </p:txBody>
      </p:sp>
    </p:spTree>
    <p:extLst>
      <p:ext uri="{BB962C8B-B14F-4D97-AF65-F5344CB8AC3E}">
        <p14:creationId xmlns:p14="http://schemas.microsoft.com/office/powerpoint/2010/main" val="3767000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88AA5-2955-46EA-894F-FCFE4F64A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B54EF-A2D2-6D89-E431-C51C22FAD270}"/>
              </a:ext>
            </a:extLst>
          </p:cNvPr>
          <p:cNvSpPr>
            <a:spLocks noGrp="1"/>
          </p:cNvSpPr>
          <p:nvPr>
            <p:ph type="title"/>
          </p:nvPr>
        </p:nvSpPr>
        <p:spPr/>
        <p:txBody>
          <a:bodyPr>
            <a:normAutofit/>
          </a:bodyPr>
          <a:lstStyle/>
          <a:p>
            <a:pPr algn="l"/>
            <a:r>
              <a:rPr lang="en-US" sz="2400" b="1" dirty="0"/>
              <a:t>Semantic Metadata Annotation</a:t>
            </a:r>
            <a:br>
              <a:rPr lang="en-GB" sz="2700" dirty="0"/>
            </a:br>
            <a:r>
              <a:rPr lang="de-CH" sz="2000" dirty="0" err="1">
                <a:solidFill>
                  <a:schemeClr val="bg2">
                    <a:lumMod val="75000"/>
                  </a:schemeClr>
                </a:solidFill>
              </a:rPr>
              <a:t>Document</a:t>
            </a:r>
            <a:r>
              <a:rPr lang="de-CH" sz="2000" dirty="0">
                <a:solidFill>
                  <a:schemeClr val="bg2">
                    <a:lumMod val="75000"/>
                  </a:schemeClr>
                </a:solidFill>
              </a:rPr>
              <a:t> </a:t>
            </a:r>
            <a:r>
              <a:rPr lang="en-US" sz="2000" dirty="0">
                <a:solidFill>
                  <a:schemeClr val="bg2">
                    <a:lumMod val="75000"/>
                  </a:schemeClr>
                </a:solidFill>
              </a:rPr>
              <a:t>implementation and operational experience</a:t>
            </a:r>
          </a:p>
        </p:txBody>
      </p:sp>
      <p:sp>
        <p:nvSpPr>
          <p:cNvPr id="7" name="Content Placeholder 2">
            <a:extLst>
              <a:ext uri="{FF2B5EF4-FFF2-40B4-BE49-F238E27FC236}">
                <a16:creationId xmlns:a16="http://schemas.microsoft.com/office/drawing/2014/main" id="{0E81ECB2-DD16-591E-656D-7B0AB2F5BB11}"/>
              </a:ext>
            </a:extLst>
          </p:cNvPr>
          <p:cNvSpPr txBox="1">
            <a:spLocks/>
          </p:cNvSpPr>
          <p:nvPr/>
        </p:nvSpPr>
        <p:spPr>
          <a:xfrm>
            <a:off x="576000" y="1440000"/>
            <a:ext cx="8110800" cy="220744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225"/>
              </a:spcBef>
              <a:spcAft>
                <a:spcPts val="225"/>
              </a:spcAft>
              <a:buNone/>
            </a:pPr>
            <a:r>
              <a:rPr lang="de-CH" sz="1600" b="1" dirty="0" err="1"/>
              <a:t>Snippet</a:t>
            </a:r>
            <a:r>
              <a:rPr lang="de-CH" sz="1600" b="1" dirty="0"/>
              <a:t> </a:t>
            </a:r>
            <a:r>
              <a:rPr lang="de-CH" sz="1600" b="1" dirty="0" err="1"/>
              <a:t>of</a:t>
            </a:r>
            <a:r>
              <a:rPr lang="de-CH" sz="1600" b="1" dirty="0"/>
              <a:t> </a:t>
            </a:r>
            <a:r>
              <a:rPr lang="de-CH" sz="1600" b="1" dirty="0" err="1"/>
              <a:t>message</a:t>
            </a:r>
            <a:r>
              <a:rPr lang="de-CH" sz="1600" b="1" dirty="0"/>
              <a:t> </a:t>
            </a:r>
            <a:r>
              <a:rPr lang="de-CH" sz="1600" b="1" dirty="0" err="1"/>
              <a:t>example</a:t>
            </a:r>
            <a:r>
              <a:rPr lang="de-CH" sz="1600" b="1" dirty="0"/>
              <a:t> </a:t>
            </a:r>
            <a:r>
              <a:rPr lang="de-CH" sz="1600" b="1" dirty="0" err="1"/>
              <a:t>from</a:t>
            </a:r>
            <a:r>
              <a:rPr lang="de-CH" sz="1600" b="1" dirty="0"/>
              <a:t> </a:t>
            </a:r>
            <a:r>
              <a:rPr lang="de-CH" sz="1600" b="1" dirty="0" err="1"/>
              <a:t>Cosmos</a:t>
            </a:r>
            <a:r>
              <a:rPr lang="de-CH" sz="1600" b="1" dirty="0"/>
              <a:t> Bright Lights Implementation</a:t>
            </a:r>
            <a:endParaRPr lang="en-US" sz="1600" dirty="0"/>
          </a:p>
        </p:txBody>
      </p:sp>
      <p:sp>
        <p:nvSpPr>
          <p:cNvPr id="4" name="Slide Number Placeholder 3">
            <a:extLst>
              <a:ext uri="{FF2B5EF4-FFF2-40B4-BE49-F238E27FC236}">
                <a16:creationId xmlns:a16="http://schemas.microsoft.com/office/drawing/2014/main" id="{A6F3129D-FF08-73D2-DB86-3FCA643F6849}"/>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22" name="Content Placeholder 2">
            <a:extLst>
              <a:ext uri="{FF2B5EF4-FFF2-40B4-BE49-F238E27FC236}">
                <a16:creationId xmlns:a16="http://schemas.microsoft.com/office/drawing/2014/main" id="{8C105682-FDBA-2310-F0CF-B64A664B2580}"/>
              </a:ext>
            </a:extLst>
          </p:cNvPr>
          <p:cNvSpPr txBox="1">
            <a:spLocks/>
          </p:cNvSpPr>
          <p:nvPr/>
        </p:nvSpPr>
        <p:spPr>
          <a:xfrm>
            <a:off x="4614862" y="2182948"/>
            <a:ext cx="3876675" cy="40940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de-CH" sz="1000" b="1" dirty="0">
                <a:highlight>
                  <a:srgbClr val="00FFFF"/>
                </a:highlight>
              </a:rPr>
              <a:t> </a:t>
            </a:r>
            <a:r>
              <a:rPr lang="de-CH" sz="1000" dirty="0">
                <a:highlight>
                  <a:srgbClr val="00FFFF"/>
                </a:highlight>
              </a:rPr>
              <a:t>"</a:t>
            </a:r>
            <a:r>
              <a:rPr lang="de-CH" sz="1000" dirty="0" err="1">
                <a:highlight>
                  <a:srgbClr val="00FFFF"/>
                </a:highlight>
              </a:rPr>
              <a:t>service</a:t>
            </a:r>
            <a:r>
              <a:rPr lang="de-CH" sz="1000" dirty="0">
                <a:highlight>
                  <a:srgbClr val="00FFFF"/>
                </a:highlight>
              </a:rPr>
              <a:t>": {</a:t>
            </a:r>
          </a:p>
          <a:p>
            <a:pPr marL="0" indent="0">
              <a:buNone/>
            </a:pPr>
            <a:r>
              <a:rPr lang="de-CH" sz="1000" dirty="0">
                <a:highlight>
                  <a:srgbClr val="00FFFF"/>
                </a:highlight>
              </a:rPr>
              <a:t>        "L3VpnServiceContainer": {</a:t>
            </a:r>
          </a:p>
          <a:p>
            <a:pPr marL="0" indent="0">
              <a:buNone/>
            </a:pPr>
            <a:r>
              <a:rPr lang="de-CH" sz="1000" dirty="0">
                <a:highlight>
                  <a:srgbClr val="00FFFF"/>
                </a:highlight>
              </a:rPr>
              <a:t>            "l3VpnService": [</a:t>
            </a:r>
          </a:p>
          <a:p>
            <a:pPr marL="0" indent="0">
              <a:buNone/>
            </a:pPr>
            <a:r>
              <a:rPr lang="de-CH" sz="1000" dirty="0">
                <a:highlight>
                  <a:srgbClr val="00FFFF"/>
                </a:highlight>
              </a:rPr>
              <a:t>                {</a:t>
            </a:r>
          </a:p>
          <a:p>
            <a:pPr marL="0" indent="0">
              <a:buNone/>
            </a:pPr>
            <a:r>
              <a:rPr lang="de-CH" sz="1000" dirty="0">
                <a:highlight>
                  <a:srgbClr val="00FFFF"/>
                </a:highlight>
              </a:rPr>
              <a:t>                    "</a:t>
            </a:r>
            <a:r>
              <a:rPr lang="de-CH" sz="1000" dirty="0" err="1">
                <a:highlight>
                  <a:srgbClr val="00FFFF"/>
                </a:highlight>
              </a:rPr>
              <a:t>vpnId</a:t>
            </a:r>
            <a:r>
              <a:rPr lang="de-CH" sz="1000" dirty="0">
                <a:highlight>
                  <a:srgbClr val="00FFFF"/>
                </a:highlight>
              </a:rPr>
              <a:t>": "64497:59121",</a:t>
            </a:r>
          </a:p>
          <a:p>
            <a:pPr marL="0" indent="0">
              <a:buNone/>
            </a:pPr>
            <a:r>
              <a:rPr lang="de-CH" sz="1000" dirty="0">
                <a:highlight>
                  <a:srgbClr val="00FFFF"/>
                </a:highlight>
              </a:rPr>
              <a:t>                    "</a:t>
            </a:r>
            <a:r>
              <a:rPr lang="de-CH" sz="1000" dirty="0" err="1">
                <a:highlight>
                  <a:srgbClr val="00FFFF"/>
                </a:highlight>
              </a:rPr>
              <a:t>uri</a:t>
            </a:r>
            <a:r>
              <a:rPr lang="de-CH" sz="1000" dirty="0">
                <a:highlight>
                  <a:srgbClr val="00FFFF"/>
                </a:highlight>
              </a:rPr>
              <a:t>": {</a:t>
            </a:r>
          </a:p>
          <a:p>
            <a:pPr marL="0" indent="0">
              <a:buNone/>
            </a:pPr>
            <a:r>
              <a:rPr lang="de-CH" sz="1000" dirty="0">
                <a:highlight>
                  <a:srgbClr val="00FFFF"/>
                </a:highlight>
              </a:rPr>
              <a:t>                        "</a:t>
            </a:r>
            <a:r>
              <a:rPr lang="de-CH" sz="1000" dirty="0" err="1">
                <a:highlight>
                  <a:srgbClr val="00FFFF"/>
                </a:highlight>
              </a:rPr>
              <a:t>string</a:t>
            </a:r>
            <a:r>
              <a:rPr lang="de-CH" sz="1000" dirty="0">
                <a:highlight>
                  <a:srgbClr val="00FFFF"/>
                </a:highlight>
              </a:rPr>
              <a:t>": "https://thor-</a:t>
            </a:r>
            <a:r>
              <a:rPr lang="de-CH" sz="1000" dirty="0" err="1">
                <a:highlight>
                  <a:srgbClr val="00FFFF"/>
                </a:highlight>
              </a:rPr>
              <a:t>ui.thoruipp.corproot.net</a:t>
            </a:r>
            <a:r>
              <a:rPr lang="de-CH" sz="1000" dirty="0">
                <a:highlight>
                  <a:srgbClr val="00FFFF"/>
                </a:highlight>
              </a:rPr>
              <a:t>/</a:t>
            </a:r>
            <a:r>
              <a:rPr lang="de-CH" sz="1000" dirty="0" err="1">
                <a:highlight>
                  <a:srgbClr val="00FFFF"/>
                </a:highlight>
              </a:rPr>
              <a:t>cantata</a:t>
            </a:r>
            <a:r>
              <a:rPr lang="de-CH" sz="1000" dirty="0">
                <a:highlight>
                  <a:srgbClr val="00FFFF"/>
                </a:highlight>
              </a:rPr>
              <a:t>/</a:t>
            </a:r>
            <a:r>
              <a:rPr lang="de-CH" sz="1000" dirty="0" err="1">
                <a:highlight>
                  <a:srgbClr val="00FFFF"/>
                </a:highlight>
              </a:rPr>
              <a:t>lcs?dstCommunity</a:t>
            </a:r>
            <a:r>
              <a:rPr lang="de-CH" sz="1000" dirty="0">
                <a:highlight>
                  <a:srgbClr val="00FFFF"/>
                </a:highlight>
              </a:rPr>
              <a:t>=64497:59121"</a:t>
            </a:r>
          </a:p>
          <a:p>
            <a:pPr marL="0" indent="0">
              <a:buNone/>
            </a:pPr>
            <a:r>
              <a:rPr lang="de-CH" sz="1000" dirty="0">
                <a:highlight>
                  <a:srgbClr val="00FFFF"/>
                </a:highlight>
              </a:rPr>
              <a:t>                    },</a:t>
            </a:r>
          </a:p>
          <a:p>
            <a:pPr marL="0" indent="0">
              <a:buNone/>
            </a:pPr>
            <a:r>
              <a:rPr lang="de-CH" sz="1000" dirty="0">
                <a:highlight>
                  <a:srgbClr val="00FFFF"/>
                </a:highlight>
              </a:rPr>
              <a:t>                    "</a:t>
            </a:r>
            <a:r>
              <a:rPr lang="de-CH" sz="1000" dirty="0" err="1">
                <a:highlight>
                  <a:srgbClr val="00FFFF"/>
                </a:highlight>
              </a:rPr>
              <a:t>vpnName</a:t>
            </a:r>
            <a:r>
              <a:rPr lang="de-CH" sz="1000" dirty="0">
                <a:highlight>
                  <a:srgbClr val="00FFFF"/>
                </a:highlight>
              </a:rPr>
              <a:t>": {</a:t>
            </a:r>
          </a:p>
          <a:p>
            <a:pPr marL="0" indent="0">
              <a:buNone/>
            </a:pPr>
            <a:r>
              <a:rPr lang="de-CH" sz="1000" dirty="0">
                <a:highlight>
                  <a:srgbClr val="00FFFF"/>
                </a:highlight>
              </a:rPr>
              <a:t>                        "</a:t>
            </a:r>
            <a:r>
              <a:rPr lang="de-CH" sz="1000" dirty="0" err="1">
                <a:highlight>
                  <a:srgbClr val="00FFFF"/>
                </a:highlight>
              </a:rPr>
              <a:t>string</a:t>
            </a:r>
            <a:r>
              <a:rPr lang="de-CH" sz="1000" dirty="0">
                <a:highlight>
                  <a:srgbClr val="00FFFF"/>
                </a:highlight>
              </a:rPr>
              <a:t>": "64497:59121"</a:t>
            </a:r>
          </a:p>
          <a:p>
            <a:pPr marL="0" indent="0">
              <a:buNone/>
            </a:pPr>
            <a:r>
              <a:rPr lang="de-CH" sz="1000" dirty="0">
                <a:highlight>
                  <a:srgbClr val="00FFFF"/>
                </a:highlight>
              </a:rPr>
              <a:t>                    },</a:t>
            </a:r>
          </a:p>
          <a:p>
            <a:pPr marL="0" indent="0">
              <a:buNone/>
            </a:pPr>
            <a:r>
              <a:rPr lang="de-CH" sz="1000" dirty="0">
                <a:highlight>
                  <a:srgbClr val="00FFFF"/>
                </a:highlight>
              </a:rPr>
              <a:t>                    "</a:t>
            </a:r>
            <a:r>
              <a:rPr lang="de-CH" sz="1000" dirty="0" err="1">
                <a:highlight>
                  <a:srgbClr val="00FFFF"/>
                </a:highlight>
              </a:rPr>
              <a:t>siteIds</a:t>
            </a:r>
            <a:r>
              <a:rPr lang="de-CH" sz="1000" dirty="0">
                <a:highlight>
                  <a:srgbClr val="00FFFF"/>
                </a:highlight>
              </a:rPr>
              <a:t>": null,</a:t>
            </a:r>
          </a:p>
          <a:p>
            <a:pPr marL="0" indent="0">
              <a:buNone/>
            </a:pPr>
            <a:r>
              <a:rPr lang="de-CH" sz="1000" dirty="0">
                <a:highlight>
                  <a:srgbClr val="00FFFF"/>
                </a:highlight>
              </a:rPr>
              <a:t>                    "</a:t>
            </a:r>
            <a:r>
              <a:rPr lang="de-CH" sz="1000" dirty="0" err="1">
                <a:highlight>
                  <a:srgbClr val="00FFFF"/>
                </a:highlight>
              </a:rPr>
              <a:t>changeId</a:t>
            </a:r>
            <a:r>
              <a:rPr lang="de-CH" sz="1000" dirty="0">
                <a:highlight>
                  <a:srgbClr val="00FFFF"/>
                </a:highlight>
              </a:rPr>
              <a:t>": null,</a:t>
            </a:r>
          </a:p>
          <a:p>
            <a:pPr marL="0" indent="0">
              <a:buNone/>
            </a:pPr>
            <a:r>
              <a:rPr lang="de-CH" sz="1000" dirty="0">
                <a:highlight>
                  <a:srgbClr val="00FFFF"/>
                </a:highlight>
              </a:rPr>
              <a:t>                    "</a:t>
            </a:r>
            <a:r>
              <a:rPr lang="de-CH" sz="1000" dirty="0" err="1">
                <a:highlight>
                  <a:srgbClr val="00FFFF"/>
                </a:highlight>
              </a:rPr>
              <a:t>changeStartTime</a:t>
            </a:r>
            <a:r>
              <a:rPr lang="de-CH" sz="1000" dirty="0">
                <a:highlight>
                  <a:srgbClr val="00FFFF"/>
                </a:highlight>
              </a:rPr>
              <a:t>": null,</a:t>
            </a:r>
          </a:p>
          <a:p>
            <a:pPr marL="0" indent="0">
              <a:buNone/>
            </a:pPr>
            <a:r>
              <a:rPr lang="de-CH" sz="1000" dirty="0">
                <a:highlight>
                  <a:srgbClr val="00FFFF"/>
                </a:highlight>
              </a:rPr>
              <a:t>                    "</a:t>
            </a:r>
            <a:r>
              <a:rPr lang="de-CH" sz="1000" dirty="0" err="1">
                <a:highlight>
                  <a:srgbClr val="00FFFF"/>
                </a:highlight>
              </a:rPr>
              <a:t>changeEndTime</a:t>
            </a:r>
            <a:r>
              <a:rPr lang="de-CH" sz="1000" dirty="0">
                <a:highlight>
                  <a:srgbClr val="00FFFF"/>
                </a:highlight>
              </a:rPr>
              <a:t>": null</a:t>
            </a:r>
          </a:p>
          <a:p>
            <a:pPr marL="0" indent="0">
              <a:buNone/>
            </a:pPr>
            <a:r>
              <a:rPr lang="de-CH" sz="1000" dirty="0">
                <a:highlight>
                  <a:srgbClr val="00FFFF"/>
                </a:highlight>
              </a:rPr>
              <a:t>                }</a:t>
            </a:r>
          </a:p>
          <a:p>
            <a:pPr marL="0" indent="0">
              <a:buNone/>
            </a:pPr>
            <a:r>
              <a:rPr lang="de-CH" sz="1000" dirty="0">
                <a:highlight>
                  <a:srgbClr val="00FFFF"/>
                </a:highlight>
              </a:rPr>
              <a:t>            ]</a:t>
            </a:r>
          </a:p>
          <a:p>
            <a:pPr marL="0" indent="0">
              <a:buNone/>
            </a:pPr>
            <a:r>
              <a:rPr lang="de-CH" sz="1000" dirty="0">
                <a:highlight>
                  <a:srgbClr val="00FFFF"/>
                </a:highlight>
              </a:rPr>
              <a:t>        }</a:t>
            </a:r>
          </a:p>
          <a:p>
            <a:pPr marL="0" indent="0">
              <a:buNone/>
            </a:pPr>
            <a:r>
              <a:rPr lang="de-CH" sz="1000" dirty="0">
                <a:highlight>
                  <a:srgbClr val="00FFFF"/>
                </a:highlight>
              </a:rPr>
              <a:t>    }</a:t>
            </a:r>
            <a:endParaRPr lang="en-GB" sz="1000" dirty="0">
              <a:highlight>
                <a:srgbClr val="00FFFF"/>
              </a:highlight>
            </a:endParaRPr>
          </a:p>
          <a:p>
            <a:pPr marL="0" indent="0">
              <a:buNone/>
            </a:pPr>
            <a:endParaRPr lang="en-GB" sz="1000" dirty="0">
              <a:highlight>
                <a:srgbClr val="008080"/>
              </a:highlight>
            </a:endParaRPr>
          </a:p>
          <a:p>
            <a:pPr marL="0" indent="0">
              <a:buNone/>
            </a:pPr>
            <a:r>
              <a:rPr lang="en-GB" sz="1000" dirty="0">
                <a:highlight>
                  <a:srgbClr val="008080"/>
                </a:highlight>
              </a:rPr>
              <a:t>	</a:t>
            </a:r>
          </a:p>
          <a:p>
            <a:pPr marL="0" indent="0">
              <a:spcBef>
                <a:spcPts val="225"/>
              </a:spcBef>
              <a:spcAft>
                <a:spcPts val="225"/>
              </a:spcAft>
              <a:buFont typeface="Arial"/>
              <a:buNone/>
            </a:pPr>
            <a:endParaRPr lang="en-US" sz="1000" b="1" dirty="0">
              <a:highlight>
                <a:srgbClr val="008080"/>
              </a:highlight>
            </a:endParaRPr>
          </a:p>
        </p:txBody>
      </p:sp>
      <p:sp>
        <p:nvSpPr>
          <p:cNvPr id="10" name="Content Placeholder 2">
            <a:extLst>
              <a:ext uri="{FF2B5EF4-FFF2-40B4-BE49-F238E27FC236}">
                <a16:creationId xmlns:a16="http://schemas.microsoft.com/office/drawing/2014/main" id="{1983DEBA-5FBE-3EE2-B08A-FED04BE86625}"/>
              </a:ext>
            </a:extLst>
          </p:cNvPr>
          <p:cNvSpPr>
            <a:spLocks noGrp="1"/>
          </p:cNvSpPr>
          <p:nvPr>
            <p:ph idx="1"/>
          </p:nvPr>
        </p:nvSpPr>
        <p:spPr>
          <a:xfrm>
            <a:off x="895350" y="1544774"/>
            <a:ext cx="4133850" cy="4094025"/>
          </a:xfrm>
        </p:spPr>
        <p:txBody>
          <a:bodyPr>
            <a:noAutofit/>
          </a:bodyPr>
          <a:lstStyle/>
          <a:p>
            <a:pPr marL="0" indent="0">
              <a:buNone/>
            </a:pPr>
            <a:br>
              <a:rPr lang="de-CH" sz="1000" b="1" dirty="0"/>
            </a:br>
            <a:endParaRPr lang="de-CH" sz="1000" b="1" dirty="0"/>
          </a:p>
          <a:p>
            <a:pPr marL="0" indent="0">
              <a:buNone/>
            </a:pPr>
            <a:r>
              <a:rPr lang="en-GB" sz="1000" dirty="0">
                <a:highlight>
                  <a:srgbClr val="FFFF00"/>
                </a:highlight>
              </a:rPr>
              <a:t>  "</a:t>
            </a:r>
            <a:r>
              <a:rPr lang="en-GB" sz="1000" dirty="0" err="1">
                <a:highlight>
                  <a:srgbClr val="FFFF00"/>
                </a:highlight>
              </a:rPr>
              <a:t>vpnNodeTerminations</a:t>
            </a:r>
            <a:r>
              <a:rPr lang="en-GB" sz="1000" dirty="0">
                <a:highlight>
                  <a:srgbClr val="FFFF00"/>
                </a:highlight>
              </a:rPr>
              <a:t>": [</a:t>
            </a:r>
          </a:p>
          <a:p>
            <a:pPr marL="0" indent="0">
              <a:buNone/>
            </a:pPr>
            <a:r>
              <a:rPr lang="en-GB" sz="1000" dirty="0">
                <a:highlight>
                  <a:srgbClr val="FFFF00"/>
                </a:highlight>
              </a:rPr>
              <a:t>      {</a:t>
            </a:r>
          </a:p>
          <a:p>
            <a:pPr marL="0" indent="0">
              <a:buNone/>
            </a:pPr>
            <a:r>
              <a:rPr lang="en-GB" sz="1000" dirty="0">
                <a:highlight>
                  <a:srgbClr val="FFFF00"/>
                </a:highlight>
              </a:rPr>
              <a:t>          "hostname": "pcb05ro1010bew",</a:t>
            </a:r>
          </a:p>
          <a:p>
            <a:pPr marL="0" indent="0">
              <a:buNone/>
            </a:pPr>
            <a:r>
              <a:rPr lang="en-GB" sz="1000" dirty="0">
                <a:highlight>
                  <a:srgbClr val="FFFF00"/>
                </a:highlight>
              </a:rPr>
              <a:t>          "</a:t>
            </a:r>
            <a:r>
              <a:rPr lang="en-GB" sz="1000" dirty="0" err="1">
                <a:highlight>
                  <a:srgbClr val="FFFF00"/>
                </a:highlight>
              </a:rPr>
              <a:t>vrfId</a:t>
            </a:r>
            <a:r>
              <a:rPr lang="en-GB" sz="1000" dirty="0">
                <a:highlight>
                  <a:srgbClr val="FFFF00"/>
                </a:highlight>
              </a:rPr>
              <a:t>": null,</a:t>
            </a:r>
          </a:p>
          <a:p>
            <a:pPr marL="0" indent="0">
              <a:buNone/>
            </a:pPr>
            <a:r>
              <a:rPr lang="en-GB" sz="1000" dirty="0">
                <a:highlight>
                  <a:srgbClr val="FFFF00"/>
                </a:highlight>
              </a:rPr>
              <a:t>           " </a:t>
            </a:r>
            <a:r>
              <a:rPr lang="en-GB" sz="1000" dirty="0" err="1">
                <a:highlight>
                  <a:srgbClr val="FFFF00"/>
                </a:highlight>
              </a:rPr>
              <a:t>vrfName</a:t>
            </a:r>
            <a:r>
              <a:rPr lang="en-GB" sz="1000" dirty="0">
                <a:highlight>
                  <a:srgbClr val="FFFF00"/>
                </a:highlight>
              </a:rPr>
              <a:t>": "null",</a:t>
            </a:r>
          </a:p>
          <a:p>
            <a:pPr marL="0" indent="0">
              <a:buNone/>
            </a:pPr>
            <a:r>
              <a:rPr lang="en-GB" sz="1000" dirty="0">
                <a:highlight>
                  <a:srgbClr val="FFFF00"/>
                </a:highlight>
              </a:rPr>
              <a:t>          "</a:t>
            </a:r>
            <a:r>
              <a:rPr lang="en-GB" sz="1000" dirty="0" err="1">
                <a:highlight>
                  <a:srgbClr val="FFFF00"/>
                </a:highlight>
              </a:rPr>
              <a:t>routeDistinguisher</a:t>
            </a:r>
            <a:r>
              <a:rPr lang="en-GB" sz="1000" dirty="0">
                <a:highlight>
                  <a:srgbClr val="FFFF00"/>
                </a:highlight>
              </a:rPr>
              <a:t>": {</a:t>
            </a:r>
          </a:p>
          <a:p>
            <a:pPr marL="0" indent="0">
              <a:buNone/>
            </a:pPr>
            <a:r>
              <a:rPr lang="en-GB" sz="1000" dirty="0">
                <a:highlight>
                  <a:srgbClr val="FFFF00"/>
                </a:highlight>
              </a:rPr>
              <a:t>          "string": "0:64499:100196518"</a:t>
            </a:r>
          </a:p>
          <a:p>
            <a:pPr marL="0" indent="0">
              <a:buNone/>
            </a:pPr>
            <a:r>
              <a:rPr lang="en-GB" sz="1000" dirty="0">
                <a:highlight>
                  <a:srgbClr val="FFFF00"/>
                </a:highlight>
              </a:rPr>
              <a:t>      },</a:t>
            </a:r>
          </a:p>
          <a:p>
            <a:pPr marL="0" indent="0">
              <a:buNone/>
            </a:pPr>
            <a:r>
              <a:rPr lang="en-GB" sz="1000" dirty="0">
                <a:highlight>
                  <a:srgbClr val="FFFF00"/>
                </a:highlight>
              </a:rPr>
              <a:t>      "</a:t>
            </a:r>
            <a:r>
              <a:rPr lang="en-GB" sz="1000" dirty="0" err="1">
                <a:highlight>
                  <a:srgbClr val="FFFF00"/>
                </a:highlight>
              </a:rPr>
              <a:t>peerIp</a:t>
            </a:r>
            <a:r>
              <a:rPr lang="en-GB" sz="1000" dirty="0">
                <a:highlight>
                  <a:srgbClr val="FFFF00"/>
                </a:highlight>
              </a:rPr>
              <a:t>": [</a:t>
            </a:r>
          </a:p>
          <a:p>
            <a:pPr marL="0" indent="0">
              <a:buNone/>
            </a:pPr>
            <a:r>
              <a:rPr lang="en-GB" sz="1000" dirty="0">
                <a:highlight>
                  <a:srgbClr val="FFFF00"/>
                </a:highlight>
              </a:rPr>
              <a:t>          "138.187.124.33",</a:t>
            </a:r>
          </a:p>
          <a:p>
            <a:pPr marL="0" indent="0">
              <a:buNone/>
            </a:pPr>
            <a:r>
              <a:rPr lang="en-GB" sz="1000" dirty="0">
                <a:highlight>
                  <a:srgbClr val="FFFF00"/>
                </a:highlight>
              </a:rPr>
              <a:t>          "138.187.124.35"</a:t>
            </a:r>
          </a:p>
          <a:p>
            <a:pPr marL="0" indent="0">
              <a:buNone/>
            </a:pPr>
            <a:r>
              <a:rPr lang="en-GB" sz="1000" dirty="0">
                <a:highlight>
                  <a:srgbClr val="FFFF00"/>
                </a:highlight>
              </a:rPr>
              <a:t>      ],</a:t>
            </a:r>
          </a:p>
          <a:p>
            <a:pPr marL="0" indent="0">
              <a:buNone/>
            </a:pPr>
            <a:r>
              <a:rPr lang="en-GB" sz="1000" dirty="0">
                <a:highlight>
                  <a:srgbClr val="FFFF00"/>
                </a:highlight>
              </a:rPr>
              <a:t>      "</a:t>
            </a:r>
            <a:r>
              <a:rPr lang="en-GB" sz="1000" dirty="0" err="1">
                <a:highlight>
                  <a:srgbClr val="FFFF00"/>
                </a:highlight>
              </a:rPr>
              <a:t>nextHop</a:t>
            </a:r>
            <a:r>
              <a:rPr lang="en-GB" sz="1000" dirty="0">
                <a:highlight>
                  <a:srgbClr val="FFFF00"/>
                </a:highlight>
              </a:rPr>
              <a:t>": [],</a:t>
            </a:r>
          </a:p>
          <a:p>
            <a:pPr marL="0" indent="0">
              <a:buNone/>
            </a:pPr>
            <a:r>
              <a:rPr lang="en-GB" sz="1000" dirty="0">
                <a:highlight>
                  <a:srgbClr val="FFFF00"/>
                </a:highlight>
              </a:rPr>
              <a:t>      "</a:t>
            </a:r>
            <a:r>
              <a:rPr lang="en-GB" sz="1000" dirty="0" err="1">
                <a:highlight>
                  <a:srgbClr val="FFFF00"/>
                </a:highlight>
              </a:rPr>
              <a:t>interfaceId</a:t>
            </a:r>
            <a:r>
              <a:rPr lang="en-GB" sz="1000" dirty="0">
                <a:highlight>
                  <a:srgbClr val="FFFF00"/>
                </a:highlight>
              </a:rPr>
              <a:t>": [],</a:t>
            </a:r>
          </a:p>
          <a:p>
            <a:pPr marL="0" indent="0">
              <a:buNone/>
            </a:pPr>
            <a:r>
              <a:rPr lang="en-GB" sz="1000" dirty="0">
                <a:highlight>
                  <a:srgbClr val="FFFF00"/>
                </a:highlight>
              </a:rPr>
              <a:t>      "</a:t>
            </a:r>
            <a:r>
              <a:rPr lang="en-GB" sz="1000" dirty="0" err="1">
                <a:highlight>
                  <a:srgbClr val="FFFF00"/>
                </a:highlight>
              </a:rPr>
              <a:t>interfaceName</a:t>
            </a:r>
            <a:r>
              <a:rPr lang="en-GB" sz="1000" dirty="0">
                <a:highlight>
                  <a:srgbClr val="FFFF00"/>
                </a:highlight>
              </a:rPr>
              <a:t>": []</a:t>
            </a:r>
          </a:p>
          <a:p>
            <a:pPr marL="0" indent="0">
              <a:buNone/>
            </a:pPr>
            <a:r>
              <a:rPr lang="en-GB" sz="1000" dirty="0">
                <a:highlight>
                  <a:srgbClr val="FFFF00"/>
                </a:highlight>
              </a:rPr>
              <a:t>    }</a:t>
            </a:r>
          </a:p>
          <a:p>
            <a:pPr marL="0" indent="0">
              <a:buNone/>
            </a:pPr>
            <a:r>
              <a:rPr lang="en-GB" sz="1000" dirty="0">
                <a:highlight>
                  <a:srgbClr val="FFFF00"/>
                </a:highlight>
              </a:rPr>
              <a:t>  ],</a:t>
            </a:r>
          </a:p>
          <a:p>
            <a:pPr marL="0" indent="0">
              <a:buNone/>
            </a:pPr>
            <a:r>
              <a:rPr lang="en-GB" sz="1000" dirty="0">
                <a:highlight>
                  <a:srgbClr val="FF00FF"/>
                </a:highlight>
              </a:rPr>
              <a:t>  "stage": "detection",</a:t>
            </a:r>
          </a:p>
          <a:p>
            <a:pPr marL="0" indent="0">
              <a:buNone/>
            </a:pPr>
            <a:r>
              <a:rPr lang="en-GB" sz="1000" dirty="0">
                <a:highlight>
                  <a:srgbClr val="C0C0C0"/>
                </a:highlight>
              </a:rPr>
              <a:t>  "</a:t>
            </a:r>
            <a:r>
              <a:rPr lang="en-GB" sz="1000" dirty="0" err="1">
                <a:highlight>
                  <a:srgbClr val="C0C0C0"/>
                </a:highlight>
              </a:rPr>
              <a:t>operationalData</a:t>
            </a:r>
            <a:r>
              <a:rPr lang="en-GB" sz="1000" dirty="0">
                <a:highlight>
                  <a:srgbClr val="C0C0C0"/>
                </a:highlight>
              </a:rPr>
              <a:t>":</a:t>
            </a:r>
          </a:p>
          <a:p>
            <a:pPr marL="0" indent="0">
              <a:buNone/>
            </a:pPr>
            <a:r>
              <a:rPr lang="en-GB" sz="1000" dirty="0">
                <a:highlight>
                  <a:srgbClr val="C0C0C0"/>
                </a:highlight>
              </a:rPr>
              <a:t>    {</a:t>
            </a:r>
          </a:p>
          <a:p>
            <a:pPr marL="0" indent="0">
              <a:buNone/>
            </a:pPr>
            <a:r>
              <a:rPr lang="en-GB" sz="1000" dirty="0">
                <a:highlight>
                  <a:srgbClr val="C0C0C0"/>
                </a:highlight>
              </a:rPr>
              <a:t>        " </a:t>
            </a:r>
            <a:r>
              <a:rPr lang="en-GB" sz="1000" dirty="0" err="1">
                <a:highlight>
                  <a:srgbClr val="C0C0C0"/>
                </a:highlight>
              </a:rPr>
              <a:t>topicName</a:t>
            </a:r>
            <a:r>
              <a:rPr lang="en-GB" sz="1000" dirty="0">
                <a:highlight>
                  <a:srgbClr val="C0C0C0"/>
                </a:highlight>
              </a:rPr>
              <a:t>”: null,</a:t>
            </a:r>
          </a:p>
          <a:p>
            <a:pPr marL="0" indent="0">
              <a:buNone/>
            </a:pPr>
            <a:r>
              <a:rPr lang="en-GB" sz="1000" dirty="0">
                <a:highlight>
                  <a:srgbClr val="C0C0C0"/>
                </a:highlight>
              </a:rPr>
              <a:t>        " </a:t>
            </a:r>
            <a:r>
              <a:rPr lang="en-GB" sz="1000" dirty="0" err="1">
                <a:highlight>
                  <a:srgbClr val="C0C0C0"/>
                </a:highlight>
              </a:rPr>
              <a:t>subjectName</a:t>
            </a:r>
            <a:r>
              <a:rPr lang="en-GB" sz="1000" dirty="0">
                <a:highlight>
                  <a:srgbClr val="C0C0C0"/>
                </a:highlight>
              </a:rPr>
              <a:t>”: null</a:t>
            </a:r>
          </a:p>
          <a:p>
            <a:pPr marL="0" indent="0">
              <a:buNone/>
            </a:pPr>
            <a:r>
              <a:rPr lang="en-GB" sz="1000" dirty="0">
                <a:highlight>
                  <a:srgbClr val="C0C0C0"/>
                </a:highlight>
              </a:rPr>
              <a:t>   }</a:t>
            </a:r>
          </a:p>
          <a:p>
            <a:pPr marL="0" indent="0">
              <a:buNone/>
            </a:pPr>
            <a:endParaRPr lang="en-GB" sz="1000" dirty="0">
              <a:highlight>
                <a:srgbClr val="C0C0C0"/>
              </a:highlight>
            </a:endParaRPr>
          </a:p>
          <a:p>
            <a:pPr marL="0" indent="0">
              <a:buNone/>
            </a:pPr>
            <a:r>
              <a:rPr lang="en-GB" sz="1000" dirty="0">
                <a:highlight>
                  <a:srgbClr val="C0C0C0"/>
                </a:highlight>
              </a:rPr>
              <a:t>	</a:t>
            </a:r>
          </a:p>
          <a:p>
            <a:pPr marL="0" indent="0">
              <a:spcBef>
                <a:spcPts val="225"/>
              </a:spcBef>
              <a:spcAft>
                <a:spcPts val="225"/>
              </a:spcAft>
              <a:buNone/>
            </a:pPr>
            <a:endParaRPr lang="en-US" sz="1000" b="1" dirty="0"/>
          </a:p>
        </p:txBody>
      </p:sp>
    </p:spTree>
    <p:extLst>
      <p:ext uri="{BB962C8B-B14F-4D97-AF65-F5344CB8AC3E}">
        <p14:creationId xmlns:p14="http://schemas.microsoft.com/office/powerpoint/2010/main" val="245411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94BD5-D92F-4B95-2C77-9E2BF0075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B56FE-6C11-BDBC-C87D-B21C6988B310}"/>
              </a:ext>
            </a:extLst>
          </p:cNvPr>
          <p:cNvSpPr>
            <a:spLocks noGrp="1"/>
          </p:cNvSpPr>
          <p:nvPr>
            <p:ph type="title"/>
          </p:nvPr>
        </p:nvSpPr>
        <p:spPr/>
        <p:txBody>
          <a:bodyPr>
            <a:normAutofit fontScale="90000"/>
          </a:bodyPr>
          <a:lstStyle/>
          <a:p>
            <a:r>
              <a:rPr lang="en-US" dirty="0"/>
              <a:t>draft-ietf-nmop-network-anomaly-lifecycle-05</a:t>
            </a:r>
            <a:br>
              <a:rPr lang="en-CH" dirty="0"/>
            </a:br>
            <a:endParaRPr lang="en-CH" dirty="0"/>
          </a:p>
        </p:txBody>
      </p:sp>
      <p:sp>
        <p:nvSpPr>
          <p:cNvPr id="3" name="Text Placeholder 2">
            <a:extLst>
              <a:ext uri="{FF2B5EF4-FFF2-40B4-BE49-F238E27FC236}">
                <a16:creationId xmlns:a16="http://schemas.microsoft.com/office/drawing/2014/main" id="{119261CC-53EB-79C2-D4DF-F5B369E5F560}"/>
              </a:ext>
            </a:extLst>
          </p:cNvPr>
          <p:cNvSpPr>
            <a:spLocks noGrp="1"/>
          </p:cNvSpPr>
          <p:nvPr>
            <p:ph type="body" idx="1"/>
          </p:nvPr>
        </p:nvSpPr>
        <p:spPr/>
        <p:txBody>
          <a:bodyPr/>
          <a:lstStyle/>
          <a:p>
            <a:r>
              <a:rPr lang="en-US" b="1" dirty="0"/>
              <a:t>Network Anomaly Lifecycle</a:t>
            </a:r>
          </a:p>
        </p:txBody>
      </p:sp>
      <p:sp>
        <p:nvSpPr>
          <p:cNvPr id="5" name="Slide Number Placeholder 4">
            <a:extLst>
              <a:ext uri="{FF2B5EF4-FFF2-40B4-BE49-F238E27FC236}">
                <a16:creationId xmlns:a16="http://schemas.microsoft.com/office/drawing/2014/main" id="{D4EABDAC-EB10-9093-C91E-3C35A88DF6E9}"/>
              </a:ext>
            </a:extLst>
          </p:cNvPr>
          <p:cNvSpPr>
            <a:spLocks noGrp="1"/>
          </p:cNvSpPr>
          <p:nvPr>
            <p:ph type="sldNum" sz="quarter" idx="12"/>
          </p:nvPr>
        </p:nvSpPr>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2225636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pPr algn="l"/>
            <a:r>
              <a:rPr lang="en-US" sz="2400" b="1" dirty="0"/>
              <a:t>Network Anomaly Lifecycle</a:t>
            </a:r>
            <a:br>
              <a:rPr lang="en-GB" sz="2700" dirty="0"/>
            </a:br>
            <a:r>
              <a:rPr lang="de-CH" sz="2000" dirty="0" err="1">
                <a:solidFill>
                  <a:schemeClr val="bg2">
                    <a:lumMod val="75000"/>
                  </a:schemeClr>
                </a:solidFill>
              </a:rPr>
              <a:t>Document</a:t>
            </a:r>
            <a:r>
              <a:rPr lang="de-CH" sz="2000" dirty="0">
                <a:solidFill>
                  <a:schemeClr val="bg2">
                    <a:lumMod val="75000"/>
                  </a:schemeClr>
                </a:solidFill>
              </a:rPr>
              <a:t> </a:t>
            </a:r>
            <a:r>
              <a:rPr lang="de-CH" sz="2000" dirty="0" err="1">
                <a:solidFill>
                  <a:schemeClr val="bg2">
                    <a:lumMod val="75000"/>
                  </a:schemeClr>
                </a:solidFill>
              </a:rPr>
              <a:t>summary</a:t>
            </a:r>
            <a:endParaRPr lang="en-US" sz="2000" dirty="0">
              <a:solidFill>
                <a:schemeClr val="bg2">
                  <a:lumMod val="75000"/>
                </a:schemeClr>
              </a:solidFill>
            </a:endParaRP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720000" y="1800000"/>
            <a:ext cx="4544034" cy="3503212"/>
          </a:xfrm>
        </p:spPr>
        <p:txBody>
          <a:bodyPr>
            <a:noAutofit/>
          </a:bodyPr>
          <a:lstStyle/>
          <a:p>
            <a:pPr marL="0" indent="0">
              <a:spcBef>
                <a:spcPts val="225"/>
              </a:spcBef>
              <a:spcAft>
                <a:spcPts val="225"/>
              </a:spcAft>
              <a:buNone/>
            </a:pPr>
            <a:r>
              <a:rPr lang="en-GB" sz="1600" b="1" dirty="0"/>
              <a:t>Motivation:</a:t>
            </a:r>
          </a:p>
          <a:p>
            <a:pPr marL="0" indent="0">
              <a:spcBef>
                <a:spcPts val="225"/>
              </a:spcBef>
              <a:spcAft>
                <a:spcPts val="225"/>
              </a:spcAft>
              <a:buNone/>
            </a:pPr>
            <a:r>
              <a:rPr lang="en-GB" sz="1600" dirty="0">
                <a:solidFill>
                  <a:schemeClr val="accent2"/>
                </a:solidFill>
              </a:rPr>
              <a:t>Bridge the gap </a:t>
            </a:r>
            <a:r>
              <a:rPr lang="en-GB" sz="1600" dirty="0"/>
              <a:t>between automated network anomaly detection and actionable operational tasks</a:t>
            </a:r>
          </a:p>
          <a:p>
            <a:pPr marL="0" indent="0">
              <a:spcBef>
                <a:spcPts val="225"/>
              </a:spcBef>
              <a:spcAft>
                <a:spcPts val="225"/>
              </a:spcAft>
              <a:buNone/>
            </a:pPr>
            <a:endParaRPr lang="en-GB" sz="1600" dirty="0"/>
          </a:p>
          <a:p>
            <a:pPr marL="0" indent="0">
              <a:spcBef>
                <a:spcPts val="225"/>
              </a:spcBef>
              <a:spcAft>
                <a:spcPts val="225"/>
              </a:spcAft>
              <a:buNone/>
            </a:pPr>
            <a:r>
              <a:rPr lang="en-GB" sz="1600" b="1" dirty="0"/>
              <a:t>Approach:</a:t>
            </a:r>
          </a:p>
          <a:p>
            <a:pPr marL="0" indent="0">
              <a:spcBef>
                <a:spcPts val="225"/>
              </a:spcBef>
              <a:spcAft>
                <a:spcPts val="225"/>
              </a:spcAft>
              <a:buNone/>
            </a:pPr>
            <a:r>
              <a:rPr lang="en-GB" sz="1600" dirty="0"/>
              <a:t>Define a </a:t>
            </a:r>
            <a:r>
              <a:rPr lang="en-GB" sz="1600" dirty="0">
                <a:solidFill>
                  <a:schemeClr val="accent2"/>
                </a:solidFill>
              </a:rPr>
              <a:t>standardized, iterative lifecycle </a:t>
            </a:r>
            <a:r>
              <a:rPr lang="en-GB" sz="1600" dirty="0"/>
              <a:t>for Network anomaly</a:t>
            </a:r>
          </a:p>
          <a:p>
            <a:pPr marL="0" indent="0">
              <a:spcBef>
                <a:spcPts val="225"/>
              </a:spcBef>
              <a:spcAft>
                <a:spcPts val="225"/>
              </a:spcAft>
              <a:buNone/>
            </a:pPr>
            <a:endParaRPr lang="en-GB" sz="1600" dirty="0"/>
          </a:p>
          <a:p>
            <a:pPr marL="0" indent="0">
              <a:spcBef>
                <a:spcPts val="225"/>
              </a:spcBef>
              <a:spcAft>
                <a:spcPts val="225"/>
              </a:spcAft>
              <a:buNone/>
            </a:pPr>
            <a:r>
              <a:rPr lang="en-GB" sz="1600" b="1" dirty="0"/>
              <a:t>Outcome:</a:t>
            </a:r>
          </a:p>
          <a:p>
            <a:pPr marL="0" indent="0">
              <a:spcBef>
                <a:spcPts val="225"/>
              </a:spcBef>
              <a:spcAft>
                <a:spcPts val="225"/>
              </a:spcAft>
              <a:buNone/>
            </a:pPr>
            <a:r>
              <a:rPr lang="en-GB" sz="1600" dirty="0">
                <a:solidFill>
                  <a:schemeClr val="accent2"/>
                </a:solidFill>
              </a:rPr>
              <a:t>Continuously Improve</a:t>
            </a:r>
            <a:r>
              <a:rPr lang="en-GB" sz="1600" dirty="0"/>
              <a:t> the correctness of anomaly detection through</a:t>
            </a:r>
            <a:r>
              <a:rPr lang="en-GB" sz="1600" dirty="0">
                <a:solidFill>
                  <a:schemeClr val="accent2"/>
                </a:solidFill>
              </a:rPr>
              <a:t> human‑in‑the‑loop feedback</a:t>
            </a:r>
            <a:endParaRPr lang="en-US" sz="1600" dirty="0">
              <a:solidFill>
                <a:schemeClr val="accent2"/>
              </a:solidFill>
            </a:endParaRPr>
          </a:p>
        </p:txBody>
      </p:sp>
      <p:sp>
        <p:nvSpPr>
          <p:cNvPr id="5" name="Slide Number Placeholder 4">
            <a:extLst>
              <a:ext uri="{FF2B5EF4-FFF2-40B4-BE49-F238E27FC236}">
                <a16:creationId xmlns:a16="http://schemas.microsoft.com/office/drawing/2014/main" id="{69F1143A-71BD-E359-AE27-BB85FCCC9B54}"/>
              </a:ext>
            </a:extLst>
          </p:cNvPr>
          <p:cNvSpPr>
            <a:spLocks noGrp="1"/>
          </p:cNvSpPr>
          <p:nvPr>
            <p:ph type="sldNum" sz="quarter" idx="12"/>
          </p:nvPr>
        </p:nvSpPr>
        <p:spPr/>
        <p:txBody>
          <a:bodyPr/>
          <a:lstStyle/>
          <a:p>
            <a:fld id="{C1FF6DA9-008F-8B48-92A6-B652298478BF}" type="slidenum">
              <a:rPr lang="en-US" smtClean="0"/>
              <a:t>13</a:t>
            </a:fld>
            <a:endParaRPr lang="en-US"/>
          </a:p>
        </p:txBody>
      </p:sp>
      <p:pic>
        <p:nvPicPr>
          <p:cNvPr id="7" name="Picture 6">
            <a:extLst>
              <a:ext uri="{FF2B5EF4-FFF2-40B4-BE49-F238E27FC236}">
                <a16:creationId xmlns:a16="http://schemas.microsoft.com/office/drawing/2014/main" id="{CB6AD072-B820-6E90-CA35-2B0B76F9B4EB}"/>
              </a:ext>
            </a:extLst>
          </p:cNvPr>
          <p:cNvPicPr>
            <a:picLocks noChangeAspect="1"/>
          </p:cNvPicPr>
          <p:nvPr/>
        </p:nvPicPr>
        <p:blipFill>
          <a:blip r:embed="rId2"/>
          <a:stretch>
            <a:fillRect/>
          </a:stretch>
        </p:blipFill>
        <p:spPr>
          <a:xfrm>
            <a:off x="5292000" y="1440000"/>
            <a:ext cx="3321049" cy="1546958"/>
          </a:xfrm>
          <a:prstGeom prst="rect">
            <a:avLst/>
          </a:prstGeom>
        </p:spPr>
      </p:pic>
      <p:pic>
        <p:nvPicPr>
          <p:cNvPr id="9" name="Picture 8">
            <a:extLst>
              <a:ext uri="{FF2B5EF4-FFF2-40B4-BE49-F238E27FC236}">
                <a16:creationId xmlns:a16="http://schemas.microsoft.com/office/drawing/2014/main" id="{2C1EDB0B-25E9-9264-451E-C0ADA3DF6932}"/>
              </a:ext>
            </a:extLst>
          </p:cNvPr>
          <p:cNvPicPr>
            <a:picLocks noChangeAspect="1"/>
          </p:cNvPicPr>
          <p:nvPr/>
        </p:nvPicPr>
        <p:blipFill>
          <a:blip r:embed="rId3"/>
          <a:stretch>
            <a:fillRect/>
          </a:stretch>
        </p:blipFill>
        <p:spPr>
          <a:xfrm>
            <a:off x="5292000" y="3240000"/>
            <a:ext cx="3265312" cy="3240000"/>
          </a:xfrm>
          <a:prstGeom prst="rect">
            <a:avLst/>
          </a:prstGeom>
        </p:spPr>
      </p:pic>
    </p:spTree>
    <p:extLst>
      <p:ext uri="{BB962C8B-B14F-4D97-AF65-F5344CB8AC3E}">
        <p14:creationId xmlns:p14="http://schemas.microsoft.com/office/powerpoint/2010/main" val="7618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E09DB-FA49-2C8F-6C4C-6FEF76491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E4305-F060-2A08-29F5-1983A414A45C}"/>
              </a:ext>
            </a:extLst>
          </p:cNvPr>
          <p:cNvSpPr>
            <a:spLocks noGrp="1"/>
          </p:cNvSpPr>
          <p:nvPr>
            <p:ph type="title"/>
          </p:nvPr>
        </p:nvSpPr>
        <p:spPr/>
        <p:txBody>
          <a:bodyPr>
            <a:normAutofit/>
          </a:bodyPr>
          <a:lstStyle/>
          <a:p>
            <a:pPr algn="l"/>
            <a:r>
              <a:rPr lang="en-US" sz="2400" b="1" dirty="0"/>
              <a:t>Network Anomaly Lifecycle</a:t>
            </a:r>
            <a:br>
              <a:rPr lang="en-GB" sz="2700" dirty="0"/>
            </a:br>
            <a:r>
              <a:rPr lang="en-US" sz="2000" dirty="0">
                <a:solidFill>
                  <a:schemeClr val="bg2">
                    <a:lumMod val="75000"/>
                  </a:schemeClr>
                </a:solidFill>
              </a:rPr>
              <a:t>Key draft updates since v-03</a:t>
            </a:r>
          </a:p>
        </p:txBody>
      </p:sp>
      <p:sp>
        <p:nvSpPr>
          <p:cNvPr id="6" name="TextBox 5">
            <a:extLst>
              <a:ext uri="{FF2B5EF4-FFF2-40B4-BE49-F238E27FC236}">
                <a16:creationId xmlns:a16="http://schemas.microsoft.com/office/drawing/2014/main" id="{2746E83B-FC33-8190-614F-A34B744F7994}"/>
              </a:ext>
            </a:extLst>
          </p:cNvPr>
          <p:cNvSpPr txBox="1"/>
          <p:nvPr/>
        </p:nvSpPr>
        <p:spPr>
          <a:xfrm>
            <a:off x="5569448" y="1722004"/>
            <a:ext cx="2998552" cy="2841034"/>
          </a:xfrm>
          <a:prstGeom prst="rect">
            <a:avLst/>
          </a:prstGeom>
          <a:noFill/>
        </p:spPr>
        <p:txBody>
          <a:bodyPr wrap="square">
            <a:spAutoFit/>
          </a:bodyPr>
          <a:lstStyle/>
          <a:p>
            <a:r>
              <a:rPr lang="en-GB" sz="638">
                <a:latin typeface="Courier New" panose="02070309020205020404" pitchFamily="49" charset="0"/>
                <a:cs typeface="Courier New" panose="02070309020205020404" pitchFamily="49" charset="0"/>
              </a:rPr>
              <a:t> leaf </a:t>
            </a:r>
            <a:r>
              <a:rPr lang="en-GB" sz="638">
                <a:highlight>
                  <a:srgbClr val="FFFF00"/>
                </a:highlight>
                <a:latin typeface="Courier New" panose="02070309020205020404" pitchFamily="49" charset="0"/>
                <a:cs typeface="Courier New" panose="02070309020205020404" pitchFamily="49" charset="0"/>
              </a:rPr>
              <a:t>stage</a:t>
            </a:r>
            <a:r>
              <a:rPr lang="en-GB" sz="638">
                <a:latin typeface="Courier New" panose="02070309020205020404" pitchFamily="49" charset="0"/>
                <a:cs typeface="Courier New" panose="02070309020205020404" pitchFamily="49" charset="0"/>
              </a:rPr>
              <a:t> {</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type identityref {</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base network-anomaly-stage</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mandatory true</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description</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"Stage of the relevant state</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a:t>
            </a:r>
            <a:endParaRPr lang="en-GB" sz="638" dirty="0">
              <a:latin typeface="Courier New" panose="02070309020205020404" pitchFamily="49" charset="0"/>
              <a:cs typeface="Courier New" panose="02070309020205020404" pitchFamily="49" charset="0"/>
            </a:endParaRPr>
          </a:p>
          <a:p>
            <a:endParaRPr lang="en-GB" sz="638" dirty="0">
              <a:latin typeface="Courier New" panose="02070309020205020404" pitchFamily="49" charset="0"/>
              <a:cs typeface="Courier New" panose="02070309020205020404" pitchFamily="49" charset="0"/>
            </a:endParaRPr>
          </a:p>
          <a:p>
            <a:endParaRPr lang="en-GB" sz="638" dirty="0">
              <a:latin typeface="Courier New" panose="02070309020205020404" pitchFamily="49" charset="0"/>
              <a:cs typeface="Courier New" panose="02070309020205020404" pitchFamily="49" charset="0"/>
            </a:endParaRPr>
          </a:p>
          <a:p>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grouping </a:t>
            </a:r>
            <a:r>
              <a:rPr lang="en-GB" sz="638">
                <a:highlight>
                  <a:srgbClr val="FFFF00"/>
                </a:highlight>
                <a:latin typeface="Courier New" panose="02070309020205020404" pitchFamily="49" charset="0"/>
                <a:cs typeface="Courier New" panose="02070309020205020404" pitchFamily="49" charset="0"/>
              </a:rPr>
              <a:t>message-broker-grouping</a:t>
            </a:r>
            <a:r>
              <a:rPr lang="en-GB" sz="638">
                <a:latin typeface="Courier New" panose="02070309020205020404" pitchFamily="49" charset="0"/>
                <a:cs typeface="Courier New" panose="02070309020205020404" pitchFamily="49" charset="0"/>
              </a:rPr>
              <a:t> {</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description</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"References message broker draft-ietf-nmop-yang-message-broker-integration entities</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leaf </a:t>
            </a:r>
            <a:r>
              <a:rPr lang="en-GB" sz="638">
                <a:highlight>
                  <a:srgbClr val="FFFF00"/>
                </a:highlight>
                <a:latin typeface="Courier New" panose="02070309020205020404" pitchFamily="49" charset="0"/>
                <a:cs typeface="Courier New" panose="02070309020205020404" pitchFamily="49" charset="0"/>
              </a:rPr>
              <a:t>topic-name</a:t>
            </a:r>
            <a:r>
              <a:rPr lang="en-GB" sz="638">
                <a:latin typeface="Courier New" panose="02070309020205020404" pitchFamily="49" charset="0"/>
                <a:cs typeface="Courier New" panose="02070309020205020404" pitchFamily="49" charset="0"/>
              </a:rPr>
              <a:t> {</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type inet</a:t>
            </a:r>
            <a:r>
              <a:rPr lang="en-GB" sz="638" dirty="0" err="1">
                <a:latin typeface="Courier New" panose="02070309020205020404" pitchFamily="49" charset="0"/>
                <a:cs typeface="Courier New" panose="02070309020205020404" pitchFamily="49" charset="0"/>
              </a:rPr>
              <a:t>:host-name</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description</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"From which message broker topic the operational data was consumed from</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leaf </a:t>
            </a:r>
            <a:r>
              <a:rPr lang="en-GB" sz="638">
                <a:highlight>
                  <a:srgbClr val="FFFF00"/>
                </a:highlight>
                <a:latin typeface="Courier New" panose="02070309020205020404" pitchFamily="49" charset="0"/>
                <a:cs typeface="Courier New" panose="02070309020205020404" pitchFamily="49" charset="0"/>
              </a:rPr>
              <a:t>subject-name</a:t>
            </a:r>
            <a:r>
              <a:rPr lang="en-GB" sz="638">
                <a:latin typeface="Courier New" panose="02070309020205020404" pitchFamily="49" charset="0"/>
                <a:cs typeface="Courier New" panose="02070309020205020404" pitchFamily="49" charset="0"/>
              </a:rPr>
              <a:t> {</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type inet</a:t>
            </a:r>
            <a:r>
              <a:rPr lang="en-GB" sz="638" dirty="0" err="1">
                <a:latin typeface="Courier New" panose="02070309020205020404" pitchFamily="49" charset="0"/>
                <a:cs typeface="Courier New" panose="02070309020205020404" pitchFamily="49" charset="0"/>
              </a:rPr>
              <a:t>:host-name</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description</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"To which message broker subject the operational data references to</a:t>
            </a:r>
            <a:r>
              <a:rPr lang="en-GB" sz="638" dirty="0">
                <a:latin typeface="Courier New" panose="02070309020205020404" pitchFamily="49" charset="0"/>
                <a:cs typeface="Courier New" panose="02070309020205020404" pitchFamily="49" charset="0"/>
              </a:rPr>
              <a:t>.";</a:t>
            </a:r>
          </a:p>
          <a:p>
            <a:r>
              <a:rPr lang="en-GB" sz="638">
                <a:latin typeface="Courier New" panose="02070309020205020404" pitchFamily="49" charset="0"/>
                <a:cs typeface="Courier New" panose="02070309020205020404" pitchFamily="49" charset="0"/>
              </a:rPr>
              <a:t>       }</a:t>
            </a:r>
            <a:endParaRPr lang="en-GB" sz="638" dirty="0">
              <a:latin typeface="Courier New" panose="02070309020205020404" pitchFamily="49" charset="0"/>
              <a:cs typeface="Courier New" panose="02070309020205020404" pitchFamily="49" charset="0"/>
            </a:endParaRPr>
          </a:p>
          <a:p>
            <a:r>
              <a:rPr lang="en-GB" sz="638">
                <a:latin typeface="Courier New" panose="02070309020205020404" pitchFamily="49" charset="0"/>
                <a:cs typeface="Courier New" panose="02070309020205020404" pitchFamily="49" charset="0"/>
              </a:rPr>
              <a:t>     </a:t>
            </a:r>
            <a:r>
              <a:rPr lang="en-US" sz="638">
                <a:latin typeface="Courier New" panose="02070309020205020404" pitchFamily="49" charset="0"/>
                <a:cs typeface="Courier New" panose="02070309020205020404" pitchFamily="49" charset="0"/>
              </a:rPr>
              <a:t>}</a:t>
            </a:r>
            <a:endParaRPr lang="de-CH" sz="638" dirty="0">
              <a:latin typeface="Courier New" panose="02070309020205020404" pitchFamily="49" charset="0"/>
              <a:ea typeface="Calibri" panose="020F0502020204030204" pitchFamily="34" charset="0"/>
              <a:cs typeface="Courier New" panose="02070309020205020404" pitchFamily="49" charset="0"/>
            </a:endParaRPr>
          </a:p>
        </p:txBody>
      </p:sp>
      <p:sp>
        <p:nvSpPr>
          <p:cNvPr id="5" name="Slide Number Placeholder 4">
            <a:extLst>
              <a:ext uri="{FF2B5EF4-FFF2-40B4-BE49-F238E27FC236}">
                <a16:creationId xmlns:a16="http://schemas.microsoft.com/office/drawing/2014/main" id="{9AE189ED-E1D8-59EB-2FE7-640253AF808F}"/>
              </a:ext>
            </a:extLst>
          </p:cNvPr>
          <p:cNvSpPr>
            <a:spLocks noGrp="1"/>
          </p:cNvSpPr>
          <p:nvPr>
            <p:ph type="sldNum" sz="quarter" idx="12"/>
          </p:nvPr>
        </p:nvSpPr>
        <p:spPr/>
        <p:txBody>
          <a:bodyPr/>
          <a:lstStyle/>
          <a:p>
            <a:fld id="{C1FF6DA9-008F-8B48-92A6-B652298478BF}" type="slidenum">
              <a:rPr lang="en-US" smtClean="0"/>
              <a:t>14</a:t>
            </a:fld>
            <a:endParaRPr lang="en-US" dirty="0"/>
          </a:p>
        </p:txBody>
      </p:sp>
      <p:sp>
        <p:nvSpPr>
          <p:cNvPr id="11" name="Content Placeholder 2">
            <a:extLst>
              <a:ext uri="{FF2B5EF4-FFF2-40B4-BE49-F238E27FC236}">
                <a16:creationId xmlns:a16="http://schemas.microsoft.com/office/drawing/2014/main" id="{17AA7596-3EB8-6B14-C59D-54776921B0FC}"/>
              </a:ext>
            </a:extLst>
          </p:cNvPr>
          <p:cNvSpPr txBox="1">
            <a:spLocks/>
          </p:cNvSpPr>
          <p:nvPr/>
        </p:nvSpPr>
        <p:spPr>
          <a:xfrm>
            <a:off x="576000" y="1440000"/>
            <a:ext cx="4900875" cy="455172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225"/>
              </a:spcBef>
              <a:spcAft>
                <a:spcPts val="225"/>
              </a:spcAft>
            </a:pPr>
            <a:r>
              <a:rPr lang="en-US" sz="1400" b="1" dirty="0"/>
              <a:t>Terminology update</a:t>
            </a:r>
          </a:p>
          <a:p>
            <a:pPr lvl="1">
              <a:spcBef>
                <a:spcPts val="225"/>
              </a:spcBef>
              <a:spcAft>
                <a:spcPts val="225"/>
              </a:spcAft>
            </a:pPr>
            <a:r>
              <a:rPr lang="en-GB" sz="1400" dirty="0"/>
              <a:t>Renamed “state/phase” to “stage” to avoid confusion with protocol “states”</a:t>
            </a:r>
            <a:r>
              <a:rPr lang="en-US" sz="1400" dirty="0"/>
              <a:t>.</a:t>
            </a:r>
          </a:p>
          <a:p>
            <a:pPr>
              <a:spcBef>
                <a:spcPts val="225"/>
              </a:spcBef>
              <a:spcAft>
                <a:spcPts val="225"/>
              </a:spcAft>
            </a:pPr>
            <a:r>
              <a:rPr lang="en-US" sz="1400" b="1" dirty="0"/>
              <a:t>Schema change</a:t>
            </a:r>
          </a:p>
          <a:p>
            <a:pPr lvl="1">
              <a:spcBef>
                <a:spcPts val="225"/>
              </a:spcBef>
              <a:spcAft>
                <a:spcPts val="225"/>
              </a:spcAft>
              <a:buFontTx/>
              <a:buChar char="-"/>
            </a:pPr>
            <a:r>
              <a:rPr lang="en-GB" sz="1400" dirty="0"/>
              <a:t>Changed “state” -&gt; “stage”</a:t>
            </a:r>
          </a:p>
          <a:p>
            <a:pPr lvl="1">
              <a:spcBef>
                <a:spcPts val="225"/>
              </a:spcBef>
              <a:spcAft>
                <a:spcPts val="225"/>
              </a:spcAft>
              <a:buFontTx/>
              <a:buChar char="-"/>
            </a:pPr>
            <a:r>
              <a:rPr lang="en-GB" sz="1400" dirty="0"/>
              <a:t>Fixed RFC 8407 related Yang warnings (remove mandatory false)</a:t>
            </a:r>
          </a:p>
          <a:p>
            <a:pPr lvl="1">
              <a:spcBef>
                <a:spcPts val="225"/>
              </a:spcBef>
              <a:spcAft>
                <a:spcPts val="225"/>
              </a:spcAft>
              <a:buFontTx/>
              <a:buChar char="-"/>
            </a:pPr>
            <a:r>
              <a:rPr lang="en-GB" sz="1400" dirty="0"/>
              <a:t>Include operational data in anomaly and introduce “message-broker-grouping”</a:t>
            </a:r>
          </a:p>
          <a:p>
            <a:pPr>
              <a:spcBef>
                <a:spcPts val="225"/>
              </a:spcBef>
              <a:spcAft>
                <a:spcPts val="225"/>
              </a:spcAft>
            </a:pPr>
            <a:r>
              <a:rPr lang="en-GB" sz="1400" b="1" dirty="0"/>
              <a:t>Refinement </a:t>
            </a:r>
          </a:p>
          <a:p>
            <a:pPr lvl="1">
              <a:spcBef>
                <a:spcPts val="225"/>
              </a:spcBef>
              <a:spcAft>
                <a:spcPts val="225"/>
              </a:spcAft>
            </a:pPr>
            <a:r>
              <a:rPr lang="en-GB" sz="1400" dirty="0"/>
              <a:t>Refined definition of confidence score and concern score</a:t>
            </a:r>
          </a:p>
          <a:p>
            <a:pPr lvl="1">
              <a:spcBef>
                <a:spcPts val="225"/>
              </a:spcBef>
              <a:spcAft>
                <a:spcPts val="225"/>
              </a:spcAft>
            </a:pPr>
            <a:r>
              <a:rPr lang="en-GB" sz="1400" dirty="0"/>
              <a:t>Optimized Figure 2</a:t>
            </a:r>
          </a:p>
          <a:p>
            <a:pPr lvl="1">
              <a:spcBef>
                <a:spcPts val="225"/>
              </a:spcBef>
              <a:spcAft>
                <a:spcPts val="225"/>
              </a:spcAft>
            </a:pPr>
            <a:r>
              <a:rPr lang="en-GB" sz="1400" dirty="0"/>
              <a:t>Consolidated the usage of score across different drafts </a:t>
            </a:r>
          </a:p>
        </p:txBody>
      </p:sp>
    </p:spTree>
    <p:extLst>
      <p:ext uri="{BB962C8B-B14F-4D97-AF65-F5344CB8AC3E}">
        <p14:creationId xmlns:p14="http://schemas.microsoft.com/office/powerpoint/2010/main" val="1375384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93B7D-8769-06BB-617E-4C764D7FD084}"/>
            </a:ext>
          </a:extLst>
        </p:cNvPr>
        <p:cNvGrpSpPr/>
        <p:nvPr/>
      </p:nvGrpSpPr>
      <p:grpSpPr>
        <a:xfrm>
          <a:off x="0" y="0"/>
          <a:ext cx="0" cy="0"/>
          <a:chOff x="0" y="0"/>
          <a:chExt cx="0" cy="0"/>
        </a:xfrm>
      </p:grpSpPr>
      <p:sp>
        <p:nvSpPr>
          <p:cNvPr id="5" name="Inhaltsplatzhalter 2">
            <a:extLst>
              <a:ext uri="{FF2B5EF4-FFF2-40B4-BE49-F238E27FC236}">
                <a16:creationId xmlns:a16="http://schemas.microsoft.com/office/drawing/2014/main" id="{FEB173FE-15D3-C438-10E8-FA80EB751145}"/>
              </a:ext>
            </a:extLst>
          </p:cNvPr>
          <p:cNvSpPr txBox="1">
            <a:spLocks/>
          </p:cNvSpPr>
          <p:nvPr/>
        </p:nvSpPr>
        <p:spPr bwMode="black">
          <a:xfrm>
            <a:off x="721150" y="1518435"/>
            <a:ext cx="7965650" cy="3976297"/>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Bef>
                <a:spcPts val="0"/>
              </a:spcBef>
            </a:pPr>
            <a:r>
              <a:rPr lang="en-IE" sz="1400" b="1" dirty="0"/>
              <a:t>Next Steps</a:t>
            </a:r>
          </a:p>
          <a:p>
            <a:pPr marL="285750" indent="-285750">
              <a:spcBef>
                <a:spcPts val="300"/>
              </a:spcBef>
              <a:spcAft>
                <a:spcPts val="300"/>
              </a:spcAft>
              <a:buFont typeface="Arial" panose="020B0604020202020204" pitchFamily="34" charset="0"/>
              <a:buChar char="•"/>
            </a:pPr>
            <a:r>
              <a:rPr lang="en-IE" sz="1600" dirty="0"/>
              <a:t>Request YANG doctors review for </a:t>
            </a:r>
            <a:r>
              <a:rPr lang="en-US" sz="1600" dirty="0">
                <a:hlinkClick r:id="rId3"/>
              </a:rPr>
              <a:t>draft-ietf-nmop-network-anomaly-semantics-05</a:t>
            </a:r>
            <a:r>
              <a:rPr lang="en-US" sz="1600" dirty="0"/>
              <a:t> and </a:t>
            </a:r>
            <a:r>
              <a:rPr lang="en-US" sz="1600" dirty="0">
                <a:hlinkClick r:id="rId4"/>
              </a:rPr>
              <a:t>draft-ietf-nmop-network-anomaly-lifecycle-05</a:t>
            </a:r>
            <a:r>
              <a:rPr lang="en-US" sz="1600" dirty="0"/>
              <a:t>.</a:t>
            </a:r>
          </a:p>
          <a:p>
            <a:pPr marL="285750" indent="-285750">
              <a:spcBef>
                <a:spcPts val="300"/>
              </a:spcBef>
              <a:spcAft>
                <a:spcPts val="300"/>
              </a:spcAft>
              <a:buFont typeface="Arial" panose="020B0604020202020204" pitchFamily="34" charset="0"/>
              <a:buChar char="•"/>
            </a:pPr>
            <a:r>
              <a:rPr lang="en-US" sz="1600" dirty="0"/>
              <a:t>Implement semantic metadata in Cosmos Bright Lights to replace placeholder values for newly introduced fields, including </a:t>
            </a:r>
          </a:p>
          <a:p>
            <a:pPr marL="501750" lvl="1" indent="-285750">
              <a:spcBef>
                <a:spcPts val="300"/>
              </a:spcBef>
              <a:spcAft>
                <a:spcPts val="300"/>
              </a:spcAft>
            </a:pPr>
            <a:r>
              <a:rPr lang="en-US" sz="1600" dirty="0"/>
              <a:t>site‑ids</a:t>
            </a:r>
          </a:p>
          <a:p>
            <a:pPr marL="501750" lvl="1" indent="-285750">
              <a:spcBef>
                <a:spcPts val="300"/>
              </a:spcBef>
              <a:spcAft>
                <a:spcPts val="300"/>
              </a:spcAft>
            </a:pPr>
            <a:r>
              <a:rPr lang="en-US" sz="1600" dirty="0"/>
              <a:t>interface names</a:t>
            </a:r>
          </a:p>
          <a:p>
            <a:pPr marL="501750" lvl="1" indent="-285750">
              <a:spcBef>
                <a:spcPts val="300"/>
              </a:spcBef>
              <a:spcAft>
                <a:spcPts val="300"/>
              </a:spcAft>
            </a:pPr>
            <a:r>
              <a:rPr lang="en-US" sz="1600" dirty="0"/>
              <a:t>VRF names</a:t>
            </a:r>
          </a:p>
          <a:p>
            <a:pPr marL="285750" indent="-285750">
              <a:spcBef>
                <a:spcPts val="300"/>
              </a:spcBef>
              <a:spcAft>
                <a:spcPts val="300"/>
              </a:spcAft>
              <a:buFont typeface="Arial" panose="020B0604020202020204" pitchFamily="34" charset="0"/>
              <a:buChar char="•"/>
            </a:pPr>
            <a:r>
              <a:rPr lang="en-US" sz="1600" dirty="0"/>
              <a:t>Extend the postmortem system requirements, accompanied by an implementation PoC</a:t>
            </a:r>
          </a:p>
          <a:p>
            <a:pPr>
              <a:spcBef>
                <a:spcPts val="300"/>
              </a:spcBef>
              <a:spcAft>
                <a:spcPts val="300"/>
              </a:spcAft>
            </a:pPr>
            <a:r>
              <a:rPr lang="en-IE" sz="1400" b="1" dirty="0"/>
              <a:t>Remaining Issues</a:t>
            </a:r>
          </a:p>
          <a:p>
            <a:pPr marL="285750" indent="-285750">
              <a:spcBef>
                <a:spcPts val="300"/>
              </a:spcBef>
              <a:spcAft>
                <a:spcPts val="300"/>
              </a:spcAft>
              <a:buFont typeface="Arial" panose="020B0604020202020204" pitchFamily="34" charset="0"/>
              <a:buChar char="•"/>
            </a:pPr>
            <a:r>
              <a:rPr lang="en-IE" sz="1600" dirty="0"/>
              <a:t>No known remaining issues at this time.</a:t>
            </a:r>
            <a:br>
              <a:rPr lang="en-IE" sz="1600" dirty="0"/>
            </a:br>
            <a:endParaRPr lang="en-IE" sz="1600" dirty="0"/>
          </a:p>
        </p:txBody>
      </p:sp>
      <p:sp>
        <p:nvSpPr>
          <p:cNvPr id="7" name="Title 1">
            <a:extLst>
              <a:ext uri="{FF2B5EF4-FFF2-40B4-BE49-F238E27FC236}">
                <a16:creationId xmlns:a16="http://schemas.microsoft.com/office/drawing/2014/main" id="{BE669A8B-8750-6573-9218-FF05D7A684B0}"/>
              </a:ext>
            </a:extLst>
          </p:cNvPr>
          <p:cNvSpPr txBox="1">
            <a:spLocks/>
          </p:cNvSpPr>
          <p:nvPr/>
        </p:nvSpPr>
        <p:spPr bwMode="black">
          <a:xfrm>
            <a:off x="457200" y="274638"/>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a:t>Next Steps and Remaining Issues</a:t>
            </a:r>
            <a:br>
              <a:rPr lang="en-US" sz="2700"/>
            </a:br>
            <a:r>
              <a:rPr lang="en-GB" sz="2000">
                <a:solidFill>
                  <a:schemeClr val="bg2">
                    <a:lumMod val="75000"/>
                  </a:schemeClr>
                </a:solidFill>
              </a:rPr>
              <a:t>Feedback on latest changes</a:t>
            </a:r>
            <a:endParaRPr lang="en-US" sz="2000" dirty="0">
              <a:solidFill>
                <a:schemeClr val="bg2">
                  <a:lumMod val="75000"/>
                </a:schemeClr>
              </a:solidFill>
            </a:endParaRPr>
          </a:p>
        </p:txBody>
      </p:sp>
      <p:sp>
        <p:nvSpPr>
          <p:cNvPr id="2" name="Slide Number Placeholder 1">
            <a:extLst>
              <a:ext uri="{FF2B5EF4-FFF2-40B4-BE49-F238E27FC236}">
                <a16:creationId xmlns:a16="http://schemas.microsoft.com/office/drawing/2014/main" id="{2F3DAF01-F8AD-FBFA-8AD7-90E91E64BEC7}"/>
              </a:ext>
            </a:extLst>
          </p:cNvPr>
          <p:cNvSpPr>
            <a:spLocks noGrp="1"/>
          </p:cNvSpPr>
          <p:nvPr>
            <p:ph type="sldNum" sz="quarter" idx="12"/>
          </p:nvPr>
        </p:nvSpPr>
        <p:spPr>
          <a:xfrm>
            <a:off x="6553200" y="6356350"/>
            <a:ext cx="2133600" cy="365125"/>
          </a:xfrm>
        </p:spPr>
        <p:txBody>
          <a:bodyPr/>
          <a:lstStyle/>
          <a:p>
            <a:fld id="{8FF9B0DE-3FEB-4AA0-B465-B80EF7C1333D}" type="slidenum">
              <a:rPr lang="en-GB" smtClean="0"/>
              <a:t>15</a:t>
            </a:fld>
            <a:endParaRPr lang="en-GB" dirty="0"/>
          </a:p>
        </p:txBody>
      </p:sp>
    </p:spTree>
    <p:extLst>
      <p:ext uri="{BB962C8B-B14F-4D97-AF65-F5344CB8AC3E}">
        <p14:creationId xmlns:p14="http://schemas.microsoft.com/office/powerpoint/2010/main" val="3265965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5FACCA9-DB5D-E94E-BDB7-FEA6F1649668}">
  <we:reference id="wa200006067" version="1.0.0.9" store="en-GB" storeType="OMEX"/>
  <we:alternateReferences>
    <we:reference id="WA200006067" version="1.0.0.9" store="" storeType="OMEX"/>
  </we:alternateReferences>
  <we:properties/>
  <we:bindings/>
  <we:snapshot xmlns:r="http://schemas.openxmlformats.org/officeDocument/2006/relationships"/>
  <we:extLst>
    <a:ext xmlns:a="http://schemas.openxmlformats.org/drawingml/2006/main" uri="{0858819E-0033-43BF-8937-05EC82904868}">
      <we:backgroundApp state="1" runtimeId=""/>
    </a:ext>
  </we:extLst>
</we:webextension>
</file>

<file path=ppt/webextensions/webextension2.xml><?xml version="1.0" encoding="utf-8"?>
<we:webextension xmlns:we="http://schemas.microsoft.com/office/webextensions/webextension/2010/11" id="{5E6A533A-1FC7-FC42-A858-BD2D2D09E659}">
  <we:reference id="wa200007884" version="1.0.0.1" store="en-GB" storeType="OMEX"/>
  <we:alternateReferences>
    <we:reference id="WA200007884" version="1.0.0.1" store=""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2e1fccfb-80ca-4fe1-a574-1516544edb53}" enabled="1" method="Standard" siteId="{364e5b87-c1c7-420d-9bee-c35d19b557a1}" contentBits="0" removed="0"/>
</clbl:labelList>
</file>

<file path=docProps/app.xml><?xml version="1.0" encoding="utf-8"?>
<Properties xmlns="http://schemas.openxmlformats.org/officeDocument/2006/extended-properties" xmlns:vt="http://schemas.openxmlformats.org/officeDocument/2006/docPropsVTypes">
  <TotalTime>0</TotalTime>
  <Words>1637</Words>
  <Application>Microsoft Office PowerPoint</Application>
  <PresentationFormat>On-screen Show (4:3)</PresentationFormat>
  <Paragraphs>245</Paragraphs>
  <Slides>15</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Calibri Light</vt:lpstr>
      <vt:lpstr>Courier New</vt:lpstr>
      <vt:lpstr>Wingdings</vt:lpstr>
      <vt:lpstr>Office Theme</vt:lpstr>
      <vt:lpstr>PowerPoint Presentation</vt:lpstr>
      <vt:lpstr>PowerPoint Presentation</vt:lpstr>
      <vt:lpstr>draft-ietf-nmop-network-anomaly-architecture-07 </vt:lpstr>
      <vt:lpstr>Network Anomaly Detection Architecture Document summary</vt:lpstr>
      <vt:lpstr>Network Anomaly Detection Architecture Key draft updates since v-05</vt:lpstr>
      <vt:lpstr>Network Anomaly Detection Architecture Document implementation and operational experience</vt:lpstr>
      <vt:lpstr>Network Anomaly Detection Architecture Document implementation and operational experience</vt:lpstr>
      <vt:lpstr>draft-ietf-nmop-network-anomaly-semantics-05 </vt:lpstr>
      <vt:lpstr>Semantic Metadata Annotation Document summary</vt:lpstr>
      <vt:lpstr>Semantic Metadata Annotation Key draft updates since v-03</vt:lpstr>
      <vt:lpstr>Semantic Metadata Annotation Document implementation and operational experience</vt:lpstr>
      <vt:lpstr>draft-ietf-nmop-network-anomaly-lifecycle-05 </vt:lpstr>
      <vt:lpstr>Network Anomaly Lifecycle Document summary</vt:lpstr>
      <vt:lpstr>Network Anomaly Lifecycle Key draft updates since v-03</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Graf Thomas, SCS-INI-NET-VNC-E2E</cp:lastModifiedBy>
  <cp:revision>39</cp:revision>
  <dcterms:created xsi:type="dcterms:W3CDTF">2013-01-27T09:14:16Z</dcterms:created>
  <dcterms:modified xsi:type="dcterms:W3CDTF">2026-07-11T07:51:33Z</dcterms:modified>
  <cp:category/>
</cp:coreProperties>
</file>