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1041" r:id="rId2"/>
    <p:sldId id="2145706287" r:id="rId3"/>
    <p:sldId id="2145706297" r:id="rId4"/>
    <p:sldId id="2145706306" r:id="rId5"/>
    <p:sldId id="2145706309" r:id="rId6"/>
    <p:sldId id="2145706313" r:id="rId7"/>
    <p:sldId id="2145706305" r:id="rId8"/>
    <p:sldId id="2145706307" r:id="rId9"/>
    <p:sldId id="2145706310" r:id="rId10"/>
    <p:sldId id="2145706298" r:id="rId11"/>
    <p:sldId id="2145706308" r:id="rId12"/>
    <p:sldId id="214570631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86"/>
    <p:restoredTop sz="94633"/>
  </p:normalViewPr>
  <p:slideViewPr>
    <p:cSldViewPr snapToGrid="0" snapToObjects="1">
      <p:cViewPr varScale="1">
        <p:scale>
          <a:sx n="90" d="100"/>
          <a:sy n="90" d="100"/>
        </p:scale>
        <p:origin x="1339" y="67"/>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121" d="100"/>
          <a:sy n="121" d="100"/>
        </p:scale>
        <p:origin x="2320"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ADEEF08A-D719-4B50-A383-4105EDA2C206}"/>
    <pc:docChg chg="custSel delSld modSld">
      <pc:chgData name="Graf Thomas, SCS-INI-NET-VNC-E2E" userId="487bc3e3-9ce7-4cdd-b7b4-8899ea88d289" providerId="ADAL" clId="{ADEEF08A-D719-4B50-A383-4105EDA2C206}" dt="2026-03-06T15:43:07.950" v="18" actId="108"/>
      <pc:docMkLst>
        <pc:docMk/>
      </pc:docMkLst>
      <pc:sldChg chg="modSp mod">
        <pc:chgData name="Graf Thomas, SCS-INI-NET-VNC-E2E" userId="487bc3e3-9ce7-4cdd-b7b4-8899ea88d289" providerId="ADAL" clId="{ADEEF08A-D719-4B50-A383-4105EDA2C206}" dt="2026-03-06T15:39:40.573" v="1" actId="20577"/>
        <pc:sldMkLst>
          <pc:docMk/>
          <pc:sldMk cId="3476293507" sldId="2145706306"/>
        </pc:sldMkLst>
        <pc:spChg chg="mod">
          <ac:chgData name="Graf Thomas, SCS-INI-NET-VNC-E2E" userId="487bc3e3-9ce7-4cdd-b7b4-8899ea88d289" providerId="ADAL" clId="{ADEEF08A-D719-4B50-A383-4105EDA2C206}" dt="2026-03-06T15:39:40.573" v="1" actId="20577"/>
          <ac:spMkLst>
            <pc:docMk/>
            <pc:sldMk cId="3476293507" sldId="2145706306"/>
            <ac:spMk id="2" creationId="{3219CA57-C4F2-8E12-EB3C-B9496482903B}"/>
          </ac:spMkLst>
        </pc:spChg>
        <pc:spChg chg="mod">
          <ac:chgData name="Graf Thomas, SCS-INI-NET-VNC-E2E" userId="487bc3e3-9ce7-4cdd-b7b4-8899ea88d289" providerId="ADAL" clId="{ADEEF08A-D719-4B50-A383-4105EDA2C206}" dt="2026-03-06T15:39:22.444" v="0" actId="313"/>
          <ac:spMkLst>
            <pc:docMk/>
            <pc:sldMk cId="3476293507" sldId="2145706306"/>
            <ac:spMk id="3" creationId="{AA209B5F-12F6-9A75-A5C8-FB699F15D6EB}"/>
          </ac:spMkLst>
        </pc:spChg>
      </pc:sldChg>
      <pc:sldChg chg="modSp mod">
        <pc:chgData name="Graf Thomas, SCS-INI-NET-VNC-E2E" userId="487bc3e3-9ce7-4cdd-b7b4-8899ea88d289" providerId="ADAL" clId="{ADEEF08A-D719-4B50-A383-4105EDA2C206}" dt="2026-03-06T15:41:32.132" v="2" actId="20577"/>
        <pc:sldMkLst>
          <pc:docMk/>
          <pc:sldMk cId="3767000517" sldId="2145706307"/>
        </pc:sldMkLst>
        <pc:spChg chg="mod">
          <ac:chgData name="Graf Thomas, SCS-INI-NET-VNC-E2E" userId="487bc3e3-9ce7-4cdd-b7b4-8899ea88d289" providerId="ADAL" clId="{ADEEF08A-D719-4B50-A383-4105EDA2C206}" dt="2026-03-06T15:41:32.132" v="2" actId="20577"/>
          <ac:spMkLst>
            <pc:docMk/>
            <pc:sldMk cId="3767000517" sldId="2145706307"/>
            <ac:spMk id="2" creationId="{D089D996-32CC-F1DF-7AF4-6649A3C8B347}"/>
          </ac:spMkLst>
        </pc:spChg>
      </pc:sldChg>
      <pc:sldChg chg="modSp mod">
        <pc:chgData name="Graf Thomas, SCS-INI-NET-VNC-E2E" userId="487bc3e3-9ce7-4cdd-b7b4-8899ea88d289" providerId="ADAL" clId="{ADEEF08A-D719-4B50-A383-4105EDA2C206}" dt="2026-03-06T15:41:55.583" v="3" actId="20577"/>
        <pc:sldMkLst>
          <pc:docMk/>
          <pc:sldMk cId="1375384195" sldId="2145706308"/>
        </pc:sldMkLst>
        <pc:spChg chg="mod">
          <ac:chgData name="Graf Thomas, SCS-INI-NET-VNC-E2E" userId="487bc3e3-9ce7-4cdd-b7b4-8899ea88d289" providerId="ADAL" clId="{ADEEF08A-D719-4B50-A383-4105EDA2C206}" dt="2026-03-06T15:41:55.583" v="3" actId="20577"/>
          <ac:spMkLst>
            <pc:docMk/>
            <pc:sldMk cId="1375384195" sldId="2145706308"/>
            <ac:spMk id="2" creationId="{FB1E4305-F060-2A08-29F5-1983A414A45C}"/>
          </ac:spMkLst>
        </pc:spChg>
      </pc:sldChg>
      <pc:sldChg chg="del">
        <pc:chgData name="Graf Thomas, SCS-INI-NET-VNC-E2E" userId="487bc3e3-9ce7-4cdd-b7b4-8899ea88d289" providerId="ADAL" clId="{ADEEF08A-D719-4B50-A383-4105EDA2C206}" dt="2026-03-06T15:41:58.605" v="4" actId="47"/>
        <pc:sldMkLst>
          <pc:docMk/>
          <pc:sldMk cId="2179103081" sldId="2145706311"/>
        </pc:sldMkLst>
      </pc:sldChg>
      <pc:sldChg chg="modSp mod">
        <pc:chgData name="Graf Thomas, SCS-INI-NET-VNC-E2E" userId="487bc3e3-9ce7-4cdd-b7b4-8899ea88d289" providerId="ADAL" clId="{ADEEF08A-D719-4B50-A383-4105EDA2C206}" dt="2026-03-06T15:43:07.950" v="18" actId="108"/>
        <pc:sldMkLst>
          <pc:docMk/>
          <pc:sldMk cId="3265965671" sldId="2145706312"/>
        </pc:sldMkLst>
        <pc:spChg chg="mod">
          <ac:chgData name="Graf Thomas, SCS-INI-NET-VNC-E2E" userId="487bc3e3-9ce7-4cdd-b7b4-8899ea88d289" providerId="ADAL" clId="{ADEEF08A-D719-4B50-A383-4105EDA2C206}" dt="2026-03-06T15:43:07.950" v="18" actId="108"/>
          <ac:spMkLst>
            <pc:docMk/>
            <pc:sldMk cId="3265965671" sldId="2145706312"/>
            <ac:spMk id="5" creationId="{FEB173FE-15D3-C438-10E8-FA80EB7511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C66A2B-7AAE-2E17-9A2D-60576A7608D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a:extLst>
              <a:ext uri="{FF2B5EF4-FFF2-40B4-BE49-F238E27FC236}">
                <a16:creationId xmlns:a16="http://schemas.microsoft.com/office/drawing/2014/main" id="{5795258A-E119-6F74-6A5C-71806DDE2A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C04DF18-294A-1942-9DCF-44575627E94A}" type="datetimeFigureOut">
              <a:rPr lang="en-CH" smtClean="0"/>
              <a:t>03/06/2026</a:t>
            </a:fld>
            <a:endParaRPr lang="en-CH"/>
          </a:p>
        </p:txBody>
      </p:sp>
      <p:sp>
        <p:nvSpPr>
          <p:cNvPr id="4" name="Footer Placeholder 3">
            <a:extLst>
              <a:ext uri="{FF2B5EF4-FFF2-40B4-BE49-F238E27FC236}">
                <a16:creationId xmlns:a16="http://schemas.microsoft.com/office/drawing/2014/main" id="{903C5252-208C-77D5-3947-763A030589E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5" name="Slide Number Placeholder 4">
            <a:extLst>
              <a:ext uri="{FF2B5EF4-FFF2-40B4-BE49-F238E27FC236}">
                <a16:creationId xmlns:a16="http://schemas.microsoft.com/office/drawing/2014/main" id="{45DED27D-694F-F828-9F2C-667E99DB01E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5B7031-5F2E-A04D-86E5-4936D048E87B}" type="slidenum">
              <a:rPr lang="en-CH" smtClean="0"/>
              <a:t>‹#›</a:t>
            </a:fld>
            <a:endParaRPr lang="en-CH"/>
          </a:p>
        </p:txBody>
      </p:sp>
    </p:spTree>
    <p:extLst>
      <p:ext uri="{BB962C8B-B14F-4D97-AF65-F5344CB8AC3E}">
        <p14:creationId xmlns:p14="http://schemas.microsoft.com/office/powerpoint/2010/main" val="29066602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D56C8-71B6-624F-AE43-15F6568A2909}" type="datetimeFigureOut">
              <a:rPr lang="en-CH" smtClean="0"/>
              <a:t>03/06/2026</a:t>
            </a:fld>
            <a:endParaRPr lang="en-C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DE7E3-6817-D34F-9F2D-16E920BB51A9}" type="slidenum">
              <a:rPr lang="en-CH" smtClean="0"/>
              <a:t>‹#›</a:t>
            </a:fld>
            <a:endParaRPr lang="en-CH"/>
          </a:p>
        </p:txBody>
      </p:sp>
    </p:spTree>
    <p:extLst>
      <p:ext uri="{BB962C8B-B14F-4D97-AF65-F5344CB8AC3E}">
        <p14:creationId xmlns:p14="http://schemas.microsoft.com/office/powerpoint/2010/main" val="3930486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 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5</a:t>
            </a:fld>
            <a:endParaRPr lang="en-CH"/>
          </a:p>
        </p:txBody>
      </p:sp>
    </p:spTree>
    <p:extLst>
      <p:ext uri="{BB962C8B-B14F-4D97-AF65-F5344CB8AC3E}">
        <p14:creationId xmlns:p14="http://schemas.microsoft.com/office/powerpoint/2010/main" val="21195855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F8C3-9A5E-3CC2-1C97-EC9904582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495C7A-43AB-8E51-EDFA-25D60B00A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0FC28-8E31-FFEF-A4BA-3D1359514E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 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a:extLst>
              <a:ext uri="{FF2B5EF4-FFF2-40B4-BE49-F238E27FC236}">
                <a16:creationId xmlns:a16="http://schemas.microsoft.com/office/drawing/2014/main" id="{A3CE2A89-4A22-E043-71C1-15575779D375}"/>
              </a:ext>
            </a:extLst>
          </p:cNvPr>
          <p:cNvSpPr>
            <a:spLocks noGrp="1"/>
          </p:cNvSpPr>
          <p:nvPr>
            <p:ph type="sldNum" sz="quarter" idx="5"/>
          </p:nvPr>
        </p:nvSpPr>
        <p:spPr/>
        <p:txBody>
          <a:bodyPr/>
          <a:lstStyle/>
          <a:p>
            <a:fld id="{4C0DE7E3-6817-D34F-9F2D-16E920BB51A9}" type="slidenum">
              <a:rPr lang="en-CH" smtClean="0"/>
              <a:t>6</a:t>
            </a:fld>
            <a:endParaRPr lang="en-CH"/>
          </a:p>
        </p:txBody>
      </p:sp>
    </p:spTree>
    <p:extLst>
      <p:ext uri="{BB962C8B-B14F-4D97-AF65-F5344CB8AC3E}">
        <p14:creationId xmlns:p14="http://schemas.microsoft.com/office/powerpoint/2010/main" val="688627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7</a:t>
            </a:fld>
            <a:endParaRPr lang="de-CH"/>
          </a:p>
        </p:txBody>
      </p:sp>
    </p:spTree>
    <p:extLst>
      <p:ext uri="{BB962C8B-B14F-4D97-AF65-F5344CB8AC3E}">
        <p14:creationId xmlns:p14="http://schemas.microsoft.com/office/powerpoint/2010/main" val="1705007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EA172-0CFE-BA31-FB30-9E1C336B5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438D-2CDA-51AD-6A85-5BE4EF1454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49488-6AF3-FD2D-65A3-98B7B1847E3B}"/>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B8A45EA2-E8CB-F34E-E281-ABF88AC905EB}"/>
              </a:ext>
            </a:extLst>
          </p:cNvPr>
          <p:cNvSpPr>
            <a:spLocks noGrp="1"/>
          </p:cNvSpPr>
          <p:nvPr>
            <p:ph type="sldNum" sz="quarter" idx="5"/>
          </p:nvPr>
        </p:nvSpPr>
        <p:spPr/>
        <p:txBody>
          <a:bodyPr/>
          <a:lstStyle/>
          <a:p>
            <a:fld id="{2BBC52A0-2F3F-497F-8536-39D60282E9C2}" type="slidenum">
              <a:rPr lang="de-CH" smtClean="0"/>
              <a:t>8</a:t>
            </a:fld>
            <a:endParaRPr lang="de-CH"/>
          </a:p>
        </p:txBody>
      </p:sp>
    </p:spTree>
    <p:extLst>
      <p:ext uri="{BB962C8B-B14F-4D97-AF65-F5344CB8AC3E}">
        <p14:creationId xmlns:p14="http://schemas.microsoft.com/office/powerpoint/2010/main" val="38667529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8AD8E-3989-FFEB-6995-A867671CD3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23E0E-5A7F-9049-4BDA-2CABF8E44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B95B2-D0B3-3F64-0B32-8CE545868177}"/>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5D711265-3C9D-E27A-6D84-A68179D91224}"/>
              </a:ext>
            </a:extLst>
          </p:cNvPr>
          <p:cNvSpPr>
            <a:spLocks noGrp="1"/>
          </p:cNvSpPr>
          <p:nvPr>
            <p:ph type="sldNum" sz="quarter" idx="5"/>
          </p:nvPr>
        </p:nvSpPr>
        <p:spPr/>
        <p:txBody>
          <a:bodyPr/>
          <a:lstStyle/>
          <a:p>
            <a:fld id="{2BBC52A0-2F3F-497F-8536-39D60282E9C2}" type="slidenum">
              <a:rPr lang="de-CH" smtClean="0"/>
              <a:t>9</a:t>
            </a:fld>
            <a:endParaRPr lang="de-CH"/>
          </a:p>
        </p:txBody>
      </p:sp>
    </p:spTree>
    <p:extLst>
      <p:ext uri="{BB962C8B-B14F-4D97-AF65-F5344CB8AC3E}">
        <p14:creationId xmlns:p14="http://schemas.microsoft.com/office/powerpoint/2010/main" val="143228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E003D89-8BCB-CD45-BFFB-53322C8FC40E}" type="datetime1">
              <a:rPr lang="de-CH" smtClean="0"/>
              <a:t>06.03.2026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79D91F7-C961-8C44-9299-BF84FF39514E}" type="datetime1">
              <a:rPr lang="de-CH" smtClean="0"/>
              <a:t>06.03.2026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FEC2240F-8AA3-2746-9A51-9D1A136F1E49}" type="datetime1">
              <a:rPr lang="de-CH" smtClean="0"/>
              <a:t>06.03.2026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314D2E-D8E2-384B-82FD-655D508953A3}" type="datetime1">
              <a:rPr lang="de-CH" smtClean="0"/>
              <a:t>06.03.2026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DA34BA8-55CE-D34A-9C2D-BEEE7446B5FC}" type="datetime1">
              <a:rPr lang="de-CH" smtClean="0"/>
              <a:t>06.03.2026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043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469DC1D-08EC-344C-AFC6-70566B114C19}" type="datetime1">
              <a:rPr lang="de-CH" smtClean="0"/>
              <a:t>06.03.2026</a:t>
            </a:fld>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0EF599-0014-1B46-9369-317248A83AAA}" type="datetime1">
              <a:rPr lang="de-CH" smtClean="0"/>
              <a:t>06.03.2026</a:t>
            </a:fld>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21C5E05-3C90-7247-87A0-D89349E8E13C}" type="datetime1">
              <a:rPr lang="de-CH" smtClean="0"/>
              <a:t>06.03.2026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65A632-B168-4E45-8147-A4CCCC7F8728}" type="datetime1">
              <a:rPr lang="de-CH" smtClean="0"/>
              <a:t>06.03.2026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121205-D078-FD46-AF85-0EF064AD968E}" type="datetime1">
              <a:rPr lang="de-CH" smtClean="0"/>
              <a:t>06.03.2026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D8CCE81-C62E-2040-8EF1-B2DD76AF35C8}" type="datetime1">
              <a:rPr lang="de-CH" smtClean="0"/>
              <a:t>06.03.2026</a:t>
            </a:fld>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899592" y="1484784"/>
            <a:ext cx="7884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747160" y="3428988"/>
            <a:ext cx="4105278" cy="215927"/>
          </a:xfrm>
          <a:prstGeom prst="rect">
            <a:avLst/>
          </a:prstGeom>
        </p:spPr>
        <p:txBody>
          <a:bodyPr/>
          <a:lstStyle/>
          <a:p>
            <a:r>
              <a:rPr lang="en-US"/>
              <a:t>Introduction to Telemetry </a:t>
            </a:r>
            <a:endParaRPr lang="en-GB" dirty="0"/>
          </a:p>
        </p:txBody>
      </p:sp>
      <p:sp>
        <p:nvSpPr>
          <p:cNvPr id="12" name="Titel 11"/>
          <p:cNvSpPr>
            <a:spLocks noGrp="1"/>
          </p:cNvSpPr>
          <p:nvPr>
            <p:ph type="title" hasCustomPrompt="1"/>
          </p:nvPr>
        </p:nvSpPr>
        <p:spPr bwMode="black">
          <a:xfrm>
            <a:off x="899592" y="332656"/>
            <a:ext cx="7884000" cy="720000"/>
          </a:xfrm>
        </p:spPr>
        <p:txBody>
          <a:bodyPr/>
          <a:lstStyle>
            <a:lvl1pPr>
              <a:defRPr/>
            </a:lvl1pPr>
          </a:lstStyle>
          <a:p>
            <a:r>
              <a:rPr lang="en-GB"/>
              <a:t>Click to edit title</a:t>
            </a:r>
          </a:p>
        </p:txBody>
      </p:sp>
      <p:sp>
        <p:nvSpPr>
          <p:cNvPr id="8" name="Date Placeholder 3">
            <a:extLst>
              <a:ext uri="{FF2B5EF4-FFF2-40B4-BE49-F238E27FC236}">
                <a16:creationId xmlns:a16="http://schemas.microsoft.com/office/drawing/2014/main" id="{5A066266-3B90-9ACF-0B7C-027471A09E14}"/>
              </a:ext>
            </a:extLst>
          </p:cNvPr>
          <p:cNvSpPr>
            <a:spLocks noGrp="1"/>
          </p:cNvSpPr>
          <p:nvPr>
            <p:ph type="dt" sz="half" idx="10"/>
          </p:nvPr>
        </p:nvSpPr>
        <p:spPr>
          <a:xfrm>
            <a:off x="457200" y="6356350"/>
            <a:ext cx="2133600" cy="365125"/>
          </a:xfrm>
        </p:spPr>
        <p:txBody>
          <a:bodyPr/>
          <a:lstStyle/>
          <a:p>
            <a:fld id="{79121205-D078-FD46-AF85-0EF064AD968E}" type="datetime1">
              <a:rPr lang="de-CH" smtClean="0"/>
              <a:t>06.03.2026</a:t>
            </a:fld>
            <a:endParaRPr lang="en-US"/>
          </a:p>
        </p:txBody>
      </p:sp>
      <p:sp>
        <p:nvSpPr>
          <p:cNvPr id="10" name="Slide Number Placeholder 5">
            <a:extLst>
              <a:ext uri="{FF2B5EF4-FFF2-40B4-BE49-F238E27FC236}">
                <a16:creationId xmlns:a16="http://schemas.microsoft.com/office/drawing/2014/main" id="{9470299E-69B1-CFB1-806F-43D43F417629}"/>
              </a:ext>
            </a:extLst>
          </p:cNvPr>
          <p:cNvSpPr>
            <a:spLocks noGrp="1"/>
          </p:cNvSpPr>
          <p:nvPr>
            <p:ph type="sldNum" sz="quarter" idx="12"/>
          </p:nvPr>
        </p:nvSpPr>
        <p:spPr>
          <a:xfrm>
            <a:off x="6553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9259858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91580A-F933-684E-A19D-31DC6358EE9E}" type="datetime1">
              <a:rPr lang="de-CH" smtClean="0"/>
              <a:t>06.03.2026</a:t>
            </a:fld>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61"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 TargetMode="External"/><Relationship Id="rId2" Type="http://schemas.openxmlformats.org/officeDocument/2006/relationships/hyperlink" Target="https://datatracker.ietf.org/doc/html/draft-ietf-nmop-network-anomaly-architecture" TargetMode="External"/><Relationship Id="rId1" Type="http://schemas.openxmlformats.org/officeDocument/2006/relationships/slideLayout" Target="../slideLayouts/slideLayout12.xml"/><Relationship Id="rId5" Type="http://schemas.openxmlformats.org/officeDocument/2006/relationships/image" Target="../media/image1.png"/><Relationship Id="rId4" Type="http://schemas.openxmlformats.org/officeDocument/2006/relationships/hyperlink" Target="https://datatracker.ietf.org/doc/html/draft-ietf-nmop-network-anomaly-lifecycl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www.tagesanzeiger.ch/swisscom-stoerung-bei-swisscom-tv-und-blue-tv-app-769659583423"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draft-ietf-nmop-network-anomaly-lifecycle/05/" TargetMode="External"/><Relationship Id="rId2" Type="http://schemas.openxmlformats.org/officeDocument/2006/relationships/hyperlink" Target="https://datatracker.ietf.org/doc/html/draft-ietf-nmop-network-anomaly-semantics-05"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455122" y="1881579"/>
            <a:ext cx="8546486" cy="2429252"/>
          </a:xfrm>
          <a:prstGeom prst="rect">
            <a:avLst/>
          </a:prstGeom>
        </p:spPr>
        <p:txBody>
          <a:bodyPr vert="horz" lIns="68580" tIns="34290" rIns="68580" bIns="3429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550" b="1"/>
              <a:t>An Architecture for a </a:t>
            </a:r>
            <a:r>
              <a:rPr lang="en-US" sz="2550" b="1">
                <a:solidFill>
                  <a:srgbClr val="FF0000"/>
                </a:solidFill>
              </a:rPr>
              <a:t>Network Anomaly Detection </a:t>
            </a:r>
            <a:r>
              <a:rPr lang="en-US" sz="2550" b="1"/>
              <a:t>Framework </a:t>
            </a:r>
            <a:br>
              <a:rPr lang="en-US" sz="2700" b="1" dirty="0"/>
            </a:br>
            <a:r>
              <a:rPr lang="en-US" sz="2100" dirty="0"/>
              <a:t>draft-ietf-nmop-network-anomaly-architecture-07</a:t>
            </a:r>
          </a:p>
          <a:p>
            <a:r>
              <a:rPr lang="en-US" sz="2100" dirty="0"/>
              <a:t>draft-ietf-nmop-network-anomaly-semantics-05</a:t>
            </a:r>
          </a:p>
          <a:p>
            <a:r>
              <a:rPr lang="en-US" sz="2100" dirty="0"/>
              <a:t>draft-ietf-nmop-network-anomaly-lifecycle-05</a:t>
            </a:r>
          </a:p>
          <a:p>
            <a:endParaRPr lang="en-US" sz="2100" dirty="0"/>
          </a:p>
          <a:p>
            <a:r>
              <a:rPr lang="en-US" sz="2100">
                <a:solidFill>
                  <a:schemeClr val="bg2">
                    <a:lumMod val="75000"/>
                  </a:schemeClr>
                </a:solidFill>
              </a:rPr>
              <a:t>Motivation and architecture of a Network Anomaly Detection Framework</a:t>
            </a:r>
            <a:endParaRPr lang="en-US" sz="2100" dirty="0">
              <a:solidFill>
                <a:schemeClr val="bg2">
                  <a:lumMod val="75000"/>
                </a:schemeClr>
              </a:solidFill>
            </a:endParaRPr>
          </a:p>
          <a:p>
            <a:r>
              <a:rPr lang="en-US" sz="2100">
                <a:solidFill>
                  <a:schemeClr val="bg2">
                    <a:lumMod val="75000"/>
                  </a:schemeClr>
                </a:solidFill>
              </a:rPr>
              <a:t>    and the relationships to other documents describing</a:t>
            </a:r>
            <a:endParaRPr lang="en-US" sz="2100" dirty="0">
              <a:solidFill>
                <a:schemeClr val="bg2">
                  <a:lumMod val="75000"/>
                </a:schemeClr>
              </a:solidFill>
            </a:endParaRPr>
          </a:p>
          <a:p>
            <a:r>
              <a:rPr lang="en-US" sz="2100">
                <a:solidFill>
                  <a:schemeClr val="bg2">
                    <a:lumMod val="75000"/>
                  </a:schemeClr>
                </a:solidFill>
              </a:rPr>
              <a:t>        network symptom semantics and network incident lifecycle</a:t>
            </a:r>
            <a:endParaRPr lang="en-US" sz="2100" dirty="0">
              <a:solidFill>
                <a:schemeClr val="bg2">
                  <a:lumMod val="75000"/>
                </a:schemeClr>
              </a:solidFill>
            </a:endParaRPr>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628651" y="4825093"/>
            <a:ext cx="8372957" cy="803384"/>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225"/>
              </a:spcBef>
              <a:buNone/>
              <a:defRPr sz="1782"/>
            </a:pPr>
            <a:r>
              <a:rPr lang="de-CH" sz="1200" dirty="0">
                <a:latin typeface="+mj-lt"/>
              </a:rPr>
              <a:t>wanting.du@swisscom.com</a:t>
            </a:r>
          </a:p>
          <a:p>
            <a:pPr marL="0" indent="0" algn="r">
              <a:spcBef>
                <a:spcPts val="225"/>
              </a:spcBef>
              <a:buNone/>
              <a:defRPr sz="1782"/>
            </a:pPr>
            <a:r>
              <a:rPr lang="de-CH" sz="1200" dirty="0" err="1"/>
              <a:t>thomas.graf@swisscom.com</a:t>
            </a:r>
            <a:br>
              <a:rPr lang="de-CH" sz="1200" dirty="0">
                <a:latin typeface="+mj-lt"/>
              </a:rPr>
            </a:br>
            <a:r>
              <a:rPr lang="de-CH" sz="1200" dirty="0" err="1">
                <a:latin typeface="+mj-lt"/>
              </a:rPr>
              <a:t>pierre.francois@insa-lyon.fr</a:t>
            </a:r>
            <a:br>
              <a:rPr lang="de-CH" sz="1200" dirty="0">
                <a:latin typeface="+mj-lt"/>
              </a:rPr>
            </a:br>
            <a:r>
              <a:rPr lang="de-CH" sz="1200" dirty="0">
                <a:latin typeface="+mj-lt"/>
              </a:rPr>
              <a:t>vincenzo.riccobene@huawei-partners.com</a:t>
            </a:r>
            <a:br>
              <a:rPr lang="de-CH" sz="1200" dirty="0">
                <a:latin typeface="+mj-lt"/>
              </a:rPr>
            </a:br>
            <a:r>
              <a:rPr lang="de-CH" sz="1200" dirty="0">
                <a:latin typeface="+mj-lt"/>
              </a:rPr>
              <a:t>alex.huang-feng@insa-lyon.fr</a:t>
            </a:r>
            <a:br>
              <a:rPr lang="de-CH" sz="1200" dirty="0">
                <a:latin typeface="+mj-lt"/>
              </a:rPr>
            </a:br>
            <a:endParaRPr lang="de-CH" sz="1200" dirty="0">
              <a:latin typeface="+mj-lt"/>
            </a:endParaRPr>
          </a:p>
        </p:txBody>
      </p:sp>
      <p:sp>
        <p:nvSpPr>
          <p:cNvPr id="8" name="Date Placeholder 7">
            <a:extLst>
              <a:ext uri="{FF2B5EF4-FFF2-40B4-BE49-F238E27FC236}">
                <a16:creationId xmlns:a16="http://schemas.microsoft.com/office/drawing/2014/main" id="{9FA697C2-2EA5-AEF9-84DD-75D8C1F5B0E8}"/>
              </a:ext>
            </a:extLst>
          </p:cNvPr>
          <p:cNvSpPr>
            <a:spLocks noGrp="1"/>
          </p:cNvSpPr>
          <p:nvPr>
            <p:ph type="dt" sz="half" idx="10"/>
          </p:nvPr>
        </p:nvSpPr>
        <p:spPr/>
        <p:txBody>
          <a:bodyPr/>
          <a:lstStyle/>
          <a:p>
            <a:fld id="{72B55B63-FDB8-D940-A236-AF8A5F46C494}" type="datetime1">
              <a:rPr lang="de-CH" smtClean="0"/>
              <a:t>06.03.2026</a:t>
            </a:fld>
            <a:endParaRPr lang="en-US"/>
          </a:p>
        </p:txBody>
      </p:sp>
      <p:sp>
        <p:nvSpPr>
          <p:cNvPr id="9" name="Slide Number Placeholder 8">
            <a:extLst>
              <a:ext uri="{FF2B5EF4-FFF2-40B4-BE49-F238E27FC236}">
                <a16:creationId xmlns:a16="http://schemas.microsoft.com/office/drawing/2014/main" id="{EEEED876-F545-3795-B19C-92945234B7A7}"/>
              </a:ext>
            </a:extLst>
          </p:cNvPr>
          <p:cNvSpPr>
            <a:spLocks noGrp="1"/>
          </p:cNvSpPr>
          <p:nvPr>
            <p:ph type="sldNum" sz="quarter" idx="12"/>
          </p:nvPr>
        </p:nvSpPr>
        <p:spPr/>
        <p:txBody>
          <a:bodyPr/>
          <a:lstStyle/>
          <a:p>
            <a:fld id="{C1FF6DA9-008F-8B48-92A6-B652298478BF}" type="slidenum">
              <a:rPr lang="en-US" smtClean="0"/>
              <a:t>1</a:t>
            </a:fld>
            <a:endParaRPr lang="en-US"/>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720000" y="1742312"/>
            <a:ext cx="7965650" cy="396316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r>
              <a:rPr lang="en-GB" sz="1600" dirty="0"/>
              <a:t>To detect service interruptions before users do, network operations must use </a:t>
            </a:r>
            <a:r>
              <a:rPr lang="en-GB" sz="1600" b="1" dirty="0"/>
              <a:t>automated</a:t>
            </a:r>
            <a:r>
              <a:rPr lang="en-GB" sz="1600" dirty="0"/>
              <a:t>, </a:t>
            </a:r>
            <a:r>
              <a:rPr lang="en-GB" sz="1600" b="1" dirty="0"/>
              <a:t>holistic</a:t>
            </a:r>
            <a:r>
              <a:rPr lang="en-GB" sz="1600" dirty="0"/>
              <a:t> monitoring across all </a:t>
            </a:r>
            <a:r>
              <a:rPr lang="en-GB" sz="1600" b="1" dirty="0"/>
              <a:t>three network planes</a:t>
            </a:r>
            <a:r>
              <a:rPr lang="en-GB" sz="1600" dirty="0"/>
              <a:t>. </a:t>
            </a:r>
          </a:p>
          <a:p>
            <a:pPr marL="285750" indent="-285750">
              <a:buFont typeface="Wingdings" pitchFamily="2" charset="2"/>
              <a:buChar char="Ø"/>
            </a:pPr>
            <a:r>
              <a:rPr lang="en-US" sz="1600" dirty="0">
                <a:hlinkClick r:id="rId2"/>
              </a:rPr>
              <a:t>draft-ietf-nmop-network-anomaly-architecture</a:t>
            </a:r>
            <a:r>
              <a:rPr lang="en-US" sz="1600" dirty="0"/>
              <a:t> describes the motivation and architecture and the relationship to other two documents.</a:t>
            </a:r>
            <a:endParaRPr lang="en-GB" sz="1600" dirty="0"/>
          </a:p>
          <a:p>
            <a:r>
              <a:rPr lang="en-GB" sz="1600" dirty="0"/>
              <a:t>By automating the postmortem process and standardizing </a:t>
            </a:r>
            <a:r>
              <a:rPr lang="en-GB" sz="1600" dirty="0" err="1"/>
              <a:t>labeled</a:t>
            </a:r>
            <a:r>
              <a:rPr lang="en-GB" sz="1600" dirty="0"/>
              <a:t> incident data, operators can</a:t>
            </a:r>
            <a:r>
              <a:rPr lang="en-GB" sz="1600" b="1" dirty="0"/>
              <a:t> improve machine learning </a:t>
            </a:r>
            <a:r>
              <a:rPr lang="en-GB" sz="1600" dirty="0"/>
              <a:t>models continuously and </a:t>
            </a:r>
            <a:r>
              <a:rPr lang="en-GB" sz="1600" b="1" dirty="0"/>
              <a:t>foster better collaboration </a:t>
            </a:r>
            <a:r>
              <a:rPr lang="en-GB" sz="1600" dirty="0"/>
              <a:t>between vendors and academia.</a:t>
            </a:r>
          </a:p>
          <a:p>
            <a:pPr marL="214313" indent="-214313">
              <a:buFont typeface="Wingdings" panose="05000000000000000000" pitchFamily="2" charset="2"/>
              <a:buChar char="Ø"/>
            </a:pPr>
            <a:r>
              <a:rPr lang="en-US" sz="1600" dirty="0">
                <a:hlinkClick r:id="rId3"/>
              </a:rPr>
              <a:t>draft-ietf-nmop-network-anomaly-semantics</a:t>
            </a:r>
            <a:r>
              <a:rPr lang="en-US" sz="1600" dirty="0"/>
              <a:t> defines Symptom semantics to enable standardized data exchange to validate results with network engineers and improve supervised and semi-supervised machine learning systems. </a:t>
            </a:r>
          </a:p>
          <a:p>
            <a:pPr marL="214313" indent="-214313">
              <a:buFont typeface="Wingdings" panose="05000000000000000000" pitchFamily="2" charset="2"/>
              <a:buChar char="Ø"/>
            </a:pPr>
            <a:r>
              <a:rPr lang="en-US" sz="1600" dirty="0">
                <a:hlinkClick r:id="rId4"/>
              </a:rPr>
              <a:t>draft-ietf-nmop-network-anomaly-lifecycle</a:t>
            </a:r>
            <a:r>
              <a:rPr lang="en-US" sz="1600" dirty="0"/>
              <a:t> describes the lifecycle process, enabling network engineers to interact with the network anomaly detection system to refine the detection abilities over time. </a:t>
            </a:r>
            <a:endParaRPr lang="en-GB" sz="1600" dirty="0"/>
          </a:p>
          <a:p>
            <a:br>
              <a:rPr lang="en-GB" sz="1600" dirty="0"/>
            </a:br>
            <a:endParaRPr lang="en-GB" sz="1600" dirty="0"/>
          </a:p>
        </p:txBody>
      </p:sp>
      <p:sp>
        <p:nvSpPr>
          <p:cNvPr id="2" name="Inhaltsplatzhalter 2">
            <a:extLst>
              <a:ext uri="{FF2B5EF4-FFF2-40B4-BE49-F238E27FC236}">
                <a16:creationId xmlns:a16="http://schemas.microsoft.com/office/drawing/2014/main" id="{40698F20-E35A-7859-BBD7-0DF9260329A7}"/>
              </a:ext>
            </a:extLst>
          </p:cNvPr>
          <p:cNvSpPr txBox="1">
            <a:spLocks/>
          </p:cNvSpPr>
          <p:nvPr/>
        </p:nvSpPr>
        <p:spPr bwMode="black">
          <a:xfrm>
            <a:off x="5451411" y="1641514"/>
            <a:ext cx="3484984" cy="312592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214313" indent="-214313">
              <a:buFont typeface="Wingdings" panose="05000000000000000000" pitchFamily="2" charset="2"/>
              <a:buChar char="Ø"/>
            </a:pPr>
            <a:endParaRPr lang="en-US" sz="1400" dirty="0"/>
          </a:p>
        </p:txBody>
      </p:sp>
      <p:sp>
        <p:nvSpPr>
          <p:cNvPr id="3" name="Text Placeholder 10">
            <a:extLst>
              <a:ext uri="{FF2B5EF4-FFF2-40B4-BE49-F238E27FC236}">
                <a16:creationId xmlns:a16="http://schemas.microsoft.com/office/drawing/2014/main" id="{AC32D27E-E01A-131C-C4B7-9A918341F560}"/>
              </a:ext>
            </a:extLst>
          </p:cNvPr>
          <p:cNvSpPr txBox="1">
            <a:spLocks/>
          </p:cNvSpPr>
          <p:nvPr/>
        </p:nvSpPr>
        <p:spPr bwMode="black">
          <a:xfrm>
            <a:off x="5451411" y="498514"/>
            <a:ext cx="1987421" cy="695247"/>
          </a:xfrm>
          <a:prstGeom prst="rect">
            <a:avLst/>
          </a:prstGeom>
        </p:spPr>
        <p:txBody>
          <a:bodyPr lIns="0" tIns="21600" rIns="0" bIns="21600" anchor="b"/>
          <a:lstStyle>
            <a:lvl1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1pPr>
            <a:lvl2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2pPr>
            <a:lvl3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3pPr>
            <a:lvl4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4pPr>
            <a:lvl5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5pPr>
            <a:lvl6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6pPr>
            <a:lvl7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7pPr>
            <a:lvl8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8pPr>
            <a:lvl9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9pPr>
          </a:lstStyle>
          <a:p>
            <a:pPr algn="r" defTabSz="685800">
              <a:defRPr/>
            </a:pPr>
            <a:r>
              <a:rPr lang="en-US" sz="2100" spc="-38">
                <a:solidFill>
                  <a:prstClr val="black"/>
                </a:solidFill>
                <a:latin typeface="Calibri Light" panose="020F0302020204030204"/>
              </a:rPr>
              <a:t>Network Anomaly Detection</a:t>
            </a:r>
            <a:endParaRPr lang="en-US" sz="2100" spc="-38" dirty="0">
              <a:solidFill>
                <a:prstClr val="black"/>
              </a:solidFill>
              <a:latin typeface="Calibri Light" panose="020F0302020204030204"/>
            </a:endParaRPr>
          </a:p>
        </p:txBody>
      </p:sp>
      <p:pic>
        <p:nvPicPr>
          <p:cNvPr id="4" name="Picture 3">
            <a:extLst>
              <a:ext uri="{FF2B5EF4-FFF2-40B4-BE49-F238E27FC236}">
                <a16:creationId xmlns:a16="http://schemas.microsoft.com/office/drawing/2014/main" id="{A10DB6D2-AE41-F640-9B4A-96205F1AB05E}"/>
              </a:ext>
            </a:extLst>
          </p:cNvPr>
          <p:cNvPicPr>
            <a:picLocks noChangeAspect="1"/>
          </p:cNvPicPr>
          <p:nvPr/>
        </p:nvPicPr>
        <p:blipFill>
          <a:blip r:embed="rId5"/>
          <a:stretch>
            <a:fillRect/>
          </a:stretch>
        </p:blipFill>
        <p:spPr>
          <a:xfrm>
            <a:off x="7581820" y="425441"/>
            <a:ext cx="1264444" cy="1092994"/>
          </a:xfrm>
          <a:prstGeom prst="rect">
            <a:avLst/>
          </a:prstGeom>
        </p:spPr>
      </p:pic>
      <p:sp>
        <p:nvSpPr>
          <p:cNvPr id="7" name="Title 1">
            <a:extLst>
              <a:ext uri="{FF2B5EF4-FFF2-40B4-BE49-F238E27FC236}">
                <a16:creationId xmlns:a16="http://schemas.microsoft.com/office/drawing/2014/main" id="{97C4EA3D-200C-4259-0358-FFA150A6CCE2}"/>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Problem Statement and Motivation</a:t>
            </a:r>
            <a:br>
              <a:rPr lang="en-US" sz="2700"/>
            </a:br>
            <a:r>
              <a:rPr lang="en-US" sz="2000">
                <a:solidFill>
                  <a:schemeClr val="bg2">
                    <a:lumMod val="75000"/>
                  </a:schemeClr>
                </a:solidFill>
              </a:rPr>
              <a:t>How it is being addressed in each document</a:t>
            </a:r>
            <a:endParaRPr lang="en-US" sz="2000" dirty="0">
              <a:solidFill>
                <a:schemeClr val="bg2">
                  <a:lumMod val="75000"/>
                </a:schemeClr>
              </a:solidFill>
            </a:endParaRPr>
          </a:p>
        </p:txBody>
      </p:sp>
      <p:sp>
        <p:nvSpPr>
          <p:cNvPr id="13" name="Slide Number Placeholder 12">
            <a:extLst>
              <a:ext uri="{FF2B5EF4-FFF2-40B4-BE49-F238E27FC236}">
                <a16:creationId xmlns:a16="http://schemas.microsoft.com/office/drawing/2014/main" id="{5DA7F251-DE10-E6ED-95F7-B1F0A94BE153}"/>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2</a:t>
            </a:fld>
            <a:endParaRPr lang="en-GB"/>
          </a:p>
        </p:txBody>
      </p:sp>
    </p:spTree>
    <p:extLst>
      <p:ext uri="{BB962C8B-B14F-4D97-AF65-F5344CB8AC3E}">
        <p14:creationId xmlns:p14="http://schemas.microsoft.com/office/powerpoint/2010/main" val="4285237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summary</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576000" y="2160018"/>
            <a:ext cx="3382389" cy="3255375"/>
          </a:xfrm>
        </p:spPr>
        <p:txBody>
          <a:bodyPr>
            <a:noAutofit/>
          </a:bodyPr>
          <a:lstStyle/>
          <a:p>
            <a:pPr marL="0" indent="0">
              <a:spcBef>
                <a:spcPts val="225"/>
              </a:spcBef>
              <a:spcAft>
                <a:spcPts val="225"/>
              </a:spcAft>
              <a:buNone/>
            </a:pPr>
            <a:r>
              <a:rPr lang="en-GB" sz="1600"/>
              <a:t>As human-driven troubleshooting becomes less </a:t>
            </a:r>
            <a:r>
              <a:rPr lang="en-GB" sz="1600" b="1"/>
              <a:t>scalable</a:t>
            </a:r>
            <a:r>
              <a:rPr lang="en-GB" sz="1600"/>
              <a:t> due to its vast number of dependencies, this draft outlines a </a:t>
            </a:r>
            <a:r>
              <a:rPr lang="en-GB" sz="1600" b="1"/>
              <a:t>standardized</a:t>
            </a:r>
            <a:r>
              <a:rPr lang="en-GB" sz="1600"/>
              <a:t>, </a:t>
            </a:r>
            <a:r>
              <a:rPr lang="en-GB" sz="1600" b="1"/>
              <a:t>architecture-level framework</a:t>
            </a:r>
            <a:r>
              <a:rPr lang="en-GB" sz="1600"/>
              <a:t> designed to </a:t>
            </a:r>
            <a:r>
              <a:rPr lang="en-GB" sz="1600" b="1"/>
              <a:t>automate the detection of service disruptions</a:t>
            </a:r>
            <a:r>
              <a:rPr lang="en-GB" sz="1600" b="1" dirty="0"/>
              <a:t>.</a:t>
            </a:r>
          </a:p>
          <a:p>
            <a:pPr marL="0" indent="0">
              <a:spcBef>
                <a:spcPts val="225"/>
              </a:spcBef>
              <a:spcAft>
                <a:spcPts val="225"/>
              </a:spcAft>
              <a:buNone/>
            </a:pPr>
            <a:endParaRPr lang="en-US" sz="1600" dirty="0"/>
          </a:p>
        </p:txBody>
      </p:sp>
      <p:sp>
        <p:nvSpPr>
          <p:cNvPr id="4" name="Title 1">
            <a:extLst>
              <a:ext uri="{FF2B5EF4-FFF2-40B4-BE49-F238E27FC236}">
                <a16:creationId xmlns:a16="http://schemas.microsoft.com/office/drawing/2014/main" id="{DF201438-AEE1-9346-3506-A4640812DA37}"/>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pic>
        <p:nvPicPr>
          <p:cNvPr id="5" name="Picture 4">
            <a:extLst>
              <a:ext uri="{FF2B5EF4-FFF2-40B4-BE49-F238E27FC236}">
                <a16:creationId xmlns:a16="http://schemas.microsoft.com/office/drawing/2014/main" id="{6F71B775-5030-10FF-6E64-5FE9ACC04F78}"/>
              </a:ext>
            </a:extLst>
          </p:cNvPr>
          <p:cNvPicPr>
            <a:picLocks noChangeAspect="1"/>
          </p:cNvPicPr>
          <p:nvPr/>
        </p:nvPicPr>
        <p:blipFill>
          <a:blip r:embed="rId2"/>
          <a:stretch>
            <a:fillRect/>
          </a:stretch>
        </p:blipFill>
        <p:spPr>
          <a:xfrm>
            <a:off x="4413048" y="1176005"/>
            <a:ext cx="3823213" cy="5223403"/>
          </a:xfrm>
          <a:prstGeom prst="rect">
            <a:avLst/>
          </a:prstGeom>
        </p:spPr>
      </p:pic>
      <p:sp>
        <p:nvSpPr>
          <p:cNvPr id="6" name="Date Placeholder 5">
            <a:extLst>
              <a:ext uri="{FF2B5EF4-FFF2-40B4-BE49-F238E27FC236}">
                <a16:creationId xmlns:a16="http://schemas.microsoft.com/office/drawing/2014/main" id="{18EBEDAD-2257-CD00-F5AC-7CB33EC81232}"/>
              </a:ext>
            </a:extLst>
          </p:cNvPr>
          <p:cNvSpPr>
            <a:spLocks noGrp="1"/>
          </p:cNvSpPr>
          <p:nvPr>
            <p:ph type="dt" sz="half" idx="10"/>
          </p:nvPr>
        </p:nvSpPr>
        <p:spPr/>
        <p:txBody>
          <a:bodyPr/>
          <a:lstStyle/>
          <a:p>
            <a:fld id="{AF901AE6-770F-8841-B36C-9BB82D836878}" type="datetime1">
              <a:rPr lang="de-CH" smtClean="0"/>
              <a:t>06.03.2026</a:t>
            </a:fld>
            <a:endParaRPr lang="en-US"/>
          </a:p>
        </p:txBody>
      </p:sp>
      <p:sp>
        <p:nvSpPr>
          <p:cNvPr id="7" name="Slide Number Placeholder 6">
            <a:extLst>
              <a:ext uri="{FF2B5EF4-FFF2-40B4-BE49-F238E27FC236}">
                <a16:creationId xmlns:a16="http://schemas.microsoft.com/office/drawing/2014/main" id="{C7D5667A-3B98-E7BC-B5FB-5FA45380074F}"/>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6509354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6F9E6-44E5-6FAF-A0CF-82C0B55D4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9CA57-C4F2-8E12-EB3C-B9496482903B}"/>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Key draft updates since -05</a:t>
            </a:r>
          </a:p>
        </p:txBody>
      </p:sp>
      <p:sp>
        <p:nvSpPr>
          <p:cNvPr id="3" name="Content Placeholder 2">
            <a:extLst>
              <a:ext uri="{FF2B5EF4-FFF2-40B4-BE49-F238E27FC236}">
                <a16:creationId xmlns:a16="http://schemas.microsoft.com/office/drawing/2014/main" id="{AA209B5F-12F6-9A75-A5C8-FB699F15D6EB}"/>
              </a:ext>
            </a:extLst>
          </p:cNvPr>
          <p:cNvSpPr>
            <a:spLocks noGrp="1"/>
          </p:cNvSpPr>
          <p:nvPr>
            <p:ph idx="1"/>
          </p:nvPr>
        </p:nvSpPr>
        <p:spPr>
          <a:xfrm>
            <a:off x="576000" y="1440000"/>
            <a:ext cx="7939350"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US" sz="1400" dirty="0"/>
              <a:t>Change from “customer profile” to “service profile” </a:t>
            </a:r>
            <a:r>
              <a:rPr lang="en-GB" sz="1400" dirty="0"/>
              <a:t>to ensure consistency across reference documentation.</a:t>
            </a:r>
          </a:p>
          <a:p>
            <a:pPr lvl="1">
              <a:spcBef>
                <a:spcPts val="225"/>
              </a:spcBef>
              <a:spcAft>
                <a:spcPts val="225"/>
              </a:spcAft>
            </a:pPr>
            <a:r>
              <a:rPr lang="en-GB" sz="1400" dirty="0"/>
              <a:t>Added formal “Rules" definition</a:t>
            </a:r>
            <a:r>
              <a:rPr lang="en-US" sz="1400" dirty="0"/>
              <a:t> to distinguish between knowledge-based approach and ML approach.</a:t>
            </a:r>
          </a:p>
          <a:p>
            <a:pPr>
              <a:spcBef>
                <a:spcPts val="225"/>
              </a:spcBef>
              <a:spcAft>
                <a:spcPts val="225"/>
              </a:spcAft>
            </a:pPr>
            <a:r>
              <a:rPr lang="en-US" sz="1400" b="1" dirty="0"/>
              <a:t>Restructure</a:t>
            </a:r>
          </a:p>
          <a:p>
            <a:pPr lvl="1">
              <a:spcBef>
                <a:spcPts val="225"/>
              </a:spcBef>
              <a:spcAft>
                <a:spcPts val="225"/>
              </a:spcAft>
              <a:buFontTx/>
              <a:buChar char="-"/>
            </a:pPr>
            <a:r>
              <a:rPr lang="en-GB" sz="1400" dirty="0"/>
              <a:t>Restructured Service Disruption Section:</a:t>
            </a:r>
          </a:p>
          <a:p>
            <a:pPr lvl="2">
              <a:spcBef>
                <a:spcPts val="225"/>
              </a:spcBef>
              <a:spcAft>
                <a:spcPts val="225"/>
              </a:spcAft>
              <a:buFontTx/>
              <a:buChar char="-"/>
            </a:pPr>
            <a:r>
              <a:rPr lang="en-GB" sz="1400" dirty="0"/>
              <a:t>Added sections on Knowledge Based and detailed it with subsections including Expert Rules, Network Modelling, Data Profiling, and Detection Strategies. </a:t>
            </a:r>
          </a:p>
          <a:p>
            <a:pPr lvl="2">
              <a:spcBef>
                <a:spcPts val="225"/>
              </a:spcBef>
              <a:spcAft>
                <a:spcPts val="225"/>
              </a:spcAft>
              <a:buFontTx/>
              <a:buChar char="-"/>
            </a:pPr>
            <a:r>
              <a:rPr lang="en-GB" sz="1400" dirty="0"/>
              <a:t>ML part moved to "Conventions" &amp; "Data Profiling”</a:t>
            </a:r>
          </a:p>
          <a:p>
            <a:pPr>
              <a:spcBef>
                <a:spcPts val="225"/>
              </a:spcBef>
              <a:spcAft>
                <a:spcPts val="225"/>
              </a:spcAft>
            </a:pPr>
            <a:r>
              <a:rPr lang="en-GB" sz="1400" b="1" dirty="0"/>
              <a:t>Refinement</a:t>
            </a:r>
          </a:p>
          <a:p>
            <a:pPr lvl="1"/>
            <a:r>
              <a:rPr lang="en-GB" sz="1400" dirty="0"/>
              <a:t>Formalized the relationship between Semantic, Rule, &amp; Knowledge-based detection.</a:t>
            </a:r>
          </a:p>
          <a:p>
            <a:pPr lvl="1"/>
            <a:r>
              <a:rPr lang="en-GB" sz="1400" dirty="0"/>
              <a:t>Refined definition: collective outlier, confidence score, concern score. </a:t>
            </a:r>
          </a:p>
          <a:p>
            <a:pPr lvl="1"/>
            <a:r>
              <a:rPr lang="en-GB" sz="1400" dirty="0"/>
              <a:t>Refined clarification: Alarm-raising criteria, Data Storage Considerations, Operational Data Aggregation</a:t>
            </a:r>
          </a:p>
          <a:p>
            <a:r>
              <a:rPr lang="en-GB" sz="1400" dirty="0"/>
              <a:t> Out-scoping Service Degradation based on </a:t>
            </a:r>
            <a:r>
              <a:rPr lang="en-US" sz="1400" dirty="0"/>
              <a:t>Rüdiger Geib</a:t>
            </a:r>
            <a:r>
              <a:rPr lang="en-GB" sz="1400" dirty="0"/>
              <a:t>’s comment</a:t>
            </a:r>
          </a:p>
        </p:txBody>
      </p:sp>
      <p:sp>
        <p:nvSpPr>
          <p:cNvPr id="4" name="Title 1">
            <a:extLst>
              <a:ext uri="{FF2B5EF4-FFF2-40B4-BE49-F238E27FC236}">
                <a16:creationId xmlns:a16="http://schemas.microsoft.com/office/drawing/2014/main" id="{BD683859-82C2-A142-ED34-82FDB4B6D333}"/>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A0852385-167C-97D4-01A1-E368D5F48EF8}"/>
              </a:ext>
            </a:extLst>
          </p:cNvPr>
          <p:cNvSpPr>
            <a:spLocks noGrp="1"/>
          </p:cNvSpPr>
          <p:nvPr>
            <p:ph type="dt" sz="half" idx="10"/>
          </p:nvPr>
        </p:nvSpPr>
        <p:spPr/>
        <p:txBody>
          <a:bodyPr/>
          <a:lstStyle/>
          <a:p>
            <a:fld id="{D89484F6-4B41-9E41-A6A3-57B4ED278EE2}" type="datetime1">
              <a:rPr lang="de-CH" smtClean="0"/>
              <a:t>06.03.2026</a:t>
            </a:fld>
            <a:endParaRPr lang="en-US"/>
          </a:p>
        </p:txBody>
      </p:sp>
      <p:sp>
        <p:nvSpPr>
          <p:cNvPr id="6" name="Slide Number Placeholder 5">
            <a:extLst>
              <a:ext uri="{FF2B5EF4-FFF2-40B4-BE49-F238E27FC236}">
                <a16:creationId xmlns:a16="http://schemas.microsoft.com/office/drawing/2014/main" id="{CD4F497C-A7FD-B42B-DEBC-3C43CBD64062}"/>
              </a:ext>
            </a:extLst>
          </p:cNvPr>
          <p:cNvSpPr>
            <a:spLocks noGrp="1"/>
          </p:cNvSpPr>
          <p:nvPr>
            <p:ph type="sldNum" sz="quarter" idx="12"/>
          </p:nvPr>
        </p:nvSpPr>
        <p:spPr/>
        <p:txBody>
          <a:bodyPr/>
          <a:lstStyle/>
          <a:p>
            <a:fld id="{C1FF6DA9-008F-8B48-92A6-B652298478BF}" type="slidenum">
              <a:rPr lang="en-US" smtClean="0"/>
              <a:t>4</a:t>
            </a:fld>
            <a:endParaRPr lang="en-US"/>
          </a:p>
        </p:txBody>
      </p:sp>
    </p:spTree>
    <p:extLst>
      <p:ext uri="{BB962C8B-B14F-4D97-AF65-F5344CB8AC3E}">
        <p14:creationId xmlns:p14="http://schemas.microsoft.com/office/powerpoint/2010/main" val="3476293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6E293-7B46-EFFF-8859-6D07AD4BA8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D3E638-8879-D8CE-6BCE-69025F1EFCFE}"/>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A3D7B4C2-2F7A-F68D-B869-A4311925833D}"/>
              </a:ext>
            </a:extLst>
          </p:cNvPr>
          <p:cNvSpPr>
            <a:spLocks noGrp="1"/>
          </p:cNvSpPr>
          <p:nvPr>
            <p:ph idx="1"/>
          </p:nvPr>
        </p:nvSpPr>
        <p:spPr>
          <a:xfrm>
            <a:off x="612000" y="1440000"/>
            <a:ext cx="3754801" cy="4524642"/>
          </a:xfrm>
        </p:spPr>
        <p:txBody>
          <a:bodyPr>
            <a:noAutofit/>
          </a:bodyPr>
          <a:lstStyle/>
          <a:p>
            <a:pPr marL="0" indent="0">
              <a:spcBef>
                <a:spcPts val="225"/>
              </a:spcBef>
              <a:spcAft>
                <a:spcPts val="225"/>
              </a:spcAft>
              <a:buNone/>
            </a:pPr>
            <a:r>
              <a:rPr lang="en-US" sz="1600" b="1" dirty="0"/>
              <a:t>L3 VPN – Real-Time Incident Analysis</a:t>
            </a:r>
          </a:p>
          <a:p>
            <a:pPr marL="0" indent="0">
              <a:spcBef>
                <a:spcPts val="225"/>
              </a:spcBef>
              <a:spcAft>
                <a:spcPts val="225"/>
              </a:spcAft>
              <a:buNone/>
            </a:pPr>
            <a:r>
              <a:rPr lang="en-US" sz="1400" dirty="0"/>
              <a:t>Swisscom TV service was severely impaired during 6 hours due to hardware faults and a software defect, which together led to a DoS condition.</a:t>
            </a:r>
          </a:p>
        </p:txBody>
      </p:sp>
      <p:sp>
        <p:nvSpPr>
          <p:cNvPr id="4" name="Title 1">
            <a:extLst>
              <a:ext uri="{FF2B5EF4-FFF2-40B4-BE49-F238E27FC236}">
                <a16:creationId xmlns:a16="http://schemas.microsoft.com/office/drawing/2014/main" id="{0675CE26-29E4-710E-5D8F-3FA178E9970B}"/>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4BFFDBFA-3D98-B5E4-BA2E-8E40EF0F83C3}"/>
              </a:ext>
            </a:extLst>
          </p:cNvPr>
          <p:cNvSpPr>
            <a:spLocks noGrp="1"/>
          </p:cNvSpPr>
          <p:nvPr>
            <p:ph type="dt" sz="half" idx="10"/>
          </p:nvPr>
        </p:nvSpPr>
        <p:spPr/>
        <p:txBody>
          <a:bodyPr/>
          <a:lstStyle/>
          <a:p>
            <a:fld id="{424BBBEE-3E14-134E-8436-66BE949C590A}" type="datetime1">
              <a:rPr lang="de-CH" smtClean="0"/>
              <a:t>06.03.2026</a:t>
            </a:fld>
            <a:endParaRPr lang="en-US"/>
          </a:p>
        </p:txBody>
      </p:sp>
      <p:sp>
        <p:nvSpPr>
          <p:cNvPr id="6" name="Slide Number Placeholder 5">
            <a:extLst>
              <a:ext uri="{FF2B5EF4-FFF2-40B4-BE49-F238E27FC236}">
                <a16:creationId xmlns:a16="http://schemas.microsoft.com/office/drawing/2014/main" id="{CCFC418C-72F6-FAF2-1F1B-4E77FD8011FB}"/>
              </a:ext>
            </a:extLst>
          </p:cNvPr>
          <p:cNvSpPr>
            <a:spLocks noGrp="1"/>
          </p:cNvSpPr>
          <p:nvPr>
            <p:ph type="sldNum" sz="quarter" idx="12"/>
          </p:nvPr>
        </p:nvSpPr>
        <p:spPr/>
        <p:txBody>
          <a:bodyPr/>
          <a:lstStyle/>
          <a:p>
            <a:fld id="{C1FF6DA9-008F-8B48-92A6-B652298478BF}" type="slidenum">
              <a:rPr lang="en-US" smtClean="0"/>
              <a:t>5</a:t>
            </a:fld>
            <a:endParaRPr lang="en-US"/>
          </a:p>
        </p:txBody>
      </p:sp>
      <p:pic>
        <p:nvPicPr>
          <p:cNvPr id="7" name="Picture 6">
            <a:extLst>
              <a:ext uri="{FF2B5EF4-FFF2-40B4-BE49-F238E27FC236}">
                <a16:creationId xmlns:a16="http://schemas.microsoft.com/office/drawing/2014/main" id="{35C8FFB6-7AD4-850B-7418-8851D606135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3136" y="1798115"/>
            <a:ext cx="3600000" cy="1814516"/>
          </a:xfrm>
          <a:prstGeom prst="rect">
            <a:avLst/>
          </a:prstGeom>
        </p:spPr>
      </p:pic>
      <p:pic>
        <p:nvPicPr>
          <p:cNvPr id="12" name="Picture 11">
            <a:extLst>
              <a:ext uri="{FF2B5EF4-FFF2-40B4-BE49-F238E27FC236}">
                <a16:creationId xmlns:a16="http://schemas.microsoft.com/office/drawing/2014/main" id="{39B6DC9C-E3B7-C26F-413B-68572023D397}"/>
              </a:ext>
            </a:extLst>
          </p:cNvPr>
          <p:cNvPicPr>
            <a:picLocks noChangeAspect="1"/>
          </p:cNvPicPr>
          <p:nvPr/>
        </p:nvPicPr>
        <p:blipFill>
          <a:blip r:embed="rId4"/>
          <a:stretch>
            <a:fillRect/>
          </a:stretch>
        </p:blipFill>
        <p:spPr>
          <a:xfrm>
            <a:off x="5153136" y="3702321"/>
            <a:ext cx="3600000" cy="1740554"/>
          </a:xfrm>
          <a:prstGeom prst="rect">
            <a:avLst/>
          </a:prstGeom>
        </p:spPr>
      </p:pic>
      <p:pic>
        <p:nvPicPr>
          <p:cNvPr id="13" name="Picture 12">
            <a:hlinkClick r:id="rId5"/>
            <a:extLst>
              <a:ext uri="{FF2B5EF4-FFF2-40B4-BE49-F238E27FC236}">
                <a16:creationId xmlns:a16="http://schemas.microsoft.com/office/drawing/2014/main" id="{0D19DAE1-AEBA-D59E-E8A9-023E9C48A40F}"/>
              </a:ext>
            </a:extLst>
          </p:cNvPr>
          <p:cNvPicPr>
            <a:picLocks noChangeAspect="1"/>
          </p:cNvPicPr>
          <p:nvPr/>
        </p:nvPicPr>
        <p:blipFill>
          <a:blip r:embed="rId6"/>
          <a:stretch>
            <a:fillRect/>
          </a:stretch>
        </p:blipFill>
        <p:spPr>
          <a:xfrm>
            <a:off x="390864" y="2908594"/>
            <a:ext cx="4577135" cy="1956799"/>
          </a:xfrm>
          <a:prstGeom prst="rect">
            <a:avLst/>
          </a:prstGeom>
        </p:spPr>
      </p:pic>
    </p:spTree>
    <p:extLst>
      <p:ext uri="{BB962C8B-B14F-4D97-AF65-F5344CB8AC3E}">
        <p14:creationId xmlns:p14="http://schemas.microsoft.com/office/powerpoint/2010/main" val="665221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4004-D7F3-835F-1C1A-E52513B97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A840-C972-F154-85F7-AA6C913AB9E9}"/>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EDC2E425-155D-8ABA-9C9B-C95E37451A70}"/>
              </a:ext>
            </a:extLst>
          </p:cNvPr>
          <p:cNvSpPr>
            <a:spLocks noGrp="1"/>
          </p:cNvSpPr>
          <p:nvPr>
            <p:ph idx="1"/>
          </p:nvPr>
        </p:nvSpPr>
        <p:spPr>
          <a:xfrm>
            <a:off x="612000" y="1440000"/>
            <a:ext cx="3854556" cy="4524642"/>
          </a:xfrm>
        </p:spPr>
        <p:txBody>
          <a:bodyPr>
            <a:noAutofit/>
          </a:bodyPr>
          <a:lstStyle/>
          <a:p>
            <a:pPr marL="0" indent="0">
              <a:spcBef>
                <a:spcPts val="225"/>
              </a:spcBef>
              <a:spcAft>
                <a:spcPts val="225"/>
              </a:spcAft>
              <a:buNone/>
            </a:pPr>
            <a:r>
              <a:rPr lang="en-US" sz="1600" b="1" dirty="0"/>
              <a:t>L3 VPN – Real-Time Incident Analysis</a:t>
            </a:r>
          </a:p>
        </p:txBody>
      </p:sp>
      <p:sp>
        <p:nvSpPr>
          <p:cNvPr id="4" name="Title 1">
            <a:extLst>
              <a:ext uri="{FF2B5EF4-FFF2-40B4-BE49-F238E27FC236}">
                <a16:creationId xmlns:a16="http://schemas.microsoft.com/office/drawing/2014/main" id="{1A71E184-E07A-87C3-557D-C5FFFB7C78C4}"/>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6BD0B383-D4F0-71AD-74FD-88C10F7F4C85}"/>
              </a:ext>
            </a:extLst>
          </p:cNvPr>
          <p:cNvSpPr>
            <a:spLocks noGrp="1"/>
          </p:cNvSpPr>
          <p:nvPr>
            <p:ph type="dt" sz="half" idx="10"/>
          </p:nvPr>
        </p:nvSpPr>
        <p:spPr/>
        <p:txBody>
          <a:bodyPr/>
          <a:lstStyle/>
          <a:p>
            <a:fld id="{424BBBEE-3E14-134E-8436-66BE949C590A}" type="datetime1">
              <a:rPr lang="de-CH" smtClean="0"/>
              <a:t>06.03.2026</a:t>
            </a:fld>
            <a:endParaRPr lang="en-US"/>
          </a:p>
        </p:txBody>
      </p:sp>
      <p:sp>
        <p:nvSpPr>
          <p:cNvPr id="6" name="Slide Number Placeholder 5">
            <a:extLst>
              <a:ext uri="{FF2B5EF4-FFF2-40B4-BE49-F238E27FC236}">
                <a16:creationId xmlns:a16="http://schemas.microsoft.com/office/drawing/2014/main" id="{093854A5-F313-A954-61E4-797F5A62005A}"/>
              </a:ext>
            </a:extLst>
          </p:cNvPr>
          <p:cNvSpPr>
            <a:spLocks noGrp="1"/>
          </p:cNvSpPr>
          <p:nvPr>
            <p:ph type="sldNum" sz="quarter" idx="12"/>
          </p:nvPr>
        </p:nvSpPr>
        <p:spPr/>
        <p:txBody>
          <a:bodyPr/>
          <a:lstStyle/>
          <a:p>
            <a:fld id="{C1FF6DA9-008F-8B48-92A6-B652298478BF}" type="slidenum">
              <a:rPr lang="en-US" smtClean="0"/>
              <a:t>6</a:t>
            </a:fld>
            <a:endParaRPr lang="en-US" dirty="0"/>
          </a:p>
        </p:txBody>
      </p:sp>
      <p:pic>
        <p:nvPicPr>
          <p:cNvPr id="8" name="Picture 7">
            <a:extLst>
              <a:ext uri="{FF2B5EF4-FFF2-40B4-BE49-F238E27FC236}">
                <a16:creationId xmlns:a16="http://schemas.microsoft.com/office/drawing/2014/main" id="{805C8CB7-A2A4-C54C-F632-D253C8BC292A}"/>
              </a:ext>
            </a:extLst>
          </p:cNvPr>
          <p:cNvPicPr>
            <a:picLocks noChangeAspect="1"/>
          </p:cNvPicPr>
          <p:nvPr/>
        </p:nvPicPr>
        <p:blipFill>
          <a:blip r:embed="rId3"/>
          <a:srcRect l="12902" t="28228"/>
          <a:stretch>
            <a:fillRect/>
          </a:stretch>
        </p:blipFill>
        <p:spPr>
          <a:xfrm>
            <a:off x="457200" y="2896104"/>
            <a:ext cx="4915646" cy="3108345"/>
          </a:xfrm>
          <a:prstGeom prst="rect">
            <a:avLst/>
          </a:prstGeom>
        </p:spPr>
      </p:pic>
      <p:sp>
        <p:nvSpPr>
          <p:cNvPr id="10" name="Inhaltsplatzhalter 2">
            <a:extLst>
              <a:ext uri="{FF2B5EF4-FFF2-40B4-BE49-F238E27FC236}">
                <a16:creationId xmlns:a16="http://schemas.microsoft.com/office/drawing/2014/main" id="{BA77C990-AA39-8F4F-666D-13962288F02D}"/>
              </a:ext>
            </a:extLst>
          </p:cNvPr>
          <p:cNvSpPr txBox="1">
            <a:spLocks/>
          </p:cNvSpPr>
          <p:nvPr/>
        </p:nvSpPr>
        <p:spPr bwMode="black">
          <a:xfrm>
            <a:off x="6040340" y="1555604"/>
            <a:ext cx="2802335" cy="4409038"/>
          </a:xfrm>
          <a:prstGeom prst="rect">
            <a:avLst/>
          </a:prstGeom>
        </p:spPr>
        <p:txBody>
          <a:bodyPr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Bef>
                <a:spcPts val="300"/>
              </a:spcBef>
              <a:spcAft>
                <a:spcPts val="300"/>
              </a:spcAft>
            </a:pPr>
            <a:r>
              <a:rPr lang="en-US" sz="1200" b="1" dirty="0"/>
              <a:t>BMP route-monitoring Update/Withdraw check recognized </a:t>
            </a:r>
            <a:r>
              <a:rPr lang="en-US" sz="1200" b="1" dirty="0">
                <a:solidFill>
                  <a:srgbClr val="FF0000"/>
                </a:solidFill>
              </a:rPr>
              <a:t>continuous and</a:t>
            </a:r>
            <a:r>
              <a:rPr lang="en-US" sz="1200" b="1" dirty="0"/>
              <a:t> </a:t>
            </a:r>
            <a:r>
              <a:rPr lang="en-US" sz="1200" b="1" dirty="0">
                <a:solidFill>
                  <a:srgbClr val="FF0000"/>
                </a:solidFill>
              </a:rPr>
              <a:t>excessive topology changes </a:t>
            </a:r>
            <a:r>
              <a:rPr lang="en-US" sz="1200" b="1" dirty="0"/>
              <a:t>due to users restarting tv boxes.</a:t>
            </a:r>
          </a:p>
          <a:p>
            <a:pPr>
              <a:spcBef>
                <a:spcPts val="300"/>
              </a:spcBef>
              <a:spcAft>
                <a:spcPts val="300"/>
              </a:spcAft>
            </a:pPr>
            <a:r>
              <a:rPr lang="en-US" sz="1200" dirty="0"/>
              <a:t>BMP peer Down/Up check did not apply because the hardware crash happened at the application layer.</a:t>
            </a:r>
            <a:endParaRPr lang="en-US" sz="1200" b="1" dirty="0"/>
          </a:p>
          <a:p>
            <a:pPr>
              <a:spcBef>
                <a:spcPts val="300"/>
              </a:spcBef>
              <a:spcAft>
                <a:spcPts val="300"/>
              </a:spcAft>
            </a:pPr>
            <a:r>
              <a:rPr lang="en-US" sz="1200" dirty="0"/>
              <a:t>Interface Down/Up check did not apply.</a:t>
            </a:r>
          </a:p>
          <a:p>
            <a:pPr>
              <a:spcBef>
                <a:spcPts val="300"/>
              </a:spcBef>
              <a:spcAft>
                <a:spcPts val="300"/>
              </a:spcAft>
            </a:pPr>
            <a:r>
              <a:rPr lang="en-US" sz="1200" b="1" dirty="0"/>
              <a:t>Traffic Drop spike recognized drops due to instable routing topology.</a:t>
            </a:r>
          </a:p>
          <a:p>
            <a:pPr>
              <a:spcBef>
                <a:spcPts val="300"/>
              </a:spcBef>
              <a:spcAft>
                <a:spcPts val="300"/>
              </a:spcAft>
            </a:pPr>
            <a:r>
              <a:rPr lang="en-US" sz="1200" b="1" dirty="0"/>
              <a:t>Missing Traffic </a:t>
            </a:r>
            <a:r>
              <a:rPr lang="en-US" sz="1200" dirty="0"/>
              <a:t>recognized.</a:t>
            </a:r>
            <a:endParaRPr lang="en-US" sz="1200" dirty="0">
              <a:solidFill>
                <a:srgbClr val="FFC000"/>
              </a:solidFill>
            </a:endParaRPr>
          </a:p>
          <a:p>
            <a:pPr>
              <a:spcBef>
                <a:spcPts val="300"/>
              </a:spcBef>
              <a:spcAft>
                <a:spcPts val="300"/>
              </a:spcAft>
            </a:pPr>
            <a:r>
              <a:rPr lang="en-US" sz="1200" dirty="0"/>
              <a:t>Sudden increased or decreased Flow Count was not applicable.</a:t>
            </a:r>
          </a:p>
          <a:p>
            <a:pPr>
              <a:spcBef>
                <a:spcPts val="300"/>
              </a:spcBef>
              <a:spcAft>
                <a:spcPts val="300"/>
              </a:spcAft>
            </a:pPr>
            <a:r>
              <a:rPr lang="en-US" sz="1200" b="1" dirty="0"/>
              <a:t>Overall: data plane and control plane checks have detected the excessive routing topology changes with service disruption. </a:t>
            </a:r>
            <a:endParaRPr lang="en-US" sz="1200" b="1" dirty="0">
              <a:solidFill>
                <a:srgbClr val="FFC000"/>
              </a:solidFill>
            </a:endParaRPr>
          </a:p>
        </p:txBody>
      </p:sp>
      <p:sp>
        <p:nvSpPr>
          <p:cNvPr id="11" name="TextBox 10">
            <a:extLst>
              <a:ext uri="{FF2B5EF4-FFF2-40B4-BE49-F238E27FC236}">
                <a16:creationId xmlns:a16="http://schemas.microsoft.com/office/drawing/2014/main" id="{64250BE1-BAAF-A8C9-ED4F-7F16E01E1E62}"/>
              </a:ext>
            </a:extLst>
          </p:cNvPr>
          <p:cNvSpPr txBox="1"/>
          <p:nvPr/>
        </p:nvSpPr>
        <p:spPr bwMode="gray">
          <a:xfrm>
            <a:off x="628650" y="1741586"/>
            <a:ext cx="4696589" cy="1015663"/>
          </a:xfrm>
          <a:prstGeom prst="rect">
            <a:avLst/>
          </a:prstGeom>
          <a:noFill/>
        </p:spPr>
        <p:txBody>
          <a:bodyPr wrap="square">
            <a:spAutoFit/>
          </a:bodyPr>
          <a:lstStyle/>
          <a:p>
            <a:endParaRPr lang="en-US" sz="1200" b="1" dirty="0"/>
          </a:p>
          <a:p>
            <a:r>
              <a:rPr lang="en-US" sz="1200" b="1" dirty="0"/>
              <a:t>Concern Score: </a:t>
            </a:r>
            <a:r>
              <a:rPr lang="en-US" sz="1200" b="1" dirty="0">
                <a:solidFill>
                  <a:srgbClr val="FF0000"/>
                </a:solidFill>
              </a:rPr>
              <a:t>0.53</a:t>
            </a:r>
            <a:br>
              <a:rPr lang="en-US" sz="1200" dirty="0"/>
            </a:br>
            <a:r>
              <a:rPr lang="en-US" sz="1200" dirty="0"/>
              <a:t>Flow Count Spike: </a:t>
            </a:r>
            <a:r>
              <a:rPr lang="en-US" sz="1200" b="1" dirty="0">
                <a:solidFill>
                  <a:srgbClr val="FFC000"/>
                </a:solidFill>
              </a:rPr>
              <a:t>0.03 </a:t>
            </a:r>
            <a:r>
              <a:rPr lang="en-US" sz="1200" dirty="0"/>
              <a:t>Missing Traffic: </a:t>
            </a:r>
            <a:r>
              <a:rPr lang="en-US" sz="1200" b="1" dirty="0">
                <a:solidFill>
                  <a:srgbClr val="FF0000"/>
                </a:solidFill>
              </a:rPr>
              <a:t>0.37 </a:t>
            </a:r>
            <a:r>
              <a:rPr lang="en-US" sz="1200" dirty="0"/>
              <a:t>Traffic Drop: </a:t>
            </a:r>
            <a:r>
              <a:rPr lang="en-US" sz="1200" b="1" dirty="0">
                <a:solidFill>
                  <a:srgbClr val="FF0000"/>
                </a:solidFill>
              </a:rPr>
              <a:t>1.00 </a:t>
            </a:r>
          </a:p>
          <a:p>
            <a:r>
              <a:rPr lang="en-US" sz="1200" dirty="0"/>
              <a:t>BMP Peer: </a:t>
            </a:r>
            <a:r>
              <a:rPr lang="en-US" sz="1200" b="1" dirty="0">
                <a:solidFill>
                  <a:srgbClr val="FFC000"/>
                </a:solidFill>
              </a:rPr>
              <a:t>0.00 </a:t>
            </a:r>
            <a:r>
              <a:rPr lang="en-US" sz="1200" dirty="0"/>
              <a:t>Interface Down: </a:t>
            </a:r>
            <a:r>
              <a:rPr lang="en-US" sz="1200" b="1" dirty="0">
                <a:solidFill>
                  <a:srgbClr val="FFC000"/>
                </a:solidFill>
              </a:rPr>
              <a:t>0.00</a:t>
            </a:r>
            <a:br>
              <a:rPr lang="en-US" sz="1200" dirty="0"/>
            </a:br>
            <a:r>
              <a:rPr lang="en-US" sz="1200" dirty="0"/>
              <a:t>BMP Update: </a:t>
            </a:r>
            <a:r>
              <a:rPr lang="en-US" sz="1200" b="1" dirty="0">
                <a:solidFill>
                  <a:srgbClr val="FFC000"/>
                </a:solidFill>
              </a:rPr>
              <a:t>0.00 </a:t>
            </a:r>
            <a:r>
              <a:rPr lang="en-US" sz="1200" dirty="0"/>
              <a:t>BMP Withdrawal: </a:t>
            </a:r>
            <a:r>
              <a:rPr lang="en-US" sz="1200" b="1" dirty="0">
                <a:solidFill>
                  <a:srgbClr val="FF0000"/>
                </a:solidFill>
              </a:rPr>
              <a:t>1.00</a:t>
            </a:r>
            <a:endParaRPr lang="de-CH" sz="1200" b="1" dirty="0">
              <a:solidFill>
                <a:srgbClr val="FF0000"/>
              </a:solidFill>
            </a:endParaRPr>
          </a:p>
        </p:txBody>
      </p:sp>
      <p:pic>
        <p:nvPicPr>
          <p:cNvPr id="15" name="Grafik 8">
            <a:extLst>
              <a:ext uri="{FF2B5EF4-FFF2-40B4-BE49-F238E27FC236}">
                <a16:creationId xmlns:a16="http://schemas.microsoft.com/office/drawing/2014/main" id="{429B92E5-D27A-8484-59F1-D9AB454BD46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491580" y="3374291"/>
            <a:ext cx="409069" cy="409069"/>
          </a:xfrm>
          <a:prstGeom prst="rect">
            <a:avLst/>
          </a:prstGeom>
        </p:spPr>
      </p:pic>
      <p:pic>
        <p:nvPicPr>
          <p:cNvPr id="21" name="Grafik 8">
            <a:extLst>
              <a:ext uri="{FF2B5EF4-FFF2-40B4-BE49-F238E27FC236}">
                <a16:creationId xmlns:a16="http://schemas.microsoft.com/office/drawing/2014/main" id="{CFC5699A-1FB4-42D3-3012-06B70F1B82B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3783360"/>
            <a:ext cx="409069" cy="409069"/>
          </a:xfrm>
          <a:prstGeom prst="rect">
            <a:avLst/>
          </a:prstGeom>
        </p:spPr>
      </p:pic>
      <p:pic>
        <p:nvPicPr>
          <p:cNvPr id="23" name="Grafik 8">
            <a:extLst>
              <a:ext uri="{FF2B5EF4-FFF2-40B4-BE49-F238E27FC236}">
                <a16:creationId xmlns:a16="http://schemas.microsoft.com/office/drawing/2014/main" id="{08FF661C-B529-1828-C371-9B3A3FE652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1524563"/>
            <a:ext cx="409069" cy="409069"/>
          </a:xfrm>
          <a:prstGeom prst="rect">
            <a:avLst/>
          </a:prstGeom>
        </p:spPr>
      </p:pic>
    </p:spTree>
    <p:extLst>
      <p:ext uri="{BB962C8B-B14F-4D97-AF65-F5344CB8AC3E}">
        <p14:creationId xmlns:p14="http://schemas.microsoft.com/office/powerpoint/2010/main" val="1548702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Semantic Metadata Annotation</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EA228C44-AD06-2820-5E3C-FF8DEA10453D}"/>
              </a:ext>
            </a:extLst>
          </p:cNvPr>
          <p:cNvSpPr txBox="1">
            <a:spLocks/>
          </p:cNvSpPr>
          <p:nvPr/>
        </p:nvSpPr>
        <p:spPr>
          <a:xfrm>
            <a:off x="576000" y="2160000"/>
            <a:ext cx="3634050" cy="1914262"/>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GB" sz="1600"/>
              <a:t>To facilitate the </a:t>
            </a:r>
            <a:r>
              <a:rPr lang="en-GB" sz="1600" b="1"/>
              <a:t>exchange</a:t>
            </a:r>
            <a:r>
              <a:rPr lang="en-GB" sz="1600"/>
              <a:t> of network anomaly data across diverse systems, and </a:t>
            </a:r>
            <a:r>
              <a:rPr lang="en-GB" sz="1600" b="1"/>
              <a:t>benchmarking</a:t>
            </a:r>
            <a:r>
              <a:rPr lang="en-GB" sz="1600"/>
              <a:t> of various anomaly detection systems, this draft defines a </a:t>
            </a:r>
            <a:r>
              <a:rPr lang="en-GB" sz="1600" b="1"/>
              <a:t>standardized semantic metadata schema </a:t>
            </a:r>
            <a:r>
              <a:rPr lang="en-GB" sz="1600"/>
              <a:t>and</a:t>
            </a:r>
            <a:r>
              <a:rPr lang="en-GB" sz="1600" b="1"/>
              <a:t> </a:t>
            </a:r>
            <a:r>
              <a:rPr lang="en-GB" sz="1600"/>
              <a:t>a set of </a:t>
            </a:r>
            <a:r>
              <a:rPr lang="en-GB" sz="1600" b="1"/>
              <a:t>semantically structured terms </a:t>
            </a:r>
            <a:r>
              <a:rPr lang="en-GB" sz="1600"/>
              <a:t>that provides human-readable context for network anomalies</a:t>
            </a:r>
            <a:r>
              <a:rPr lang="en-GB" sz="1600" dirty="0"/>
              <a:t>.</a:t>
            </a:r>
          </a:p>
        </p:txBody>
      </p:sp>
      <p:sp>
        <p:nvSpPr>
          <p:cNvPr id="3" name="Date Placeholder 2">
            <a:extLst>
              <a:ext uri="{FF2B5EF4-FFF2-40B4-BE49-F238E27FC236}">
                <a16:creationId xmlns:a16="http://schemas.microsoft.com/office/drawing/2014/main" id="{9A9466B9-3DA5-632F-C775-71971A1A8ECA}"/>
              </a:ext>
            </a:extLst>
          </p:cNvPr>
          <p:cNvSpPr>
            <a:spLocks noGrp="1"/>
          </p:cNvSpPr>
          <p:nvPr>
            <p:ph type="dt" sz="half" idx="10"/>
          </p:nvPr>
        </p:nvSpPr>
        <p:spPr/>
        <p:txBody>
          <a:bodyPr/>
          <a:lstStyle/>
          <a:p>
            <a:fld id="{0772E8C7-46E4-2945-98F0-FAB6CBA5DC8E}" type="datetime1">
              <a:rPr lang="de-CH" smtClean="0"/>
              <a:t>06.03.2026</a:t>
            </a:fld>
            <a:endParaRPr lang="en-US"/>
          </a:p>
        </p:txBody>
      </p:sp>
      <p:sp>
        <p:nvSpPr>
          <p:cNvPr id="4" name="Slide Number Placeholder 3">
            <a:extLst>
              <a:ext uri="{FF2B5EF4-FFF2-40B4-BE49-F238E27FC236}">
                <a16:creationId xmlns:a16="http://schemas.microsoft.com/office/drawing/2014/main" id="{BFD17BF7-8839-A366-6517-3CD75407F2B2}"/>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9" name="Picture 8">
            <a:extLst>
              <a:ext uri="{FF2B5EF4-FFF2-40B4-BE49-F238E27FC236}">
                <a16:creationId xmlns:a16="http://schemas.microsoft.com/office/drawing/2014/main" id="{C9EE802A-AAC0-3970-5D1D-8C06FC499A02}"/>
              </a:ext>
            </a:extLst>
          </p:cNvPr>
          <p:cNvPicPr>
            <a:picLocks noChangeAspect="1"/>
          </p:cNvPicPr>
          <p:nvPr/>
        </p:nvPicPr>
        <p:blipFill>
          <a:blip r:embed="rId3"/>
          <a:stretch>
            <a:fillRect/>
          </a:stretch>
        </p:blipFill>
        <p:spPr>
          <a:xfrm>
            <a:off x="4933952" y="2002706"/>
            <a:ext cx="3346450" cy="2228850"/>
          </a:xfrm>
          <a:prstGeom prst="rect">
            <a:avLst/>
          </a:prstGeom>
        </p:spPr>
      </p:pic>
    </p:spTree>
    <p:extLst>
      <p:ext uri="{BB962C8B-B14F-4D97-AF65-F5344CB8AC3E}">
        <p14:creationId xmlns:p14="http://schemas.microsoft.com/office/powerpoint/2010/main" val="1376393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9A088-43F4-675F-55B8-F900E67E7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89D996-32CC-F1DF-7AF4-6649A3C8B347}"/>
              </a:ext>
            </a:extLst>
          </p:cNvPr>
          <p:cNvSpPr>
            <a:spLocks noGrp="1"/>
          </p:cNvSpPr>
          <p:nvPr>
            <p:ph type="title"/>
          </p:nvPr>
        </p:nvSpPr>
        <p:spPr/>
        <p:txBody>
          <a:bodyPr>
            <a:normAutofit/>
          </a:bodyPr>
          <a:lstStyle/>
          <a:p>
            <a:pPr algn="l"/>
            <a:r>
              <a:rPr lang="en-US" sz="2400" b="1" dirty="0"/>
              <a:t>Semantic Metadata Annotation</a:t>
            </a:r>
            <a:br>
              <a:rPr lang="en-GB" sz="2700" dirty="0"/>
            </a:br>
            <a:r>
              <a:rPr lang="en-US" sz="2000" dirty="0">
                <a:solidFill>
                  <a:schemeClr val="bg2">
                    <a:lumMod val="75000"/>
                  </a:schemeClr>
                </a:solidFill>
              </a:rPr>
              <a:t>Key draft updates since -03</a:t>
            </a:r>
          </a:p>
        </p:txBody>
      </p:sp>
      <p:sp>
        <p:nvSpPr>
          <p:cNvPr id="6" name="TextBox 5">
            <a:extLst>
              <a:ext uri="{FF2B5EF4-FFF2-40B4-BE49-F238E27FC236}">
                <a16:creationId xmlns:a16="http://schemas.microsoft.com/office/drawing/2014/main" id="{61FD69DD-927F-F130-C46D-D0FFD67FE037}"/>
              </a:ext>
            </a:extLst>
          </p:cNvPr>
          <p:cNvSpPr txBox="1"/>
          <p:nvPr/>
        </p:nvSpPr>
        <p:spPr>
          <a:xfrm>
            <a:off x="5569448" y="1615811"/>
            <a:ext cx="2998552" cy="3493200"/>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augment /</a:t>
            </a:r>
            <a:r>
              <a:rPr lang="en-GB" sz="638" dirty="0" err="1">
                <a:latin typeface="Courier New" panose="02070309020205020404" pitchFamily="49" charset="0"/>
                <a:cs typeface="Courier New" panose="02070309020205020404" pitchFamily="49" charset="0"/>
              </a:rPr>
              <a:t>rsn:relevant-state</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rsn:anomaly</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vpn-node-terminations* [hostname </a:t>
            </a:r>
            <a:r>
              <a:rPr lang="en-GB" sz="638">
                <a:highlight>
                  <a:srgbClr val="FFFF00"/>
                </a:highlight>
                <a:latin typeface="Courier New" panose="02070309020205020404" pitchFamily="49" charset="0"/>
                <a:cs typeface="Courier New" panose="02070309020205020404" pitchFamily="49" charset="0"/>
              </a:rPr>
              <a:t>vrf-name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hostname               inet</a:t>
            </a:r>
            <a:r>
              <a:rPr lang="en-GB" sz="638" dirty="0" err="1">
                <a:latin typeface="Courier New" panose="02070309020205020404" pitchFamily="49" charset="0"/>
                <a:cs typeface="Courier New" panose="02070309020205020404" pitchFamily="49" charset="0"/>
              </a:rPr>
              <a:t>:host</a:t>
            </a:r>
            <a:endParaRPr lang="en-GB" sz="638" dirty="0">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route-distinguisher?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peer-ip*               inet</a:t>
            </a:r>
            <a:r>
              <a:rPr lang="en-GB" sz="638" dirty="0" err="1">
                <a:latin typeface="Courier New" panose="02070309020205020404" pitchFamily="49" charset="0"/>
                <a:cs typeface="Courier New" panose="02070309020205020404" pitchFamily="49" charset="0"/>
              </a:rPr>
              <a:t>:ip-address</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next-hop*              inet</a:t>
            </a:r>
            <a:r>
              <a:rPr lang="en-GB" sz="638" dirty="0" err="1">
                <a:latin typeface="Courier New" panose="02070309020205020404" pitchFamily="49" charset="0"/>
                <a:cs typeface="Courier New" panose="02070309020205020404" pitchFamily="49" charset="0"/>
              </a:rPr>
              <a:t>:ip-address</a:t>
            </a:r>
            <a:endParaRPr lang="de-CH" sz="638" dirty="0">
              <a:latin typeface="Courier New" panose="02070309020205020404" pitchFamily="49" charset="0"/>
              <a:cs typeface="Courier New" panose="02070309020205020404" pitchFamily="49" charset="0"/>
            </a:endParaRPr>
          </a:p>
          <a:p>
            <a:endParaRPr lang="de-CH" sz="638" dirty="0">
              <a:latin typeface="Courier New" panose="02070309020205020404" pitchFamily="49" charset="0"/>
              <a:cs typeface="Courier New" panose="02070309020205020404" pitchFamily="49" charset="0"/>
            </a:endParaRPr>
          </a:p>
          <a:p>
            <a:endParaRPr lang="en-GB" dirty="0"/>
          </a:p>
          <a:p>
            <a:r>
              <a:rPr lang="en-GB"/>
              <a:t> </a:t>
            </a:r>
            <a:r>
              <a:rPr lang="en-GB" sz="638">
                <a:latin typeface="Courier New" panose="02070309020205020404" pitchFamily="49" charset="0"/>
                <a:cs typeface="Courier New" panose="02070309020205020404" pitchFamily="49" charset="0"/>
              </a:rPr>
              <a:t>augment /</a:t>
            </a:r>
            <a:r>
              <a:rPr lang="en-GB" sz="638" dirty="0" err="1">
                <a:latin typeface="Courier New" panose="02070309020205020404" pitchFamily="49" charset="0"/>
                <a:cs typeface="Courier New" panose="02070309020205020404" pitchFamily="49" charset="0"/>
              </a:rPr>
              <a:t>rsn:relevant-state-notification</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rsn:service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l2vpn)</a:t>
            </a:r>
          </a:p>
          <a:p>
            <a:r>
              <a:rPr lang="en-GB" sz="638">
                <a:latin typeface="Courier New" panose="02070309020205020404" pitchFamily="49" charset="0"/>
                <a:cs typeface="Courier New" panose="02070309020205020404" pitchFamily="49" charset="0"/>
              </a:rPr>
              <a:t>       |  </a:t>
            </a:r>
            <a:r>
              <a:rPr lang="en-GB" sz="638">
                <a:highlight>
                  <a:srgbClr val="FFFF00"/>
                </a:highlight>
                <a:latin typeface="Courier New" panose="02070309020205020404" pitchFamily="49" charset="0"/>
                <a:cs typeface="Courier New" panose="02070309020205020404" pitchFamily="49" charset="0"/>
              </a:rPr>
              <a:t>+-- l2vpn-service*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change-end-time?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l3vpn)</a:t>
            </a:r>
          </a:p>
          <a:p>
            <a:r>
              <a:rPr lang="en-GB" sz="638">
                <a:latin typeface="Courier New" panose="02070309020205020404" pitchFamily="49" charset="0"/>
                <a:cs typeface="Courier New" panose="02070309020205020404" pitchFamily="49" charset="0"/>
              </a:rPr>
              <a:t>          </a:t>
            </a:r>
            <a:r>
              <a:rPr lang="en-GB" sz="638">
                <a:highlight>
                  <a:srgbClr val="FFFF00"/>
                </a:highlight>
                <a:latin typeface="Courier New" panose="02070309020205020404" pitchFamily="49" charset="0"/>
                <a:cs typeface="Courier New" panose="02070309020205020404" pitchFamily="49" charset="0"/>
              </a:rPr>
              <a:t>+-- l3vpn-service*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change-end-time?     yang</a:t>
            </a:r>
            <a:r>
              <a:rPr lang="en-GB" sz="638" dirty="0" err="1">
                <a:latin typeface="Courier New" panose="02070309020205020404" pitchFamily="49" charset="0"/>
                <a:cs typeface="Courier New" panose="02070309020205020404" pitchFamily="49" charset="0"/>
              </a:rPr>
              <a:t>:date-and-time</a:t>
            </a:r>
            <a:endParaRPr lang="de-CH" sz="638" dirty="0">
              <a:latin typeface="Courier New" panose="02070309020205020404" pitchFamily="49" charset="0"/>
              <a:cs typeface="Courier New" panose="02070309020205020404" pitchFamily="49" charset="0"/>
            </a:endParaRPr>
          </a:p>
        </p:txBody>
      </p:sp>
      <p:sp>
        <p:nvSpPr>
          <p:cNvPr id="3" name="Date Placeholder 2">
            <a:extLst>
              <a:ext uri="{FF2B5EF4-FFF2-40B4-BE49-F238E27FC236}">
                <a16:creationId xmlns:a16="http://schemas.microsoft.com/office/drawing/2014/main" id="{BE93191A-9F49-77A4-A044-4EF660116C41}"/>
              </a:ext>
            </a:extLst>
          </p:cNvPr>
          <p:cNvSpPr>
            <a:spLocks noGrp="1"/>
          </p:cNvSpPr>
          <p:nvPr>
            <p:ph type="dt" sz="half" idx="10"/>
          </p:nvPr>
        </p:nvSpPr>
        <p:spPr/>
        <p:txBody>
          <a:bodyPr/>
          <a:lstStyle/>
          <a:p>
            <a:fld id="{F9F3D982-4073-1C4A-9ED7-B56D2EA5D830}" type="datetime1">
              <a:rPr lang="de-CH" smtClean="0"/>
              <a:t>06.03.2026</a:t>
            </a:fld>
            <a:endParaRPr lang="en-US"/>
          </a:p>
        </p:txBody>
      </p:sp>
      <p:sp>
        <p:nvSpPr>
          <p:cNvPr id="4" name="Slide Number Placeholder 3">
            <a:extLst>
              <a:ext uri="{FF2B5EF4-FFF2-40B4-BE49-F238E27FC236}">
                <a16:creationId xmlns:a16="http://schemas.microsoft.com/office/drawing/2014/main" id="{310EB04B-BEBD-7B2E-9239-4C3E98F6A464}"/>
              </a:ext>
            </a:extLst>
          </p:cNvPr>
          <p:cNvSpPr>
            <a:spLocks noGrp="1"/>
          </p:cNvSpPr>
          <p:nvPr>
            <p:ph type="sldNum" sz="quarter" idx="12"/>
          </p:nvPr>
        </p:nvSpPr>
        <p:spPr/>
        <p:txBody>
          <a:bodyPr/>
          <a:lstStyle/>
          <a:p>
            <a:fld id="{C1FF6DA9-008F-8B48-92A6-B652298478BF}" type="slidenum">
              <a:rPr lang="en-US" smtClean="0"/>
              <a:t>8</a:t>
            </a:fld>
            <a:endParaRPr lang="en-US"/>
          </a:p>
        </p:txBody>
      </p:sp>
      <p:sp>
        <p:nvSpPr>
          <p:cNvPr id="9" name="Content Placeholder 2">
            <a:extLst>
              <a:ext uri="{FF2B5EF4-FFF2-40B4-BE49-F238E27FC236}">
                <a16:creationId xmlns:a16="http://schemas.microsoft.com/office/drawing/2014/main" id="{E66745F8-8734-CD2B-509C-DCDC9D85D36B}"/>
              </a:ext>
            </a:extLst>
          </p:cNvPr>
          <p:cNvSpPr>
            <a:spLocks noGrp="1"/>
          </p:cNvSpPr>
          <p:nvPr>
            <p:ph idx="1"/>
          </p:nvPr>
        </p:nvSpPr>
        <p:spPr>
          <a:xfrm>
            <a:off x="576000" y="1440000"/>
            <a:ext cx="4900875" cy="4551726"/>
          </a:xfrm>
        </p:spPr>
        <p:txBody>
          <a:bodyPr>
            <a:noAutofit/>
          </a:bodyPr>
          <a:lstStyle/>
          <a:p>
            <a:pPr>
              <a:spcBef>
                <a:spcPts val="225"/>
              </a:spcBef>
              <a:spcAft>
                <a:spcPts val="225"/>
              </a:spcAft>
            </a:pPr>
            <a:r>
              <a:rPr lang="en-US" sz="1400" b="1"/>
              <a:t>Terminology update</a:t>
            </a:r>
            <a:endParaRPr lang="en-US" sz="1400" b="1" dirty="0"/>
          </a:p>
          <a:p>
            <a:pPr lvl="1">
              <a:spcBef>
                <a:spcPts val="225"/>
              </a:spcBef>
              <a:spcAft>
                <a:spcPts val="225"/>
              </a:spcAft>
            </a:pPr>
            <a:r>
              <a:rPr lang="en-GB" sz="1400"/>
              <a:t>Added missing definition of terminologies used in the draft such as concern score and symptom</a:t>
            </a:r>
            <a:r>
              <a:rPr lang="en-US" sz="1400" dirty="0"/>
              <a:t>.</a:t>
            </a:r>
          </a:p>
          <a:p>
            <a:pPr>
              <a:spcBef>
                <a:spcPts val="225"/>
              </a:spcBef>
              <a:spcAft>
                <a:spcPts val="225"/>
              </a:spcAft>
            </a:pPr>
            <a:r>
              <a:rPr lang="en-US" sz="1400" b="1"/>
              <a:t>Schema change</a:t>
            </a:r>
            <a:endParaRPr lang="en-US" sz="1400" b="1" dirty="0"/>
          </a:p>
          <a:p>
            <a:pPr lvl="1">
              <a:spcBef>
                <a:spcPts val="225"/>
              </a:spcBef>
              <a:spcAft>
                <a:spcPts val="225"/>
              </a:spcAft>
              <a:buFontTx/>
              <a:buChar char="-"/>
            </a:pPr>
            <a:r>
              <a:rPr lang="en-GB" sz="1400"/>
              <a:t>Removed unused typedef score</a:t>
            </a:r>
            <a:endParaRPr lang="en-GB" sz="1400" dirty="0"/>
          </a:p>
          <a:p>
            <a:pPr lvl="1">
              <a:spcBef>
                <a:spcPts val="225"/>
              </a:spcBef>
              <a:spcAft>
                <a:spcPts val="225"/>
              </a:spcAft>
              <a:buFontTx/>
              <a:buChar char="-"/>
            </a:pPr>
            <a:r>
              <a:rPr lang="en-GB" sz="1400"/>
              <a:t>Changed vpn-node-termination</a:t>
            </a:r>
            <a:endParaRPr lang="en-GB" sz="1400" dirty="0"/>
          </a:p>
          <a:p>
            <a:pPr lvl="1">
              <a:spcBef>
                <a:spcPts val="225"/>
              </a:spcBef>
              <a:spcAft>
                <a:spcPts val="225"/>
              </a:spcAft>
              <a:buFontTx/>
              <a:buChar char="-"/>
            </a:pPr>
            <a:r>
              <a:rPr lang="en-GB" sz="1400"/>
              <a:t>Introduced dedicated L2&amp;L3 groupings for service</a:t>
            </a:r>
            <a:endParaRPr lang="en-GB" sz="1400" dirty="0"/>
          </a:p>
          <a:p>
            <a:pPr>
              <a:spcBef>
                <a:spcPts val="225"/>
              </a:spcBef>
              <a:spcAft>
                <a:spcPts val="225"/>
              </a:spcAft>
            </a:pPr>
            <a:r>
              <a:rPr lang="en-GB" sz="1400" b="1"/>
              <a:t>Symptom table update</a:t>
            </a:r>
            <a:endParaRPr lang="en-GB" sz="1400" b="1" dirty="0"/>
          </a:p>
          <a:p>
            <a:pPr lvl="1"/>
            <a:r>
              <a:rPr lang="en-GB" sz="1400"/>
              <a:t>Update symptom: reason “Previous” -&gt; “Drop”, trigger “Time” -&gt; “Outside Monitored Domain</a:t>
            </a:r>
            <a:r>
              <a:rPr lang="en-GB" sz="1400" dirty="0"/>
              <a:t>”</a:t>
            </a:r>
          </a:p>
          <a:p>
            <a:r>
              <a:rPr lang="en-GB" sz="1400"/>
              <a:t>Avro schema changed accordingly</a:t>
            </a:r>
            <a:endParaRPr lang="en-GB" sz="1400" dirty="0"/>
          </a:p>
        </p:txBody>
      </p:sp>
    </p:spTree>
    <p:extLst>
      <p:ext uri="{BB962C8B-B14F-4D97-AF65-F5344CB8AC3E}">
        <p14:creationId xmlns:p14="http://schemas.microsoft.com/office/powerpoint/2010/main" val="37670005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88AA5-2955-46EA-894F-FCFE4F64A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B54EF-A2D2-6D89-E431-C51C22FAD270}"/>
              </a:ext>
            </a:extLst>
          </p:cNvPr>
          <p:cNvSpPr>
            <a:spLocks noGrp="1"/>
          </p:cNvSpPr>
          <p:nvPr>
            <p:ph type="title"/>
          </p:nvPr>
        </p:nvSpPr>
        <p:spPr/>
        <p:txBody>
          <a:bodyPr>
            <a:normAutofit/>
          </a:bodyPr>
          <a:lstStyle/>
          <a:p>
            <a:pPr algn="l"/>
            <a:r>
              <a:rPr lang="en-US" sz="2400" b="1"/>
              <a:t>Semantic Metadata Annotation</a:t>
            </a:r>
            <a:br>
              <a:rPr lang="en-GB" sz="2700"/>
            </a:br>
            <a:r>
              <a:rPr lang="de-CH" sz="2000">
                <a:solidFill>
                  <a:schemeClr val="bg2">
                    <a:lumMod val="75000"/>
                  </a:schemeClr>
                </a:solidFill>
              </a:rPr>
              <a:t>Document </a:t>
            </a:r>
            <a:r>
              <a:rPr lang="en-US" sz="2000">
                <a:solidFill>
                  <a:schemeClr val="bg2">
                    <a:lumMod val="75000"/>
                  </a:schemeClr>
                </a:solidFill>
              </a:rPr>
              <a:t>implementation and operational experience</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0E81ECB2-DD16-591E-656D-7B0AB2F5BB11}"/>
              </a:ext>
            </a:extLst>
          </p:cNvPr>
          <p:cNvSpPr txBox="1">
            <a:spLocks/>
          </p:cNvSpPr>
          <p:nvPr/>
        </p:nvSpPr>
        <p:spPr>
          <a:xfrm>
            <a:off x="576000" y="1440000"/>
            <a:ext cx="4933652" cy="3503212"/>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endParaRPr lang="en-US" sz="1600" dirty="0"/>
          </a:p>
        </p:txBody>
      </p:sp>
      <p:sp>
        <p:nvSpPr>
          <p:cNvPr id="3" name="Date Placeholder 2">
            <a:extLst>
              <a:ext uri="{FF2B5EF4-FFF2-40B4-BE49-F238E27FC236}">
                <a16:creationId xmlns:a16="http://schemas.microsoft.com/office/drawing/2014/main" id="{BB12B1B7-9471-301F-27F2-4FEB27401FA4}"/>
              </a:ext>
            </a:extLst>
          </p:cNvPr>
          <p:cNvSpPr>
            <a:spLocks noGrp="1"/>
          </p:cNvSpPr>
          <p:nvPr>
            <p:ph type="dt" sz="half" idx="10"/>
          </p:nvPr>
        </p:nvSpPr>
        <p:spPr/>
        <p:txBody>
          <a:bodyPr/>
          <a:lstStyle/>
          <a:p>
            <a:fld id="{C3D18FEC-DBD4-214C-B3C5-65378705016C}" type="datetime1">
              <a:rPr lang="de-CH" smtClean="0"/>
              <a:t>06.03.2026</a:t>
            </a:fld>
            <a:endParaRPr lang="en-US"/>
          </a:p>
        </p:txBody>
      </p:sp>
      <p:sp>
        <p:nvSpPr>
          <p:cNvPr id="4" name="Slide Number Placeholder 3">
            <a:extLst>
              <a:ext uri="{FF2B5EF4-FFF2-40B4-BE49-F238E27FC236}">
                <a16:creationId xmlns:a16="http://schemas.microsoft.com/office/drawing/2014/main" id="{A6F3129D-FF08-73D2-DB86-3FCA643F6849}"/>
              </a:ext>
            </a:extLst>
          </p:cNvPr>
          <p:cNvSpPr>
            <a:spLocks noGrp="1"/>
          </p:cNvSpPr>
          <p:nvPr>
            <p:ph type="sldNum" sz="quarter" idx="12"/>
          </p:nvPr>
        </p:nvSpPr>
        <p:spPr/>
        <p:txBody>
          <a:bodyPr/>
          <a:lstStyle/>
          <a:p>
            <a:fld id="{C1FF6DA9-008F-8B48-92A6-B652298478BF}" type="slidenum">
              <a:rPr lang="en-US" smtClean="0"/>
              <a:t>9</a:t>
            </a:fld>
            <a:endParaRPr lang="en-US"/>
          </a:p>
        </p:txBody>
      </p:sp>
      <p:sp>
        <p:nvSpPr>
          <p:cNvPr id="22" name="Content Placeholder 2">
            <a:extLst>
              <a:ext uri="{FF2B5EF4-FFF2-40B4-BE49-F238E27FC236}">
                <a16:creationId xmlns:a16="http://schemas.microsoft.com/office/drawing/2014/main" id="{8C105682-FDBA-2310-F0CF-B64A664B2580}"/>
              </a:ext>
            </a:extLst>
          </p:cNvPr>
          <p:cNvSpPr txBox="1">
            <a:spLocks/>
          </p:cNvSpPr>
          <p:nvPr/>
        </p:nvSpPr>
        <p:spPr>
          <a:xfrm>
            <a:off x="4614862" y="2182948"/>
            <a:ext cx="3876675" cy="409402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de-CH" sz="1000" b="1" dirty="0">
                <a:highlight>
                  <a:srgbClr val="00FFFF"/>
                </a:highlight>
              </a:rPr>
              <a:t> </a:t>
            </a:r>
            <a:r>
              <a:rPr lang="de-CH" sz="1000" dirty="0">
                <a:highlight>
                  <a:srgbClr val="00FFFF"/>
                </a:highlight>
              </a:rPr>
              <a:t>"</a:t>
            </a:r>
            <a:r>
              <a:rPr lang="de-CH" sz="1000" dirty="0" err="1">
                <a:highlight>
                  <a:srgbClr val="00FFFF"/>
                </a:highlight>
              </a:rPr>
              <a:t>service</a:t>
            </a:r>
            <a:r>
              <a:rPr lang="de-CH" sz="1000" dirty="0">
                <a:highlight>
                  <a:srgbClr val="00FFFF"/>
                </a:highlight>
              </a:rPr>
              <a:t>": {</a:t>
            </a:r>
          </a:p>
          <a:p>
            <a:pPr marL="0" indent="0">
              <a:buNone/>
            </a:pPr>
            <a:r>
              <a:rPr lang="de-CH" sz="1000" dirty="0">
                <a:highlight>
                  <a:srgbClr val="00FFFF"/>
                </a:highlight>
              </a:rPr>
              <a:t>        "L3VpnServiceContainer": {</a:t>
            </a:r>
          </a:p>
          <a:p>
            <a:pPr marL="0" indent="0">
              <a:buNone/>
            </a:pPr>
            <a:r>
              <a:rPr lang="de-CH" sz="1000" dirty="0">
                <a:highlight>
                  <a:srgbClr val="00FFFF"/>
                </a:highlight>
              </a:rPr>
              <a:t>            "l3VpnService": [</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vpnId</a:t>
            </a:r>
            <a:r>
              <a:rPr lang="de-CH" sz="1000" dirty="0">
                <a:highlight>
                  <a:srgbClr val="00FFFF"/>
                </a:highlight>
              </a:rPr>
              <a:t>": "64497:59121",</a:t>
            </a:r>
          </a:p>
          <a:p>
            <a:pPr marL="0" indent="0">
              <a:buNone/>
            </a:pPr>
            <a:r>
              <a:rPr lang="de-CH" sz="1000" dirty="0">
                <a:highlight>
                  <a:srgbClr val="00FFFF"/>
                </a:highlight>
              </a:rPr>
              <a:t>                    "</a:t>
            </a:r>
            <a:r>
              <a:rPr lang="de-CH" sz="1000" dirty="0" err="1">
                <a:highlight>
                  <a:srgbClr val="00FFFF"/>
                </a:highlight>
              </a:rPr>
              <a:t>uri</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"https://thor-</a:t>
            </a:r>
            <a:r>
              <a:rPr lang="de-CH" sz="1000" dirty="0" err="1">
                <a:highlight>
                  <a:srgbClr val="00FFFF"/>
                </a:highlight>
              </a:rPr>
              <a:t>ui.thoruipp.corproot.net</a:t>
            </a:r>
            <a:r>
              <a:rPr lang="de-CH" sz="1000" dirty="0">
                <a:highlight>
                  <a:srgbClr val="00FFFF"/>
                </a:highlight>
              </a:rPr>
              <a:t>/</a:t>
            </a:r>
            <a:r>
              <a:rPr lang="de-CH" sz="1000" dirty="0" err="1">
                <a:highlight>
                  <a:srgbClr val="00FFFF"/>
                </a:highlight>
              </a:rPr>
              <a:t>cantata</a:t>
            </a:r>
            <a:r>
              <a:rPr lang="de-CH" sz="1000" dirty="0">
                <a:highlight>
                  <a:srgbClr val="00FFFF"/>
                </a:highlight>
              </a:rPr>
              <a:t>/</a:t>
            </a:r>
            <a:r>
              <a:rPr lang="de-CH" sz="1000" dirty="0" err="1">
                <a:highlight>
                  <a:srgbClr val="00FFFF"/>
                </a:highlight>
              </a:rPr>
              <a:t>lcs?dstCommunity</a:t>
            </a:r>
            <a:r>
              <a:rPr lang="de-CH" sz="1000" dirty="0">
                <a:highlight>
                  <a:srgbClr val="00FFFF"/>
                </a:highlight>
              </a:rPr>
              <a:t>=64497:59121"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vpnName</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siteIds</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changeId</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changeStartTime</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changeEndTime</a:t>
            </a:r>
            <a:r>
              <a:rPr lang="de-CH" sz="1000" dirty="0">
                <a:highlight>
                  <a:srgbClr val="00FFFF"/>
                </a:highlight>
              </a:rPr>
              <a:t>": null</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endParaRPr lang="en-GB" sz="1000" dirty="0">
              <a:highlight>
                <a:srgbClr val="00FFFF"/>
              </a:highlight>
            </a:endParaRPr>
          </a:p>
          <a:p>
            <a:pPr marL="0" indent="0">
              <a:buNone/>
            </a:pPr>
            <a:endParaRPr lang="en-GB" sz="1000" dirty="0">
              <a:highlight>
                <a:srgbClr val="008080"/>
              </a:highlight>
            </a:endParaRPr>
          </a:p>
          <a:p>
            <a:pPr marL="0" indent="0">
              <a:buNone/>
            </a:pPr>
            <a:r>
              <a:rPr lang="en-GB" sz="1000" dirty="0">
                <a:highlight>
                  <a:srgbClr val="008080"/>
                </a:highlight>
              </a:rPr>
              <a:t>	</a:t>
            </a:r>
          </a:p>
          <a:p>
            <a:pPr marL="0" indent="0">
              <a:spcBef>
                <a:spcPts val="225"/>
              </a:spcBef>
              <a:spcAft>
                <a:spcPts val="225"/>
              </a:spcAft>
              <a:buFont typeface="Arial"/>
              <a:buNone/>
            </a:pPr>
            <a:endParaRPr lang="en-US" sz="1000" b="1" dirty="0">
              <a:highlight>
                <a:srgbClr val="008080"/>
              </a:highlight>
            </a:endParaRPr>
          </a:p>
        </p:txBody>
      </p:sp>
      <p:sp>
        <p:nvSpPr>
          <p:cNvPr id="10" name="Content Placeholder 2">
            <a:extLst>
              <a:ext uri="{FF2B5EF4-FFF2-40B4-BE49-F238E27FC236}">
                <a16:creationId xmlns:a16="http://schemas.microsoft.com/office/drawing/2014/main" id="{1983DEBA-5FBE-3EE2-B08A-FED04BE86625}"/>
              </a:ext>
            </a:extLst>
          </p:cNvPr>
          <p:cNvSpPr>
            <a:spLocks noGrp="1"/>
          </p:cNvSpPr>
          <p:nvPr>
            <p:ph idx="1"/>
          </p:nvPr>
        </p:nvSpPr>
        <p:spPr>
          <a:xfrm>
            <a:off x="895350" y="1544774"/>
            <a:ext cx="4133850" cy="4094025"/>
          </a:xfrm>
        </p:spPr>
        <p:txBody>
          <a:bodyPr>
            <a:noAutofit/>
          </a:bodyPr>
          <a:lstStyle/>
          <a:p>
            <a:pPr marL="0" indent="0">
              <a:buNone/>
            </a:pPr>
            <a:r>
              <a:rPr lang="de-CH" sz="1400" b="1" dirty="0" err="1"/>
              <a:t>Snippet</a:t>
            </a:r>
            <a:r>
              <a:rPr lang="de-CH" sz="1400" b="1" dirty="0"/>
              <a:t> </a:t>
            </a:r>
            <a:r>
              <a:rPr lang="de-CH" sz="1400" b="1" dirty="0" err="1"/>
              <a:t>of</a:t>
            </a:r>
            <a:r>
              <a:rPr lang="de-CH" sz="1400" b="1" dirty="0"/>
              <a:t> </a:t>
            </a:r>
            <a:r>
              <a:rPr lang="de-CH" sz="1400" b="1" dirty="0" err="1"/>
              <a:t>message</a:t>
            </a:r>
            <a:r>
              <a:rPr lang="de-CH" sz="1400" b="1" dirty="0"/>
              <a:t> </a:t>
            </a:r>
            <a:r>
              <a:rPr lang="de-CH" sz="1400" b="1" dirty="0" err="1"/>
              <a:t>example</a:t>
            </a:r>
            <a:r>
              <a:rPr lang="de-CH" sz="1400" b="1" dirty="0"/>
              <a:t> </a:t>
            </a:r>
            <a:r>
              <a:rPr lang="de-CH" sz="1400" b="1" dirty="0" err="1"/>
              <a:t>from</a:t>
            </a:r>
            <a:r>
              <a:rPr lang="de-CH" sz="1400" b="1" dirty="0"/>
              <a:t> </a:t>
            </a:r>
            <a:r>
              <a:rPr lang="de-CH" sz="1400" b="1" dirty="0" err="1"/>
              <a:t>Cosmos</a:t>
            </a:r>
            <a:r>
              <a:rPr lang="de-CH" sz="1400" b="1" dirty="0"/>
              <a:t> Bright Lights Implementation</a:t>
            </a:r>
            <a:br>
              <a:rPr lang="de-CH" sz="1000" b="1" dirty="0"/>
            </a:br>
            <a:endParaRPr lang="de-CH" sz="1000" b="1" dirty="0"/>
          </a:p>
          <a:p>
            <a:pPr marL="0" indent="0">
              <a:buNone/>
            </a:pPr>
            <a:r>
              <a:rPr lang="en-GB" sz="1000" dirty="0">
                <a:highlight>
                  <a:srgbClr val="FFFF00"/>
                </a:highlight>
              </a:rPr>
              <a:t>  "</a:t>
            </a:r>
            <a:r>
              <a:rPr lang="en-GB" sz="1000" dirty="0" err="1">
                <a:highlight>
                  <a:srgbClr val="FFFF00"/>
                </a:highlight>
              </a:rPr>
              <a:t>vpnNodeTerminations</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"hostname": "pcb05ro1010bew",</a:t>
            </a:r>
          </a:p>
          <a:p>
            <a:pPr marL="0" indent="0">
              <a:buNone/>
            </a:pPr>
            <a:r>
              <a:rPr lang="en-GB" sz="1000" dirty="0">
                <a:highlight>
                  <a:srgbClr val="FFFF00"/>
                </a:highlight>
              </a:rPr>
              <a:t>          "</a:t>
            </a:r>
            <a:r>
              <a:rPr lang="en-GB" sz="1000" dirty="0" err="1">
                <a:highlight>
                  <a:srgbClr val="FFFF00"/>
                </a:highlight>
              </a:rPr>
              <a:t>vrfId</a:t>
            </a:r>
            <a:r>
              <a:rPr lang="en-GB" sz="1000" dirty="0">
                <a:highlight>
                  <a:srgbClr val="FFFF00"/>
                </a:highlight>
              </a:rPr>
              <a:t>": null,</a:t>
            </a:r>
          </a:p>
          <a:p>
            <a:pPr marL="0" indent="0">
              <a:buNone/>
            </a:pPr>
            <a:r>
              <a:rPr lang="en-GB" sz="1000" dirty="0">
                <a:highlight>
                  <a:srgbClr val="FFFF00"/>
                </a:highlight>
              </a:rPr>
              <a:t>           " </a:t>
            </a:r>
            <a:r>
              <a:rPr lang="en-GB" sz="1000" dirty="0" err="1">
                <a:highlight>
                  <a:srgbClr val="FFFF00"/>
                </a:highlight>
              </a:rPr>
              <a:t>vrfName</a:t>
            </a:r>
            <a:r>
              <a:rPr lang="en-GB" sz="1000" dirty="0">
                <a:highlight>
                  <a:srgbClr val="FFFF00"/>
                </a:highlight>
              </a:rPr>
              <a:t>": "null",</a:t>
            </a:r>
          </a:p>
          <a:p>
            <a:pPr marL="0" indent="0">
              <a:buNone/>
            </a:pPr>
            <a:r>
              <a:rPr lang="en-GB" sz="1000" dirty="0">
                <a:highlight>
                  <a:srgbClr val="FFFF00"/>
                </a:highlight>
              </a:rPr>
              <a:t>          "</a:t>
            </a:r>
            <a:r>
              <a:rPr lang="en-GB" sz="1000" dirty="0" err="1">
                <a:highlight>
                  <a:srgbClr val="FFFF00"/>
                </a:highlight>
              </a:rPr>
              <a:t>routeDistinguisher</a:t>
            </a:r>
            <a:r>
              <a:rPr lang="en-GB" sz="1000" dirty="0">
                <a:highlight>
                  <a:srgbClr val="FFFF00"/>
                </a:highlight>
              </a:rPr>
              <a:t>": {</a:t>
            </a:r>
          </a:p>
          <a:p>
            <a:pPr marL="0" indent="0">
              <a:buNone/>
            </a:pPr>
            <a:r>
              <a:rPr lang="en-GB" sz="1000" dirty="0">
                <a:highlight>
                  <a:srgbClr val="FFFF00"/>
                </a:highlight>
              </a:rPr>
              <a:t>          "string": "0:64499:100196518"</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peerIp</a:t>
            </a:r>
            <a:r>
              <a:rPr lang="en-GB" sz="1000" dirty="0">
                <a:highlight>
                  <a:srgbClr val="FFFF00"/>
                </a:highlight>
              </a:rPr>
              <a:t>": [</a:t>
            </a:r>
          </a:p>
          <a:p>
            <a:pPr marL="0" indent="0">
              <a:buNone/>
            </a:pPr>
            <a:r>
              <a:rPr lang="en-GB" sz="1000" dirty="0">
                <a:highlight>
                  <a:srgbClr val="FFFF00"/>
                </a:highlight>
              </a:rPr>
              <a:t>          "138.187.124.33",</a:t>
            </a:r>
          </a:p>
          <a:p>
            <a:pPr marL="0" indent="0">
              <a:buNone/>
            </a:pPr>
            <a:r>
              <a:rPr lang="en-GB" sz="1000" dirty="0">
                <a:highlight>
                  <a:srgbClr val="FFFF00"/>
                </a:highlight>
              </a:rPr>
              <a:t>          "138.187.124.35"</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nextHop</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interfaceId</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interfaceName</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00FF"/>
                </a:highlight>
              </a:rPr>
              <a:t>  "stage": "detection",</a:t>
            </a:r>
          </a:p>
          <a:p>
            <a:pPr marL="0" indent="0">
              <a:buNone/>
            </a:pPr>
            <a:r>
              <a:rPr lang="en-GB" sz="1000" dirty="0">
                <a:highlight>
                  <a:srgbClr val="C0C0C0"/>
                </a:highlight>
              </a:rPr>
              <a:t>  "</a:t>
            </a:r>
            <a:r>
              <a:rPr lang="en-GB" sz="1000" dirty="0" err="1">
                <a:highlight>
                  <a:srgbClr val="C0C0C0"/>
                </a:highlight>
              </a:rPr>
              <a:t>operationalData</a:t>
            </a:r>
            <a:r>
              <a:rPr lang="en-GB" sz="1000" dirty="0">
                <a:highlight>
                  <a:srgbClr val="C0C0C0"/>
                </a:highlight>
              </a:rPr>
              <a:t>":</a:t>
            </a:r>
          </a:p>
          <a:p>
            <a:pPr marL="0" indent="0">
              <a:buNone/>
            </a:pPr>
            <a:r>
              <a:rPr lang="en-GB" sz="1000" dirty="0">
                <a:highlight>
                  <a:srgbClr val="C0C0C0"/>
                </a:highlight>
              </a:rPr>
              <a:t>    {</a:t>
            </a:r>
          </a:p>
          <a:p>
            <a:pPr marL="0" indent="0">
              <a:buNone/>
            </a:pPr>
            <a:r>
              <a:rPr lang="en-GB" sz="1000" dirty="0">
                <a:highlight>
                  <a:srgbClr val="C0C0C0"/>
                </a:highlight>
              </a:rPr>
              <a:t>        " </a:t>
            </a:r>
            <a:r>
              <a:rPr lang="en-GB" sz="1000" dirty="0" err="1">
                <a:highlight>
                  <a:srgbClr val="C0C0C0"/>
                </a:highlight>
              </a:rPr>
              <a:t>topicName</a:t>
            </a:r>
            <a:r>
              <a:rPr lang="en-GB" sz="1000" dirty="0">
                <a:highlight>
                  <a:srgbClr val="C0C0C0"/>
                </a:highlight>
              </a:rPr>
              <a:t>”: null,</a:t>
            </a:r>
          </a:p>
          <a:p>
            <a:pPr marL="0" indent="0">
              <a:buNone/>
            </a:pPr>
            <a:r>
              <a:rPr lang="en-GB" sz="1000" dirty="0">
                <a:highlight>
                  <a:srgbClr val="C0C0C0"/>
                </a:highlight>
              </a:rPr>
              <a:t>        " </a:t>
            </a:r>
            <a:r>
              <a:rPr lang="en-GB" sz="1000" dirty="0" err="1">
                <a:highlight>
                  <a:srgbClr val="C0C0C0"/>
                </a:highlight>
              </a:rPr>
              <a:t>subjectName</a:t>
            </a:r>
            <a:r>
              <a:rPr lang="en-GB" sz="1000" dirty="0">
                <a:highlight>
                  <a:srgbClr val="C0C0C0"/>
                </a:highlight>
              </a:rPr>
              <a:t>”: null</a:t>
            </a:r>
          </a:p>
          <a:p>
            <a:pPr marL="0" indent="0">
              <a:buNone/>
            </a:pPr>
            <a:r>
              <a:rPr lang="en-GB" sz="1000" dirty="0">
                <a:highlight>
                  <a:srgbClr val="C0C0C0"/>
                </a:highlight>
              </a:rPr>
              <a:t>   }</a:t>
            </a:r>
          </a:p>
          <a:p>
            <a:pPr marL="0" indent="0">
              <a:buNone/>
            </a:pPr>
            <a:endParaRPr lang="en-GB" sz="1000" dirty="0">
              <a:highlight>
                <a:srgbClr val="C0C0C0"/>
              </a:highlight>
            </a:endParaRPr>
          </a:p>
          <a:p>
            <a:pPr marL="0" indent="0">
              <a:buNone/>
            </a:pPr>
            <a:r>
              <a:rPr lang="en-GB" sz="1000" dirty="0">
                <a:highlight>
                  <a:srgbClr val="C0C0C0"/>
                </a:highlight>
              </a:rPr>
              <a:t>	</a:t>
            </a:r>
          </a:p>
          <a:p>
            <a:pPr marL="0" indent="0">
              <a:spcBef>
                <a:spcPts val="225"/>
              </a:spcBef>
              <a:spcAft>
                <a:spcPts val="225"/>
              </a:spcAft>
              <a:buNone/>
            </a:pPr>
            <a:endParaRPr lang="en-US" sz="1000" b="1" dirty="0"/>
          </a:p>
        </p:txBody>
      </p:sp>
      <p:sp>
        <p:nvSpPr>
          <p:cNvPr id="23" name="TextBox 22">
            <a:extLst>
              <a:ext uri="{FF2B5EF4-FFF2-40B4-BE49-F238E27FC236}">
                <a16:creationId xmlns:a16="http://schemas.microsoft.com/office/drawing/2014/main" id="{A998161C-3223-61C3-34C7-39B0F3422D1E}"/>
              </a:ext>
            </a:extLst>
          </p:cNvPr>
          <p:cNvSpPr txBox="1"/>
          <p:nvPr/>
        </p:nvSpPr>
        <p:spPr>
          <a:xfrm>
            <a:off x="6222381" y="1608157"/>
            <a:ext cx="2582088" cy="523220"/>
          </a:xfrm>
          <a:prstGeom prst="rect">
            <a:avLst/>
          </a:prstGeom>
          <a:noFill/>
        </p:spPr>
        <p:txBody>
          <a:bodyPr wrap="square" rtlCol="0">
            <a:spAutoFit/>
          </a:bodyPr>
          <a:lstStyle/>
          <a:p>
            <a:r>
              <a:rPr lang="en-US" sz="1400" dirty="0"/>
              <a:t>‼️ Only schema was updated, metadata not yet ready.</a:t>
            </a:r>
            <a:endParaRPr lang="en-CH" sz="1400" dirty="0"/>
          </a:p>
        </p:txBody>
      </p:sp>
    </p:spTree>
    <p:extLst>
      <p:ext uri="{BB962C8B-B14F-4D97-AF65-F5344CB8AC3E}">
        <p14:creationId xmlns:p14="http://schemas.microsoft.com/office/powerpoint/2010/main" val="245411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Lifecycle</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576000" y="2160000"/>
            <a:ext cx="4544034" cy="3503212"/>
          </a:xfrm>
        </p:spPr>
        <p:txBody>
          <a:bodyPr>
            <a:noAutofit/>
          </a:bodyPr>
          <a:lstStyle/>
          <a:p>
            <a:pPr marL="0" indent="0">
              <a:spcBef>
                <a:spcPts val="225"/>
              </a:spcBef>
              <a:spcAft>
                <a:spcPts val="225"/>
              </a:spcAft>
              <a:buNone/>
            </a:pPr>
            <a:r>
              <a:rPr lang="en-GB" sz="1600"/>
              <a:t>To bridge the gap between </a:t>
            </a:r>
            <a:r>
              <a:rPr lang="en-GB" sz="1600" b="1"/>
              <a:t>automated network anomaly detection</a:t>
            </a:r>
            <a:r>
              <a:rPr lang="en-GB" sz="1600"/>
              <a:t> and </a:t>
            </a:r>
            <a:r>
              <a:rPr lang="en-GB" sz="1600" b="1"/>
              <a:t>actionable operational tasks</a:t>
            </a:r>
            <a:r>
              <a:rPr lang="en-GB" sz="1600"/>
              <a:t>, this draft defines a standardized, </a:t>
            </a:r>
            <a:r>
              <a:rPr lang="en-GB" sz="1600" b="1"/>
              <a:t>iterative lifecycle</a:t>
            </a:r>
            <a:r>
              <a:rPr lang="en-GB" sz="1600"/>
              <a:t> designed to improve the </a:t>
            </a:r>
            <a:r>
              <a:rPr lang="en-GB" sz="1600" b="1"/>
              <a:t>accuracy</a:t>
            </a:r>
            <a:r>
              <a:rPr lang="en-GB" sz="1600"/>
              <a:t> of anomaly detection system through </a:t>
            </a:r>
            <a:r>
              <a:rPr lang="en-GB" sz="1600" b="1"/>
              <a:t>human-in-the-loop feedback</a:t>
            </a:r>
            <a:r>
              <a:rPr lang="en-GB" sz="1600" dirty="0"/>
              <a:t>.</a:t>
            </a:r>
            <a:endParaRPr lang="en-US" sz="1600" dirty="0"/>
          </a:p>
        </p:txBody>
      </p:sp>
      <p:sp>
        <p:nvSpPr>
          <p:cNvPr id="4" name="Date Placeholder 3">
            <a:extLst>
              <a:ext uri="{FF2B5EF4-FFF2-40B4-BE49-F238E27FC236}">
                <a16:creationId xmlns:a16="http://schemas.microsoft.com/office/drawing/2014/main" id="{D267A8B2-8110-8A83-A0EA-AFAC81BAC75E}"/>
              </a:ext>
            </a:extLst>
          </p:cNvPr>
          <p:cNvSpPr>
            <a:spLocks noGrp="1"/>
          </p:cNvSpPr>
          <p:nvPr>
            <p:ph type="dt" sz="half" idx="10"/>
          </p:nvPr>
        </p:nvSpPr>
        <p:spPr/>
        <p:txBody>
          <a:bodyPr/>
          <a:lstStyle/>
          <a:p>
            <a:fld id="{DACD52A1-C0F7-0F48-BE0F-BBA5E31D6A37}" type="datetime1">
              <a:rPr lang="de-CH" smtClean="0"/>
              <a:t>06.03.2026</a:t>
            </a:fld>
            <a:endParaRPr lang="en-US"/>
          </a:p>
        </p:txBody>
      </p:sp>
      <p:sp>
        <p:nvSpPr>
          <p:cNvPr id="5" name="Slide Number Placeholder 4">
            <a:extLst>
              <a:ext uri="{FF2B5EF4-FFF2-40B4-BE49-F238E27FC236}">
                <a16:creationId xmlns:a16="http://schemas.microsoft.com/office/drawing/2014/main" id="{69F1143A-71BD-E359-AE27-BB85FCCC9B54}"/>
              </a:ext>
            </a:extLst>
          </p:cNvPr>
          <p:cNvSpPr>
            <a:spLocks noGrp="1"/>
          </p:cNvSpPr>
          <p:nvPr>
            <p:ph type="sldNum" sz="quarter" idx="12"/>
          </p:nvPr>
        </p:nvSpPr>
        <p:spPr/>
        <p:txBody>
          <a:bodyPr/>
          <a:lstStyle/>
          <a:p>
            <a:fld id="{C1FF6DA9-008F-8B48-92A6-B652298478BF}" type="slidenum">
              <a:rPr lang="en-US" smtClean="0"/>
              <a:t>10</a:t>
            </a:fld>
            <a:endParaRPr lang="en-US"/>
          </a:p>
        </p:txBody>
      </p:sp>
      <p:pic>
        <p:nvPicPr>
          <p:cNvPr id="7" name="Picture 6">
            <a:extLst>
              <a:ext uri="{FF2B5EF4-FFF2-40B4-BE49-F238E27FC236}">
                <a16:creationId xmlns:a16="http://schemas.microsoft.com/office/drawing/2014/main" id="{CB6AD072-B820-6E90-CA35-2B0B76F9B4EB}"/>
              </a:ext>
            </a:extLst>
          </p:cNvPr>
          <p:cNvPicPr>
            <a:picLocks noChangeAspect="1"/>
          </p:cNvPicPr>
          <p:nvPr/>
        </p:nvPicPr>
        <p:blipFill>
          <a:blip r:embed="rId2"/>
          <a:stretch>
            <a:fillRect/>
          </a:stretch>
        </p:blipFill>
        <p:spPr>
          <a:xfrm>
            <a:off x="5292000" y="1440000"/>
            <a:ext cx="3321049" cy="1546958"/>
          </a:xfrm>
          <a:prstGeom prst="rect">
            <a:avLst/>
          </a:prstGeom>
        </p:spPr>
      </p:pic>
      <p:pic>
        <p:nvPicPr>
          <p:cNvPr id="9" name="Picture 8">
            <a:extLst>
              <a:ext uri="{FF2B5EF4-FFF2-40B4-BE49-F238E27FC236}">
                <a16:creationId xmlns:a16="http://schemas.microsoft.com/office/drawing/2014/main" id="{2C1EDB0B-25E9-9264-451E-C0ADA3DF6932}"/>
              </a:ext>
            </a:extLst>
          </p:cNvPr>
          <p:cNvPicPr>
            <a:picLocks noChangeAspect="1"/>
          </p:cNvPicPr>
          <p:nvPr/>
        </p:nvPicPr>
        <p:blipFill>
          <a:blip r:embed="rId3"/>
          <a:stretch>
            <a:fillRect/>
          </a:stretch>
        </p:blipFill>
        <p:spPr>
          <a:xfrm>
            <a:off x="5292000" y="3240000"/>
            <a:ext cx="3265312" cy="3240000"/>
          </a:xfrm>
          <a:prstGeom prst="rect">
            <a:avLst/>
          </a:prstGeom>
        </p:spPr>
      </p:pic>
    </p:spTree>
    <p:extLst>
      <p:ext uri="{BB962C8B-B14F-4D97-AF65-F5344CB8AC3E}">
        <p14:creationId xmlns:p14="http://schemas.microsoft.com/office/powerpoint/2010/main" val="76189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09DB-FA49-2C8F-6C4C-6FEF76491F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E4305-F060-2A08-29F5-1983A414A45C}"/>
              </a:ext>
            </a:extLst>
          </p:cNvPr>
          <p:cNvSpPr>
            <a:spLocks noGrp="1"/>
          </p:cNvSpPr>
          <p:nvPr>
            <p:ph type="title"/>
          </p:nvPr>
        </p:nvSpPr>
        <p:spPr/>
        <p:txBody>
          <a:bodyPr>
            <a:normAutofit/>
          </a:bodyPr>
          <a:lstStyle/>
          <a:p>
            <a:pPr algn="l"/>
            <a:r>
              <a:rPr lang="en-US" sz="2400" b="1" dirty="0"/>
              <a:t>Network Anomaly Lifecycle</a:t>
            </a:r>
            <a:br>
              <a:rPr lang="en-GB" sz="2700" dirty="0"/>
            </a:br>
            <a:r>
              <a:rPr lang="en-US" sz="2000" dirty="0">
                <a:solidFill>
                  <a:schemeClr val="bg2">
                    <a:lumMod val="75000"/>
                  </a:schemeClr>
                </a:solidFill>
              </a:rPr>
              <a:t>Key draft updates since -03</a:t>
            </a:r>
          </a:p>
        </p:txBody>
      </p:sp>
      <p:sp>
        <p:nvSpPr>
          <p:cNvPr id="6" name="TextBox 5">
            <a:extLst>
              <a:ext uri="{FF2B5EF4-FFF2-40B4-BE49-F238E27FC236}">
                <a16:creationId xmlns:a16="http://schemas.microsoft.com/office/drawing/2014/main" id="{2746E83B-FC33-8190-614F-A34B744F7994}"/>
              </a:ext>
            </a:extLst>
          </p:cNvPr>
          <p:cNvSpPr txBox="1"/>
          <p:nvPr/>
        </p:nvSpPr>
        <p:spPr>
          <a:xfrm>
            <a:off x="5569448" y="1722004"/>
            <a:ext cx="2998552" cy="2841034"/>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stage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identityref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base network-anomaly-stage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mandatory true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"Stage of the relevant state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grouping </a:t>
            </a:r>
            <a:r>
              <a:rPr lang="en-GB" sz="638">
                <a:highlight>
                  <a:srgbClr val="FFFF00"/>
                </a:highlight>
                <a:latin typeface="Courier New" panose="02070309020205020404" pitchFamily="49" charset="0"/>
                <a:cs typeface="Courier New" panose="02070309020205020404" pitchFamily="49" charset="0"/>
              </a:rPr>
              <a:t>message-broker-grouping</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"References message broker draft-ietf-nmop-yang-message-broker-integration entities</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topic-name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"From which message broker topic the operational data was consumed from</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subject-name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"To which message broker subject the operational data references to</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US" sz="638">
                <a:latin typeface="Courier New" panose="02070309020205020404" pitchFamily="49" charset="0"/>
                <a:cs typeface="Courier New" panose="02070309020205020404" pitchFamily="49" charset="0"/>
              </a:rPr>
              <a:t>}</a:t>
            </a:r>
            <a:endParaRPr lang="de-CH" sz="638" dirty="0">
              <a:latin typeface="Courier New" panose="02070309020205020404" pitchFamily="49" charset="0"/>
              <a:ea typeface="Calibri" panose="020F0502020204030204" pitchFamily="34" charset="0"/>
              <a:cs typeface="Courier New" panose="02070309020205020404" pitchFamily="49" charset="0"/>
            </a:endParaRPr>
          </a:p>
        </p:txBody>
      </p:sp>
      <p:sp>
        <p:nvSpPr>
          <p:cNvPr id="4" name="Date Placeholder 3">
            <a:extLst>
              <a:ext uri="{FF2B5EF4-FFF2-40B4-BE49-F238E27FC236}">
                <a16:creationId xmlns:a16="http://schemas.microsoft.com/office/drawing/2014/main" id="{D23EFB7D-7A6B-4DAE-2C0E-AE760EA1E479}"/>
              </a:ext>
            </a:extLst>
          </p:cNvPr>
          <p:cNvSpPr>
            <a:spLocks noGrp="1"/>
          </p:cNvSpPr>
          <p:nvPr>
            <p:ph type="dt" sz="half" idx="10"/>
          </p:nvPr>
        </p:nvSpPr>
        <p:spPr/>
        <p:txBody>
          <a:bodyPr/>
          <a:lstStyle/>
          <a:p>
            <a:fld id="{6CCDDB14-30A2-2E47-B57D-285D0E17FE10}" type="datetime1">
              <a:rPr lang="de-CH" smtClean="0"/>
              <a:t>06.03.2026</a:t>
            </a:fld>
            <a:endParaRPr lang="en-US"/>
          </a:p>
        </p:txBody>
      </p:sp>
      <p:sp>
        <p:nvSpPr>
          <p:cNvPr id="5" name="Slide Number Placeholder 4">
            <a:extLst>
              <a:ext uri="{FF2B5EF4-FFF2-40B4-BE49-F238E27FC236}">
                <a16:creationId xmlns:a16="http://schemas.microsoft.com/office/drawing/2014/main" id="{9AE189ED-E1D8-59EB-2FE7-640253AF808F}"/>
              </a:ext>
            </a:extLst>
          </p:cNvPr>
          <p:cNvSpPr>
            <a:spLocks noGrp="1"/>
          </p:cNvSpPr>
          <p:nvPr>
            <p:ph type="sldNum" sz="quarter" idx="12"/>
          </p:nvPr>
        </p:nvSpPr>
        <p:spPr/>
        <p:txBody>
          <a:bodyPr/>
          <a:lstStyle/>
          <a:p>
            <a:fld id="{C1FF6DA9-008F-8B48-92A6-B652298478BF}" type="slidenum">
              <a:rPr lang="en-US" smtClean="0"/>
              <a:t>11</a:t>
            </a:fld>
            <a:endParaRPr lang="en-US" dirty="0"/>
          </a:p>
        </p:txBody>
      </p:sp>
      <p:sp>
        <p:nvSpPr>
          <p:cNvPr id="11" name="Content Placeholder 2">
            <a:extLst>
              <a:ext uri="{FF2B5EF4-FFF2-40B4-BE49-F238E27FC236}">
                <a16:creationId xmlns:a16="http://schemas.microsoft.com/office/drawing/2014/main" id="{17AA7596-3EB8-6B14-C59D-54776921B0FC}"/>
              </a:ext>
            </a:extLst>
          </p:cNvPr>
          <p:cNvSpPr txBox="1">
            <a:spLocks/>
          </p:cNvSpPr>
          <p:nvPr/>
        </p:nvSpPr>
        <p:spPr>
          <a:xfrm>
            <a:off x="576000" y="1440000"/>
            <a:ext cx="4900875" cy="455172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r>
              <a:rPr lang="en-US" sz="1400" b="1"/>
              <a:t>Terminology update</a:t>
            </a:r>
            <a:endParaRPr lang="en-US" sz="1400" b="1" dirty="0"/>
          </a:p>
          <a:p>
            <a:pPr lvl="1">
              <a:spcBef>
                <a:spcPts val="225"/>
              </a:spcBef>
              <a:spcAft>
                <a:spcPts val="225"/>
              </a:spcAft>
            </a:pPr>
            <a:r>
              <a:rPr lang="en-GB" sz="1400"/>
              <a:t>Streamlined “</a:t>
            </a:r>
            <a:r>
              <a:rPr lang="en-GB" sz="1400" dirty="0"/>
              <a:t>state/</a:t>
            </a:r>
            <a:r>
              <a:rPr lang="en-GB" sz="1400"/>
              <a:t>phase” -&gt; “</a:t>
            </a:r>
            <a:r>
              <a:rPr lang="en-GB" sz="1400" dirty="0"/>
              <a:t>stage”</a:t>
            </a:r>
            <a:r>
              <a:rPr lang="en-US" sz="1400" dirty="0"/>
              <a:t>.</a:t>
            </a:r>
          </a:p>
          <a:p>
            <a:pPr>
              <a:spcBef>
                <a:spcPts val="225"/>
              </a:spcBef>
              <a:spcAft>
                <a:spcPts val="225"/>
              </a:spcAft>
            </a:pPr>
            <a:r>
              <a:rPr lang="en-US" sz="1400" b="1"/>
              <a:t>Schema change</a:t>
            </a:r>
            <a:endParaRPr lang="en-US" sz="1400" b="1" dirty="0"/>
          </a:p>
          <a:p>
            <a:pPr lvl="1">
              <a:spcBef>
                <a:spcPts val="225"/>
              </a:spcBef>
              <a:spcAft>
                <a:spcPts val="225"/>
              </a:spcAft>
              <a:buFontTx/>
              <a:buChar char="-"/>
            </a:pPr>
            <a:r>
              <a:rPr lang="en-GB" sz="1400"/>
              <a:t>Changed “state” -&gt; “</a:t>
            </a:r>
            <a:r>
              <a:rPr lang="en-GB" sz="1400" dirty="0"/>
              <a:t>stage”</a:t>
            </a:r>
          </a:p>
          <a:p>
            <a:pPr lvl="1">
              <a:spcBef>
                <a:spcPts val="225"/>
              </a:spcBef>
              <a:spcAft>
                <a:spcPts val="225"/>
              </a:spcAft>
              <a:buFontTx/>
              <a:buChar char="-"/>
            </a:pPr>
            <a:r>
              <a:rPr lang="en-GB" sz="1400"/>
              <a:t>Fixed RFC 8407 related Yang warnings (remove mandatory false</a:t>
            </a:r>
            <a:r>
              <a:rPr lang="en-GB" sz="1400" dirty="0"/>
              <a:t>)</a:t>
            </a:r>
          </a:p>
          <a:p>
            <a:pPr lvl="1">
              <a:spcBef>
                <a:spcPts val="225"/>
              </a:spcBef>
              <a:spcAft>
                <a:spcPts val="225"/>
              </a:spcAft>
              <a:buFontTx/>
              <a:buChar char="-"/>
            </a:pPr>
            <a:r>
              <a:rPr lang="en-GB" sz="1400"/>
              <a:t>Include operational data in anomaly and introduce “</a:t>
            </a:r>
            <a:r>
              <a:rPr lang="en-GB" sz="1400" dirty="0"/>
              <a:t>message-broker-grouping”</a:t>
            </a:r>
          </a:p>
          <a:p>
            <a:pPr>
              <a:spcBef>
                <a:spcPts val="225"/>
              </a:spcBef>
              <a:spcAft>
                <a:spcPts val="225"/>
              </a:spcAft>
            </a:pPr>
            <a:r>
              <a:rPr lang="en-GB" sz="1400" b="1"/>
              <a:t>Refinement </a:t>
            </a:r>
            <a:endParaRPr lang="en-GB" sz="1400" b="1" dirty="0"/>
          </a:p>
          <a:p>
            <a:pPr lvl="1">
              <a:spcBef>
                <a:spcPts val="225"/>
              </a:spcBef>
              <a:spcAft>
                <a:spcPts val="225"/>
              </a:spcAft>
            </a:pPr>
            <a:r>
              <a:rPr lang="en-GB" sz="1400"/>
              <a:t>Refined definition of confidence score and concern score</a:t>
            </a:r>
            <a:endParaRPr lang="en-GB" sz="1400" dirty="0"/>
          </a:p>
          <a:p>
            <a:pPr lvl="1">
              <a:spcBef>
                <a:spcPts val="225"/>
              </a:spcBef>
              <a:spcAft>
                <a:spcPts val="225"/>
              </a:spcAft>
            </a:pPr>
            <a:r>
              <a:rPr lang="en-GB" sz="1400"/>
              <a:t>Optimized Figure 2</a:t>
            </a:r>
            <a:endParaRPr lang="en-GB" sz="1400" dirty="0"/>
          </a:p>
          <a:p>
            <a:pPr lvl="1">
              <a:spcBef>
                <a:spcPts val="225"/>
              </a:spcBef>
              <a:spcAft>
                <a:spcPts val="225"/>
              </a:spcAft>
            </a:pPr>
            <a:r>
              <a:rPr lang="en-GB" sz="1400"/>
              <a:t>Consolidated the usage of score across different drafts </a:t>
            </a:r>
            <a:endParaRPr lang="en-GB" sz="1400" dirty="0"/>
          </a:p>
        </p:txBody>
      </p:sp>
    </p:spTree>
    <p:extLst>
      <p:ext uri="{BB962C8B-B14F-4D97-AF65-F5344CB8AC3E}">
        <p14:creationId xmlns:p14="http://schemas.microsoft.com/office/powerpoint/2010/main" val="13753841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3B7D-8769-06BB-617E-4C764D7FD084}"/>
            </a:ext>
          </a:extLst>
        </p:cNvPr>
        <p:cNvGrpSpPr/>
        <p:nvPr/>
      </p:nvGrpSpPr>
      <p:grpSpPr>
        <a:xfrm>
          <a:off x="0" y="0"/>
          <a:ext cx="0" cy="0"/>
          <a:chOff x="0" y="0"/>
          <a:chExt cx="0" cy="0"/>
        </a:xfrm>
      </p:grpSpPr>
      <p:sp>
        <p:nvSpPr>
          <p:cNvPr id="5" name="Inhaltsplatzhalter 2">
            <a:extLst>
              <a:ext uri="{FF2B5EF4-FFF2-40B4-BE49-F238E27FC236}">
                <a16:creationId xmlns:a16="http://schemas.microsoft.com/office/drawing/2014/main" id="{FEB173FE-15D3-C438-10E8-FA80EB751145}"/>
              </a:ext>
            </a:extLst>
          </p:cNvPr>
          <p:cNvSpPr txBox="1">
            <a:spLocks/>
          </p:cNvSpPr>
          <p:nvPr/>
        </p:nvSpPr>
        <p:spPr bwMode="black">
          <a:xfrm>
            <a:off x="721150" y="1518435"/>
            <a:ext cx="7965650" cy="397629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Bef>
                <a:spcPts val="0"/>
              </a:spcBef>
            </a:pPr>
            <a:r>
              <a:rPr lang="en-IE" sz="1400" b="1" dirty="0"/>
              <a:t>Next Steps</a:t>
            </a:r>
          </a:p>
          <a:p>
            <a:pPr marL="285750" indent="-285750">
              <a:spcBef>
                <a:spcPts val="300"/>
              </a:spcBef>
              <a:spcAft>
                <a:spcPts val="300"/>
              </a:spcAft>
              <a:buFont typeface="Arial" panose="020B0604020202020204" pitchFamily="34" charset="0"/>
              <a:buChar char="•"/>
            </a:pPr>
            <a:r>
              <a:rPr lang="en-IE" sz="1600" dirty="0"/>
              <a:t>Requesting working group feedback on the updated YANG models and editorial changes.</a:t>
            </a:r>
          </a:p>
          <a:p>
            <a:pPr marL="285750" indent="-285750">
              <a:spcBef>
                <a:spcPts val="300"/>
              </a:spcBef>
              <a:spcAft>
                <a:spcPts val="300"/>
              </a:spcAft>
              <a:buFont typeface="Arial" panose="020B0604020202020204" pitchFamily="34" charset="0"/>
              <a:buChar char="•"/>
            </a:pPr>
            <a:r>
              <a:rPr lang="en-IE" sz="1600" dirty="0"/>
              <a:t>Request YANG doctors review for </a:t>
            </a:r>
            <a:r>
              <a:rPr lang="en-US" sz="1600" dirty="0">
                <a:hlinkClick r:id="rId2"/>
              </a:rPr>
              <a:t>draft-ietf-nmop-network-anomaly-semantics-05</a:t>
            </a:r>
            <a:r>
              <a:rPr lang="en-US" sz="1600" dirty="0"/>
              <a:t> and </a:t>
            </a:r>
            <a:r>
              <a:rPr lang="en-US" sz="1600" dirty="0">
                <a:hlinkClick r:id="rId3"/>
              </a:rPr>
              <a:t>draft-ietf-nmop-network-anomaly-lifecycle-05</a:t>
            </a:r>
            <a:r>
              <a:rPr lang="en-US" sz="1600" dirty="0"/>
              <a:t>.</a:t>
            </a:r>
          </a:p>
          <a:p>
            <a:pPr>
              <a:spcBef>
                <a:spcPts val="300"/>
              </a:spcBef>
              <a:spcAft>
                <a:spcPts val="300"/>
              </a:spcAft>
            </a:pPr>
            <a:endParaRPr lang="en-US" sz="1600" dirty="0"/>
          </a:p>
          <a:p>
            <a:pPr marL="285750" indent="-285750">
              <a:spcBef>
                <a:spcPts val="300"/>
              </a:spcBef>
              <a:spcAft>
                <a:spcPts val="300"/>
              </a:spcAft>
              <a:buFont typeface="Arial" panose="020B0604020202020204" pitchFamily="34" charset="0"/>
              <a:buChar char="•"/>
            </a:pPr>
            <a:r>
              <a:rPr lang="en-US" sz="1600" dirty="0"/>
              <a:t>Implement semantic metadata in Cosmos Bright Lights to replace placeholders “null” for newly introduced fields.</a:t>
            </a:r>
          </a:p>
          <a:p>
            <a:pPr>
              <a:spcBef>
                <a:spcPts val="2400"/>
              </a:spcBef>
            </a:pPr>
            <a:r>
              <a:rPr lang="en-IE" sz="1400" b="1" dirty="0"/>
              <a:t>Open Issues</a:t>
            </a:r>
          </a:p>
          <a:p>
            <a:pPr marL="285750" indent="-285750">
              <a:spcBef>
                <a:spcPts val="300"/>
              </a:spcBef>
              <a:spcAft>
                <a:spcPts val="300"/>
              </a:spcAft>
              <a:buFont typeface="Arial" panose="020B0604020202020204" pitchFamily="34" charset="0"/>
              <a:buChar char="•"/>
            </a:pPr>
            <a:r>
              <a:rPr lang="en-IE" sz="1600" dirty="0"/>
              <a:t>None</a:t>
            </a:r>
          </a:p>
        </p:txBody>
      </p:sp>
      <p:sp>
        <p:nvSpPr>
          <p:cNvPr id="7" name="Title 1">
            <a:extLst>
              <a:ext uri="{FF2B5EF4-FFF2-40B4-BE49-F238E27FC236}">
                <a16:creationId xmlns:a16="http://schemas.microsoft.com/office/drawing/2014/main" id="{BE669A8B-8750-6573-9218-FF05D7A684B0}"/>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Next Steps and Remaining Issues</a:t>
            </a:r>
            <a:br>
              <a:rPr lang="en-US" sz="2700"/>
            </a:br>
            <a:r>
              <a:rPr lang="en-GB" sz="2000">
                <a:solidFill>
                  <a:schemeClr val="bg2">
                    <a:lumMod val="75000"/>
                  </a:schemeClr>
                </a:solidFill>
              </a:rPr>
              <a:t>Feedback on latest changes</a:t>
            </a:r>
            <a:endParaRPr lang="en-US" sz="2000" dirty="0">
              <a:solidFill>
                <a:schemeClr val="bg2">
                  <a:lumMod val="75000"/>
                </a:schemeClr>
              </a:solidFill>
            </a:endParaRPr>
          </a:p>
        </p:txBody>
      </p:sp>
      <p:sp>
        <p:nvSpPr>
          <p:cNvPr id="2" name="Slide Number Placeholder 1">
            <a:extLst>
              <a:ext uri="{FF2B5EF4-FFF2-40B4-BE49-F238E27FC236}">
                <a16:creationId xmlns:a16="http://schemas.microsoft.com/office/drawing/2014/main" id="{2F3DAF01-F8AD-FBFA-8AD7-90E91E64BEC7}"/>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12</a:t>
            </a:fld>
            <a:endParaRPr lang="en-GB" dirty="0"/>
          </a:p>
        </p:txBody>
      </p:sp>
    </p:spTree>
    <p:extLst>
      <p:ext uri="{BB962C8B-B14F-4D97-AF65-F5344CB8AC3E}">
        <p14:creationId xmlns:p14="http://schemas.microsoft.com/office/powerpoint/2010/main" val="32659656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5FACCA9-DB5D-E94E-BDB7-FEA6F1649668}">
  <we:reference id="wa200006067" version="1.0.0.9" store="en-GB" storeType="OMEX"/>
  <we:alternateReferences>
    <we:reference id="WA200006067" version="1.0.0.9" store="" storeType="OMEX"/>
  </we:alternateReferences>
  <we:properties/>
  <we:bindings/>
  <we:snapshot xmlns:r="http://schemas.openxmlformats.org/officeDocument/2006/relationships"/>
  <we:extLst>
    <a:ext xmlns:a="http://schemas.openxmlformats.org/drawingml/2006/main" uri="{0858819E-0033-43BF-8937-05EC82904868}">
      <we:backgroundApp state="1" runtimeId=""/>
    </a:ext>
  </we:extLst>
</we:webextension>
</file>

<file path=ppt/webextensions/webextension2.xml><?xml version="1.0" encoding="utf-8"?>
<we:webextension xmlns:we="http://schemas.microsoft.com/office/webextensions/webextension/2010/11" id="{5E6A533A-1FC7-FC42-A858-BD2D2D09E659}">
  <we:reference id="wa200007884" version="1.0.0.1" store="en-GB" storeType="OMEX"/>
  <we:alternateReferences>
    <we:reference id="WA200007884" version="1.0.0.1" store="" storeType="OMEX"/>
  </we:alternateReferences>
  <we:properties/>
  <we:bindings/>
  <we:snapshot xmlns:r="http://schemas.openxmlformats.org/officeDocument/2006/relationships"/>
</we:webextension>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otalTime>0</TotalTime>
  <Words>1612</Words>
  <Application>Microsoft Office PowerPoint</Application>
  <PresentationFormat>On-screen Show (4:3)</PresentationFormat>
  <Paragraphs>216</Paragraphs>
  <Slides>12</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Calibri</vt:lpstr>
      <vt:lpstr>Calibri Light</vt:lpstr>
      <vt:lpstr>Courier New</vt:lpstr>
      <vt:lpstr>Wingdings</vt:lpstr>
      <vt:lpstr>Office Theme</vt:lpstr>
      <vt:lpstr>PowerPoint Presentation</vt:lpstr>
      <vt:lpstr>PowerPoint Presentation</vt:lpstr>
      <vt:lpstr>Network Anomaly Detection Architecture Document summary</vt:lpstr>
      <vt:lpstr>Network Anomaly Detection Architecture Key draft updates since -05</vt:lpstr>
      <vt:lpstr>Network Anomaly Detection Architecture Document implementation and operational experience</vt:lpstr>
      <vt:lpstr>Network Anomaly Detection Architecture Document implementation and operational experience</vt:lpstr>
      <vt:lpstr>Semantic Metadata Annotation Document summary</vt:lpstr>
      <vt:lpstr>Semantic Metadata Annotation Key draft updates since -03</vt:lpstr>
      <vt:lpstr>Semantic Metadata Annotation Document implementation and operational experience</vt:lpstr>
      <vt:lpstr>Network Anomaly Lifecycle Document summary</vt:lpstr>
      <vt:lpstr>Network Anomaly Lifecycle Key draft updates since -03</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Graf Thomas, SCS-INI-NET-VNC-E2E</cp:lastModifiedBy>
  <cp:revision>10</cp:revision>
  <dcterms:created xsi:type="dcterms:W3CDTF">2013-01-27T09:14:16Z</dcterms:created>
  <dcterms:modified xsi:type="dcterms:W3CDTF">2026-03-06T15:43:18Z</dcterms:modified>
  <cp:category/>
</cp:coreProperties>
</file>