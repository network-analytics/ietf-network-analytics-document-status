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49"/>
  </p:notesMasterIdLst>
  <p:sldIdLst>
    <p:sldId id="1041" r:id="rId3"/>
    <p:sldId id="2145706278" r:id="rId4"/>
    <p:sldId id="2145706280" r:id="rId5"/>
    <p:sldId id="26422" r:id="rId6"/>
    <p:sldId id="2145706406" r:id="rId7"/>
    <p:sldId id="2145706407" r:id="rId8"/>
    <p:sldId id="2145706408" r:id="rId9"/>
    <p:sldId id="2145706409" r:id="rId10"/>
    <p:sldId id="2145706295" r:id="rId11"/>
    <p:sldId id="2145706296" r:id="rId12"/>
    <p:sldId id="2145706297" r:id="rId13"/>
    <p:sldId id="2145706298" r:id="rId14"/>
    <p:sldId id="2145706282" r:id="rId15"/>
    <p:sldId id="2145706283" r:id="rId16"/>
    <p:sldId id="2145706307" r:id="rId17"/>
    <p:sldId id="2145706306" r:id="rId18"/>
    <p:sldId id="2145706299" r:id="rId19"/>
    <p:sldId id="2145706300" r:id="rId20"/>
    <p:sldId id="2145706301" r:id="rId21"/>
    <p:sldId id="2145706302" r:id="rId22"/>
    <p:sldId id="2145706303" r:id="rId23"/>
    <p:sldId id="2145706304" r:id="rId24"/>
    <p:sldId id="2145706305" r:id="rId25"/>
    <p:sldId id="2145706220" r:id="rId26"/>
    <p:sldId id="256" r:id="rId27"/>
    <p:sldId id="257" r:id="rId28"/>
    <p:sldId id="258" r:id="rId29"/>
    <p:sldId id="274" r:id="rId30"/>
    <p:sldId id="2145706411" r:id="rId31"/>
    <p:sldId id="2145706271" r:id="rId32"/>
    <p:sldId id="2145706412" r:id="rId33"/>
    <p:sldId id="2145706281" r:id="rId34"/>
    <p:sldId id="2145706285" r:id="rId35"/>
    <p:sldId id="276" r:id="rId36"/>
    <p:sldId id="277" r:id="rId37"/>
    <p:sldId id="2145706277" r:id="rId38"/>
    <p:sldId id="2145706268" r:id="rId39"/>
    <p:sldId id="2145706413" r:id="rId40"/>
    <p:sldId id="2145706322" r:id="rId41"/>
    <p:sldId id="2145706399" r:id="rId42"/>
    <p:sldId id="2145706400" r:id="rId43"/>
    <p:sldId id="2145706401" r:id="rId44"/>
    <p:sldId id="2145706402" r:id="rId45"/>
    <p:sldId id="2145706403" r:id="rId46"/>
    <p:sldId id="2145706404" r:id="rId47"/>
    <p:sldId id="2145706405" r:id="rId4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0"/>
    <a:srgbClr val="AC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BD7D3-904F-4CBE-9D0C-6B59941F9853}" v="9" dt="2026-10-29T14:12:14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56" autoAdjust="0"/>
    <p:restoredTop sz="91525" autoAdjust="0"/>
  </p:normalViewPr>
  <p:slideViewPr>
    <p:cSldViewPr snapToGrid="0">
      <p:cViewPr varScale="1">
        <p:scale>
          <a:sx n="80" d="100"/>
          <a:sy n="80" d="100"/>
        </p:scale>
        <p:origin x="58" y="21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undo redo custSel addSld delSld modSld sldOrd">
      <pc:chgData name="Graf Thomas, SCS-INI-NET-VNC-E2E" userId="487bc3e3-9ce7-4cdd-b7b4-8899ea88d289" providerId="ADAL" clId="{ADEEF08A-D719-4B50-A383-4105EDA2C206}" dt="2026-10-29T14:12:31.581" v="61" actId="20577"/>
      <pc:docMkLst>
        <pc:docMk/>
      </pc:docMkLst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0" sldId="256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0" sldId="257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0" sldId="258"/>
        </pc:sldMkLst>
      </pc:sldChg>
      <pc:sldChg chg="add del">
        <pc:chgData name="Graf Thomas, SCS-INI-NET-VNC-E2E" userId="487bc3e3-9ce7-4cdd-b7b4-8899ea88d289" providerId="ADAL" clId="{ADEEF08A-D719-4B50-A383-4105EDA2C206}" dt="2026-10-29T14:10:49.301" v="55" actId="47"/>
        <pc:sldMkLst>
          <pc:docMk/>
          <pc:sldMk cId="0" sldId="272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3616314567" sldId="274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3462681431" sldId="276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2655069398" sldId="277"/>
        </pc:sldMkLst>
      </pc:sldChg>
      <pc:sldChg chg="modSp mod">
        <pc:chgData name="Graf Thomas, SCS-INI-NET-VNC-E2E" userId="487bc3e3-9ce7-4cdd-b7b4-8899ea88d289" providerId="ADAL" clId="{ADEEF08A-D719-4B50-A383-4105EDA2C206}" dt="2026-10-29T14:03:38.996" v="32" actId="20577"/>
        <pc:sldMkLst>
          <pc:docMk/>
          <pc:sldMk cId="3578665336" sldId="1041"/>
        </pc:sldMkLst>
        <pc:spChg chg="mod">
          <ac:chgData name="Graf Thomas, SCS-INI-NET-VNC-E2E" userId="487bc3e3-9ce7-4cdd-b7b4-8899ea88d289" providerId="ADAL" clId="{ADEEF08A-D719-4B50-A383-4105EDA2C206}" dt="2026-10-29T14:03:38.996" v="32" actId="20577"/>
          <ac:spMkLst>
            <pc:docMk/>
            <pc:sldMk cId="3578665336" sldId="1041"/>
            <ac:spMk id="6" creationId="{6CAA0765-1318-4A03-8F91-D3ECC43D8FA7}"/>
          </ac:spMkLst>
        </pc:spChg>
      </pc:sldChg>
      <pc:sldChg chg="del">
        <pc:chgData name="Graf Thomas, SCS-INI-NET-VNC-E2E" userId="487bc3e3-9ce7-4cdd-b7b4-8899ea88d289" providerId="ADAL" clId="{ADEEF08A-D719-4B50-A383-4105EDA2C206}" dt="2026-10-29T14:06:58.287" v="34" actId="47"/>
        <pc:sldMkLst>
          <pc:docMk/>
          <pc:sldMk cId="2325717052" sldId="2145706246"/>
        </pc:sldMkLst>
      </pc:sldChg>
      <pc:sldChg chg="del">
        <pc:chgData name="Graf Thomas, SCS-INI-NET-VNC-E2E" userId="487bc3e3-9ce7-4cdd-b7b4-8899ea88d289" providerId="ADAL" clId="{ADEEF08A-D719-4B50-A383-4105EDA2C206}" dt="2026-10-29T14:06:58.287" v="34" actId="47"/>
        <pc:sldMkLst>
          <pc:docMk/>
          <pc:sldMk cId="2701002203" sldId="2145706256"/>
        </pc:sldMkLst>
      </pc:sldChg>
      <pc:sldChg chg="del">
        <pc:chgData name="Graf Thomas, SCS-INI-NET-VNC-E2E" userId="487bc3e3-9ce7-4cdd-b7b4-8899ea88d289" providerId="ADAL" clId="{ADEEF08A-D719-4B50-A383-4105EDA2C206}" dt="2026-10-29T14:06:58.287" v="34" actId="47"/>
        <pc:sldMkLst>
          <pc:docMk/>
          <pc:sldMk cId="3965782337" sldId="2145706257"/>
        </pc:sldMkLst>
      </pc:sldChg>
      <pc:sldChg chg="del">
        <pc:chgData name="Graf Thomas, SCS-INI-NET-VNC-E2E" userId="487bc3e3-9ce7-4cdd-b7b4-8899ea88d289" providerId="ADAL" clId="{ADEEF08A-D719-4B50-A383-4105EDA2C206}" dt="2026-10-29T14:06:58.287" v="34" actId="47"/>
        <pc:sldMkLst>
          <pc:docMk/>
          <pc:sldMk cId="218410027" sldId="2145706260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1952313376" sldId="2145706268"/>
        </pc:sldMkLst>
      </pc:sldChg>
      <pc:sldChg chg="del">
        <pc:chgData name="Graf Thomas, SCS-INI-NET-VNC-E2E" userId="487bc3e3-9ce7-4cdd-b7b4-8899ea88d289" providerId="ADAL" clId="{ADEEF08A-D719-4B50-A383-4105EDA2C206}" dt="2026-10-29T14:06:58.287" v="34" actId="47"/>
        <pc:sldMkLst>
          <pc:docMk/>
          <pc:sldMk cId="3562000331" sldId="2145706269"/>
        </pc:sldMkLst>
      </pc:sldChg>
      <pc:sldChg chg="del">
        <pc:chgData name="Graf Thomas, SCS-INI-NET-VNC-E2E" userId="487bc3e3-9ce7-4cdd-b7b4-8899ea88d289" providerId="ADAL" clId="{ADEEF08A-D719-4B50-A383-4105EDA2C206}" dt="2026-10-29T14:07:01.975" v="35" actId="47"/>
        <pc:sldMkLst>
          <pc:docMk/>
          <pc:sldMk cId="2855098073" sldId="2145706270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2190926149" sldId="2145706271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2755856533" sldId="2145706277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978591108" sldId="2145706281"/>
        </pc:sldMkLst>
      </pc:sldChg>
      <pc:sldChg chg="addSp delSp modSp add del mod">
        <pc:chgData name="Graf Thomas, SCS-INI-NET-VNC-E2E" userId="487bc3e3-9ce7-4cdd-b7b4-8899ea88d289" providerId="ADAL" clId="{ADEEF08A-D719-4B50-A383-4105EDA2C206}" dt="2026-10-29T14:12:31.581" v="61" actId="20577"/>
        <pc:sldMkLst>
          <pc:docMk/>
          <pc:sldMk cId="3325836654" sldId="2145706282"/>
        </pc:sldMkLst>
        <pc:spChg chg="mod">
          <ac:chgData name="Graf Thomas, SCS-INI-NET-VNC-E2E" userId="487bc3e3-9ce7-4cdd-b7b4-8899ea88d289" providerId="ADAL" clId="{ADEEF08A-D719-4B50-A383-4105EDA2C206}" dt="2026-10-29T14:12:31.581" v="61" actId="20577"/>
          <ac:spMkLst>
            <pc:docMk/>
            <pc:sldMk cId="3325836654" sldId="2145706282"/>
            <ac:spMk id="2" creationId="{FF20F271-6F0D-4AC0-BB1D-F5C338165C13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4" creationId="{FF4F7CE4-54E2-2FAE-D984-8EDC00097028}"/>
          </ac:spMkLst>
        </pc:spChg>
        <pc:spChg chg="del">
          <ac:chgData name="Graf Thomas, SCS-INI-NET-VNC-E2E" userId="487bc3e3-9ce7-4cdd-b7b4-8899ea88d289" providerId="ADAL" clId="{ADEEF08A-D719-4B50-A383-4105EDA2C206}" dt="2026-10-29T14:12:09.478" v="57" actId="478"/>
          <ac:spMkLst>
            <pc:docMk/>
            <pc:sldMk cId="3325836654" sldId="2145706282"/>
            <ac:spMk id="5" creationId="{BC48C340-D830-FA93-EDE2-F19567525BD7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8" creationId="{E79B5F66-CC16-C7CF-A03F-3DCD0EFDCB38}"/>
          </ac:spMkLst>
        </pc:spChg>
        <pc:spChg chg="del">
          <ac:chgData name="Graf Thomas, SCS-INI-NET-VNC-E2E" userId="487bc3e3-9ce7-4cdd-b7b4-8899ea88d289" providerId="ADAL" clId="{ADEEF08A-D719-4B50-A383-4105EDA2C206}" dt="2026-10-29T14:12:09.478" v="57" actId="478"/>
          <ac:spMkLst>
            <pc:docMk/>
            <pc:sldMk cId="3325836654" sldId="2145706282"/>
            <ac:spMk id="9" creationId="{76DFCB4A-5A26-3D89-003B-C1376E910ECB}"/>
          </ac:spMkLst>
        </pc:spChg>
        <pc:spChg chg="del">
          <ac:chgData name="Graf Thomas, SCS-INI-NET-VNC-E2E" userId="487bc3e3-9ce7-4cdd-b7b4-8899ea88d289" providerId="ADAL" clId="{ADEEF08A-D719-4B50-A383-4105EDA2C206}" dt="2026-10-29T14:12:09.478" v="57" actId="478"/>
          <ac:spMkLst>
            <pc:docMk/>
            <pc:sldMk cId="3325836654" sldId="2145706282"/>
            <ac:spMk id="10" creationId="{AE56A713-7107-EBE1-2757-84C6A1F346F1}"/>
          </ac:spMkLst>
        </pc:spChg>
        <pc:spChg chg="del">
          <ac:chgData name="Graf Thomas, SCS-INI-NET-VNC-E2E" userId="487bc3e3-9ce7-4cdd-b7b4-8899ea88d289" providerId="ADAL" clId="{ADEEF08A-D719-4B50-A383-4105EDA2C206}" dt="2026-10-29T14:12:09.478" v="57" actId="478"/>
          <ac:spMkLst>
            <pc:docMk/>
            <pc:sldMk cId="3325836654" sldId="2145706282"/>
            <ac:spMk id="11" creationId="{97CADFF5-A2FD-EA83-3DC3-27D9F2FE3688}"/>
          </ac:spMkLst>
        </pc:spChg>
        <pc:spChg chg="del">
          <ac:chgData name="Graf Thomas, SCS-INI-NET-VNC-E2E" userId="487bc3e3-9ce7-4cdd-b7b4-8899ea88d289" providerId="ADAL" clId="{ADEEF08A-D719-4B50-A383-4105EDA2C206}" dt="2026-10-29T14:12:09.478" v="57" actId="478"/>
          <ac:spMkLst>
            <pc:docMk/>
            <pc:sldMk cId="3325836654" sldId="2145706282"/>
            <ac:spMk id="12" creationId="{80E2C7F2-70F7-2366-8405-DD8B496C3EF7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13" creationId="{6B8CC49A-6895-F74F-AFC4-016BF2936961}"/>
          </ac:spMkLst>
        </pc:spChg>
        <pc:spChg chg="del">
          <ac:chgData name="Graf Thomas, SCS-INI-NET-VNC-E2E" userId="487bc3e3-9ce7-4cdd-b7b4-8899ea88d289" providerId="ADAL" clId="{ADEEF08A-D719-4B50-A383-4105EDA2C206}" dt="2026-10-29T14:12:05.658" v="56" actId="478"/>
          <ac:spMkLst>
            <pc:docMk/>
            <pc:sldMk cId="3325836654" sldId="2145706282"/>
            <ac:spMk id="14" creationId="{2E397B88-154D-0023-5440-753CF12629C3}"/>
          </ac:spMkLst>
        </pc:spChg>
        <pc:spChg chg="del">
          <ac:chgData name="Graf Thomas, SCS-INI-NET-VNC-E2E" userId="487bc3e3-9ce7-4cdd-b7b4-8899ea88d289" providerId="ADAL" clId="{ADEEF08A-D719-4B50-A383-4105EDA2C206}" dt="2026-10-29T14:12:05.658" v="56" actId="478"/>
          <ac:spMkLst>
            <pc:docMk/>
            <pc:sldMk cId="3325836654" sldId="2145706282"/>
            <ac:spMk id="15" creationId="{4B14F5B6-9D7A-F0E0-005A-D5F38D2978EE}"/>
          </ac:spMkLst>
        </pc:spChg>
        <pc:spChg chg="del">
          <ac:chgData name="Graf Thomas, SCS-INI-NET-VNC-E2E" userId="487bc3e3-9ce7-4cdd-b7b4-8899ea88d289" providerId="ADAL" clId="{ADEEF08A-D719-4B50-A383-4105EDA2C206}" dt="2026-10-29T14:12:09.478" v="57" actId="478"/>
          <ac:spMkLst>
            <pc:docMk/>
            <pc:sldMk cId="3325836654" sldId="2145706282"/>
            <ac:spMk id="16" creationId="{A319674D-9832-40B7-7FAA-BDD9CAEAFC11}"/>
          </ac:spMkLst>
        </pc:spChg>
        <pc:spChg chg="del">
          <ac:chgData name="Graf Thomas, SCS-INI-NET-VNC-E2E" userId="487bc3e3-9ce7-4cdd-b7b4-8899ea88d289" providerId="ADAL" clId="{ADEEF08A-D719-4B50-A383-4105EDA2C206}" dt="2026-10-29T14:12:05.658" v="56" actId="478"/>
          <ac:spMkLst>
            <pc:docMk/>
            <pc:sldMk cId="3325836654" sldId="2145706282"/>
            <ac:spMk id="17" creationId="{AC9221D1-8532-6EA9-F509-32505D9B9C35}"/>
          </ac:spMkLst>
        </pc:spChg>
        <pc:spChg chg="del">
          <ac:chgData name="Graf Thomas, SCS-INI-NET-VNC-E2E" userId="487bc3e3-9ce7-4cdd-b7b4-8899ea88d289" providerId="ADAL" clId="{ADEEF08A-D719-4B50-A383-4105EDA2C206}" dt="2026-10-29T14:12:05.658" v="56" actId="478"/>
          <ac:spMkLst>
            <pc:docMk/>
            <pc:sldMk cId="3325836654" sldId="2145706282"/>
            <ac:spMk id="18" creationId="{4DE7638A-114C-65EC-40D0-622E68D530D2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19" creationId="{B5F87DB1-249D-2010-9A18-71853A3E781B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20" creationId="{E31C0B43-EB43-FF82-DC28-2CCCB3A0B8C1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21" creationId="{91B35023-D3FA-04E4-1B14-9EC671FE8E9D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23" creationId="{7D37093F-16D0-F27B-E026-597CC79CD4CE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25" creationId="{88B7591E-3FB3-7C06-CD24-23BAC7D17B58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26" creationId="{374F33C0-A9A4-860B-D709-9B2BD94D3E70}"/>
          </ac:spMkLst>
        </pc:spChg>
        <pc:spChg chg="add mod">
          <ac:chgData name="Graf Thomas, SCS-INI-NET-VNC-E2E" userId="487bc3e3-9ce7-4cdd-b7b4-8899ea88d289" providerId="ADAL" clId="{ADEEF08A-D719-4B50-A383-4105EDA2C206}" dt="2026-10-29T14:12:21.700" v="59" actId="1076"/>
          <ac:spMkLst>
            <pc:docMk/>
            <pc:sldMk cId="3325836654" sldId="2145706282"/>
            <ac:spMk id="27" creationId="{E6A1470D-8A9A-544C-555F-573282903804}"/>
          </ac:spMkLst>
        </pc:spChg>
        <pc:picChg chg="del">
          <ac:chgData name="Graf Thomas, SCS-INI-NET-VNC-E2E" userId="487bc3e3-9ce7-4cdd-b7b4-8899ea88d289" providerId="ADAL" clId="{ADEEF08A-D719-4B50-A383-4105EDA2C206}" dt="2026-10-29T14:12:09.478" v="57" actId="478"/>
          <ac:picMkLst>
            <pc:docMk/>
            <pc:sldMk cId="3325836654" sldId="2145706282"/>
            <ac:picMk id="7" creationId="{0A11DEF8-69C9-1E60-4EF8-A3E0E2EEFE5E}"/>
          </ac:picMkLst>
        </pc:picChg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1797023749" sldId="2145706285"/>
        </pc:sldMkLst>
      </pc:sldChg>
      <pc:sldChg chg="del">
        <pc:chgData name="Graf Thomas, SCS-INI-NET-VNC-E2E" userId="487bc3e3-9ce7-4cdd-b7b4-8899ea88d289" providerId="ADAL" clId="{ADEEF08A-D719-4B50-A383-4105EDA2C206}" dt="2026-10-29T14:08:49.282" v="42" actId="47"/>
        <pc:sldMkLst>
          <pc:docMk/>
          <pc:sldMk cId="636203143" sldId="2145706315"/>
        </pc:sldMkLst>
      </pc:sldChg>
      <pc:sldChg chg="modSp add del mod ord">
        <pc:chgData name="Graf Thomas, SCS-INI-NET-VNC-E2E" userId="487bc3e3-9ce7-4cdd-b7b4-8899ea88d289" providerId="ADAL" clId="{ADEEF08A-D719-4B50-A383-4105EDA2C206}" dt="2026-10-29T14:08:59.672" v="44"/>
        <pc:sldMkLst>
          <pc:docMk/>
          <pc:sldMk cId="3771165461" sldId="2145706322"/>
        </pc:sldMkLst>
        <pc:spChg chg="mod">
          <ac:chgData name="Graf Thomas, SCS-INI-NET-VNC-E2E" userId="487bc3e3-9ce7-4cdd-b7b4-8899ea88d289" providerId="ADAL" clId="{ADEEF08A-D719-4B50-A383-4105EDA2C206}" dt="2026-10-29T14:08:16.271" v="39"/>
          <ac:spMkLst>
            <pc:docMk/>
            <pc:sldMk cId="3771165461" sldId="2145706322"/>
            <ac:spMk id="8" creationId="{FBE5644D-AF4A-4732-B3D8-A1D12FF5A0D4}"/>
          </ac:spMkLst>
        </pc:spChg>
      </pc:sldChg>
      <pc:sldChg chg="modSp add del mod">
        <pc:chgData name="Graf Thomas, SCS-INI-NET-VNC-E2E" userId="487bc3e3-9ce7-4cdd-b7b4-8899ea88d289" providerId="ADAL" clId="{ADEEF08A-D719-4B50-A383-4105EDA2C206}" dt="2026-10-29T14:10:41.535" v="53"/>
        <pc:sldMkLst>
          <pc:docMk/>
          <pc:sldMk cId="343735406" sldId="2145706386"/>
        </pc:sldMkLst>
        <pc:spChg chg="mod">
          <ac:chgData name="Graf Thomas, SCS-INI-NET-VNC-E2E" userId="487bc3e3-9ce7-4cdd-b7b4-8899ea88d289" providerId="ADAL" clId="{ADEEF08A-D719-4B50-A383-4105EDA2C206}" dt="2026-10-29T14:10:17.372" v="49"/>
          <ac:spMkLst>
            <pc:docMk/>
            <pc:sldMk cId="343735406" sldId="2145706386"/>
            <ac:spMk id="8" creationId="{FBE5644D-AF4A-4732-B3D8-A1D12FF5A0D4}"/>
          </ac:spMkLst>
        </pc:spChg>
      </pc:sldChg>
      <pc:sldChg chg="del">
        <pc:chgData name="Graf Thomas, SCS-INI-NET-VNC-E2E" userId="487bc3e3-9ce7-4cdd-b7b4-8899ea88d289" providerId="ADAL" clId="{ADEEF08A-D719-4B50-A383-4105EDA2C206}" dt="2026-10-29T14:08:49.282" v="42" actId="47"/>
        <pc:sldMkLst>
          <pc:docMk/>
          <pc:sldMk cId="2948190088" sldId="2145706393"/>
        </pc:sldMkLst>
      </pc:sldChg>
      <pc:sldChg chg="del">
        <pc:chgData name="Graf Thomas, SCS-INI-NET-VNC-E2E" userId="487bc3e3-9ce7-4cdd-b7b4-8899ea88d289" providerId="ADAL" clId="{ADEEF08A-D719-4B50-A383-4105EDA2C206}" dt="2026-10-29T14:08:49.282" v="42" actId="47"/>
        <pc:sldMkLst>
          <pc:docMk/>
          <pc:sldMk cId="1409726424" sldId="2145706394"/>
        </pc:sldMkLst>
      </pc:sldChg>
      <pc:sldChg chg="del">
        <pc:chgData name="Graf Thomas, SCS-INI-NET-VNC-E2E" userId="487bc3e3-9ce7-4cdd-b7b4-8899ea88d289" providerId="ADAL" clId="{ADEEF08A-D719-4B50-A383-4105EDA2C206}" dt="2026-10-29T14:08:49.282" v="42" actId="47"/>
        <pc:sldMkLst>
          <pc:docMk/>
          <pc:sldMk cId="1014424318" sldId="2145706395"/>
        </pc:sldMkLst>
      </pc:sldChg>
      <pc:sldChg chg="del">
        <pc:chgData name="Graf Thomas, SCS-INI-NET-VNC-E2E" userId="487bc3e3-9ce7-4cdd-b7b4-8899ea88d289" providerId="ADAL" clId="{ADEEF08A-D719-4B50-A383-4105EDA2C206}" dt="2026-10-29T14:08:49.282" v="42" actId="47"/>
        <pc:sldMkLst>
          <pc:docMk/>
          <pc:sldMk cId="2261495533" sldId="2145706396"/>
        </pc:sldMkLst>
      </pc:sldChg>
      <pc:sldChg chg="del">
        <pc:chgData name="Graf Thomas, SCS-INI-NET-VNC-E2E" userId="487bc3e3-9ce7-4cdd-b7b4-8899ea88d289" providerId="ADAL" clId="{ADEEF08A-D719-4B50-A383-4105EDA2C206}" dt="2026-10-29T14:08:49.282" v="42" actId="47"/>
        <pc:sldMkLst>
          <pc:docMk/>
          <pc:sldMk cId="3815596983" sldId="2145706398"/>
        </pc:sldMkLst>
      </pc:sldChg>
      <pc:sldChg chg="del">
        <pc:chgData name="Graf Thomas, SCS-INI-NET-VNC-E2E" userId="487bc3e3-9ce7-4cdd-b7b4-8899ea88d289" providerId="ADAL" clId="{ADEEF08A-D719-4B50-A383-4105EDA2C206}" dt="2026-10-29T14:08:32.893" v="41" actId="47"/>
        <pc:sldMkLst>
          <pc:docMk/>
          <pc:sldMk cId="2167626885" sldId="2145706410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3853061195" sldId="2145706411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1975838871" sldId="2145706412"/>
        </pc:sldMkLst>
      </pc:sldChg>
      <pc:sldChg chg="add">
        <pc:chgData name="Graf Thomas, SCS-INI-NET-VNC-E2E" userId="487bc3e3-9ce7-4cdd-b7b4-8899ea88d289" providerId="ADAL" clId="{ADEEF08A-D719-4B50-A383-4105EDA2C206}" dt="2026-10-29T14:06:31.328" v="33"/>
        <pc:sldMkLst>
          <pc:docMk/>
          <pc:sldMk cId="2993795036" sldId="2145706413"/>
        </pc:sldMkLst>
      </pc:sldChg>
      <pc:sldMasterChg chg="delSldLayout">
        <pc:chgData name="Graf Thomas, SCS-INI-NET-VNC-E2E" userId="487bc3e3-9ce7-4cdd-b7b4-8899ea88d289" providerId="ADAL" clId="{ADEEF08A-D719-4B50-A383-4105EDA2C206}" dt="2026-10-29T14:08:49.282" v="42" actId="47"/>
        <pc:sldMasterMkLst>
          <pc:docMk/>
          <pc:sldMasterMk cId="1575956613" sldId="2147483648"/>
        </pc:sldMasterMkLst>
        <pc:sldLayoutChg chg="del">
          <pc:chgData name="Graf Thomas, SCS-INI-NET-VNC-E2E" userId="487bc3e3-9ce7-4cdd-b7b4-8899ea88d289" providerId="ADAL" clId="{ADEEF08A-D719-4B50-A383-4105EDA2C206}" dt="2026-10-29T14:08:49.282" v="42" actId="47"/>
          <pc:sldLayoutMkLst>
            <pc:docMk/>
            <pc:sldMasterMk cId="1575956613" sldId="2147483648"/>
            <pc:sldLayoutMk cId="1247954465" sldId="2147483662"/>
          </pc:sldLayoutMkLst>
        </pc:sldLayoutChg>
        <pc:sldLayoutChg chg="del">
          <pc:chgData name="Graf Thomas, SCS-INI-NET-VNC-E2E" userId="487bc3e3-9ce7-4cdd-b7b4-8899ea88d289" providerId="ADAL" clId="{ADEEF08A-D719-4B50-A383-4105EDA2C206}" dt="2026-10-29T14:08:49.282" v="42" actId="47"/>
          <pc:sldLayoutMkLst>
            <pc:docMk/>
            <pc:sldMasterMk cId="1575956613" sldId="2147483648"/>
            <pc:sldLayoutMk cId="1207674373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123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22687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1748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5885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8895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4369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4186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51325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24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3529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d538e9c0b5_2_1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3" name="Google Shape;1503;g2d538e9c0b5_2_13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g2d538e9c0b5_2_13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d538e9c0b5_2_13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g2d538e9c0b5_2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980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4BF26A0C-F6EE-2A46-71FE-E39D297B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F1ECFC07-02B3-5255-262B-F8D05DCE3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08012975-8E03-C8A4-42B5-0DCDA72FE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855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76B8C02C-3772-F0AE-9FE9-CCFA40189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E1261614-5B1B-4787-1A3B-295D99CC9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4F06D914-6447-4628-BF3F-34A405DFA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0743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B2F03925-E165-3AA5-14EB-68EE34EFA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20B4B339-73E1-DD83-F9E0-16B0D0FD1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0A9EE5C6-195B-75AE-6167-337BD9F35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7358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934EEF7E-55C3-E20A-E4DD-EDE9FD75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7B3D807D-1832-14E8-7206-CE6CF55908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7C9BB9CD-B3DC-4B60-CE95-CAF404C2F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05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FD365696-6FD7-8D01-8245-1F6B9D3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5E016976-46C9-B7AF-7AF2-4C55BBD3E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7DE42BFF-F297-A1C8-D4A5-2777CCDCF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832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D511E151-ABB2-8EAB-F655-3816AC03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A1EC2C73-9DB5-D03A-FC49-E5A4DA112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9F3C4E54-AB15-D076-0876-BA5D5866F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1968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497B1BEE-5147-0E38-FD91-CF015192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9545E538-871F-0816-F01E-6EA56F883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484F2E50-E1B8-31ED-56CD-A34B9FF3E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038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D2A15609-0547-E26A-147C-409BBF58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DB408533-64D4-270A-461D-7830D6583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856CF441-556B-2841-8C27-BC97D535CF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1068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BBCCF6-F8A8-4C49-BF3D-CA1AA74CA97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261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D659-03EA-650B-12F7-FD9CDA89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E4FE5-D6BA-4ECB-E0A2-862037F23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B4854-5D37-40ED-7EB6-FF4201251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D0561-48E4-CD63-080D-7BB39F5F5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2681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DCE5-4D6B-9384-2B37-2B702AF0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4E388-D545-D1A6-1478-0ACA2DF55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C3112-B193-4719-A10B-0751660AF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68655-EFD2-2C0A-C999-DF7DC6737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05494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A5E7-EBC4-D9D4-781D-ADBEF122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E2FF1-B784-631B-3276-AC9D79502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74986-E609-4B62-8436-9F1970D3A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A2E75-FE1D-70C7-E07C-B3F113D92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9383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97F6-B5B5-CBF5-181A-B4B336A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198F4-A55C-9C8A-C8F6-14B256B5A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16E52-ABDF-0C6F-BCCE-9E3CD87DE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40A94-FE18-9788-0B41-13B27E084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5097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ECA9-3BB8-6AE2-ADDA-325800DC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EF1CD-8252-62B6-E021-7037BF6E7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361A-BCFA-8A19-EBCC-93A3D356B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0DA4E-1495-79B9-D987-3162E4DFC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800697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F7BA-9D86-18D3-5EA6-9546E3B0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893B9-1456-C815-00A4-6961EE7FF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1E109-DE1C-844A-B684-6556A5637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F039F-7AD8-8A38-B218-AE2EF3D9F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975215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FEA3-C7FD-6D3C-BE4B-E337CE5B8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4B019-26E5-4C27-3A08-BB4B01FEC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31C12-45F7-972E-AB40-C364DDB0F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3D49C-B541-358A-D214-40E5C9FDE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C52A0-2F3F-497F-8536-39D60282E9C2}" type="slidenum">
              <a:rPr lang="de-CH" smtClean="0"/>
              <a:t>46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424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105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60646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 |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CAA1A37-9204-4A25-9054-31917E425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GB"/>
              <a:t>To add a picture, please right click the image placeholder and bring it to front. </a:t>
            </a:r>
            <a:br>
              <a:rPr lang="en-GB"/>
            </a:br>
            <a:br>
              <a:rPr lang="en-GB"/>
            </a:br>
            <a:r>
              <a:rPr lang="en-GB"/>
              <a:t>You can now insert a picture by clicking on the placeholder image icon. Then click the Reset button on the Home menu tab to send the picture to background.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6E9A991-EE31-4DB7-89CA-2351FF782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179506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 type="tx">
  <p:cSld name="1_Title and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11230425" y="6369657"/>
            <a:ext cx="35197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83470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|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CAA1A37-9204-4A25-9054-31917E425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GB"/>
              <a:t>To add a picture, please right click the image placeholder and bring it to front. </a:t>
            </a:r>
            <a:br>
              <a:rPr lang="en-GB"/>
            </a:br>
            <a:br>
              <a:rPr lang="en-GB"/>
            </a:br>
            <a:r>
              <a:rPr lang="en-GB"/>
              <a:t>You can now insert a picture by clicking on the placeholder image icon. Then click the Reset button on the Home menu tab to send the picture to background.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6E9A991-EE31-4DB7-89CA-2351FF782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2988758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105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407790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GB"/>
              <a:t>To add a picture, please right click the image placeholder and bring it to front. </a:t>
            </a:r>
            <a:br>
              <a:rPr lang="en-GB"/>
            </a:br>
            <a:br>
              <a:rPr lang="en-GB"/>
            </a:br>
            <a:r>
              <a:rPr lang="en-GB"/>
              <a:t>You can now insert a picture by clicking on the placeholder image icon. Then click the Reset button on the Home menu tab to send the picture to background.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1DE48AB-B208-4189-8089-DC7BC55579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4058809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C4B535-EC52-4CF4-B9BE-3BC9700663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3279" y="1484313"/>
            <a:ext cx="8109296" cy="48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7113FC-C0DE-475B-B48F-F341EA6D3B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68689" y="5122052"/>
            <a:ext cx="234000" cy="125927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Click to edit subline</a:t>
            </a:r>
          </a:p>
          <a:p>
            <a:pPr lvl="1"/>
            <a:r>
              <a:rPr lang="en-GB"/>
              <a:t>Level 2</a:t>
            </a:r>
          </a:p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88788FE-2FC8-4F5B-B883-59F33B86B1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r>
              <a:rPr lang="en-GB"/>
              <a:t>C2 Internal</a:t>
            </a:r>
          </a:p>
        </p:txBody>
      </p:sp>
    </p:spTree>
    <p:extLst>
      <p:ext uri="{BB962C8B-B14F-4D97-AF65-F5344CB8AC3E}">
        <p14:creationId xmlns:p14="http://schemas.microsoft.com/office/powerpoint/2010/main" val="1027525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932D0D-2845-4C0F-8A35-71A52A42F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2000" y="936000"/>
            <a:ext cx="9900000" cy="5568750"/>
          </a:xfrm>
          <a:prstGeom prst="rect">
            <a:avLst/>
          </a:prstGeom>
          <a:ln>
            <a:noFill/>
          </a:ln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/>
              <a:t>Divider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Optional short description of the current chapter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9483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199456" y="1484313"/>
            <a:ext cx="8208000" cy="2160711"/>
          </a:xfrm>
        </p:spPr>
        <p:txBody>
          <a:bodyPr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Divider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200026" y="3717032"/>
            <a:ext cx="8208000" cy="187220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/>
              <a:t>Optional short description of the current chapter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05E948-0429-4BA5-BE6A-0FB567FE1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58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|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6772B1F-B86A-452C-8BEE-2355B59EA550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black">
          <a:xfrm>
            <a:off x="6600056" y="1484784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88445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  <p15:guide id="2" pos="4158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|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3940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5112000" cy="720000"/>
          </a:xfrm>
        </p:spPr>
        <p:txBody>
          <a:bodyPr tIns="28800"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09E298D1-1B8A-48BA-B429-C8DD2EAF64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600825" y="0"/>
            <a:ext cx="5591175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/>
              <a:t>Click icon </a:t>
            </a:r>
            <a:br>
              <a:rPr lang="en-GB"/>
            </a:br>
            <a:r>
              <a:rPr lang="en-GB"/>
              <a:t>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46254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76">
          <p15:clr>
            <a:srgbClr val="547EBF"/>
          </p15:clr>
        </p15:guide>
        <p15:guide id="3" pos="4158">
          <p15:clr>
            <a:srgbClr val="547EB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5" y="3716610"/>
            <a:ext cx="105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4"/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2348880"/>
            <a:ext cx="10512000" cy="1224136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5479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orient="horz" pos="2341">
          <p15:clr>
            <a:srgbClr val="547EB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3716610"/>
            <a:ext cx="51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0"/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8" y="2348880"/>
            <a:ext cx="5112000" cy="1223714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61ED10A-0495-4A89-BA52-79C00234B56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6600825" y="0"/>
            <a:ext cx="5591175" cy="6858000"/>
          </a:xfrm>
          <a:noFill/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329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3976">
          <p15:clr>
            <a:srgbClr val="547EBF"/>
          </p15:clr>
        </p15:guide>
        <p15:guide id="3" pos="4158">
          <p15:clr>
            <a:srgbClr val="547EBF"/>
          </p15:clr>
        </p15:guide>
        <p15:guide id="4" orient="horz" pos="2337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FF2B5EF4-FFF2-40B4-BE49-F238E27FC236}">
                <a16:creationId xmlns:a16="http://schemas.microsoft.com/office/drawing/2014/main" id="{2E310726-F0F9-435D-B724-F278EC7290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199456" y="0"/>
            <a:ext cx="4536504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/>
              <a:t>Click icon </a:t>
            </a:r>
            <a:br>
              <a:rPr lang="en-GB"/>
            </a:br>
            <a:r>
              <a:rPr lang="en-GB"/>
              <a:t>to add picture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600056" y="3716610"/>
            <a:ext cx="51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6600057" y="2348880"/>
            <a:ext cx="5112000" cy="1223714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011864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4158">
          <p15:clr>
            <a:srgbClr val="547EBF"/>
          </p15:clr>
        </p15:guide>
        <p15:guide id="3" pos="3613">
          <p15:clr>
            <a:srgbClr val="547EBF"/>
          </p15:clr>
        </p15:guide>
        <p15:guide id="4" orient="horz" pos="234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/>
              <a:t>Click icon </a:t>
            </a:r>
            <a:br>
              <a:rPr lang="en-GB"/>
            </a:br>
            <a:r>
              <a:rPr lang="en-GB"/>
              <a:t>to add picture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C7B15AF-35F6-4342-BFFD-60CEF2991A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55600" y="360000"/>
            <a:ext cx="342000" cy="4608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0A1EC-77F3-4323-93F3-DA7A757DE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933056"/>
            <a:ext cx="5183882" cy="1656000"/>
          </a:xfrm>
        </p:spPr>
        <p:txBody>
          <a:bodyPr tIns="0"/>
          <a:lstStyle>
            <a:lvl1pPr>
              <a:lnSpc>
                <a:spcPct val="90000"/>
              </a:lnSpc>
              <a:defRPr sz="3200"/>
            </a:lvl1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42611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2">
            <a:extLst>
              <a:ext uri="{FF2B5EF4-FFF2-40B4-BE49-F238E27FC236}">
                <a16:creationId xmlns:a16="http://schemas.microsoft.com/office/drawing/2014/main" id="{31CCA9A7-7392-474F-A97C-4FFD1536D6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828" r="-3007"/>
          <a:stretch/>
        </p:blipFill>
        <p:spPr>
          <a:xfrm>
            <a:off x="1203656" y="0"/>
            <a:ext cx="12237159" cy="6858000"/>
          </a:xfrm>
          <a:prstGeom prst="rect">
            <a:avLst/>
          </a:prstGeom>
          <a:ln>
            <a:noFill/>
          </a:ln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D46F054-5B83-4656-A174-AFA2194CA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199456" y="1484313"/>
            <a:ext cx="5112000" cy="4897437"/>
          </a:xfrm>
        </p:spPr>
        <p:txBody>
          <a:bodyPr lIns="21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2394948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6BEA9E-AA8A-4009-9F77-9A844B1639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199456" y="1484313"/>
            <a:ext cx="5112000" cy="48974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8744BB-555F-45E2-92B2-3298A462D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33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5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096239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E6DB4-7ADC-4B55-8AD8-3BA360268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F3D12-0829-4466-A8F8-35405B4F1E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94C8E0-E39E-40CF-9F7E-CFC728DE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63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5E00E-D6FB-4E33-8601-E8BA89784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442036-1C04-47BC-98AD-23710B5C32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02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Kapiteltrenner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>
                <a:solidFill>
                  <a:prstClr val="white"/>
                </a:solidFill>
              </a:rPr>
              <a:t>10.1.2019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5AB295-D6C4-47D1-A1F8-2C867292F84F}" type="slidenum">
              <a:rPr lang="en-GB" smtClean="0">
                <a:solidFill>
                  <a:prstClr val="white"/>
                </a:solidFill>
              </a:rPr>
              <a:pPr/>
              <a:t>‹#›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prstClr val="white"/>
                </a:solidFill>
              </a:rPr>
              <a:t>Introduction to Telemetry </a:t>
            </a:r>
            <a:endParaRPr lang="en-GB">
              <a:solidFill>
                <a:prstClr val="white"/>
              </a:solidFill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527051" y="1412875"/>
            <a:ext cx="10464800" cy="1944688"/>
          </a:xfrm>
          <a:prstGeom prst="rect">
            <a:avLst/>
          </a:prstGeom>
        </p:spPr>
        <p:txBody>
          <a:bodyPr bIns="0" anchor="ctr"/>
          <a:lstStyle>
            <a:lvl1pPr marL="490414" indent="-490414">
              <a:spcBef>
                <a:spcPts val="0"/>
              </a:spcBef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-489476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2pPr>
            <a:lvl3pPr marL="0" indent="-489476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3pPr>
            <a:lvl4pPr marL="0" indent="0">
              <a:buNone/>
              <a:defRPr sz="4400"/>
            </a:lvl4pPr>
            <a:lvl5pPr marL="0" indent="-489476">
              <a:spcBef>
                <a:spcPts val="0"/>
              </a:spcBef>
              <a:buFont typeface="Arial" pitchFamily="34" charset="0"/>
              <a:buNone/>
              <a:defRPr sz="4400">
                <a:solidFill>
                  <a:schemeClr val="bg1"/>
                </a:solidFill>
              </a:defRPr>
            </a:lvl5pPr>
            <a:lvl6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6pPr>
            <a:lvl7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7pPr>
            <a:lvl8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8pPr>
            <a:lvl9pPr marL="0" indent="-489476">
              <a:spcBef>
                <a:spcPts val="0"/>
              </a:spcBef>
              <a:buNone/>
              <a:defRPr sz="4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gray">
          <a:xfrm flipV="1">
            <a:off x="1198493" y="1412720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gray">
          <a:xfrm flipV="1">
            <a:off x="1198493" y="3356991"/>
            <a:ext cx="97933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gray">
          <a:xfrm>
            <a:off x="11567594" y="1412875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gray">
          <a:xfrm>
            <a:off x="11567594" y="6021288"/>
            <a:ext cx="38523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893" tIns="60945" rIns="121893" bIns="60945"/>
          <a:lstStyle/>
          <a:p>
            <a:endParaRPr lang="en-GB" sz="1867">
              <a:solidFill>
                <a:prstClr val="white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207751" y="6237313"/>
            <a:ext cx="762000" cy="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067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527051" y="260352"/>
            <a:ext cx="10464800" cy="1152525"/>
          </a:xfrm>
          <a:prstGeom prst="rect">
            <a:avLst/>
          </a:prstGeom>
        </p:spPr>
        <p:txBody>
          <a:bodyPr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/>
              <a:t>10.1.2019</a:t>
            </a:r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9E9E80D-70AF-457A-95FA-A9D03F861920}" type="slidenum">
              <a:rPr lang="de-CH" smtClean="0"/>
              <a:t>‹#›</a:t>
            </a:fld>
            <a:endParaRPr lang="de-CH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Introduction to Telemetry </a:t>
            </a:r>
            <a:endParaRPr lang="de-CH"/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1200151" y="1773241"/>
            <a:ext cx="4800600" cy="20878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3" name="Inhaltsplatzhalter 7"/>
          <p:cNvSpPr>
            <a:spLocks noGrp="1"/>
          </p:cNvSpPr>
          <p:nvPr>
            <p:ph sz="quarter" idx="18"/>
          </p:nvPr>
        </p:nvSpPr>
        <p:spPr>
          <a:xfrm>
            <a:off x="6191251" y="1773241"/>
            <a:ext cx="4800600" cy="20878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6" name="Inhaltsplatzhalter 7"/>
          <p:cNvSpPr>
            <a:spLocks noGrp="1"/>
          </p:cNvSpPr>
          <p:nvPr>
            <p:ph sz="quarter" idx="19"/>
          </p:nvPr>
        </p:nvSpPr>
        <p:spPr>
          <a:xfrm>
            <a:off x="1200151" y="4005064"/>
            <a:ext cx="4800600" cy="20162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7" name="Inhaltsplatzhalter 7"/>
          <p:cNvSpPr>
            <a:spLocks noGrp="1"/>
          </p:cNvSpPr>
          <p:nvPr>
            <p:ph sz="quarter" idx="20"/>
          </p:nvPr>
        </p:nvSpPr>
        <p:spPr>
          <a:xfrm>
            <a:off x="6191251" y="4005064"/>
            <a:ext cx="4800600" cy="20162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485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GB"/>
              <a:t>Author, Date, Presentation title, C0 classification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79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black">
          <a:xfrm>
            <a:off x="1200150" y="332656"/>
            <a:ext cx="10512000" cy="720000"/>
          </a:xfrm>
          <a:prstGeom prst="rect">
            <a:avLst/>
          </a:prstGeom>
        </p:spPr>
        <p:txBody>
          <a:bodyPr vert="horz" lIns="0" tIns="28800" rIns="0" bIns="0" rtlCol="0" anchor="t">
            <a:noAutofit/>
          </a:bodyPr>
          <a:lstStyle/>
          <a:p>
            <a:r>
              <a:rPr lang="en-GB"/>
              <a:t>Click to edit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1200150" y="1484015"/>
            <a:ext cx="10512000" cy="4897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text. Use the buttons “Increase List Level” and “Decrease List Level” for copytext or bullet levels.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black">
          <a:xfrm rot="16200000">
            <a:off x="-1645271" y="3392999"/>
            <a:ext cx="4105278" cy="28790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Telemetry 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black">
          <a:xfrm flipH="1">
            <a:off x="191344" y="6093336"/>
            <a:ext cx="432048" cy="360000"/>
          </a:xfrm>
          <a:prstGeom prst="rect">
            <a:avLst/>
          </a:prstGeom>
        </p:spPr>
        <p:txBody>
          <a:bodyPr vert="horz" lIns="0" tIns="0" rIns="0" bIns="14400" rtlCol="0" anchor="b">
            <a:noAutofit/>
          </a:bodyPr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EAD1F8-D385-4F7B-B8F3-539267025C3B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grpSp>
        <p:nvGrpSpPr>
          <p:cNvPr id="22" name="Gruppieren 24">
            <a:extLst>
              <a:ext uri="{FF2B5EF4-FFF2-40B4-BE49-F238E27FC236}">
                <a16:creationId xmlns:a16="http://schemas.microsoft.com/office/drawing/2014/main" id="{312B57C8-CC79-40AA-8AA4-6CB66F54872B}"/>
              </a:ext>
            </a:extLst>
          </p:cNvPr>
          <p:cNvGrpSpPr/>
          <p:nvPr userDrawn="1"/>
        </p:nvGrpSpPr>
        <p:grpSpPr bwMode="gray">
          <a:xfrm>
            <a:off x="-168688" y="404664"/>
            <a:ext cx="72000" cy="5976664"/>
            <a:chOff x="-456728" y="404664"/>
            <a:chExt cx="216000" cy="5976664"/>
          </a:xfrm>
        </p:grpSpPr>
        <p:cxnSp>
          <p:nvCxnSpPr>
            <p:cNvPr id="26" name="Gerader Verbinder 22">
              <a:extLst>
                <a:ext uri="{FF2B5EF4-FFF2-40B4-BE49-F238E27FC236}">
                  <a16:creationId xmlns:a16="http://schemas.microsoft.com/office/drawing/2014/main" id="{CA530E4D-6A1D-440A-A92A-58B79E86CAA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456728" y="4046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3">
              <a:extLst>
                <a:ext uri="{FF2B5EF4-FFF2-40B4-BE49-F238E27FC236}">
                  <a16:creationId xmlns:a16="http://schemas.microsoft.com/office/drawing/2014/main" id="{41000BC1-4CED-4E84-B948-0C3FBB61C61C}"/>
                </a:ext>
              </a:extLst>
            </p:cNvPr>
            <p:cNvCxnSpPr/>
            <p:nvPr userDrawn="1"/>
          </p:nvCxnSpPr>
          <p:spPr bwMode="gray">
            <a:xfrm>
              <a:off x="-456728" y="6381328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2">
              <a:extLst>
                <a:ext uri="{FF2B5EF4-FFF2-40B4-BE49-F238E27FC236}">
                  <a16:creationId xmlns:a16="http://schemas.microsoft.com/office/drawing/2014/main" id="{A5C6A947-9107-449C-B734-B1EBC6B45977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456728" y="148478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0">
            <a:extLst>
              <a:ext uri="{FF2B5EF4-FFF2-40B4-BE49-F238E27FC236}">
                <a16:creationId xmlns:a16="http://schemas.microsoft.com/office/drawing/2014/main" id="{C68B8BB5-A052-4302-8C36-A7347B54D093}"/>
              </a:ext>
            </a:extLst>
          </p:cNvPr>
          <p:cNvGrpSpPr/>
          <p:nvPr userDrawn="1"/>
        </p:nvGrpSpPr>
        <p:grpSpPr bwMode="black">
          <a:xfrm>
            <a:off x="1199456" y="-171400"/>
            <a:ext cx="10513168" cy="72000"/>
            <a:chOff x="1199456" y="-243408"/>
            <a:chExt cx="10513168" cy="216000"/>
          </a:xfrm>
        </p:grpSpPr>
        <p:cxnSp>
          <p:nvCxnSpPr>
            <p:cNvPr id="31" name="Gerader Verbinder 12">
              <a:extLst>
                <a:ext uri="{FF2B5EF4-FFF2-40B4-BE49-F238E27FC236}">
                  <a16:creationId xmlns:a16="http://schemas.microsoft.com/office/drawing/2014/main" id="{0BBDD4DC-2F5E-4921-A28A-16256894A83A}"/>
                </a:ext>
              </a:extLst>
            </p:cNvPr>
            <p:cNvCxnSpPr/>
            <p:nvPr userDrawn="1"/>
          </p:nvCxnSpPr>
          <p:spPr bwMode="black">
            <a:xfrm>
              <a:off x="11994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13">
              <a:extLst>
                <a:ext uri="{FF2B5EF4-FFF2-40B4-BE49-F238E27FC236}">
                  <a16:creationId xmlns:a16="http://schemas.microsoft.com/office/drawing/2014/main" id="{387E5392-44DA-4D9C-9F10-E50075FC9154}"/>
                </a:ext>
              </a:extLst>
            </p:cNvPr>
            <p:cNvCxnSpPr/>
            <p:nvPr userDrawn="1"/>
          </p:nvCxnSpPr>
          <p:spPr bwMode="black">
            <a:xfrm>
              <a:off x="4511824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14">
              <a:extLst>
                <a:ext uri="{FF2B5EF4-FFF2-40B4-BE49-F238E27FC236}">
                  <a16:creationId xmlns:a16="http://schemas.microsoft.com/office/drawing/2014/main" id="{038593D0-2B60-40E3-93F2-262F8CC888AA}"/>
                </a:ext>
              </a:extLst>
            </p:cNvPr>
            <p:cNvCxnSpPr/>
            <p:nvPr userDrawn="1"/>
          </p:nvCxnSpPr>
          <p:spPr bwMode="black">
            <a:xfrm>
              <a:off x="4799856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15">
              <a:extLst>
                <a:ext uri="{FF2B5EF4-FFF2-40B4-BE49-F238E27FC236}">
                  <a16:creationId xmlns:a16="http://schemas.microsoft.com/office/drawing/2014/main" id="{8953402E-258F-4450-AB76-4174CBC5B640}"/>
                </a:ext>
              </a:extLst>
            </p:cNvPr>
            <p:cNvCxnSpPr/>
            <p:nvPr userDrawn="1"/>
          </p:nvCxnSpPr>
          <p:spPr bwMode="black">
            <a:xfrm>
              <a:off x="63120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16">
              <a:extLst>
                <a:ext uri="{FF2B5EF4-FFF2-40B4-BE49-F238E27FC236}">
                  <a16:creationId xmlns:a16="http://schemas.microsoft.com/office/drawing/2014/main" id="{E0A7F052-1C09-4A7C-9370-039CD8902FFA}"/>
                </a:ext>
              </a:extLst>
            </p:cNvPr>
            <p:cNvCxnSpPr/>
            <p:nvPr userDrawn="1"/>
          </p:nvCxnSpPr>
          <p:spPr bwMode="black">
            <a:xfrm>
              <a:off x="66000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17">
              <a:extLst>
                <a:ext uri="{FF2B5EF4-FFF2-40B4-BE49-F238E27FC236}">
                  <a16:creationId xmlns:a16="http://schemas.microsoft.com/office/drawing/2014/main" id="{CAC11A3C-8D30-4CD1-A9F1-01713888DC5B}"/>
                </a:ext>
              </a:extLst>
            </p:cNvPr>
            <p:cNvCxnSpPr/>
            <p:nvPr userDrawn="1"/>
          </p:nvCxnSpPr>
          <p:spPr bwMode="black">
            <a:xfrm>
              <a:off x="8112224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18">
              <a:extLst>
                <a:ext uri="{FF2B5EF4-FFF2-40B4-BE49-F238E27FC236}">
                  <a16:creationId xmlns:a16="http://schemas.microsoft.com/office/drawing/2014/main" id="{1561F3C7-9D7D-4E3B-BD9E-A0E0CCC1BB4D}"/>
                </a:ext>
              </a:extLst>
            </p:cNvPr>
            <p:cNvCxnSpPr/>
            <p:nvPr userDrawn="1"/>
          </p:nvCxnSpPr>
          <p:spPr bwMode="black">
            <a:xfrm>
              <a:off x="8400256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19">
              <a:extLst>
                <a:ext uri="{FF2B5EF4-FFF2-40B4-BE49-F238E27FC236}">
                  <a16:creationId xmlns:a16="http://schemas.microsoft.com/office/drawing/2014/main" id="{3DB0CF6B-3782-471C-855D-AC7156B1FC4C}"/>
                </a:ext>
              </a:extLst>
            </p:cNvPr>
            <p:cNvCxnSpPr/>
            <p:nvPr userDrawn="1"/>
          </p:nvCxnSpPr>
          <p:spPr bwMode="black">
            <a:xfrm>
              <a:off x="117126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13">
              <a:extLst>
                <a:ext uri="{FF2B5EF4-FFF2-40B4-BE49-F238E27FC236}">
                  <a16:creationId xmlns:a16="http://schemas.microsoft.com/office/drawing/2014/main" id="{2E9AEC7D-A7E2-4653-9EA9-1D23D8079F01}"/>
                </a:ext>
              </a:extLst>
            </p:cNvPr>
            <p:cNvCxnSpPr/>
            <p:nvPr userDrawn="1"/>
          </p:nvCxnSpPr>
          <p:spPr bwMode="black">
            <a:xfrm>
              <a:off x="36117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14">
              <a:extLst>
                <a:ext uri="{FF2B5EF4-FFF2-40B4-BE49-F238E27FC236}">
                  <a16:creationId xmlns:a16="http://schemas.microsoft.com/office/drawing/2014/main" id="{8E8724AC-A11A-4D85-9E2A-D4FF98B41AEB}"/>
                </a:ext>
              </a:extLst>
            </p:cNvPr>
            <p:cNvCxnSpPr/>
            <p:nvPr userDrawn="1"/>
          </p:nvCxnSpPr>
          <p:spPr bwMode="black">
            <a:xfrm>
              <a:off x="38997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17">
              <a:extLst>
                <a:ext uri="{FF2B5EF4-FFF2-40B4-BE49-F238E27FC236}">
                  <a16:creationId xmlns:a16="http://schemas.microsoft.com/office/drawing/2014/main" id="{EA29EE29-0A4A-4211-91D5-77203B3EF25D}"/>
                </a:ext>
              </a:extLst>
            </p:cNvPr>
            <p:cNvCxnSpPr/>
            <p:nvPr userDrawn="1"/>
          </p:nvCxnSpPr>
          <p:spPr bwMode="black">
            <a:xfrm>
              <a:off x="90123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18">
              <a:extLst>
                <a:ext uri="{FF2B5EF4-FFF2-40B4-BE49-F238E27FC236}">
                  <a16:creationId xmlns:a16="http://schemas.microsoft.com/office/drawing/2014/main" id="{64CF9FB5-CE38-42DD-A4E5-AD6CCCFD7CE3}"/>
                </a:ext>
              </a:extLst>
            </p:cNvPr>
            <p:cNvCxnSpPr/>
            <p:nvPr userDrawn="1"/>
          </p:nvCxnSpPr>
          <p:spPr bwMode="black">
            <a:xfrm>
              <a:off x="93003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736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6">
          <p15:clr>
            <a:srgbClr val="547EBF"/>
          </p15:clr>
        </p15:guide>
        <p15:guide id="5" pos="7378">
          <p15:clr>
            <a:srgbClr val="547EBF"/>
          </p15:clr>
        </p15:guide>
        <p15:guide id="11" orient="horz" pos="4020">
          <p15:clr>
            <a:srgbClr val="547EBF"/>
          </p15:clr>
        </p15:guide>
        <p15:guide id="14" orient="horz" pos="935">
          <p15:clr>
            <a:srgbClr val="547EBF"/>
          </p15:clr>
        </p15:guide>
        <p15:guide id="15" orient="horz" pos="255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232" TargetMode="External"/><Relationship Id="rId2" Type="http://schemas.openxmlformats.org/officeDocument/2006/relationships/hyperlink" Target="https://datatracker.ietf.org/doc/html/rfc7950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fluent.io/thank-you/resources/ebook/kafka-the-definitive-guide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9254#section-3.3" TargetMode="External"/><Relationship Id="rId2" Type="http://schemas.openxmlformats.org/officeDocument/2006/relationships/hyperlink" Target="https://www.kimballgroup.com/data-warehouse-business-intelligence-resources/books/data-warehouse-dw-toolki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conf-yang-library-augmentedby" TargetMode="External"/><Relationship Id="rId3" Type="http://schemas.openxmlformats.org/officeDocument/2006/relationships/hyperlink" Target="https://datatracker.ietf.org/doc/html/rfc8641" TargetMode="External"/><Relationship Id="rId7" Type="http://schemas.openxmlformats.org/officeDocument/2006/relationships/hyperlink" Target="https://datatracker.ietf.org/doc/html/rfc8525" TargetMode="External"/><Relationship Id="rId2" Type="http://schemas.openxmlformats.org/officeDocument/2006/relationships/hyperlink" Target="https://datatracker.ietf.org/doc/html/rfc9196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tracker.ietf.org/doc/html/rfc6022" TargetMode="External"/><Relationship Id="rId5" Type="http://schemas.openxmlformats.org/officeDocument/2006/relationships/hyperlink" Target="https://datatracker.ietf.org/doc/html/rfc8343" TargetMode="External"/><Relationship Id="rId4" Type="http://schemas.openxmlformats.org/officeDocument/2006/relationships/hyperlink" Target="https://datatracker.ietf.org/doc/html/rfc8342" TargetMode="External"/><Relationship Id="rId9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hyperlink" Target="https://datatracker.ietf.org/doc/html/draft-ietf-nmop-message-broker-telemetry-message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mod-yang-anydata-validation" TargetMode="External"/><Relationship Id="rId13" Type="http://schemas.openxmlformats.org/officeDocument/2006/relationships/hyperlink" Target="https://datatracker.ietf.org/doc/html/draft-ietf-nmop-message-broker-telemetry-message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datatracker.ietf.org/doc/html/draft-ietf-netconf-notif-envelope" TargetMode="External"/><Relationship Id="rId12" Type="http://schemas.openxmlformats.org/officeDocument/2006/relationships/hyperlink" Target="https://datatracker.ietf.org/doc/html/draft-ietf-nmop-yang-message-broker-integr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tracker.ietf.org/doc/html/draft-ietf-netconf-yp-transport-capabilities" TargetMode="External"/><Relationship Id="rId11" Type="http://schemas.openxmlformats.org/officeDocument/2006/relationships/hyperlink" Target="https://datatracker.ietf.org/doc/html/draft-ietf-netconf-yp-observability" TargetMode="External"/><Relationship Id="rId5" Type="http://schemas.openxmlformats.org/officeDocument/2006/relationships/hyperlink" Target="https://datatracker.ietf.org/doc/html/draft-ietf-netconf-distributed-notif" TargetMode="External"/><Relationship Id="rId15" Type="http://schemas.openxmlformats.org/officeDocument/2006/relationships/hyperlink" Target="https://datatracker.ietf.org/doc/html/draft-netana-nmop-message-broker-bmp-telemetry-msg" TargetMode="External"/><Relationship Id="rId10" Type="http://schemas.openxmlformats.org/officeDocument/2006/relationships/hyperlink" Target="https://datatracker.ietf.org/doc/html/draft-ietf-netconf-yang-library-augmentation" TargetMode="External"/><Relationship Id="rId4" Type="http://schemas.openxmlformats.org/officeDocument/2006/relationships/hyperlink" Target="https://datatracker.ietf.org/doc/html/draft-ietf-netconf-udp-notif" TargetMode="External"/><Relationship Id="rId9" Type="http://schemas.openxmlformats.org/officeDocument/2006/relationships/hyperlink" Target="https://datatracker.ietf.org/doc/html/draft-ietf-netconf-yang-notifications-versioning" TargetMode="External"/><Relationship Id="rId14" Type="http://schemas.openxmlformats.org/officeDocument/2006/relationships/hyperlink" Target="https://datatracker.ietf.org/doc/html/draft-ietf-nmop-yang-message-broker-message-key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conf-yang-library-augmentedby" TargetMode="External"/><Relationship Id="rId13" Type="http://schemas.openxmlformats.org/officeDocument/2006/relationships/hyperlink" Target="https://datatracker.ietf.org/doc/html/draft-ietf-netconf-yp-transport-capabilities" TargetMode="External"/><Relationship Id="rId3" Type="http://schemas.openxmlformats.org/officeDocument/2006/relationships/hyperlink" Target="https://datatracker.ietf.org/doc/html/rfc8641" TargetMode="External"/><Relationship Id="rId7" Type="http://schemas.openxmlformats.org/officeDocument/2006/relationships/hyperlink" Target="https://datatracker.ietf.org/doc/html/rfc8525" TargetMode="External"/><Relationship Id="rId12" Type="http://schemas.openxmlformats.org/officeDocument/2006/relationships/hyperlink" Target="https://datatracker.ietf.org/doc/html/rfc9147" TargetMode="External"/><Relationship Id="rId2" Type="http://schemas.openxmlformats.org/officeDocument/2006/relationships/hyperlink" Target="https://datatracker.ietf.org/doc/html/draft-ietf-netconf-udp-notif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tracker.ietf.org/doc/html/rfc9196" TargetMode="External"/><Relationship Id="rId11" Type="http://schemas.openxmlformats.org/officeDocument/2006/relationships/hyperlink" Target="https://www.rfc-editor.org/rfc/rfc6347" TargetMode="External"/><Relationship Id="rId5" Type="http://schemas.openxmlformats.org/officeDocument/2006/relationships/hyperlink" Target="https://datatracker.ietf.org/doc/html/draft-ietf-netconf-yang-notifications-versioning" TargetMode="External"/><Relationship Id="rId10" Type="http://schemas.openxmlformats.org/officeDocument/2006/relationships/hyperlink" Target="https://datatracker.ietf.org/doc/html/rfc9254" TargetMode="External"/><Relationship Id="rId4" Type="http://schemas.openxmlformats.org/officeDocument/2006/relationships/hyperlink" Target="https://datatracker.ietf.org/doc/html/draft-netana-netconf-notif-envelope" TargetMode="External"/><Relationship Id="rId9" Type="http://schemas.openxmlformats.org/officeDocument/2006/relationships/hyperlink" Target="https://datatracker.ietf.org/doc/html/draft-ietf-netconf-distributed-noti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127#section-2.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tracker.ietf.org/doc/html/rfc9127#section-2.7" TargetMode="External"/><Relationship Id="rId4" Type="http://schemas.openxmlformats.org/officeDocument/2006/relationships/hyperlink" Target="https://datatracker.ietf.org/doc/html/rfc9127#section-2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twork-analytics/udp-notif-dissector" TargetMode="External"/><Relationship Id="rId3" Type="http://schemas.openxmlformats.org/officeDocument/2006/relationships/hyperlink" Target="https://github.com/NetGauze/NetGauze" TargetMode="External"/><Relationship Id="rId7" Type="http://schemas.openxmlformats.org/officeDocument/2006/relationships/hyperlink" Target="https://github.com/yang-central/yangki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CESNET/libyang/releases/tag/v5.4.9" TargetMode="External"/><Relationship Id="rId5" Type="http://schemas.openxmlformats.org/officeDocument/2006/relationships/hyperlink" Target="https://github.com/network-analytics/yang-kafka-integration" TargetMode="External"/><Relationship Id="rId10" Type="http://schemas.openxmlformats.org/officeDocument/2006/relationships/hyperlink" Target="https://www.network-analytics.org/yp/how-to-deploy.html" TargetMode="External"/><Relationship Id="rId4" Type="http://schemas.openxmlformats.org/officeDocument/2006/relationships/hyperlink" Target="https://github.com/pmacct/pmacct" TargetMode="External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twork-analytics/ietf-network-analytics-document-status/tree/main/126/Hackatho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conf-yang-notifications-versioning" TargetMode="External"/><Relationship Id="rId13" Type="http://schemas.openxmlformats.org/officeDocument/2006/relationships/hyperlink" Target="https://datatracker.ietf.org/doc/html/draft-netana-nmop-yang-anydata-validation" TargetMode="External"/><Relationship Id="rId3" Type="http://schemas.openxmlformats.org/officeDocument/2006/relationships/hyperlink" Target="https://datatracker.ietf.org/doc/html/rfc8639" TargetMode="External"/><Relationship Id="rId7" Type="http://schemas.openxmlformats.org/officeDocument/2006/relationships/hyperlink" Target="https://datatracker.ietf.org/doc/html/draft-ietf-netconf-notif-envelope" TargetMode="External"/><Relationship Id="rId12" Type="http://schemas.openxmlformats.org/officeDocument/2006/relationships/hyperlink" Target="https://datatracker.ietf.org/doc/html/draft-ietf-netconf-yang-library-augmenta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atatracker.ietf.org/doc/html/draft-ietf-netconf-distributed-notif" TargetMode="External"/><Relationship Id="rId11" Type="http://schemas.openxmlformats.org/officeDocument/2006/relationships/hyperlink" Target="https://datatracker.ietf.org/doc/html/rfc8525" TargetMode="External"/><Relationship Id="rId5" Type="http://schemas.openxmlformats.org/officeDocument/2006/relationships/hyperlink" Target="https://datatracker.ietf.org/doc/html/draft-ietf-netconf-udp-notif" TargetMode="External"/><Relationship Id="rId10" Type="http://schemas.openxmlformats.org/officeDocument/2006/relationships/hyperlink" Target="https://datatracker.ietf.org/doc/html/draft-ietf-netconf-yp-transport-capabilities" TargetMode="External"/><Relationship Id="rId4" Type="http://schemas.openxmlformats.org/officeDocument/2006/relationships/hyperlink" Target="https://datatracker.ietf.org/doc/html/rfc8641" TargetMode="External"/><Relationship Id="rId9" Type="http://schemas.openxmlformats.org/officeDocument/2006/relationships/hyperlink" Target="https://datatracker.ietf.org/doc/html/rfc9196" TargetMode="External"/><Relationship Id="rId14" Type="http://schemas.openxmlformats.org/officeDocument/2006/relationships/hyperlink" Target="https://datatracker.ietf.org/doc/html/rfc9254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atatracker.ietf.org/doc/html/draft-ietf-netconf-udp-notif#section-6" TargetMode="External"/><Relationship Id="rId5" Type="http://schemas.openxmlformats.org/officeDocument/2006/relationships/hyperlink" Target="https://datatracker.ietf.org/doc/html/rfc9254#section-3.3" TargetMode="Externa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196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5" Type="http://schemas.openxmlformats.org/officeDocument/2006/relationships/hyperlink" Target="https://datatracker.ietf.org/doc/html/draft-ietf-netconf-yang-library-augmentedby" TargetMode="External"/><Relationship Id="rId4" Type="http://schemas.openxmlformats.org/officeDocument/2006/relationships/hyperlink" Target="https://datatracker.ietf.org/doc/html/rfc8525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github.com/network-analytics/yang_tests/blob/master/report_v2.pdf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hassany/yang-push-key" TargetMode="External"/><Relationship Id="rId3" Type="http://schemas.openxmlformats.org/officeDocument/2006/relationships/hyperlink" Target="https://github.com/yang-central/yangkit" TargetMode="External"/><Relationship Id="rId7" Type="http://schemas.openxmlformats.org/officeDocument/2006/relationships/hyperlink" Target="https://github.com/NetGauze/NetGauze/issues/456" TargetMode="External"/><Relationship Id="rId2" Type="http://schemas.openxmlformats.org/officeDocument/2006/relationships/hyperlink" Target="https://github.com/CESNET/libyang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NetGauze/NetGauze/issues/457" TargetMode="External"/><Relationship Id="rId5" Type="http://schemas.openxmlformats.org/officeDocument/2006/relationships/hyperlink" Target="https://github.com/NetGauze/NetGauze/issues/449" TargetMode="External"/><Relationship Id="rId4" Type="http://schemas.openxmlformats.org/officeDocument/2006/relationships/hyperlink" Target="https://github.com/opendaylight/yangtools/" TargetMode="External"/><Relationship Id="rId9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netana-nmop-yang-anydata-validation" TargetMode="External"/><Relationship Id="rId2" Type="http://schemas.openxmlformats.org/officeDocument/2006/relationships/hyperlink" Target="https://github.com/network-analytics/yang-kafka-integration/pull/11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datatracker.ietf.org/doc/html/draft-ietf-nmop-yang-message-broker-message-key#section-4.1" TargetMode="External"/><Relationship Id="rId4" Type="http://schemas.openxmlformats.org/officeDocument/2006/relationships/hyperlink" Target="https://datatracker.ietf.org/doc/html/draft-ietf-nmop-yang-message-broker-message-key#section-3.2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pulse/network-analytics-ietf-126-vienna-thomas-graf-vng8f/" TargetMode="External"/><Relationship Id="rId3" Type="http://schemas.openxmlformats.org/officeDocument/2006/relationships/hyperlink" Target="https://datatracker.ietf.org/group/nmop/about/" TargetMode="External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www.linkedin.com/pulse/network-analytics-ietf-125-shenzhen-thomas-graf-svmee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127#section-2.6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tracker.ietf.org/doc/html/rfc9127#section-2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C26208B2-0D10-4C23-B2DE-372A62E98644}"/>
              </a:ext>
            </a:extLst>
          </p:cNvPr>
          <p:cNvSpPr txBox="1">
            <a:spLocks/>
          </p:cNvSpPr>
          <p:nvPr/>
        </p:nvSpPr>
        <p:spPr>
          <a:xfrm>
            <a:off x="606830" y="1365772"/>
            <a:ext cx="11395314" cy="3239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/>
              <a:t>An Architecture for YANG-Push to Message Broker </a:t>
            </a:r>
            <a:r>
              <a:rPr lang="en-US" sz="3400" b="1" dirty="0">
                <a:solidFill>
                  <a:srgbClr val="FF0000"/>
                </a:solidFill>
              </a:rPr>
              <a:t>Integration</a:t>
            </a:r>
            <a:br>
              <a:rPr lang="en-US" sz="3600" b="1" dirty="0"/>
            </a:br>
            <a:r>
              <a:rPr lang="en-US" sz="2800" dirty="0"/>
              <a:t>draft-</a:t>
            </a:r>
            <a:r>
              <a:rPr lang="en-US" sz="2800" dirty="0" err="1"/>
              <a:t>ietf</a:t>
            </a:r>
            <a:r>
              <a:rPr lang="en-US" sz="2800" dirty="0"/>
              <a:t>-</a:t>
            </a:r>
            <a:r>
              <a:rPr lang="en-US" sz="2800" dirty="0" err="1"/>
              <a:t>nmop</a:t>
            </a:r>
            <a:r>
              <a:rPr lang="en-US" sz="2800" dirty="0"/>
              <a:t>-yang-message-broker-integration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Motivation and architecture of a native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YANG-Push notifications and YANG Schema integration</a:t>
            </a:r>
          </a:p>
          <a:p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		into Message Broker and YANG Schema Registry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3057C-339A-4254-8994-8EB77B8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2200" smtClean="0"/>
              <a:t>1</a:t>
            </a:fld>
            <a:endParaRPr lang="de-CH" sz="2200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6CAA0765-1318-4A03-8F91-D3ECC43D8FA7}"/>
              </a:ext>
            </a:extLst>
          </p:cNvPr>
          <p:cNvSpPr txBox="1">
            <a:spLocks/>
          </p:cNvSpPr>
          <p:nvPr/>
        </p:nvSpPr>
        <p:spPr>
          <a:xfrm>
            <a:off x="838200" y="5658415"/>
            <a:ext cx="11163943" cy="7032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300"/>
              </a:spcBef>
              <a:buNone/>
              <a:defRPr sz="1782"/>
            </a:pPr>
            <a:r>
              <a:rPr lang="de-CH" sz="1400" dirty="0">
                <a:latin typeface="+mj-lt"/>
              </a:rPr>
              <a:t>yannick.buchs@swisscom.com</a:t>
            </a:r>
            <a:br>
              <a:rPr lang="de-CH" sz="1400" dirty="0">
                <a:latin typeface="+mj-lt"/>
              </a:rPr>
            </a:br>
            <a:r>
              <a:rPr lang="de-CH" sz="1400" dirty="0">
                <a:latin typeface="+mj-lt"/>
              </a:rPr>
              <a:t>thomas.graf@swisscom.com</a:t>
            </a:r>
            <a:br>
              <a:rPr lang="de-CH" sz="1400" dirty="0">
                <a:latin typeface="+mj-lt"/>
              </a:rPr>
            </a:br>
            <a:endParaRPr lang="de-CH" sz="1400" dirty="0">
              <a:latin typeface="+mj-lt"/>
            </a:endParaRPr>
          </a:p>
          <a:p>
            <a:pPr marL="0" indent="0" algn="r">
              <a:spcBef>
                <a:spcPts val="300"/>
              </a:spcBef>
              <a:buNone/>
            </a:pPr>
            <a:r>
              <a:rPr lang="de-CH" sz="1400" dirty="0">
                <a:latin typeface="+mj-lt"/>
              </a:rPr>
              <a:t>29. October </a:t>
            </a:r>
            <a:r>
              <a:rPr lang="de-CH" sz="1400" dirty="0">
                <a:latin typeface="+mj-lt"/>
                <a:ea typeface="+mj-ea"/>
                <a:cs typeface="+mj-cs"/>
              </a:rPr>
              <a:t>2026</a:t>
            </a:r>
            <a:endParaRPr lang="de-CH" sz="1400" dirty="0">
              <a:latin typeface="+mj-lt"/>
            </a:endParaRPr>
          </a:p>
          <a:p>
            <a:pPr algn="r"/>
            <a:endParaRPr lang="de-CH" sz="2200" dirty="0"/>
          </a:p>
        </p:txBody>
      </p:sp>
    </p:spTree>
    <p:extLst>
      <p:ext uri="{BB962C8B-B14F-4D97-AF65-F5344CB8AC3E}">
        <p14:creationId xmlns:p14="http://schemas.microsoft.com/office/powerpoint/2010/main" val="357866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2</a:t>
            </a:fld>
            <a:endParaRPr lang="en-US" sz="14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IETF YANG-Push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A 22 years journey</a:t>
            </a:r>
          </a:p>
        </p:txBody>
      </p:sp>
      <p:cxnSp>
        <p:nvCxnSpPr>
          <p:cNvPr id="2" name="Gerade Verbindung 7">
            <a:extLst>
              <a:ext uri="{FF2B5EF4-FFF2-40B4-BE49-F238E27FC236}">
                <a16:creationId xmlns:a16="http://schemas.microsoft.com/office/drawing/2014/main" id="{C1721C3D-DB90-6F7E-E36F-6A21328FD83C}"/>
              </a:ext>
            </a:extLst>
          </p:cNvPr>
          <p:cNvCxnSpPr>
            <a:cxnSpLocks/>
          </p:cNvCxnSpPr>
          <p:nvPr/>
        </p:nvCxnSpPr>
        <p:spPr bwMode="gray">
          <a:xfrm>
            <a:off x="550200" y="4066688"/>
            <a:ext cx="10992000" cy="0"/>
          </a:xfrm>
          <a:prstGeom prst="line">
            <a:avLst/>
          </a:prstGeom>
          <a:noFill/>
          <a:ln w="57150" cap="rnd">
            <a:solidFill>
              <a:srgbClr val="DDE3E7"/>
            </a:solidFill>
            <a:prstDash val="solid"/>
            <a:round/>
            <a:headEnd/>
            <a:tailEnd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8F38AE-2D5D-F761-56B3-E72F6B8DFBFB}"/>
              </a:ext>
            </a:extLst>
          </p:cNvPr>
          <p:cNvCxnSpPr>
            <a:cxnSpLocks/>
          </p:cNvCxnSpPr>
          <p:nvPr/>
        </p:nvCxnSpPr>
        <p:spPr bwMode="gray">
          <a:xfrm>
            <a:off x="3457387" y="4066688"/>
            <a:ext cx="2130515" cy="0"/>
          </a:xfrm>
          <a:prstGeom prst="line">
            <a:avLst/>
          </a:prstGeom>
          <a:ln w="57150" cap="rnd">
            <a:gradFill flip="none" rotWithShape="1">
              <a:gsLst>
                <a:gs pos="20000">
                  <a:srgbClr val="DDE3E7"/>
                </a:gs>
                <a:gs pos="50000">
                  <a:srgbClr val="92D050"/>
                </a:gs>
                <a:gs pos="80000">
                  <a:srgbClr val="DDE3E7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A1791C6-7957-841E-21E6-B4013FF8AB08}"/>
              </a:ext>
            </a:extLst>
          </p:cNvPr>
          <p:cNvGrpSpPr/>
          <p:nvPr/>
        </p:nvGrpSpPr>
        <p:grpSpPr bwMode="black">
          <a:xfrm>
            <a:off x="576263" y="1690688"/>
            <a:ext cx="2736000" cy="2232000"/>
            <a:chOff x="1632000" y="1341000"/>
            <a:chExt cx="2232000" cy="2232000"/>
          </a:xfrm>
        </p:grpSpPr>
        <p:grpSp>
          <p:nvGrpSpPr>
            <p:cNvPr id="10" name="Gruppieren 4">
              <a:extLst>
                <a:ext uri="{FF2B5EF4-FFF2-40B4-BE49-F238E27FC236}">
                  <a16:creationId xmlns:a16="http://schemas.microsoft.com/office/drawing/2014/main" id="{C780AC79-CE70-CE16-285B-FAFD90791A4F}"/>
                </a:ext>
              </a:extLst>
            </p:cNvPr>
            <p:cNvGrpSpPr/>
            <p:nvPr/>
          </p:nvGrpSpPr>
          <p:grpSpPr bwMode="black">
            <a:xfrm>
              <a:off x="1632000" y="2997000"/>
              <a:ext cx="2232000" cy="144000"/>
              <a:chOff x="1613352" y="2094098"/>
              <a:chExt cx="2234925" cy="144000"/>
            </a:xfrm>
          </p:grpSpPr>
          <p:cxnSp>
            <p:nvCxnSpPr>
              <p:cNvPr id="13" name="Gerade Verbindung 19">
                <a:extLst>
                  <a:ext uri="{FF2B5EF4-FFF2-40B4-BE49-F238E27FC236}">
                    <a16:creationId xmlns:a16="http://schemas.microsoft.com/office/drawing/2014/main" id="{47DBB9D7-4D98-00EF-730F-1CADF6F41193}"/>
                  </a:ext>
                </a:extLst>
              </p:cNvPr>
              <p:cNvCxnSpPr/>
              <p:nvPr/>
            </p:nvCxnSpPr>
            <p:spPr bwMode="black">
              <a:xfrm>
                <a:off x="1613352" y="2094098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Gerade Verbindung 30">
                <a:extLst>
                  <a:ext uri="{FF2B5EF4-FFF2-40B4-BE49-F238E27FC236}">
                    <a16:creationId xmlns:a16="http://schemas.microsoft.com/office/drawing/2014/main" id="{5FCD0C6E-BDB0-E064-C4BB-983691A05075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2094098"/>
                <a:ext cx="0" cy="1440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1" name="Inhaltsplatzhalter 1">
              <a:extLst>
                <a:ext uri="{FF2B5EF4-FFF2-40B4-BE49-F238E27FC236}">
                  <a16:creationId xmlns:a16="http://schemas.microsoft.com/office/drawing/2014/main" id="{B2A37731-AEFD-15D3-A665-8F4E658F53E2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3141000"/>
              <a:ext cx="2232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2002</a:t>
              </a:r>
            </a:p>
          </p:txBody>
        </p:sp>
        <p:sp>
          <p:nvSpPr>
            <p:cNvPr id="12" name="Inhaltsplatzhalter 1">
              <a:extLst>
                <a:ext uri="{FF2B5EF4-FFF2-40B4-BE49-F238E27FC236}">
                  <a16:creationId xmlns:a16="http://schemas.microsoft.com/office/drawing/2014/main" id="{B81BDC52-9F54-8464-CFBE-52869B51022D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1341000"/>
              <a:ext cx="2232000" cy="1656000"/>
            </a:xfrm>
            <a:prstGeom prst="rect">
              <a:avLst/>
            </a:prstGeom>
          </p:spPr>
          <p:txBody>
            <a:bodyPr lIns="0" tIns="216000" rIns="0" bIns="216000" anchor="b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IAB Workshop</a:t>
              </a:r>
            </a:p>
            <a:p>
              <a:r>
                <a:rPr lang="en-US" sz="1400" dirty="0"/>
                <a:t>Defines operators' requirements in RFC 3535 to lifecycle CLI and SNMP. YANG, Netconf and </a:t>
              </a:r>
              <a:r>
                <a:rPr lang="en-US" sz="1400" dirty="0" err="1"/>
                <a:t>Restconf</a:t>
              </a:r>
              <a:r>
                <a:rPr lang="en-US" sz="1400" dirty="0"/>
                <a:t> development started.</a:t>
              </a:r>
            </a:p>
          </p:txBody>
        </p:sp>
      </p:grpSp>
      <p:grpSp>
        <p:nvGrpSpPr>
          <p:cNvPr id="15" name="Gruppieren 40">
            <a:extLst>
              <a:ext uri="{FF2B5EF4-FFF2-40B4-BE49-F238E27FC236}">
                <a16:creationId xmlns:a16="http://schemas.microsoft.com/office/drawing/2014/main" id="{3871D3D0-1587-CF69-BABE-481B8DE9F670}"/>
              </a:ext>
            </a:extLst>
          </p:cNvPr>
          <p:cNvGrpSpPr/>
          <p:nvPr/>
        </p:nvGrpSpPr>
        <p:grpSpPr bwMode="black">
          <a:xfrm>
            <a:off x="5001211" y="1690688"/>
            <a:ext cx="2251579" cy="2232000"/>
            <a:chOff x="1632000" y="1341000"/>
            <a:chExt cx="2232000" cy="2232000"/>
          </a:xfrm>
        </p:grpSpPr>
        <p:grpSp>
          <p:nvGrpSpPr>
            <p:cNvPr id="16" name="Gruppieren 41">
              <a:extLst>
                <a:ext uri="{FF2B5EF4-FFF2-40B4-BE49-F238E27FC236}">
                  <a16:creationId xmlns:a16="http://schemas.microsoft.com/office/drawing/2014/main" id="{9C9189D8-7AD5-06A0-1234-64C45E072CCD}"/>
                </a:ext>
              </a:extLst>
            </p:cNvPr>
            <p:cNvGrpSpPr/>
            <p:nvPr/>
          </p:nvGrpSpPr>
          <p:grpSpPr bwMode="black">
            <a:xfrm>
              <a:off x="1632000" y="2997000"/>
              <a:ext cx="2232000" cy="144000"/>
              <a:chOff x="1613352" y="3141000"/>
              <a:chExt cx="2234925" cy="215990"/>
            </a:xfrm>
          </p:grpSpPr>
          <p:cxnSp>
            <p:nvCxnSpPr>
              <p:cNvPr id="20" name="Gerade Verbindung 19">
                <a:extLst>
                  <a:ext uri="{FF2B5EF4-FFF2-40B4-BE49-F238E27FC236}">
                    <a16:creationId xmlns:a16="http://schemas.microsoft.com/office/drawing/2014/main" id="{ABD967C4-0802-5264-46BB-8472D73788EB}"/>
                  </a:ext>
                </a:extLst>
              </p:cNvPr>
              <p:cNvCxnSpPr/>
              <p:nvPr/>
            </p:nvCxnSpPr>
            <p:spPr bwMode="black">
              <a:xfrm>
                <a:off x="1613352" y="3141439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Gerade Verbindung 30">
                <a:extLst>
                  <a:ext uri="{FF2B5EF4-FFF2-40B4-BE49-F238E27FC236}">
                    <a16:creationId xmlns:a16="http://schemas.microsoft.com/office/drawing/2014/main" id="{956713F9-AC5C-FAE8-FE3E-581D1F7A80AD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3141000"/>
                <a:ext cx="0" cy="2159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7" name="Inhaltsplatzhalter 1">
              <a:extLst>
                <a:ext uri="{FF2B5EF4-FFF2-40B4-BE49-F238E27FC236}">
                  <a16:creationId xmlns:a16="http://schemas.microsoft.com/office/drawing/2014/main" id="{E758DD90-C648-A2CB-CC61-19D59AC79BEF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3141000"/>
              <a:ext cx="2232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2017</a:t>
              </a:r>
            </a:p>
          </p:txBody>
        </p:sp>
        <p:sp>
          <p:nvSpPr>
            <p:cNvPr id="18" name="Inhaltsplatzhalter 1">
              <a:extLst>
                <a:ext uri="{FF2B5EF4-FFF2-40B4-BE49-F238E27FC236}">
                  <a16:creationId xmlns:a16="http://schemas.microsoft.com/office/drawing/2014/main" id="{B724AEB6-5BAC-47DA-8B69-2AD187CE7405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1341000"/>
              <a:ext cx="2232000" cy="1656000"/>
            </a:xfrm>
            <a:prstGeom prst="rect">
              <a:avLst/>
            </a:prstGeom>
          </p:spPr>
          <p:txBody>
            <a:bodyPr lIns="0" tIns="216000" rIns="0" bIns="216000" anchor="b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 err="1"/>
                <a:t>gNMI</a:t>
              </a:r>
              <a:endParaRPr lang="en-US" b="1" dirty="0"/>
            </a:p>
            <a:p>
              <a:r>
                <a:rPr lang="en-US" sz="1400" dirty="0" err="1"/>
                <a:t>gNMI</a:t>
              </a:r>
              <a:r>
                <a:rPr lang="en-US" sz="1400" dirty="0"/>
                <a:t> was presented to IETF NETCONF and implementations started at major network vendors.</a:t>
              </a:r>
            </a:p>
          </p:txBody>
        </p:sp>
      </p:grpSp>
      <p:grpSp>
        <p:nvGrpSpPr>
          <p:cNvPr id="22" name="Gruppieren 46">
            <a:extLst>
              <a:ext uri="{FF2B5EF4-FFF2-40B4-BE49-F238E27FC236}">
                <a16:creationId xmlns:a16="http://schemas.microsoft.com/office/drawing/2014/main" id="{BE342D5B-06C0-BC80-D4DD-5FED2D93A85A}"/>
              </a:ext>
            </a:extLst>
          </p:cNvPr>
          <p:cNvGrpSpPr/>
          <p:nvPr/>
        </p:nvGrpSpPr>
        <p:grpSpPr bwMode="black">
          <a:xfrm>
            <a:off x="7408295" y="1690688"/>
            <a:ext cx="4593848" cy="2232000"/>
            <a:chOff x="1632000" y="1341000"/>
            <a:chExt cx="2232000" cy="2232000"/>
          </a:xfrm>
        </p:grpSpPr>
        <p:grpSp>
          <p:nvGrpSpPr>
            <p:cNvPr id="23" name="Gruppieren 47">
              <a:extLst>
                <a:ext uri="{FF2B5EF4-FFF2-40B4-BE49-F238E27FC236}">
                  <a16:creationId xmlns:a16="http://schemas.microsoft.com/office/drawing/2014/main" id="{35B79CFD-DDC0-E110-13C1-4AC041F47E3D}"/>
                </a:ext>
              </a:extLst>
            </p:cNvPr>
            <p:cNvGrpSpPr/>
            <p:nvPr/>
          </p:nvGrpSpPr>
          <p:grpSpPr bwMode="black">
            <a:xfrm>
              <a:off x="1632000" y="2997000"/>
              <a:ext cx="2232000" cy="144000"/>
              <a:chOff x="1613352" y="3141000"/>
              <a:chExt cx="2234925" cy="215990"/>
            </a:xfrm>
          </p:grpSpPr>
          <p:cxnSp>
            <p:nvCxnSpPr>
              <p:cNvPr id="26" name="Gerade Verbindung 19">
                <a:extLst>
                  <a:ext uri="{FF2B5EF4-FFF2-40B4-BE49-F238E27FC236}">
                    <a16:creationId xmlns:a16="http://schemas.microsoft.com/office/drawing/2014/main" id="{2270C987-12FE-3012-C05E-8965D7369BBE}"/>
                  </a:ext>
                </a:extLst>
              </p:cNvPr>
              <p:cNvCxnSpPr/>
              <p:nvPr/>
            </p:nvCxnSpPr>
            <p:spPr bwMode="black">
              <a:xfrm>
                <a:off x="1613352" y="3141439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Gerade Verbindung 30">
                <a:extLst>
                  <a:ext uri="{FF2B5EF4-FFF2-40B4-BE49-F238E27FC236}">
                    <a16:creationId xmlns:a16="http://schemas.microsoft.com/office/drawing/2014/main" id="{DB32614D-738C-B4E0-9019-340192DBBEFA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3141000"/>
                <a:ext cx="0" cy="2159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4" name="Inhaltsplatzhalter 1">
              <a:extLst>
                <a:ext uri="{FF2B5EF4-FFF2-40B4-BE49-F238E27FC236}">
                  <a16:creationId xmlns:a16="http://schemas.microsoft.com/office/drawing/2014/main" id="{B4BB3FE3-45A4-FB4D-7261-232D61BD7118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3141000"/>
              <a:ext cx="2232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2022</a:t>
              </a:r>
            </a:p>
          </p:txBody>
        </p:sp>
        <p:sp>
          <p:nvSpPr>
            <p:cNvPr id="25" name="Inhaltsplatzhalter 1">
              <a:extLst>
                <a:ext uri="{FF2B5EF4-FFF2-40B4-BE49-F238E27FC236}">
                  <a16:creationId xmlns:a16="http://schemas.microsoft.com/office/drawing/2014/main" id="{1B4551CE-E748-DB88-B412-3D69C73A1AF7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1341000"/>
              <a:ext cx="2232000" cy="1656000"/>
            </a:xfrm>
            <a:prstGeom prst="rect">
              <a:avLst/>
            </a:prstGeom>
          </p:spPr>
          <p:txBody>
            <a:bodyPr lIns="0" tIns="216000" rIns="0" bIns="216000" anchor="b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Data Mesh Integration</a:t>
              </a:r>
            </a:p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/>
                <a:t>Vendor-specific implementations and IETF YANG-Push are hard to manage. New requirements emerged for integrating with the message broker and an automated data processing chain. New specifications are proposed to resolve these challenges.</a:t>
              </a:r>
            </a:p>
          </p:txBody>
        </p:sp>
      </p:grpSp>
      <p:grpSp>
        <p:nvGrpSpPr>
          <p:cNvPr id="28" name="Gruppieren 8">
            <a:extLst>
              <a:ext uri="{FF2B5EF4-FFF2-40B4-BE49-F238E27FC236}">
                <a16:creationId xmlns:a16="http://schemas.microsoft.com/office/drawing/2014/main" id="{DE5BB9B7-8572-74B3-3418-92B8C92064EA}"/>
              </a:ext>
            </a:extLst>
          </p:cNvPr>
          <p:cNvGrpSpPr/>
          <p:nvPr/>
        </p:nvGrpSpPr>
        <p:grpSpPr bwMode="black">
          <a:xfrm>
            <a:off x="3457239" y="4207610"/>
            <a:ext cx="2130515" cy="2231999"/>
            <a:chOff x="1488000" y="4293000"/>
            <a:chExt cx="2736000" cy="2231999"/>
          </a:xfrm>
        </p:grpSpPr>
        <p:grpSp>
          <p:nvGrpSpPr>
            <p:cNvPr id="29" name="Gruppieren 59">
              <a:extLst>
                <a:ext uri="{FF2B5EF4-FFF2-40B4-BE49-F238E27FC236}">
                  <a16:creationId xmlns:a16="http://schemas.microsoft.com/office/drawing/2014/main" id="{F2AC2579-AB27-E563-72B0-21AF883D5C94}"/>
                </a:ext>
              </a:extLst>
            </p:cNvPr>
            <p:cNvGrpSpPr/>
            <p:nvPr/>
          </p:nvGrpSpPr>
          <p:grpSpPr bwMode="black">
            <a:xfrm>
              <a:off x="1488000" y="4725000"/>
              <a:ext cx="2736000" cy="144000"/>
              <a:chOff x="1613352" y="3141000"/>
              <a:chExt cx="2234925" cy="215990"/>
            </a:xfrm>
          </p:grpSpPr>
          <p:cxnSp>
            <p:nvCxnSpPr>
              <p:cNvPr id="32" name="Gerade Verbindung 19">
                <a:extLst>
                  <a:ext uri="{FF2B5EF4-FFF2-40B4-BE49-F238E27FC236}">
                    <a16:creationId xmlns:a16="http://schemas.microsoft.com/office/drawing/2014/main" id="{C7712630-B018-597B-9584-81CEDF28F8C0}"/>
                  </a:ext>
                </a:extLst>
              </p:cNvPr>
              <p:cNvCxnSpPr/>
              <p:nvPr/>
            </p:nvCxnSpPr>
            <p:spPr bwMode="black">
              <a:xfrm>
                <a:off x="1613352" y="3356990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3" name="Gerade Verbindung 30">
                <a:extLst>
                  <a:ext uri="{FF2B5EF4-FFF2-40B4-BE49-F238E27FC236}">
                    <a16:creationId xmlns:a16="http://schemas.microsoft.com/office/drawing/2014/main" id="{12B3F5EE-E98E-BEF4-4ED2-D387A691EBB2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3141000"/>
                <a:ext cx="0" cy="2159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0" name="Inhaltsplatzhalter 1">
              <a:extLst>
                <a:ext uri="{FF2B5EF4-FFF2-40B4-BE49-F238E27FC236}">
                  <a16:creationId xmlns:a16="http://schemas.microsoft.com/office/drawing/2014/main" id="{8B991C74-AAFD-C1DD-459B-083084BA12D6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488000" y="4293000"/>
              <a:ext cx="2736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2015</a:t>
              </a:r>
            </a:p>
          </p:txBody>
        </p:sp>
        <p:sp>
          <p:nvSpPr>
            <p:cNvPr id="31" name="Inhaltsplatzhalter 1">
              <a:extLst>
                <a:ext uri="{FF2B5EF4-FFF2-40B4-BE49-F238E27FC236}">
                  <a16:creationId xmlns:a16="http://schemas.microsoft.com/office/drawing/2014/main" id="{A80F2D56-09A4-2302-3CBD-EBEA1B3EF180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488000" y="4868999"/>
              <a:ext cx="2736000" cy="1656000"/>
            </a:xfrm>
            <a:prstGeom prst="rect">
              <a:avLst/>
            </a:prstGeom>
          </p:spPr>
          <p:txBody>
            <a:bodyPr lIns="0" tIns="216000" rIns="0" bIns="21600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IETF YANG-Push Specification Started</a:t>
              </a:r>
            </a:p>
            <a:p>
              <a:r>
                <a:rPr lang="en-US" sz="1400" dirty="0"/>
                <a:t>Development of RFC 8639 and RFC 8641 started at IETF NETCONF.</a:t>
              </a:r>
            </a:p>
          </p:txBody>
        </p:sp>
      </p:grpSp>
      <p:grpSp>
        <p:nvGrpSpPr>
          <p:cNvPr id="34" name="Gruppieren 64">
            <a:extLst>
              <a:ext uri="{FF2B5EF4-FFF2-40B4-BE49-F238E27FC236}">
                <a16:creationId xmlns:a16="http://schemas.microsoft.com/office/drawing/2014/main" id="{DACC37E1-B67E-68EC-557A-97CCFBA7D080}"/>
              </a:ext>
            </a:extLst>
          </p:cNvPr>
          <p:cNvGrpSpPr/>
          <p:nvPr/>
        </p:nvGrpSpPr>
        <p:grpSpPr bwMode="black">
          <a:xfrm>
            <a:off x="5819087" y="4212764"/>
            <a:ext cx="2868476" cy="2231999"/>
            <a:chOff x="1488000" y="4293000"/>
            <a:chExt cx="2736000" cy="2231999"/>
          </a:xfrm>
        </p:grpSpPr>
        <p:grpSp>
          <p:nvGrpSpPr>
            <p:cNvPr id="35" name="Gruppieren 65">
              <a:extLst>
                <a:ext uri="{FF2B5EF4-FFF2-40B4-BE49-F238E27FC236}">
                  <a16:creationId xmlns:a16="http://schemas.microsoft.com/office/drawing/2014/main" id="{FD98BA2F-25B0-B1E4-33C3-3E0F5BECDCAA}"/>
                </a:ext>
              </a:extLst>
            </p:cNvPr>
            <p:cNvGrpSpPr/>
            <p:nvPr/>
          </p:nvGrpSpPr>
          <p:grpSpPr bwMode="black">
            <a:xfrm>
              <a:off x="1488000" y="4725000"/>
              <a:ext cx="2736000" cy="144000"/>
              <a:chOff x="1613352" y="3141000"/>
              <a:chExt cx="2234925" cy="215990"/>
            </a:xfrm>
          </p:grpSpPr>
          <p:cxnSp>
            <p:nvCxnSpPr>
              <p:cNvPr id="38" name="Gerade Verbindung 19">
                <a:extLst>
                  <a:ext uri="{FF2B5EF4-FFF2-40B4-BE49-F238E27FC236}">
                    <a16:creationId xmlns:a16="http://schemas.microsoft.com/office/drawing/2014/main" id="{28824EE9-5B31-6E24-3D17-8559F723C2CA}"/>
                  </a:ext>
                </a:extLst>
              </p:cNvPr>
              <p:cNvCxnSpPr/>
              <p:nvPr/>
            </p:nvCxnSpPr>
            <p:spPr bwMode="black">
              <a:xfrm>
                <a:off x="1613352" y="3356990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Gerade Verbindung 30">
                <a:extLst>
                  <a:ext uri="{FF2B5EF4-FFF2-40B4-BE49-F238E27FC236}">
                    <a16:creationId xmlns:a16="http://schemas.microsoft.com/office/drawing/2014/main" id="{1A7858F4-C8FF-FD11-1618-89813EDCA5B5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3141000"/>
                <a:ext cx="0" cy="2159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" name="Inhaltsplatzhalter 1">
              <a:extLst>
                <a:ext uri="{FF2B5EF4-FFF2-40B4-BE49-F238E27FC236}">
                  <a16:creationId xmlns:a16="http://schemas.microsoft.com/office/drawing/2014/main" id="{7D27550F-D392-5C9D-6454-65067CA2FC55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488000" y="4293000"/>
              <a:ext cx="2736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2019</a:t>
              </a:r>
            </a:p>
          </p:txBody>
        </p:sp>
        <p:sp>
          <p:nvSpPr>
            <p:cNvPr id="37" name="Inhaltsplatzhalter 1">
              <a:extLst>
                <a:ext uri="{FF2B5EF4-FFF2-40B4-BE49-F238E27FC236}">
                  <a16:creationId xmlns:a16="http://schemas.microsoft.com/office/drawing/2014/main" id="{0BD3578E-9C91-1D0B-2ECF-4ABE58148B6A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488000" y="4868999"/>
              <a:ext cx="2736000" cy="1656000"/>
            </a:xfrm>
            <a:prstGeom prst="rect">
              <a:avLst/>
            </a:prstGeom>
          </p:spPr>
          <p:txBody>
            <a:bodyPr lIns="0" tIns="216000" rIns="0" bIns="21600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IETF YANG-Push </a:t>
              </a:r>
              <a:br>
                <a:rPr lang="en-US" b="1" dirty="0"/>
              </a:br>
              <a:r>
                <a:rPr lang="en-US" b="1" dirty="0"/>
                <a:t>Specification Finished</a:t>
              </a:r>
            </a:p>
            <a:p>
              <a:r>
                <a:rPr lang="en-US" sz="1400" dirty="0"/>
                <a:t>Development of RFC 8639 and RFC 8641 concluded at IETF NETCONF without any major network vendor implementations.</a:t>
              </a:r>
            </a:p>
          </p:txBody>
        </p:sp>
      </p:grpSp>
      <p:grpSp>
        <p:nvGrpSpPr>
          <p:cNvPr id="41" name="Gruppieren 64">
            <a:extLst>
              <a:ext uri="{FF2B5EF4-FFF2-40B4-BE49-F238E27FC236}">
                <a16:creationId xmlns:a16="http://schemas.microsoft.com/office/drawing/2014/main" id="{D3FED4A7-82DC-CB2D-9D61-14D8A28E48B5}"/>
              </a:ext>
            </a:extLst>
          </p:cNvPr>
          <p:cNvGrpSpPr/>
          <p:nvPr/>
        </p:nvGrpSpPr>
        <p:grpSpPr bwMode="black">
          <a:xfrm>
            <a:off x="8994711" y="4210690"/>
            <a:ext cx="2690323" cy="2231999"/>
            <a:chOff x="1488000" y="4293000"/>
            <a:chExt cx="2736000" cy="2231999"/>
          </a:xfrm>
        </p:grpSpPr>
        <p:grpSp>
          <p:nvGrpSpPr>
            <p:cNvPr id="42" name="Gruppieren 65">
              <a:extLst>
                <a:ext uri="{FF2B5EF4-FFF2-40B4-BE49-F238E27FC236}">
                  <a16:creationId xmlns:a16="http://schemas.microsoft.com/office/drawing/2014/main" id="{3B344F67-2010-7161-4789-9759BC710566}"/>
                </a:ext>
              </a:extLst>
            </p:cNvPr>
            <p:cNvGrpSpPr/>
            <p:nvPr/>
          </p:nvGrpSpPr>
          <p:grpSpPr bwMode="black">
            <a:xfrm>
              <a:off x="1488000" y="4725000"/>
              <a:ext cx="2736000" cy="144000"/>
              <a:chOff x="1613352" y="3141000"/>
              <a:chExt cx="2234925" cy="215990"/>
            </a:xfrm>
          </p:grpSpPr>
          <p:cxnSp>
            <p:nvCxnSpPr>
              <p:cNvPr id="45" name="Gerade Verbindung 19">
                <a:extLst>
                  <a:ext uri="{FF2B5EF4-FFF2-40B4-BE49-F238E27FC236}">
                    <a16:creationId xmlns:a16="http://schemas.microsoft.com/office/drawing/2014/main" id="{2BC9765E-2839-3725-D5AA-9C03730BDE05}"/>
                  </a:ext>
                </a:extLst>
              </p:cNvPr>
              <p:cNvCxnSpPr/>
              <p:nvPr/>
            </p:nvCxnSpPr>
            <p:spPr bwMode="black">
              <a:xfrm>
                <a:off x="1613352" y="3356990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6" name="Gerade Verbindung 30">
                <a:extLst>
                  <a:ext uri="{FF2B5EF4-FFF2-40B4-BE49-F238E27FC236}">
                    <a16:creationId xmlns:a16="http://schemas.microsoft.com/office/drawing/2014/main" id="{BD1D0E07-6E0E-4A3A-57A2-E985A2E6E5E5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3141000"/>
                <a:ext cx="0" cy="2159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3" name="Inhaltsplatzhalter 1">
              <a:extLst>
                <a:ext uri="{FF2B5EF4-FFF2-40B4-BE49-F238E27FC236}">
                  <a16:creationId xmlns:a16="http://schemas.microsoft.com/office/drawing/2014/main" id="{9982A62D-0E10-2FD3-5ACE-87B7E6992067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488000" y="4293000"/>
              <a:ext cx="2736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2024</a:t>
              </a:r>
            </a:p>
          </p:txBody>
        </p:sp>
        <p:sp>
          <p:nvSpPr>
            <p:cNvPr id="44" name="Inhaltsplatzhalter 1">
              <a:extLst>
                <a:ext uri="{FF2B5EF4-FFF2-40B4-BE49-F238E27FC236}">
                  <a16:creationId xmlns:a16="http://schemas.microsoft.com/office/drawing/2014/main" id="{E4D5B3A8-1F95-93B6-B40F-4E4453028DBF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488000" y="4868999"/>
              <a:ext cx="2736000" cy="1656000"/>
            </a:xfrm>
            <a:prstGeom prst="rect">
              <a:avLst/>
            </a:prstGeom>
          </p:spPr>
          <p:txBody>
            <a:bodyPr lIns="0" tIns="216000" rIns="0" bIns="21600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IETF YANG-Push Major</a:t>
              </a:r>
              <a:br>
                <a:rPr lang="en-US" b="1" dirty="0"/>
              </a:br>
              <a:r>
                <a:rPr lang="en-US" b="1" dirty="0"/>
                <a:t>Implementations Started</a:t>
              </a:r>
            </a:p>
            <a:p>
              <a:r>
                <a:rPr lang="en-US" sz="1400" dirty="0"/>
                <a:t>Questions arise. Proposing a simplified IETF YANG-Push and an Agile Incremental Driven Development.</a:t>
              </a:r>
            </a:p>
          </p:txBody>
        </p:sp>
      </p:grpSp>
      <p:grpSp>
        <p:nvGrpSpPr>
          <p:cNvPr id="59" name="Gruppieren 40">
            <a:extLst>
              <a:ext uri="{FF2B5EF4-FFF2-40B4-BE49-F238E27FC236}">
                <a16:creationId xmlns:a16="http://schemas.microsoft.com/office/drawing/2014/main" id="{A4F54A95-D7DF-C891-C7FF-8E228A7013F2}"/>
              </a:ext>
            </a:extLst>
          </p:cNvPr>
          <p:cNvGrpSpPr/>
          <p:nvPr/>
        </p:nvGrpSpPr>
        <p:grpSpPr bwMode="black">
          <a:xfrm>
            <a:off x="3406857" y="1690687"/>
            <a:ext cx="1273596" cy="2232000"/>
            <a:chOff x="1632000" y="1341000"/>
            <a:chExt cx="2232000" cy="2232000"/>
          </a:xfrm>
        </p:grpSpPr>
        <p:grpSp>
          <p:nvGrpSpPr>
            <p:cNvPr id="60" name="Gruppieren 41">
              <a:extLst>
                <a:ext uri="{FF2B5EF4-FFF2-40B4-BE49-F238E27FC236}">
                  <a16:creationId xmlns:a16="http://schemas.microsoft.com/office/drawing/2014/main" id="{7033033C-435C-1BF4-758D-F6F49C7BE514}"/>
                </a:ext>
              </a:extLst>
            </p:cNvPr>
            <p:cNvGrpSpPr/>
            <p:nvPr/>
          </p:nvGrpSpPr>
          <p:grpSpPr bwMode="black">
            <a:xfrm>
              <a:off x="1632000" y="2997000"/>
              <a:ext cx="2232000" cy="144000"/>
              <a:chOff x="1613352" y="3141000"/>
              <a:chExt cx="2234925" cy="215990"/>
            </a:xfrm>
          </p:grpSpPr>
          <p:cxnSp>
            <p:nvCxnSpPr>
              <p:cNvPr id="63" name="Gerade Verbindung 19">
                <a:extLst>
                  <a:ext uri="{FF2B5EF4-FFF2-40B4-BE49-F238E27FC236}">
                    <a16:creationId xmlns:a16="http://schemas.microsoft.com/office/drawing/2014/main" id="{C6DFBCFE-6018-8344-46D1-B0F6FFB58CD4}"/>
                  </a:ext>
                </a:extLst>
              </p:cNvPr>
              <p:cNvCxnSpPr/>
              <p:nvPr/>
            </p:nvCxnSpPr>
            <p:spPr bwMode="black">
              <a:xfrm>
                <a:off x="1613352" y="3141439"/>
                <a:ext cx="2234925" cy="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4" name="Gerade Verbindung 30">
                <a:extLst>
                  <a:ext uri="{FF2B5EF4-FFF2-40B4-BE49-F238E27FC236}">
                    <a16:creationId xmlns:a16="http://schemas.microsoft.com/office/drawing/2014/main" id="{403AD072-2FC4-1ACC-56E2-B0F9CA68FE7F}"/>
                  </a:ext>
                </a:extLst>
              </p:cNvPr>
              <p:cNvCxnSpPr>
                <a:cxnSpLocks/>
              </p:cNvCxnSpPr>
              <p:nvPr/>
            </p:nvCxnSpPr>
            <p:spPr bwMode="black">
              <a:xfrm>
                <a:off x="2730970" y="3141000"/>
                <a:ext cx="0" cy="2159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5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61" name="Inhaltsplatzhalter 1">
              <a:extLst>
                <a:ext uri="{FF2B5EF4-FFF2-40B4-BE49-F238E27FC236}">
                  <a16:creationId xmlns:a16="http://schemas.microsoft.com/office/drawing/2014/main" id="{A45CA48C-52BC-6F61-40B7-B80536A0878C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3141000"/>
              <a:ext cx="2232000" cy="432000"/>
            </a:xfrm>
            <a:prstGeom prst="rect">
              <a:avLst/>
            </a:prstGeom>
          </p:spPr>
          <p:txBody>
            <a:bodyPr lIns="0" tIns="0" rIns="0" bIns="0" anchor="ctr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2010</a:t>
              </a:r>
            </a:p>
          </p:txBody>
        </p:sp>
        <p:sp>
          <p:nvSpPr>
            <p:cNvPr id="62" name="Inhaltsplatzhalter 1">
              <a:extLst>
                <a:ext uri="{FF2B5EF4-FFF2-40B4-BE49-F238E27FC236}">
                  <a16:creationId xmlns:a16="http://schemas.microsoft.com/office/drawing/2014/main" id="{9D3C1E24-9BDF-AF99-075F-4F734EBA2636}"/>
                </a:ext>
              </a:extLst>
            </p:cNvPr>
            <p:cNvSpPr txBox="1">
              <a:spLocks/>
            </p:cNvSpPr>
            <p:nvPr/>
          </p:nvSpPr>
          <p:spPr bwMode="black">
            <a:xfrm>
              <a:off x="1632000" y="1341000"/>
              <a:ext cx="2232000" cy="1656000"/>
            </a:xfrm>
            <a:prstGeom prst="rect">
              <a:avLst/>
            </a:prstGeom>
          </p:spPr>
          <p:txBody>
            <a:bodyPr lIns="0" tIns="216000" rIns="0" bIns="216000" anchor="b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40000" indent="-180000" algn="l" defTabSz="914400" rtl="0" eaLnBrk="1" latinLnBrk="0" hangingPunct="1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  <a:buFont typeface="TheSans Swisscom Light" panose="020B0300040303060204" pitchFamily="34" charset="0"/>
                <a:buChar char="−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YANG 1.0</a:t>
              </a:r>
            </a:p>
            <a:p>
              <a:r>
                <a:rPr lang="en-US" sz="1400" dirty="0"/>
                <a:t>Specified in RFC 6020. 1.1 in RFC 7950.</a:t>
              </a:r>
              <a:br>
                <a:rPr lang="en-US" sz="1400" dirty="0"/>
              </a:br>
              <a:endParaRPr lang="en-US" sz="1400" dirty="0"/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FC53858-1E5E-6FE9-2830-0E378FEAA6B1}"/>
              </a:ext>
            </a:extLst>
          </p:cNvPr>
          <p:cNvCxnSpPr>
            <a:cxnSpLocks/>
          </p:cNvCxnSpPr>
          <p:nvPr/>
        </p:nvCxnSpPr>
        <p:spPr bwMode="gray">
          <a:xfrm>
            <a:off x="5061899" y="4046568"/>
            <a:ext cx="2130515" cy="0"/>
          </a:xfrm>
          <a:prstGeom prst="line">
            <a:avLst/>
          </a:prstGeom>
          <a:ln w="57150" cap="rnd">
            <a:gradFill flip="none" rotWithShape="1">
              <a:gsLst>
                <a:gs pos="20000">
                  <a:srgbClr val="DDE3E7"/>
                </a:gs>
                <a:gs pos="50000">
                  <a:srgbClr val="FFC000"/>
                </a:gs>
                <a:gs pos="80000">
                  <a:srgbClr val="DDE3E7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E08A87A-9C74-E2F3-3559-E49D4439C20B}"/>
              </a:ext>
            </a:extLst>
          </p:cNvPr>
          <p:cNvCxnSpPr>
            <a:cxnSpLocks/>
          </p:cNvCxnSpPr>
          <p:nvPr/>
        </p:nvCxnSpPr>
        <p:spPr bwMode="gray">
          <a:xfrm>
            <a:off x="6406786" y="4066688"/>
            <a:ext cx="2130515" cy="0"/>
          </a:xfrm>
          <a:prstGeom prst="line">
            <a:avLst/>
          </a:prstGeom>
          <a:ln w="57150" cap="rnd">
            <a:gradFill flip="none" rotWithShape="1">
              <a:gsLst>
                <a:gs pos="20000">
                  <a:srgbClr val="DDE3E7"/>
                </a:gs>
                <a:gs pos="50000">
                  <a:srgbClr val="E61E64"/>
                </a:gs>
                <a:gs pos="80000">
                  <a:srgbClr val="DDE3E7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7702359-26E7-83C1-A711-F9CD3208593C}"/>
              </a:ext>
            </a:extLst>
          </p:cNvPr>
          <p:cNvSpPr/>
          <p:nvPr/>
        </p:nvSpPr>
        <p:spPr>
          <a:xfrm>
            <a:off x="7210425" y="1447800"/>
            <a:ext cx="4867275" cy="5267325"/>
          </a:xfrm>
          <a:custGeom>
            <a:avLst/>
            <a:gdLst>
              <a:gd name="connsiteX0" fmla="*/ 714375 w 4867275"/>
              <a:gd name="connsiteY0" fmla="*/ 0 h 5267325"/>
              <a:gd name="connsiteX1" fmla="*/ 714375 w 4867275"/>
              <a:gd name="connsiteY1" fmla="*/ 0 h 5267325"/>
              <a:gd name="connsiteX2" fmla="*/ 457200 w 4867275"/>
              <a:gd name="connsiteY2" fmla="*/ 19050 h 5267325"/>
              <a:gd name="connsiteX3" fmla="*/ 333375 w 4867275"/>
              <a:gd name="connsiteY3" fmla="*/ 57150 h 5267325"/>
              <a:gd name="connsiteX4" fmla="*/ 276225 w 4867275"/>
              <a:gd name="connsiteY4" fmla="*/ 95250 h 5267325"/>
              <a:gd name="connsiteX5" fmla="*/ 219075 w 4867275"/>
              <a:gd name="connsiteY5" fmla="*/ 123825 h 5267325"/>
              <a:gd name="connsiteX6" fmla="*/ 133350 w 4867275"/>
              <a:gd name="connsiteY6" fmla="*/ 180975 h 5267325"/>
              <a:gd name="connsiteX7" fmla="*/ 104775 w 4867275"/>
              <a:gd name="connsiteY7" fmla="*/ 209550 h 5267325"/>
              <a:gd name="connsiteX8" fmla="*/ 76200 w 4867275"/>
              <a:gd name="connsiteY8" fmla="*/ 304800 h 5267325"/>
              <a:gd name="connsiteX9" fmla="*/ 47625 w 4867275"/>
              <a:gd name="connsiteY9" fmla="*/ 409575 h 5267325"/>
              <a:gd name="connsiteX10" fmla="*/ 38100 w 4867275"/>
              <a:gd name="connsiteY10" fmla="*/ 504825 h 5267325"/>
              <a:gd name="connsiteX11" fmla="*/ 28575 w 4867275"/>
              <a:gd name="connsiteY11" fmla="*/ 581025 h 5267325"/>
              <a:gd name="connsiteX12" fmla="*/ 19050 w 4867275"/>
              <a:gd name="connsiteY12" fmla="*/ 666750 h 5267325"/>
              <a:gd name="connsiteX13" fmla="*/ 0 w 4867275"/>
              <a:gd name="connsiteY13" fmla="*/ 762000 h 5267325"/>
              <a:gd name="connsiteX14" fmla="*/ 9525 w 4867275"/>
              <a:gd name="connsiteY14" fmla="*/ 1743075 h 5267325"/>
              <a:gd name="connsiteX15" fmla="*/ 28575 w 4867275"/>
              <a:gd name="connsiteY15" fmla="*/ 1781175 h 5267325"/>
              <a:gd name="connsiteX16" fmla="*/ 57150 w 4867275"/>
              <a:gd name="connsiteY16" fmla="*/ 1838325 h 5267325"/>
              <a:gd name="connsiteX17" fmla="*/ 114300 w 4867275"/>
              <a:gd name="connsiteY17" fmla="*/ 1885950 h 5267325"/>
              <a:gd name="connsiteX18" fmla="*/ 180975 w 4867275"/>
              <a:gd name="connsiteY18" fmla="*/ 1952625 h 5267325"/>
              <a:gd name="connsiteX19" fmla="*/ 219075 w 4867275"/>
              <a:gd name="connsiteY19" fmla="*/ 1981200 h 5267325"/>
              <a:gd name="connsiteX20" fmla="*/ 285750 w 4867275"/>
              <a:gd name="connsiteY20" fmla="*/ 2057400 h 5267325"/>
              <a:gd name="connsiteX21" fmla="*/ 390525 w 4867275"/>
              <a:gd name="connsiteY21" fmla="*/ 2133600 h 5267325"/>
              <a:gd name="connsiteX22" fmla="*/ 466725 w 4867275"/>
              <a:gd name="connsiteY22" fmla="*/ 2190750 h 5267325"/>
              <a:gd name="connsiteX23" fmla="*/ 523875 w 4867275"/>
              <a:gd name="connsiteY23" fmla="*/ 2209800 h 5267325"/>
              <a:gd name="connsiteX24" fmla="*/ 571500 w 4867275"/>
              <a:gd name="connsiteY24" fmla="*/ 2238375 h 5267325"/>
              <a:gd name="connsiteX25" fmla="*/ 600075 w 4867275"/>
              <a:gd name="connsiteY25" fmla="*/ 2247900 h 5267325"/>
              <a:gd name="connsiteX26" fmla="*/ 704850 w 4867275"/>
              <a:gd name="connsiteY26" fmla="*/ 2295525 h 5267325"/>
              <a:gd name="connsiteX27" fmla="*/ 762000 w 4867275"/>
              <a:gd name="connsiteY27" fmla="*/ 2314575 h 5267325"/>
              <a:gd name="connsiteX28" fmla="*/ 838200 w 4867275"/>
              <a:gd name="connsiteY28" fmla="*/ 2343150 h 5267325"/>
              <a:gd name="connsiteX29" fmla="*/ 933450 w 4867275"/>
              <a:gd name="connsiteY29" fmla="*/ 2381250 h 5267325"/>
              <a:gd name="connsiteX30" fmla="*/ 971550 w 4867275"/>
              <a:gd name="connsiteY30" fmla="*/ 2409825 h 5267325"/>
              <a:gd name="connsiteX31" fmla="*/ 1019175 w 4867275"/>
              <a:gd name="connsiteY31" fmla="*/ 2438400 h 5267325"/>
              <a:gd name="connsiteX32" fmla="*/ 1066800 w 4867275"/>
              <a:gd name="connsiteY32" fmla="*/ 2486025 h 5267325"/>
              <a:gd name="connsiteX33" fmla="*/ 1162050 w 4867275"/>
              <a:gd name="connsiteY33" fmla="*/ 2552700 h 5267325"/>
              <a:gd name="connsiteX34" fmla="*/ 1247775 w 4867275"/>
              <a:gd name="connsiteY34" fmla="*/ 2619375 h 5267325"/>
              <a:gd name="connsiteX35" fmla="*/ 1285875 w 4867275"/>
              <a:gd name="connsiteY35" fmla="*/ 2667000 h 5267325"/>
              <a:gd name="connsiteX36" fmla="*/ 1333500 w 4867275"/>
              <a:gd name="connsiteY36" fmla="*/ 2752725 h 5267325"/>
              <a:gd name="connsiteX37" fmla="*/ 1362075 w 4867275"/>
              <a:gd name="connsiteY37" fmla="*/ 2828925 h 5267325"/>
              <a:gd name="connsiteX38" fmla="*/ 1447800 w 4867275"/>
              <a:gd name="connsiteY38" fmla="*/ 3000375 h 5267325"/>
              <a:gd name="connsiteX39" fmla="*/ 1495425 w 4867275"/>
              <a:gd name="connsiteY39" fmla="*/ 3171825 h 5267325"/>
              <a:gd name="connsiteX40" fmla="*/ 1504950 w 4867275"/>
              <a:gd name="connsiteY40" fmla="*/ 3248025 h 5267325"/>
              <a:gd name="connsiteX41" fmla="*/ 1514475 w 4867275"/>
              <a:gd name="connsiteY41" fmla="*/ 3314700 h 5267325"/>
              <a:gd name="connsiteX42" fmla="*/ 1504950 w 4867275"/>
              <a:gd name="connsiteY42" fmla="*/ 3552825 h 5267325"/>
              <a:gd name="connsiteX43" fmla="*/ 1485900 w 4867275"/>
              <a:gd name="connsiteY43" fmla="*/ 4438650 h 5267325"/>
              <a:gd name="connsiteX44" fmla="*/ 1495425 w 4867275"/>
              <a:gd name="connsiteY44" fmla="*/ 4848225 h 5267325"/>
              <a:gd name="connsiteX45" fmla="*/ 1533525 w 4867275"/>
              <a:gd name="connsiteY45" fmla="*/ 5086350 h 5267325"/>
              <a:gd name="connsiteX46" fmla="*/ 1543050 w 4867275"/>
              <a:gd name="connsiteY46" fmla="*/ 5124450 h 5267325"/>
              <a:gd name="connsiteX47" fmla="*/ 1581150 w 4867275"/>
              <a:gd name="connsiteY47" fmla="*/ 5200650 h 5267325"/>
              <a:gd name="connsiteX48" fmla="*/ 1590675 w 4867275"/>
              <a:gd name="connsiteY48" fmla="*/ 5229225 h 5267325"/>
              <a:gd name="connsiteX49" fmla="*/ 1657350 w 4867275"/>
              <a:gd name="connsiteY49" fmla="*/ 5267325 h 5267325"/>
              <a:gd name="connsiteX50" fmla="*/ 2028825 w 4867275"/>
              <a:gd name="connsiteY50" fmla="*/ 5248275 h 5267325"/>
              <a:gd name="connsiteX51" fmla="*/ 2847975 w 4867275"/>
              <a:gd name="connsiteY51" fmla="*/ 5229225 h 5267325"/>
              <a:gd name="connsiteX52" fmla="*/ 2990850 w 4867275"/>
              <a:gd name="connsiteY52" fmla="*/ 5210175 h 5267325"/>
              <a:gd name="connsiteX53" fmla="*/ 3895725 w 4867275"/>
              <a:gd name="connsiteY53" fmla="*/ 5200650 h 5267325"/>
              <a:gd name="connsiteX54" fmla="*/ 4067175 w 4867275"/>
              <a:gd name="connsiteY54" fmla="*/ 5143500 h 5267325"/>
              <a:gd name="connsiteX55" fmla="*/ 4276725 w 4867275"/>
              <a:gd name="connsiteY55" fmla="*/ 5019675 h 5267325"/>
              <a:gd name="connsiteX56" fmla="*/ 4333875 w 4867275"/>
              <a:gd name="connsiteY56" fmla="*/ 4943475 h 5267325"/>
              <a:gd name="connsiteX57" fmla="*/ 4400550 w 4867275"/>
              <a:gd name="connsiteY57" fmla="*/ 4867275 h 5267325"/>
              <a:gd name="connsiteX58" fmla="*/ 4438650 w 4867275"/>
              <a:gd name="connsiteY58" fmla="*/ 4800600 h 5267325"/>
              <a:gd name="connsiteX59" fmla="*/ 4486275 w 4867275"/>
              <a:gd name="connsiteY59" fmla="*/ 4686300 h 5267325"/>
              <a:gd name="connsiteX60" fmla="*/ 4514850 w 4867275"/>
              <a:gd name="connsiteY60" fmla="*/ 4648200 h 5267325"/>
              <a:gd name="connsiteX61" fmla="*/ 4562475 w 4867275"/>
              <a:gd name="connsiteY61" fmla="*/ 4524375 h 5267325"/>
              <a:gd name="connsiteX62" fmla="*/ 4591050 w 4867275"/>
              <a:gd name="connsiteY62" fmla="*/ 4467225 h 5267325"/>
              <a:gd name="connsiteX63" fmla="*/ 4629150 w 4867275"/>
              <a:gd name="connsiteY63" fmla="*/ 4314825 h 5267325"/>
              <a:gd name="connsiteX64" fmla="*/ 4638675 w 4867275"/>
              <a:gd name="connsiteY64" fmla="*/ 4200525 h 5267325"/>
              <a:gd name="connsiteX65" fmla="*/ 4695825 w 4867275"/>
              <a:gd name="connsiteY65" fmla="*/ 3962400 h 5267325"/>
              <a:gd name="connsiteX66" fmla="*/ 4743450 w 4867275"/>
              <a:gd name="connsiteY66" fmla="*/ 3695700 h 5267325"/>
              <a:gd name="connsiteX67" fmla="*/ 4800600 w 4867275"/>
              <a:gd name="connsiteY67" fmla="*/ 3438525 h 5267325"/>
              <a:gd name="connsiteX68" fmla="*/ 4829175 w 4867275"/>
              <a:gd name="connsiteY68" fmla="*/ 3133725 h 5267325"/>
              <a:gd name="connsiteX69" fmla="*/ 4819650 w 4867275"/>
              <a:gd name="connsiteY69" fmla="*/ 2400300 h 5267325"/>
              <a:gd name="connsiteX70" fmla="*/ 4810125 w 4867275"/>
              <a:gd name="connsiteY70" fmla="*/ 2095500 h 5267325"/>
              <a:gd name="connsiteX71" fmla="*/ 4838700 w 4867275"/>
              <a:gd name="connsiteY71" fmla="*/ 1390650 h 5267325"/>
              <a:gd name="connsiteX72" fmla="*/ 4848225 w 4867275"/>
              <a:gd name="connsiteY72" fmla="*/ 1038225 h 5267325"/>
              <a:gd name="connsiteX73" fmla="*/ 4867275 w 4867275"/>
              <a:gd name="connsiteY73" fmla="*/ 885825 h 5267325"/>
              <a:gd name="connsiteX74" fmla="*/ 4848225 w 4867275"/>
              <a:gd name="connsiteY74" fmla="*/ 733425 h 5267325"/>
              <a:gd name="connsiteX75" fmla="*/ 4810125 w 4867275"/>
              <a:gd name="connsiteY75" fmla="*/ 685800 h 5267325"/>
              <a:gd name="connsiteX76" fmla="*/ 4695825 w 4867275"/>
              <a:gd name="connsiteY76" fmla="*/ 542925 h 5267325"/>
              <a:gd name="connsiteX77" fmla="*/ 4505325 w 4867275"/>
              <a:gd name="connsiteY77" fmla="*/ 438150 h 5267325"/>
              <a:gd name="connsiteX78" fmla="*/ 4400550 w 4867275"/>
              <a:gd name="connsiteY78" fmla="*/ 381000 h 5267325"/>
              <a:gd name="connsiteX79" fmla="*/ 4305300 w 4867275"/>
              <a:gd name="connsiteY79" fmla="*/ 342900 h 5267325"/>
              <a:gd name="connsiteX80" fmla="*/ 4095750 w 4867275"/>
              <a:gd name="connsiteY80" fmla="*/ 247650 h 5267325"/>
              <a:gd name="connsiteX81" fmla="*/ 3971925 w 4867275"/>
              <a:gd name="connsiteY81" fmla="*/ 219075 h 5267325"/>
              <a:gd name="connsiteX82" fmla="*/ 3876675 w 4867275"/>
              <a:gd name="connsiteY82" fmla="*/ 190500 h 5267325"/>
              <a:gd name="connsiteX83" fmla="*/ 3533775 w 4867275"/>
              <a:gd name="connsiteY83" fmla="*/ 142875 h 5267325"/>
              <a:gd name="connsiteX84" fmla="*/ 3028950 w 4867275"/>
              <a:gd name="connsiteY84" fmla="*/ 133350 h 5267325"/>
              <a:gd name="connsiteX85" fmla="*/ 2305050 w 4867275"/>
              <a:gd name="connsiteY85" fmla="*/ 123825 h 5267325"/>
              <a:gd name="connsiteX86" fmla="*/ 2200275 w 4867275"/>
              <a:gd name="connsiteY86" fmla="*/ 114300 h 5267325"/>
              <a:gd name="connsiteX87" fmla="*/ 2000250 w 4867275"/>
              <a:gd name="connsiteY87" fmla="*/ 85725 h 5267325"/>
              <a:gd name="connsiteX88" fmla="*/ 1419225 w 4867275"/>
              <a:gd name="connsiteY88" fmla="*/ 76200 h 5267325"/>
              <a:gd name="connsiteX89" fmla="*/ 1123950 w 4867275"/>
              <a:gd name="connsiteY89" fmla="*/ 57150 h 5267325"/>
              <a:gd name="connsiteX90" fmla="*/ 1085850 w 4867275"/>
              <a:gd name="connsiteY90" fmla="*/ 47625 h 5267325"/>
              <a:gd name="connsiteX91" fmla="*/ 962025 w 4867275"/>
              <a:gd name="connsiteY91" fmla="*/ 38100 h 5267325"/>
              <a:gd name="connsiteX92" fmla="*/ 866775 w 4867275"/>
              <a:gd name="connsiteY92" fmla="*/ 28575 h 5267325"/>
              <a:gd name="connsiteX93" fmla="*/ 819150 w 4867275"/>
              <a:gd name="connsiteY93" fmla="*/ 19050 h 5267325"/>
              <a:gd name="connsiteX94" fmla="*/ 714375 w 4867275"/>
              <a:gd name="connsiteY94" fmla="*/ 0 h 526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4867275" h="5267325">
                <a:moveTo>
                  <a:pt x="714375" y="0"/>
                </a:moveTo>
                <a:lnTo>
                  <a:pt x="714375" y="0"/>
                </a:lnTo>
                <a:cubicBezTo>
                  <a:pt x="628650" y="6350"/>
                  <a:pt x="542571" y="9006"/>
                  <a:pt x="457200" y="19050"/>
                </a:cubicBezTo>
                <a:cubicBezTo>
                  <a:pt x="448690" y="20051"/>
                  <a:pt x="345149" y="51263"/>
                  <a:pt x="333375" y="57150"/>
                </a:cubicBezTo>
                <a:cubicBezTo>
                  <a:pt x="312897" y="67389"/>
                  <a:pt x="296001" y="83714"/>
                  <a:pt x="276225" y="95250"/>
                </a:cubicBezTo>
                <a:cubicBezTo>
                  <a:pt x="257828" y="105982"/>
                  <a:pt x="237773" y="113626"/>
                  <a:pt x="219075" y="123825"/>
                </a:cubicBezTo>
                <a:cubicBezTo>
                  <a:pt x="189765" y="139812"/>
                  <a:pt x="158883" y="159089"/>
                  <a:pt x="133350" y="180975"/>
                </a:cubicBezTo>
                <a:cubicBezTo>
                  <a:pt x="123123" y="189741"/>
                  <a:pt x="114300" y="200025"/>
                  <a:pt x="104775" y="209550"/>
                </a:cubicBezTo>
                <a:cubicBezTo>
                  <a:pt x="78468" y="288472"/>
                  <a:pt x="119817" y="163046"/>
                  <a:pt x="76200" y="304800"/>
                </a:cubicBezTo>
                <a:cubicBezTo>
                  <a:pt x="60432" y="356047"/>
                  <a:pt x="54315" y="359401"/>
                  <a:pt x="47625" y="409575"/>
                </a:cubicBezTo>
                <a:cubicBezTo>
                  <a:pt x="43408" y="441203"/>
                  <a:pt x="41624" y="473112"/>
                  <a:pt x="38100" y="504825"/>
                </a:cubicBezTo>
                <a:cubicBezTo>
                  <a:pt x="35273" y="530266"/>
                  <a:pt x="31566" y="555603"/>
                  <a:pt x="28575" y="581025"/>
                </a:cubicBezTo>
                <a:cubicBezTo>
                  <a:pt x="25216" y="609579"/>
                  <a:pt x="23534" y="638351"/>
                  <a:pt x="19050" y="666750"/>
                </a:cubicBezTo>
                <a:cubicBezTo>
                  <a:pt x="14000" y="698733"/>
                  <a:pt x="0" y="762000"/>
                  <a:pt x="0" y="762000"/>
                </a:cubicBezTo>
                <a:cubicBezTo>
                  <a:pt x="3175" y="1089025"/>
                  <a:pt x="359" y="1416163"/>
                  <a:pt x="9525" y="1743075"/>
                </a:cubicBezTo>
                <a:cubicBezTo>
                  <a:pt x="9923" y="1757268"/>
                  <a:pt x="22982" y="1768124"/>
                  <a:pt x="28575" y="1781175"/>
                </a:cubicBezTo>
                <a:cubicBezTo>
                  <a:pt x="43737" y="1816552"/>
                  <a:pt x="30231" y="1806023"/>
                  <a:pt x="57150" y="1838325"/>
                </a:cubicBezTo>
                <a:cubicBezTo>
                  <a:pt x="105783" y="1896685"/>
                  <a:pt x="64350" y="1840995"/>
                  <a:pt x="114300" y="1885950"/>
                </a:cubicBezTo>
                <a:cubicBezTo>
                  <a:pt x="137662" y="1906976"/>
                  <a:pt x="155830" y="1933766"/>
                  <a:pt x="180975" y="1952625"/>
                </a:cubicBezTo>
                <a:cubicBezTo>
                  <a:pt x="193675" y="1962150"/>
                  <a:pt x="207850" y="1969975"/>
                  <a:pt x="219075" y="1981200"/>
                </a:cubicBezTo>
                <a:cubicBezTo>
                  <a:pt x="332882" y="2095007"/>
                  <a:pt x="152187" y="1938678"/>
                  <a:pt x="285750" y="2057400"/>
                </a:cubicBezTo>
                <a:cubicBezTo>
                  <a:pt x="335842" y="2101927"/>
                  <a:pt x="333815" y="2093093"/>
                  <a:pt x="390525" y="2133600"/>
                </a:cubicBezTo>
                <a:cubicBezTo>
                  <a:pt x="416361" y="2152054"/>
                  <a:pt x="439158" y="2174998"/>
                  <a:pt x="466725" y="2190750"/>
                </a:cubicBezTo>
                <a:cubicBezTo>
                  <a:pt x="484160" y="2200713"/>
                  <a:pt x="505594" y="2201491"/>
                  <a:pt x="523875" y="2209800"/>
                </a:cubicBezTo>
                <a:cubicBezTo>
                  <a:pt x="540729" y="2217461"/>
                  <a:pt x="554941" y="2230096"/>
                  <a:pt x="571500" y="2238375"/>
                </a:cubicBezTo>
                <a:cubicBezTo>
                  <a:pt x="580480" y="2242865"/>
                  <a:pt x="590900" y="2243822"/>
                  <a:pt x="600075" y="2247900"/>
                </a:cubicBezTo>
                <a:cubicBezTo>
                  <a:pt x="684541" y="2285440"/>
                  <a:pt x="627798" y="2267506"/>
                  <a:pt x="704850" y="2295525"/>
                </a:cubicBezTo>
                <a:cubicBezTo>
                  <a:pt x="723721" y="2302387"/>
                  <a:pt x="743089" y="2307821"/>
                  <a:pt x="762000" y="2314575"/>
                </a:cubicBezTo>
                <a:cubicBezTo>
                  <a:pt x="787547" y="2323699"/>
                  <a:pt x="812465" y="2334572"/>
                  <a:pt x="838200" y="2343150"/>
                </a:cubicBezTo>
                <a:cubicBezTo>
                  <a:pt x="899455" y="2363568"/>
                  <a:pt x="860537" y="2337502"/>
                  <a:pt x="933450" y="2381250"/>
                </a:cubicBezTo>
                <a:cubicBezTo>
                  <a:pt x="947063" y="2389418"/>
                  <a:pt x="958341" y="2401019"/>
                  <a:pt x="971550" y="2409825"/>
                </a:cubicBezTo>
                <a:cubicBezTo>
                  <a:pt x="986954" y="2420094"/>
                  <a:pt x="1004719" y="2426835"/>
                  <a:pt x="1019175" y="2438400"/>
                </a:cubicBezTo>
                <a:cubicBezTo>
                  <a:pt x="1036706" y="2452425"/>
                  <a:pt x="1049269" y="2472000"/>
                  <a:pt x="1066800" y="2486025"/>
                </a:cubicBezTo>
                <a:cubicBezTo>
                  <a:pt x="1221704" y="2609948"/>
                  <a:pt x="1001306" y="2409817"/>
                  <a:pt x="1162050" y="2552700"/>
                </a:cubicBezTo>
                <a:cubicBezTo>
                  <a:pt x="1232930" y="2615704"/>
                  <a:pt x="1164454" y="2569383"/>
                  <a:pt x="1247775" y="2619375"/>
                </a:cubicBezTo>
                <a:cubicBezTo>
                  <a:pt x="1260475" y="2635250"/>
                  <a:pt x="1273677" y="2650736"/>
                  <a:pt x="1285875" y="2667000"/>
                </a:cubicBezTo>
                <a:cubicBezTo>
                  <a:pt x="1305559" y="2693245"/>
                  <a:pt x="1320608" y="2722643"/>
                  <a:pt x="1333500" y="2752725"/>
                </a:cubicBezTo>
                <a:cubicBezTo>
                  <a:pt x="1344186" y="2777659"/>
                  <a:pt x="1350707" y="2804295"/>
                  <a:pt x="1362075" y="2828925"/>
                </a:cubicBezTo>
                <a:cubicBezTo>
                  <a:pt x="1388851" y="2886940"/>
                  <a:pt x="1429440" y="2939174"/>
                  <a:pt x="1447800" y="3000375"/>
                </a:cubicBezTo>
                <a:cubicBezTo>
                  <a:pt x="1461033" y="3044486"/>
                  <a:pt x="1486395" y="3123666"/>
                  <a:pt x="1495425" y="3171825"/>
                </a:cubicBezTo>
                <a:cubicBezTo>
                  <a:pt x="1500142" y="3196984"/>
                  <a:pt x="1501567" y="3222652"/>
                  <a:pt x="1504950" y="3248025"/>
                </a:cubicBezTo>
                <a:cubicBezTo>
                  <a:pt x="1507917" y="3270279"/>
                  <a:pt x="1511300" y="3292475"/>
                  <a:pt x="1514475" y="3314700"/>
                </a:cubicBezTo>
                <a:cubicBezTo>
                  <a:pt x="1511300" y="3394075"/>
                  <a:pt x="1506421" y="3473400"/>
                  <a:pt x="1504950" y="3552825"/>
                </a:cubicBezTo>
                <a:cubicBezTo>
                  <a:pt x="1488509" y="4440618"/>
                  <a:pt x="1522439" y="4073256"/>
                  <a:pt x="1485900" y="4438650"/>
                </a:cubicBezTo>
                <a:cubicBezTo>
                  <a:pt x="1489075" y="4575175"/>
                  <a:pt x="1488825" y="4711823"/>
                  <a:pt x="1495425" y="4848225"/>
                </a:cubicBezTo>
                <a:cubicBezTo>
                  <a:pt x="1509335" y="5135689"/>
                  <a:pt x="1497691" y="4943013"/>
                  <a:pt x="1533525" y="5086350"/>
                </a:cubicBezTo>
                <a:cubicBezTo>
                  <a:pt x="1536700" y="5099050"/>
                  <a:pt x="1538015" y="5112366"/>
                  <a:pt x="1543050" y="5124450"/>
                </a:cubicBezTo>
                <a:cubicBezTo>
                  <a:pt x="1553972" y="5150664"/>
                  <a:pt x="1572170" y="5173709"/>
                  <a:pt x="1581150" y="5200650"/>
                </a:cubicBezTo>
                <a:cubicBezTo>
                  <a:pt x="1584325" y="5210175"/>
                  <a:pt x="1584247" y="5221512"/>
                  <a:pt x="1590675" y="5229225"/>
                </a:cubicBezTo>
                <a:cubicBezTo>
                  <a:pt x="1612854" y="5255840"/>
                  <a:pt x="1628864" y="5257830"/>
                  <a:pt x="1657350" y="5267325"/>
                </a:cubicBezTo>
                <a:lnTo>
                  <a:pt x="2028825" y="5248275"/>
                </a:lnTo>
                <a:lnTo>
                  <a:pt x="2847975" y="5229225"/>
                </a:lnTo>
                <a:cubicBezTo>
                  <a:pt x="2895984" y="5227324"/>
                  <a:pt x="2942821" y="5211485"/>
                  <a:pt x="2990850" y="5210175"/>
                </a:cubicBezTo>
                <a:cubicBezTo>
                  <a:pt x="3292380" y="5201951"/>
                  <a:pt x="3594100" y="5203825"/>
                  <a:pt x="3895725" y="5200650"/>
                </a:cubicBezTo>
                <a:cubicBezTo>
                  <a:pt x="4030128" y="5170783"/>
                  <a:pt x="3935309" y="5197798"/>
                  <a:pt x="4067175" y="5143500"/>
                </a:cubicBezTo>
                <a:cubicBezTo>
                  <a:pt x="4147754" y="5110320"/>
                  <a:pt x="4215474" y="5101343"/>
                  <a:pt x="4276725" y="5019675"/>
                </a:cubicBezTo>
                <a:cubicBezTo>
                  <a:pt x="4295775" y="4994275"/>
                  <a:pt x="4313854" y="4968117"/>
                  <a:pt x="4333875" y="4943475"/>
                </a:cubicBezTo>
                <a:cubicBezTo>
                  <a:pt x="4355158" y="4917281"/>
                  <a:pt x="4380591" y="4894492"/>
                  <a:pt x="4400550" y="4867275"/>
                </a:cubicBezTo>
                <a:cubicBezTo>
                  <a:pt x="4415688" y="4846633"/>
                  <a:pt x="4427923" y="4823842"/>
                  <a:pt x="4438650" y="4800600"/>
                </a:cubicBezTo>
                <a:cubicBezTo>
                  <a:pt x="4483806" y="4702763"/>
                  <a:pt x="4428174" y="4783134"/>
                  <a:pt x="4486275" y="4686300"/>
                </a:cubicBezTo>
                <a:cubicBezTo>
                  <a:pt x="4494443" y="4672687"/>
                  <a:pt x="4507248" y="4662137"/>
                  <a:pt x="4514850" y="4648200"/>
                </a:cubicBezTo>
                <a:cubicBezTo>
                  <a:pt x="4553180" y="4577928"/>
                  <a:pt x="4534246" y="4592124"/>
                  <a:pt x="4562475" y="4524375"/>
                </a:cubicBezTo>
                <a:cubicBezTo>
                  <a:pt x="4570667" y="4504715"/>
                  <a:pt x="4583404" y="4487104"/>
                  <a:pt x="4591050" y="4467225"/>
                </a:cubicBezTo>
                <a:cubicBezTo>
                  <a:pt x="4605309" y="4430152"/>
                  <a:pt x="4621337" y="4349982"/>
                  <a:pt x="4629150" y="4314825"/>
                </a:cubicBezTo>
                <a:cubicBezTo>
                  <a:pt x="4632325" y="4276725"/>
                  <a:pt x="4631568" y="4238091"/>
                  <a:pt x="4638675" y="4200525"/>
                </a:cubicBezTo>
                <a:cubicBezTo>
                  <a:pt x="4653849" y="4120319"/>
                  <a:pt x="4684281" y="4043209"/>
                  <a:pt x="4695825" y="3962400"/>
                </a:cubicBezTo>
                <a:cubicBezTo>
                  <a:pt x="4716614" y="3816875"/>
                  <a:pt x="4710215" y="3839719"/>
                  <a:pt x="4743450" y="3695700"/>
                </a:cubicBezTo>
                <a:cubicBezTo>
                  <a:pt x="4770442" y="3578735"/>
                  <a:pt x="4780848" y="3564935"/>
                  <a:pt x="4800600" y="3438525"/>
                </a:cubicBezTo>
                <a:cubicBezTo>
                  <a:pt x="4819213" y="3319399"/>
                  <a:pt x="4821316" y="3251605"/>
                  <a:pt x="4829175" y="3133725"/>
                </a:cubicBezTo>
                <a:cubicBezTo>
                  <a:pt x="4826000" y="2889250"/>
                  <a:pt x="4824135" y="2644754"/>
                  <a:pt x="4819650" y="2400300"/>
                </a:cubicBezTo>
                <a:cubicBezTo>
                  <a:pt x="4817785" y="2298668"/>
                  <a:pt x="4809044" y="2197144"/>
                  <a:pt x="4810125" y="2095500"/>
                </a:cubicBezTo>
                <a:cubicBezTo>
                  <a:pt x="4814825" y="1653734"/>
                  <a:pt x="4815844" y="1664923"/>
                  <a:pt x="4838700" y="1390650"/>
                </a:cubicBezTo>
                <a:cubicBezTo>
                  <a:pt x="4841875" y="1273175"/>
                  <a:pt x="4841584" y="1155555"/>
                  <a:pt x="4848225" y="1038225"/>
                </a:cubicBezTo>
                <a:cubicBezTo>
                  <a:pt x="4851118" y="987111"/>
                  <a:pt x="4867275" y="885825"/>
                  <a:pt x="4867275" y="885825"/>
                </a:cubicBezTo>
                <a:cubicBezTo>
                  <a:pt x="4860925" y="835025"/>
                  <a:pt x="4862289" y="782651"/>
                  <a:pt x="4848225" y="733425"/>
                </a:cubicBezTo>
                <a:cubicBezTo>
                  <a:pt x="4842640" y="713877"/>
                  <a:pt x="4822147" y="702194"/>
                  <a:pt x="4810125" y="685800"/>
                </a:cubicBezTo>
                <a:cubicBezTo>
                  <a:pt x="4787872" y="655455"/>
                  <a:pt x="4737663" y="569702"/>
                  <a:pt x="4695825" y="542925"/>
                </a:cubicBezTo>
                <a:cubicBezTo>
                  <a:pt x="4634785" y="503859"/>
                  <a:pt x="4568868" y="472996"/>
                  <a:pt x="4505325" y="438150"/>
                </a:cubicBezTo>
                <a:cubicBezTo>
                  <a:pt x="4470443" y="419021"/>
                  <a:pt x="4437487" y="395775"/>
                  <a:pt x="4400550" y="381000"/>
                </a:cubicBezTo>
                <a:cubicBezTo>
                  <a:pt x="4368800" y="368300"/>
                  <a:pt x="4336484" y="356933"/>
                  <a:pt x="4305300" y="342900"/>
                </a:cubicBezTo>
                <a:cubicBezTo>
                  <a:pt x="4216349" y="302872"/>
                  <a:pt x="4192567" y="278631"/>
                  <a:pt x="4095750" y="247650"/>
                </a:cubicBezTo>
                <a:cubicBezTo>
                  <a:pt x="4055406" y="234740"/>
                  <a:pt x="4012913" y="229768"/>
                  <a:pt x="3971925" y="219075"/>
                </a:cubicBezTo>
                <a:cubicBezTo>
                  <a:pt x="3939850" y="210708"/>
                  <a:pt x="3909142" y="197184"/>
                  <a:pt x="3876675" y="190500"/>
                </a:cubicBezTo>
                <a:cubicBezTo>
                  <a:pt x="3786021" y="171836"/>
                  <a:pt x="3638125" y="146086"/>
                  <a:pt x="3533775" y="142875"/>
                </a:cubicBezTo>
                <a:cubicBezTo>
                  <a:pt x="3365550" y="137699"/>
                  <a:pt x="3197235" y="135959"/>
                  <a:pt x="3028950" y="133350"/>
                </a:cubicBezTo>
                <a:lnTo>
                  <a:pt x="2305050" y="123825"/>
                </a:lnTo>
                <a:cubicBezTo>
                  <a:pt x="2270125" y="120650"/>
                  <a:pt x="2234992" y="119260"/>
                  <a:pt x="2200275" y="114300"/>
                </a:cubicBezTo>
                <a:cubicBezTo>
                  <a:pt x="2075667" y="96499"/>
                  <a:pt x="2131823" y="89380"/>
                  <a:pt x="2000250" y="85725"/>
                </a:cubicBezTo>
                <a:cubicBezTo>
                  <a:pt x="1806624" y="80346"/>
                  <a:pt x="1612900" y="79375"/>
                  <a:pt x="1419225" y="76200"/>
                </a:cubicBezTo>
                <a:cubicBezTo>
                  <a:pt x="1173826" y="48933"/>
                  <a:pt x="1581539" y="92349"/>
                  <a:pt x="1123950" y="57150"/>
                </a:cubicBezTo>
                <a:cubicBezTo>
                  <a:pt x="1110898" y="56146"/>
                  <a:pt x="1098851" y="49155"/>
                  <a:pt x="1085850" y="47625"/>
                </a:cubicBezTo>
                <a:cubicBezTo>
                  <a:pt x="1044737" y="42788"/>
                  <a:pt x="1003266" y="41686"/>
                  <a:pt x="962025" y="38100"/>
                </a:cubicBezTo>
                <a:cubicBezTo>
                  <a:pt x="930237" y="35336"/>
                  <a:pt x="898403" y="32792"/>
                  <a:pt x="866775" y="28575"/>
                </a:cubicBezTo>
                <a:cubicBezTo>
                  <a:pt x="850728" y="26435"/>
                  <a:pt x="835292" y="20292"/>
                  <a:pt x="819150" y="19050"/>
                </a:cubicBezTo>
                <a:cubicBezTo>
                  <a:pt x="793825" y="17102"/>
                  <a:pt x="731838" y="3175"/>
                  <a:pt x="714375" y="0"/>
                </a:cubicBezTo>
                <a:close/>
              </a:path>
            </a:pathLst>
          </a:custGeom>
          <a:solidFill>
            <a:srgbClr val="FF0000">
              <a:alpha val="5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413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3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194B37B-813A-99FE-7B78-4D87D8C30D44}"/>
              </a:ext>
            </a:extLst>
          </p:cNvPr>
          <p:cNvSpPr txBox="1">
            <a:spLocks/>
          </p:cNvSpPr>
          <p:nvPr/>
        </p:nvSpPr>
        <p:spPr bwMode="black">
          <a:xfrm>
            <a:off x="961533" y="2011679"/>
            <a:ext cx="6363093" cy="417163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Nowadays network operators are using </a:t>
            </a:r>
            <a:r>
              <a:rPr lang="en-US" b="1" dirty="0">
                <a:solidFill>
                  <a:srgbClr val="FF0000"/>
                </a:solidFill>
              </a:rPr>
              <a:t>machine and human readable YANG 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RFC 7950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to model their configurations and obtain YANG modelled data from their networks. </a:t>
            </a:r>
          </a:p>
          <a:p>
            <a:r>
              <a:rPr lang="en-US" b="1" dirty="0">
                <a:solidFill>
                  <a:srgbClr val="FF0000"/>
                </a:solidFill>
              </a:rPr>
              <a:t>Network operators organize their data in a Data Mesh </a:t>
            </a:r>
            <a:r>
              <a:rPr lang="en-US" dirty="0"/>
              <a:t>where a message broker such as Apache Kafka facilitates the exchange of messages among data processing components. </a:t>
            </a:r>
          </a:p>
          <a:p>
            <a:r>
              <a:rPr lang="en-US" dirty="0"/>
              <a:t>Today, subscribing to a YANG datastore, publishing a YANG modeled notifications message from the network and viewing the data in a time series database, </a:t>
            </a:r>
            <a:r>
              <a:rPr lang="en-US" b="1" dirty="0">
                <a:solidFill>
                  <a:srgbClr val="FF0000"/>
                </a:solidFill>
              </a:rPr>
              <a:t>manual labor is needed to perform data transformation </a:t>
            </a:r>
            <a:r>
              <a:rPr lang="en-US" dirty="0"/>
              <a:t>to make a message broker and its data processing components with YANG notifications interoperable.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3EDB4-CFDF-D6B9-8AF9-9CFA563360E3}"/>
              </a:ext>
            </a:extLst>
          </p:cNvPr>
          <p:cNvSpPr txBox="1"/>
          <p:nvPr/>
        </p:nvSpPr>
        <p:spPr>
          <a:xfrm>
            <a:off x="7588576" y="2365150"/>
            <a:ext cx="39993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+mj-lt"/>
              </a:rPr>
              <a:t>« </a:t>
            </a:r>
            <a:r>
              <a:rPr lang="en-US" sz="3000" dirty="0">
                <a:latin typeface="+mj-lt"/>
              </a:rPr>
              <a:t>Even though YANG is </a:t>
            </a:r>
            <a:r>
              <a:rPr lang="en-US" sz="3000" dirty="0" err="1">
                <a:latin typeface="+mj-lt"/>
              </a:rPr>
              <a:t>intented</a:t>
            </a:r>
            <a:r>
              <a:rPr lang="en-US" sz="3000" dirty="0">
                <a:latin typeface="+mj-lt"/>
              </a:rPr>
              <a:t> to ease data management,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this promise has not yet been fulfilled </a:t>
            </a:r>
            <a:r>
              <a:rPr lang="en-US" sz="3000" dirty="0">
                <a:latin typeface="+mj-lt"/>
              </a:rPr>
              <a:t>for Network Telemetry </a:t>
            </a:r>
            <a:r>
              <a:rPr lang="en-US" sz="3000" dirty="0">
                <a:latin typeface="+mj-lt"/>
                <a:hlinkClick r:id="rId3"/>
              </a:rPr>
              <a:t>RFC 9232 </a:t>
            </a:r>
            <a:r>
              <a:rPr lang="de-CH" sz="3000" b="1" dirty="0">
                <a:latin typeface="+mj-lt"/>
              </a:rPr>
              <a:t>»</a:t>
            </a:r>
            <a:endParaRPr lang="en-US" sz="3000" b="1" dirty="0">
              <a:latin typeface="+mj-lt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Handling Operational YANG Modelled Data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State of the Union</a:t>
            </a:r>
          </a:p>
        </p:txBody>
      </p:sp>
    </p:spTree>
    <p:extLst>
      <p:ext uri="{BB962C8B-B14F-4D97-AF65-F5344CB8AC3E}">
        <p14:creationId xmlns:p14="http://schemas.microsoft.com/office/powerpoint/2010/main" val="131577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From YANG-Push to Network Analytics</a:t>
            </a:r>
            <a:br>
              <a:rPr lang="en-GB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Aiming for an automated data 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84420"/>
            <a:ext cx="8239299" cy="4292543"/>
          </a:xfrm>
        </p:spPr>
        <p:txBody>
          <a:bodyPr>
            <a:noAutofit/>
          </a:bodyPr>
          <a:lstStyle/>
          <a:p>
            <a:r>
              <a:rPr lang="en-US" sz="2000" b="1" dirty="0"/>
              <a:t>A network operator aims for:</a:t>
            </a:r>
            <a:endParaRPr lang="en-US" sz="2000" dirty="0"/>
          </a:p>
          <a:p>
            <a:pPr lvl="1"/>
            <a:r>
              <a:rPr lang="en-US" sz="2000" dirty="0"/>
              <a:t>An </a:t>
            </a:r>
            <a:r>
              <a:rPr lang="en-US" sz="2000" b="1" dirty="0">
                <a:solidFill>
                  <a:srgbClr val="FF0000"/>
                </a:solidFill>
              </a:rPr>
              <a:t>automated data processing pipeline </a:t>
            </a:r>
            <a:r>
              <a:rPr lang="en-US" sz="2000" dirty="0"/>
              <a:t>which starts with YANG-Push, consolidates at Data Mesh and ends at Network Analytics.</a:t>
            </a:r>
          </a:p>
          <a:p>
            <a:pPr lvl="1"/>
            <a:r>
              <a:rPr lang="en-US" sz="2000" dirty="0"/>
              <a:t>Operational metrics where </a:t>
            </a:r>
            <a:r>
              <a:rPr lang="en-US" sz="2000" b="1" dirty="0">
                <a:solidFill>
                  <a:srgbClr val="FF0000"/>
                </a:solidFill>
              </a:rPr>
              <a:t>IETF defines the semantics. </a:t>
            </a:r>
          </a:p>
          <a:p>
            <a:pPr lvl="1"/>
            <a:r>
              <a:rPr lang="en-US" sz="2000" dirty="0"/>
              <a:t>Analytical metrics where </a:t>
            </a:r>
            <a:r>
              <a:rPr lang="en-US" sz="2000" b="1" dirty="0">
                <a:solidFill>
                  <a:srgbClr val="FF0000"/>
                </a:solidFill>
              </a:rPr>
              <a:t>network operators gain actionable insights.</a:t>
            </a:r>
            <a:br>
              <a:rPr lang="en-US" sz="2000" b="1" dirty="0">
                <a:solidFill>
                  <a:srgbClr val="FF0000"/>
                </a:solidFill>
              </a:rPr>
            </a:b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/>
              <a:t>We achieve this by integrating YANG-Push into Data Mesh to:</a:t>
            </a:r>
          </a:p>
          <a:p>
            <a:pPr lvl="1"/>
            <a:r>
              <a:rPr lang="en-US" sz="2000" dirty="0"/>
              <a:t>Produce metrics from networks </a:t>
            </a:r>
            <a:r>
              <a:rPr lang="en-US" sz="2000" b="1" dirty="0">
                <a:solidFill>
                  <a:srgbClr val="FF0000"/>
                </a:solidFill>
              </a:rPr>
              <a:t>with timestamps when network events were observed.</a:t>
            </a:r>
          </a:p>
          <a:p>
            <a:pPr lvl="1"/>
            <a:r>
              <a:rPr lang="en-US" sz="2000" dirty="0"/>
              <a:t>Hostname, publisher ID and sequence numbers help us to understand </a:t>
            </a:r>
            <a:r>
              <a:rPr lang="en-US" sz="2000" b="1" dirty="0">
                <a:solidFill>
                  <a:srgbClr val="FF0000"/>
                </a:solidFill>
              </a:rPr>
              <a:t>from where metrics were exported and measure its delay and loss.</a:t>
            </a:r>
          </a:p>
          <a:p>
            <a:pPr lvl="1"/>
            <a:r>
              <a:rPr lang="en-US" sz="2000" dirty="0"/>
              <a:t>Forward </a:t>
            </a:r>
            <a:r>
              <a:rPr lang="en-US" sz="2000" b="1" dirty="0">
                <a:solidFill>
                  <a:srgbClr val="FF0000"/>
                </a:solidFill>
              </a:rPr>
              <a:t>metrics unchanged </a:t>
            </a:r>
            <a:r>
              <a:rPr lang="en-US" sz="2000" dirty="0"/>
              <a:t>from networks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Learn semantics </a:t>
            </a:r>
            <a:r>
              <a:rPr lang="en-US" sz="2000" dirty="0"/>
              <a:t>from networks and validate messages.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Control semantic </a:t>
            </a:r>
            <a:r>
              <a:rPr lang="en-US" sz="2000" dirty="0"/>
              <a:t>changes end to end.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188F19-E5F7-4133-8F81-1D619D6C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538" y="1027906"/>
            <a:ext cx="2679605" cy="4851729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D5EE238-429C-4784-8E42-1813EF45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4</a:t>
            </a:fld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108806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5</a:t>
            </a:fld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3EDB4-CFDF-D6B9-8AF9-9CFA563360E3}"/>
              </a:ext>
            </a:extLst>
          </p:cNvPr>
          <p:cNvSpPr txBox="1"/>
          <p:nvPr/>
        </p:nvSpPr>
        <p:spPr>
          <a:xfrm>
            <a:off x="983239" y="1871856"/>
            <a:ext cx="49242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« </a:t>
            </a:r>
            <a:r>
              <a:rPr lang="en-US" sz="2400" dirty="0">
                <a:latin typeface="+mj-lt"/>
              </a:rPr>
              <a:t>Imagine that your entire life as network engineer you have logged into routers to perform show commands to get a glimpse into the current state of your networks. </a:t>
            </a:r>
            <a:r>
              <a:rPr lang="en-US" sz="2400" b="1" dirty="0">
                <a:latin typeface="+mj-lt"/>
              </a:rPr>
              <a:t>»</a:t>
            </a:r>
          </a:p>
          <a:p>
            <a:pPr algn="ctr"/>
            <a:endParaRPr lang="en-US" sz="2400" b="1" dirty="0">
              <a:latin typeface="+mj-lt"/>
            </a:endParaRPr>
          </a:p>
          <a:p>
            <a:pPr algn="ctr"/>
            <a:r>
              <a:rPr lang="en-US" sz="2400" b="1" dirty="0">
                <a:latin typeface="+mj-lt"/>
              </a:rPr>
              <a:t>« </a:t>
            </a:r>
            <a:r>
              <a:rPr lang="en-US" sz="2400" dirty="0">
                <a:latin typeface="+mj-lt"/>
              </a:rPr>
              <a:t>Suddenly you see your colleague on the right querying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current network state in seconds directly from a real-time data stream. </a:t>
            </a:r>
            <a:r>
              <a:rPr lang="en-US" sz="2400" dirty="0">
                <a:latin typeface="+mj-lt"/>
              </a:rPr>
              <a:t>No access to routers needed. No databases needed. </a:t>
            </a:r>
            <a:r>
              <a:rPr lang="en-US" sz="2400" b="1" dirty="0">
                <a:latin typeface="+mj-lt"/>
              </a:rPr>
              <a:t>»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We have a dream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Digital Twin at your fingertips</a:t>
            </a:r>
          </a:p>
        </p:txBody>
      </p:sp>
      <p:pic>
        <p:nvPicPr>
          <p:cNvPr id="2" name="Picture 1" descr="People in a control room&#10;&#10;AI-generated content may be incorrect.">
            <a:extLst>
              <a:ext uri="{FF2B5EF4-FFF2-40B4-BE49-F238E27FC236}">
                <a16:creationId xmlns:a16="http://schemas.microsoft.com/office/drawing/2014/main" id="{91ECD187-3439-6888-222A-ACB860FBC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404" y="1871856"/>
            <a:ext cx="5434263" cy="3056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BBB440-2F06-8C9A-AA8A-BA9481746642}"/>
              </a:ext>
            </a:extLst>
          </p:cNvPr>
          <p:cNvSpPr txBox="1"/>
          <p:nvPr/>
        </p:nvSpPr>
        <p:spPr>
          <a:xfrm>
            <a:off x="6298170" y="5019793"/>
            <a:ext cx="5523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"NASA Mission Control Digital Twin in the 60s,</a:t>
            </a:r>
            <a:br>
              <a:rPr lang="en-US" i="1" dirty="0"/>
            </a:br>
            <a:r>
              <a:rPr lang="en-US" i="1" dirty="0"/>
              <a:t>Digital Twin is not Rocket Science"</a:t>
            </a:r>
          </a:p>
        </p:txBody>
      </p:sp>
    </p:spTree>
    <p:extLst>
      <p:ext uri="{BB962C8B-B14F-4D97-AF65-F5344CB8AC3E}">
        <p14:creationId xmlns:p14="http://schemas.microsoft.com/office/powerpoint/2010/main" val="123041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Terminology (1)</a:t>
            </a:r>
            <a:br>
              <a:rPr lang="en-GB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Message Broker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344851" cy="448627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Subject: </a:t>
            </a:r>
            <a:r>
              <a:rPr lang="en-US" sz="2100" dirty="0"/>
              <a:t>A named communication channel where a schema registry assigned schema id is associated.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Topic: </a:t>
            </a:r>
            <a:r>
              <a:rPr lang="en-US" sz="2100" dirty="0"/>
              <a:t>A communication channel for publishing and subscribing messages between producer and consumer with one or more subjects.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Topic Compaction: </a:t>
            </a:r>
            <a:r>
              <a:rPr lang="en-US" sz="2100" dirty="0"/>
              <a:t>The act of compressing messages in a topic to the latest state. 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Partition: </a:t>
            </a:r>
            <a:r>
              <a:rPr lang="en-US" sz="2100" dirty="0"/>
              <a:t>Messages in a topic are spread over hash buckets where a hash bucket refers to a partition.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Message: </a:t>
            </a:r>
            <a:r>
              <a:rPr lang="en-US" sz="2100" dirty="0"/>
              <a:t>A piece of structured data sent between data processing components to facilitate communication in a distributed system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Message Key: </a:t>
            </a:r>
            <a:r>
              <a:rPr lang="en-US" sz="2100" dirty="0"/>
              <a:t>Metadata associated with a message to facilitate deterministic hash bucketing.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Segment: </a:t>
            </a:r>
            <a:r>
              <a:rPr lang="en-US" sz="2100" dirty="0"/>
              <a:t>A physical file containing multiple messages.</a:t>
            </a:r>
            <a:endParaRPr lang="en-US" sz="21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D5EE238-429C-4784-8E42-1813EF45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6</a:t>
            </a:fld>
            <a:endParaRPr lang="de-CH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CCEA3-960D-FE3E-0C50-961771122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877" y="818178"/>
            <a:ext cx="3966015" cy="52216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6F5A4F-04E0-A9CD-A444-BDECEE48C3E7}"/>
              </a:ext>
            </a:extLst>
          </p:cNvPr>
          <p:cNvSpPr txBox="1"/>
          <p:nvPr/>
        </p:nvSpPr>
        <p:spPr>
          <a:xfrm>
            <a:off x="7417142" y="6176963"/>
            <a:ext cx="4170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400" dirty="0">
                <a:hlinkClick r:id="rId3"/>
              </a:rPr>
              <a:t>https://www.confluent.io/thank-you/resources/ebook/kafka-the-definitive-guide/</a:t>
            </a:r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413148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8CAD-D79D-BB74-42C1-B083B671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3FAA-6F22-376E-1A22-2CC12FA1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Terminology (2)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YANG Data Taxonomy and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1665-59C1-3325-3606-F2E7AA46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43074" cy="448627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Dimensional Data: </a:t>
            </a:r>
            <a:r>
              <a:rPr lang="en-US" sz="2100" dirty="0"/>
              <a:t>Structured information in a data store [</a:t>
            </a:r>
            <a:r>
              <a:rPr lang="en-US" sz="2100" dirty="0">
                <a:hlinkClick r:id="rId2"/>
              </a:rPr>
              <a:t>Ralph Kimball</a:t>
            </a:r>
            <a:r>
              <a:rPr lang="en-US" sz="2100" dirty="0"/>
              <a:t>]. Example: YANG with data taxonomy.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Data Taxonomy: </a:t>
            </a:r>
            <a:r>
              <a:rPr lang="en-US" sz="2100" dirty="0"/>
              <a:t>Is a hierarchical system for classifying and organizing data into categories and subcategories</a:t>
            </a:r>
          </a:p>
          <a:p>
            <a:pPr lvl="0" fontAlgn="base">
              <a:spcBef>
                <a:spcPts val="600"/>
              </a:spcBef>
              <a:spcAft>
                <a:spcPct val="0"/>
              </a:spcAft>
            </a:pPr>
            <a:r>
              <a:rPr lang="en-US" sz="2100" b="1" dirty="0">
                <a:solidFill>
                  <a:srgbClr val="FF0000"/>
                </a:solidFill>
              </a:rPr>
              <a:t>YANG Schema Tree: </a:t>
            </a:r>
            <a:r>
              <a:rPr lang="en-US" altLang="de-DE" sz="2100" dirty="0"/>
              <a:t>The definition hierarchy specified within a module.</a:t>
            </a:r>
          </a:p>
          <a:p>
            <a:pPr>
              <a:spcBef>
                <a:spcPts val="600"/>
              </a:spcBef>
            </a:pPr>
            <a:r>
              <a:rPr lang="en-US" altLang="de-DE" sz="2100" b="1" dirty="0">
                <a:solidFill>
                  <a:srgbClr val="FF0000"/>
                </a:solidFill>
              </a:rPr>
              <a:t>YANG Schema Node: </a:t>
            </a:r>
            <a:r>
              <a:rPr lang="en-US" altLang="de-DE" sz="2100" dirty="0"/>
              <a:t>A node in the schema tree.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YANG Item Identifiers: </a:t>
            </a:r>
            <a:r>
              <a:rPr lang="en-US" sz="2100" dirty="0">
                <a:solidFill>
                  <a:srgbClr val="FF0000"/>
                </a:solidFill>
                <a:hlinkClick r:id="rId3"/>
              </a:rPr>
              <a:t>Section 3.3 in </a:t>
            </a:r>
            <a:r>
              <a:rPr lang="en-US" sz="2100" dirty="0">
                <a:hlinkClick r:id="rId3"/>
              </a:rPr>
              <a:t>RFC 9254</a:t>
            </a:r>
            <a:r>
              <a:rPr lang="en-US" sz="2100" dirty="0"/>
              <a:t> defines unique text-based identifiers for each YANG element including YANG schema nodes.</a:t>
            </a:r>
          </a:p>
          <a:p>
            <a:pPr>
              <a:spcBef>
                <a:spcPts val="600"/>
              </a:spcBef>
            </a:pPr>
            <a:r>
              <a:rPr lang="en-US" sz="2100" b="1" dirty="0">
                <a:solidFill>
                  <a:srgbClr val="FF0000"/>
                </a:solidFill>
              </a:rPr>
              <a:t>YANG index: </a:t>
            </a:r>
            <a:r>
              <a:rPr lang="en-US" sz="2100" dirty="0"/>
              <a:t>Is a subset of YANG item identifiers containing only YANG schema node identifiers.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9BCF2D4-1870-6423-60A0-79EE54FB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7</a:t>
            </a:fld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A178A-624D-5E20-2C4A-20F6E40265E6}"/>
              </a:ext>
            </a:extLst>
          </p:cNvPr>
          <p:cNvSpPr txBox="1"/>
          <p:nvPr/>
        </p:nvSpPr>
        <p:spPr>
          <a:xfrm>
            <a:off x="6096000" y="1152952"/>
            <a:ext cx="5906143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module: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-interfaces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interface* [name]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name                        string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description?                string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type            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enabled?        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link-up-down-trap-enable?   enumeration {if-mib}?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admin-status                enumeration {if-mib}?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-status                 enumeration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last-change?    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if-index                    int32 {if-mib}?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-address?   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yang:phys-address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higher-layer-if*            interface-ref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lower-layer-if*             interface-ref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speed?                      yang:gauge64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discontinuity-time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yang:date-and-time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in-octets?         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in-unicast-pkts?   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in-broadcast-pkts? 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in-multicast-pkts? 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in-discards?          yang:counter32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in-errors?            yang:counter32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in-unknown-protos?    yang:counter32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out-octets?        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out-unicast-pkts?  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out-broadcast-pkts?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out-multicast-pkts?   yang:counter64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out-discards?         yang:counter32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+--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out-errors?           yang:counter32</a:t>
            </a:r>
          </a:p>
        </p:txBody>
      </p:sp>
    </p:spTree>
    <p:extLst>
      <p:ext uri="{BB962C8B-B14F-4D97-AF65-F5344CB8AC3E}">
        <p14:creationId xmlns:p14="http://schemas.microsoft.com/office/powerpoint/2010/main" val="416247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8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194B37B-813A-99FE-7B78-4D87D8C30D44}"/>
              </a:ext>
            </a:extLst>
          </p:cNvPr>
          <p:cNvSpPr txBox="1">
            <a:spLocks/>
          </p:cNvSpPr>
          <p:nvPr/>
        </p:nvSpPr>
        <p:spPr bwMode="black">
          <a:xfrm>
            <a:off x="8939463" y="365126"/>
            <a:ext cx="2959769" cy="5818184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600" dirty="0"/>
              <a:t>From discovering YANG-Push subscription capabilities defined in </a:t>
            </a:r>
            <a:r>
              <a:rPr lang="en-US" sz="1600" dirty="0">
                <a:hlinkClick r:id="rId2"/>
              </a:rPr>
              <a:t>RFC 9196</a:t>
            </a:r>
            <a:r>
              <a:rPr lang="en-US" sz="1600" dirty="0"/>
              <a:t>, subscribing interesting metrics periodical (</a:t>
            </a:r>
            <a:r>
              <a:rPr lang="en-US" sz="1600" b="1" dirty="0">
                <a:solidFill>
                  <a:srgbClr val="FF0000"/>
                </a:solidFill>
              </a:rPr>
              <a:t>statistics</a:t>
            </a:r>
            <a:r>
              <a:rPr lang="en-US" sz="1600" dirty="0"/>
              <a:t>), on-change (</a:t>
            </a:r>
            <a:r>
              <a:rPr lang="en-US" sz="1600" b="1" dirty="0">
                <a:solidFill>
                  <a:srgbClr val="FF0000"/>
                </a:solidFill>
              </a:rPr>
              <a:t>state changes</a:t>
            </a:r>
            <a:r>
              <a:rPr lang="en-US" sz="1600" dirty="0"/>
              <a:t>) or on-change with sync-on-start (</a:t>
            </a:r>
            <a:r>
              <a:rPr lang="en-US" sz="1600" b="1" dirty="0">
                <a:solidFill>
                  <a:srgbClr val="FF0000"/>
                </a:solidFill>
              </a:rPr>
              <a:t>states</a:t>
            </a:r>
            <a:r>
              <a:rPr lang="en-US" sz="1600" dirty="0"/>
              <a:t>) defined in </a:t>
            </a:r>
            <a:r>
              <a:rPr lang="en-US" sz="1600" dirty="0">
                <a:hlinkClick r:id="rId3"/>
              </a:rPr>
              <a:t>RFC 8641</a:t>
            </a:r>
            <a:r>
              <a:rPr lang="en-US" sz="1600" dirty="0"/>
              <a:t>.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</a:rPr>
              <a:t>Each subscription refers to network node, datastore (</a:t>
            </a:r>
            <a:r>
              <a:rPr lang="en-US" sz="1600" dirty="0">
                <a:solidFill>
                  <a:srgbClr val="FF0000"/>
                </a:solidFill>
                <a:hlinkClick r:id="rId4"/>
              </a:rPr>
              <a:t>RFC 8342</a:t>
            </a:r>
            <a:r>
              <a:rPr lang="en-US" sz="1600" b="1" dirty="0">
                <a:solidFill>
                  <a:srgbClr val="FF0000"/>
                </a:solidFill>
              </a:rPr>
              <a:t>) and a schema tree.</a:t>
            </a:r>
          </a:p>
          <a:p>
            <a:pPr>
              <a:spcAft>
                <a:spcPts val="0"/>
              </a:spcAft>
            </a:pPr>
            <a:r>
              <a:rPr lang="en-US" sz="1600" dirty="0"/>
              <a:t>In this </a:t>
            </a:r>
            <a:r>
              <a:rPr lang="en-US" sz="1600" dirty="0">
                <a:hlinkClick r:id="rId5"/>
              </a:rPr>
              <a:t>RFC 8343 </a:t>
            </a:r>
            <a:r>
              <a:rPr lang="en-US" sz="1600" dirty="0"/>
              <a:t>example </a:t>
            </a:r>
            <a:r>
              <a:rPr lang="en-US" sz="1600" dirty="0" err="1"/>
              <a:t>ietf</a:t>
            </a:r>
            <a:r>
              <a:rPr lang="en-US" sz="1600" dirty="0"/>
              <a:t>-interface statistics are subscribed periodically and </a:t>
            </a:r>
            <a:r>
              <a:rPr lang="en-US" sz="1600" dirty="0" err="1"/>
              <a:t>ietf</a:t>
            </a:r>
            <a:r>
              <a:rPr lang="en-US" sz="1600" dirty="0"/>
              <a:t>-interface states on-change sync-on-start. </a:t>
            </a:r>
            <a:r>
              <a:rPr lang="en-US" sz="1600" b="1" dirty="0">
                <a:solidFill>
                  <a:srgbClr val="FF0000"/>
                </a:solidFill>
              </a:rPr>
              <a:t>YANG-Push subscription ID's are per network node significant.</a:t>
            </a:r>
          </a:p>
          <a:p>
            <a:pPr>
              <a:spcAft>
                <a:spcPts val="0"/>
              </a:spcAft>
            </a:pPr>
            <a:r>
              <a:rPr lang="en-US" sz="1600" dirty="0"/>
              <a:t>Data Collection obtains for each subscription the YANG schema tree by leveraging &lt;get-schema&gt;  (</a:t>
            </a:r>
            <a:r>
              <a:rPr lang="en-US" sz="1600" dirty="0">
                <a:hlinkClick r:id="rId6"/>
              </a:rPr>
              <a:t>RFC 6022</a:t>
            </a:r>
            <a:r>
              <a:rPr lang="en-US" sz="1600" dirty="0"/>
              <a:t>), YANG Library (</a:t>
            </a:r>
            <a:r>
              <a:rPr lang="en-US" sz="1600" dirty="0">
                <a:hlinkClick r:id="rId7"/>
              </a:rPr>
              <a:t>RFC 8525</a:t>
            </a:r>
            <a:r>
              <a:rPr lang="en-US" sz="1600" dirty="0"/>
              <a:t>) and </a:t>
            </a:r>
            <a:r>
              <a:rPr lang="en-US" sz="1600" dirty="0">
                <a:hlinkClick r:id="rId8"/>
              </a:rPr>
              <a:t>draft-</a:t>
            </a:r>
            <a:r>
              <a:rPr lang="en-US" sz="1600" dirty="0" err="1">
                <a:hlinkClick r:id="rId8"/>
              </a:rPr>
              <a:t>ietf</a:t>
            </a:r>
            <a:r>
              <a:rPr lang="en-US" sz="1600" dirty="0">
                <a:hlinkClick r:id="rId8"/>
              </a:rPr>
              <a:t>-netconf-yang-library-</a:t>
            </a:r>
            <a:r>
              <a:rPr lang="en-US" sz="1600" dirty="0" err="1">
                <a:hlinkClick r:id="rId8"/>
              </a:rPr>
              <a:t>augmentedby</a:t>
            </a:r>
            <a:r>
              <a:rPr lang="en-US" sz="1600" dirty="0"/>
              <a:t>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4568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YANG-Push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Discover and Subscribe to YANG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48B25-B0E5-1389-9DDE-DC3F28D870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823758"/>
            <a:ext cx="7948475" cy="435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70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5070-8787-A57C-55D6-8378E131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30A65C2-E2D1-2F3C-F601-84166D18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9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1CDA501-9972-D341-C055-BD736248E8F4}"/>
              </a:ext>
            </a:extLst>
          </p:cNvPr>
          <p:cNvSpPr txBox="1">
            <a:spLocks/>
          </p:cNvSpPr>
          <p:nvPr/>
        </p:nvSpPr>
        <p:spPr bwMode="black">
          <a:xfrm>
            <a:off x="5967663" y="3826042"/>
            <a:ext cx="5233737" cy="2357267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600" dirty="0"/>
              <a:t>For all 4 YANG-Push subscriptions, YANG schema registration and comparison is performed.</a:t>
            </a:r>
          </a:p>
          <a:p>
            <a:pPr>
              <a:spcAft>
                <a:spcPts val="0"/>
              </a:spcAft>
            </a:pPr>
            <a:r>
              <a:rPr lang="en-US" sz="1600" dirty="0"/>
              <a:t>Since the two YANG schema trees for both YANG-Push subscriptions are identical on both network nodes, </a:t>
            </a:r>
            <a:r>
              <a:rPr lang="en-US" sz="1600" b="1" dirty="0">
                <a:solidFill>
                  <a:srgbClr val="FF0000"/>
                </a:solidFill>
              </a:rPr>
              <a:t>two YANG globally unique schema ID's are being issued from the YANG schema registry to the YANG data producer.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047BEA9-3AA4-E9CE-441B-E09628F11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4568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YANG Schema Registry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From 4 subscription ID's to 2 schema ID's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8427E1-ECCE-9D41-9FBB-76438A11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7776412" cy="439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8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43A3-0967-B5C7-D9E6-8AE25E3C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CFBC7D8-2018-0F89-FA1F-5A16986E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10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E77B89A-93BE-C3C5-9340-B4A230046058}"/>
              </a:ext>
            </a:extLst>
          </p:cNvPr>
          <p:cNvSpPr txBox="1">
            <a:spLocks/>
          </p:cNvSpPr>
          <p:nvPr/>
        </p:nvSpPr>
        <p:spPr bwMode="black">
          <a:xfrm>
            <a:off x="838201" y="4692038"/>
            <a:ext cx="10856494" cy="1491271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</a:rPr>
              <a:t>The YANG data producer creates for each YANG schema a new message broker topic, a message key and defines the number of partitions being used for the topic.</a:t>
            </a:r>
          </a:p>
          <a:p>
            <a:pPr>
              <a:spcAft>
                <a:spcPts val="0"/>
              </a:spcAft>
            </a:pPr>
            <a:r>
              <a:rPr lang="en-US" sz="1600" dirty="0"/>
              <a:t>It serializes the message with the previously generated message key and message content according to </a:t>
            </a:r>
            <a:br>
              <a:rPr lang="en-US" sz="1600" dirty="0"/>
            </a:br>
            <a:r>
              <a:rPr lang="en-US" sz="1600" dirty="0">
                <a:hlinkClick r:id="rId2"/>
              </a:rPr>
              <a:t>draft-</a:t>
            </a:r>
            <a:r>
              <a:rPr lang="en-US" sz="1600" dirty="0" err="1">
                <a:hlinkClick r:id="rId2"/>
              </a:rPr>
              <a:t>ietf</a:t>
            </a:r>
            <a:r>
              <a:rPr lang="en-US" sz="1600" dirty="0">
                <a:hlinkClick r:id="rId2"/>
              </a:rPr>
              <a:t>-</a:t>
            </a:r>
            <a:r>
              <a:rPr lang="en-US" sz="1600" dirty="0" err="1">
                <a:hlinkClick r:id="rId2"/>
              </a:rPr>
              <a:t>nmop</a:t>
            </a:r>
            <a:r>
              <a:rPr lang="en-US" sz="1600" dirty="0">
                <a:hlinkClick r:id="rId2"/>
              </a:rPr>
              <a:t>-message-broker-telemetry-message</a:t>
            </a:r>
            <a:r>
              <a:rPr lang="en-US" sz="1600" dirty="0"/>
              <a:t>. </a:t>
            </a:r>
          </a:p>
          <a:p>
            <a:pPr>
              <a:spcAft>
                <a:spcPts val="0"/>
              </a:spcAft>
            </a:pPr>
            <a:r>
              <a:rPr lang="en-US" sz="1600" dirty="0"/>
              <a:t>Each message is prefixed with the previously obtained schema ID representing a unique message subject. The messages are distributed according to the hashed message key across the partitions into continuous segments.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5587F20-69CC-2E7C-C61C-7103CADE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4568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Message Broker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Topics, Subjects, Partitions, Segments and Message Keys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83582-6D09-7FE2-4322-FF2E46B6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967311" cy="279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01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EE7-3179-7CEE-64CD-ABED9711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94F6BBF-5040-FB57-5DD4-099980E6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11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49FD0AD-E617-98E7-0E99-692C31C4B242}"/>
              </a:ext>
            </a:extLst>
          </p:cNvPr>
          <p:cNvSpPr txBox="1">
            <a:spLocks/>
          </p:cNvSpPr>
          <p:nvPr/>
        </p:nvSpPr>
        <p:spPr bwMode="black">
          <a:xfrm>
            <a:off x="8494295" y="1766967"/>
            <a:ext cx="3404937" cy="441634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600" dirty="0"/>
              <a:t>A user or AI application/agent subscribes discovers through the stream catalog interesting metrics and subscribes to message broker topic.</a:t>
            </a:r>
          </a:p>
          <a:p>
            <a:pPr>
              <a:spcAft>
                <a:spcPts val="0"/>
              </a:spcAft>
            </a:pPr>
            <a:r>
              <a:rPr lang="en-US" sz="1600" dirty="0"/>
              <a:t>More than one topic can be consumed at once by using a wildcard such as: project.enviroment.states.yang.* to consume all YANG state metrics.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</a:rPr>
              <a:t>The consumer hashes the message key and applies modulo with the number of partitions to determine the partition it needs to consume from to obtain messages with desired message key.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F259462-CCD4-C4B0-D206-9BE4F9B2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4568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YANG Data Consumption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Discover and Subscribe to YANG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6D54F-28C1-096E-701B-0EDE738BD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65713" y="1690688"/>
            <a:ext cx="12192000" cy="460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3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5DE4-90E0-6888-D53C-A5BA3A11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043E546-3EFB-8EDB-7A28-39107D8F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12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0BA4D8C-8860-D940-C29D-3420754484A0}"/>
              </a:ext>
            </a:extLst>
          </p:cNvPr>
          <p:cNvSpPr txBox="1">
            <a:spLocks/>
          </p:cNvSpPr>
          <p:nvPr/>
        </p:nvSpPr>
        <p:spPr bwMode="black">
          <a:xfrm>
            <a:off x="974558" y="4645099"/>
            <a:ext cx="10643498" cy="153821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600" b="1" dirty="0"/>
              <a:t>At the YANG data producer, </a:t>
            </a:r>
            <a:r>
              <a:rPr lang="en-US" sz="1600" dirty="0"/>
              <a:t>thanks to the YANG awareness to the YANG data producer and the YANG schema registry, </a:t>
            </a:r>
            <a:r>
              <a:rPr lang="en-US" sz="1600" b="1" dirty="0">
                <a:solidFill>
                  <a:srgbClr val="FF0000"/>
                </a:solidFill>
              </a:rPr>
              <a:t>for each unique YANG schema tree a message broker topic and subject is being created, and messages are being indexed and hashed according to the message key</a:t>
            </a:r>
            <a:r>
              <a:rPr lang="en-US" sz="1600" dirty="0"/>
              <a:t>.</a:t>
            </a:r>
          </a:p>
          <a:p>
            <a:pPr>
              <a:spcAft>
                <a:spcPts val="0"/>
              </a:spcAft>
            </a:pPr>
            <a:r>
              <a:rPr lang="en-US" sz="1600" b="1" dirty="0"/>
              <a:t>At the message broker, </a:t>
            </a:r>
            <a:r>
              <a:rPr lang="en-US" sz="1600" dirty="0"/>
              <a:t>thanks to the dedicated topic per YANG schema and its message key, </a:t>
            </a:r>
            <a:r>
              <a:rPr lang="en-US" sz="1600" b="1" dirty="0">
                <a:solidFill>
                  <a:srgbClr val="FF0000"/>
                </a:solidFill>
              </a:rPr>
              <a:t>YANG state metrics can be compacted to the latest state; </a:t>
            </a:r>
            <a:r>
              <a:rPr lang="en-US" sz="1600" b="1" dirty="0">
                <a:solidFill>
                  <a:schemeClr val="accent6"/>
                </a:solidFill>
              </a:rPr>
              <a:t>reducing the number of stored messages.</a:t>
            </a:r>
          </a:p>
          <a:p>
            <a:pPr>
              <a:spcAft>
                <a:spcPts val="0"/>
              </a:spcAft>
            </a:pPr>
            <a:r>
              <a:rPr lang="en-US" sz="1600" b="1" dirty="0"/>
              <a:t>At the YANG data consumer, </a:t>
            </a:r>
            <a:r>
              <a:rPr lang="en-US" sz="1600" dirty="0"/>
              <a:t>thanks to the YANG awareness of the stream catalog and consumer, a specific topic, partition and subject can be consumed for the interested YANG metrics; </a:t>
            </a:r>
            <a:r>
              <a:rPr lang="en-US" sz="1600" b="1" dirty="0">
                <a:solidFill>
                  <a:schemeClr val="accent6"/>
                </a:solidFill>
              </a:rPr>
              <a:t>reducing the number of messages to be consumed.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FB5448B-9146-4CF5-54FA-872A8BB2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4568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Fully YANG aware Data Pipeline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From network nodes to message broker nodes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BCB33-C892-431B-F8AF-15D7375C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7" y="1690688"/>
            <a:ext cx="11618056" cy="27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12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Addressing YANG Specification and Integration Gaps</a:t>
            </a:r>
            <a:br>
              <a:rPr lang="en-GB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12 documents at NMOP, NETCONF and NETMOD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D5EE238-429C-4784-8E42-1813EF45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13</a:t>
            </a:fld>
            <a:endParaRPr lang="de-CH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20ACC-90BA-9FAC-2A77-92F556BA1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62" y="5462309"/>
            <a:ext cx="5324017" cy="126445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4F7CE4-54E2-2FAE-D984-8EDC00097028}"/>
              </a:ext>
            </a:extLst>
          </p:cNvPr>
          <p:cNvSpPr txBox="1">
            <a:spLocks/>
          </p:cNvSpPr>
          <p:nvPr/>
        </p:nvSpPr>
        <p:spPr>
          <a:xfrm>
            <a:off x="1108051" y="1608261"/>
            <a:ext cx="4965951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sysClr val="windowText" lastClr="000000"/>
                </a:solidFill>
                <a:latin typeface="TheSans Swisscom Light"/>
              </a:rPr>
              <a:t>YANG-Push Transport Gaps:</a:t>
            </a:r>
            <a:endParaRPr lang="en-US" sz="1800" dirty="0">
              <a:solidFill>
                <a:sysClr val="windowText" lastClr="000000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sysClr val="windowText" lastClr="000000"/>
                </a:solidFill>
                <a:latin typeface="TheSans Swisscom Light"/>
              </a:rPr>
              <a:t>UDP-based Transport for Configured Subscriptions</a:t>
            </a:r>
            <a:br>
              <a:rPr lang="en-US" sz="1500" dirty="0">
                <a:solidFill>
                  <a:sysClr val="windowText" lastClr="000000"/>
                </a:solidFill>
                <a:latin typeface="TheSans Swisscom Light"/>
              </a:rPr>
            </a:b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hlinkClick r:id="rId4"/>
              </a:rPr>
              <a:t>draft-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hlinkClick r:id="rId4"/>
              </a:rPr>
              <a:t>ietf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hlinkClick r:id="rId4"/>
              </a:rPr>
              <a:t>-netconf-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hlinkClick r:id="rId4"/>
              </a:rPr>
              <a:t>udp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hlinkClick r:id="rId4"/>
              </a:rPr>
              <a:t>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hlinkClick r:id="rId4"/>
              </a:rPr>
              <a:t>notif</a:t>
            </a:r>
            <a:endParaRPr lang="en-US" sz="1500" dirty="0">
              <a:solidFill>
                <a:sysClr val="windowText" lastClr="000000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sysClr val="windowText" lastClr="000000"/>
                </a:solidFill>
                <a:latin typeface="TheSans Swisscom Light"/>
              </a:rPr>
              <a:t>Subscription to Distributed Notifications</a:t>
            </a:r>
            <a:br>
              <a:rPr lang="en-US" sz="1500" dirty="0">
                <a:solidFill>
                  <a:sysClr val="windowText" lastClr="000000"/>
                </a:solidFill>
                <a:latin typeface="TheSans Swisscom Light"/>
              </a:rPr>
            </a:b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hlinkClick r:id="rId5"/>
              </a:rPr>
              <a:t>draft-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hlinkClick r:id="rId5"/>
              </a:rPr>
              <a:t>ietf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hlinkClick r:id="rId5"/>
              </a:rPr>
              <a:t>-netconf-distributed-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hlinkClick r:id="rId5"/>
              </a:rPr>
              <a:t>notif</a:t>
            </a:r>
            <a:endParaRPr lang="en-US" sz="1500" b="1" dirty="0">
              <a:solidFill>
                <a:sysClr val="windowText" lastClr="000000"/>
              </a:solidFill>
              <a:latin typeface="TheSans Swisscom Light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sysClr val="windowText" lastClr="000000"/>
                </a:solidFill>
                <a:latin typeface="TheSans Swisscom Light"/>
              </a:rPr>
              <a:t>YANG-Push Specifications Gaps:</a:t>
            </a:r>
            <a:endParaRPr lang="en-US" sz="1800" dirty="0">
              <a:solidFill>
                <a:sysClr val="windowText" lastClr="000000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</a:rPr>
              <a:t>YANG Notification Transport Capabilities</a:t>
            </a:r>
            <a:b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</a:rPr>
            </a:b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6"/>
              </a:rPr>
              <a:t>draft-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6"/>
              </a:rPr>
              <a:t>ietf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6"/>
              </a:rPr>
              <a:t>-netconf-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6"/>
              </a:rPr>
              <a:t>yp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6"/>
              </a:rPr>
              <a:t>-transport-capabilities</a:t>
            </a:r>
            <a:endParaRPr lang="en-US" sz="1500" dirty="0">
              <a:solidFill>
                <a:sysClr val="windowText" lastClr="000000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sysClr val="windowText" lastClr="000000"/>
                </a:solidFill>
                <a:latin typeface="TheSans Swisscom Light"/>
              </a:rPr>
              <a:t>Extensible YANG model for YANG-Push Notifications</a:t>
            </a:r>
            <a:br>
              <a:rPr lang="en-US" sz="1500" dirty="0">
                <a:solidFill>
                  <a:sysClr val="windowText" lastClr="000000"/>
                </a:solidFill>
                <a:latin typeface="TheSans Swisscom Light"/>
              </a:rPr>
            </a:b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7"/>
              </a:rPr>
              <a:t>draft-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7"/>
              </a:rPr>
              <a:t>ietf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7"/>
              </a:rPr>
              <a:t>-netconf-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7"/>
              </a:rPr>
              <a:t>notif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  <a:ea typeface="Times New Roman" panose="02020603050405020304" pitchFamily="18" charset="0"/>
                <a:hlinkClick r:id="rId7"/>
              </a:rPr>
              <a:t>-envelope</a:t>
            </a:r>
            <a:endParaRPr lang="en-US" sz="1500" dirty="0">
              <a:solidFill>
                <a:sysClr val="windowText" lastClr="000000"/>
              </a:solidFill>
              <a:latin typeface="TheSans Swisscom Light"/>
              <a:ea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sysClr val="windowText" lastClr="000000"/>
                </a:solidFill>
                <a:latin typeface="TheSans Swisscom Light"/>
              </a:rPr>
              <a:t>Validating </a:t>
            </a:r>
            <a:r>
              <a:rPr lang="en-US" sz="1500" dirty="0" err="1">
                <a:solidFill>
                  <a:sysClr val="windowText" lastClr="000000"/>
                </a:solidFill>
                <a:latin typeface="TheSans Swisscom Light"/>
              </a:rPr>
              <a:t>anydata</a:t>
            </a:r>
            <a:r>
              <a:rPr lang="en-US" sz="1500" dirty="0">
                <a:solidFill>
                  <a:sysClr val="windowText" lastClr="000000"/>
                </a:solidFill>
                <a:latin typeface="TheSans Swisscom Light"/>
              </a:rPr>
              <a:t> in YANG Library context</a:t>
            </a:r>
            <a:br>
              <a:rPr lang="en-US" sz="1500" dirty="0">
                <a:solidFill>
                  <a:sysClr val="windowText" lastClr="000000"/>
                </a:solidFill>
                <a:latin typeface="TheSans Swisscom Light"/>
              </a:rPr>
            </a:br>
            <a:r>
              <a:rPr lang="de-DE" altLang="de-DE" sz="1500" dirty="0">
                <a:solidFill>
                  <a:sysClr val="windowText" lastClr="000000"/>
                </a:solidFill>
                <a:latin typeface="TheSans Swisscom Light"/>
                <a:hlinkClick r:id="rId8"/>
              </a:rPr>
              <a:t>draft-</a:t>
            </a:r>
            <a:r>
              <a:rPr lang="de-DE" altLang="de-DE" sz="1500" dirty="0" err="1">
                <a:solidFill>
                  <a:sysClr val="windowText" lastClr="000000"/>
                </a:solidFill>
                <a:latin typeface="TheSans Swisscom Light"/>
                <a:hlinkClick r:id="rId8"/>
              </a:rPr>
              <a:t>ietf</a:t>
            </a:r>
            <a:r>
              <a:rPr lang="de-DE" altLang="de-DE" sz="1500" dirty="0">
                <a:solidFill>
                  <a:sysClr val="windowText" lastClr="000000"/>
                </a:solidFill>
                <a:latin typeface="TheSans Swisscom Light"/>
                <a:hlinkClick r:id="rId8"/>
              </a:rPr>
              <a:t>-</a:t>
            </a:r>
            <a:r>
              <a:rPr lang="de-DE" altLang="de-DE" sz="1500" dirty="0" err="1">
                <a:solidFill>
                  <a:sysClr val="windowText" lastClr="000000"/>
                </a:solidFill>
                <a:latin typeface="TheSans Swisscom Light"/>
                <a:hlinkClick r:id="rId8"/>
              </a:rPr>
              <a:t>netmod</a:t>
            </a:r>
            <a:r>
              <a:rPr lang="de-DE" altLang="de-DE" sz="1500" dirty="0">
                <a:solidFill>
                  <a:sysClr val="windowText" lastClr="000000"/>
                </a:solidFill>
                <a:latin typeface="TheSans Swisscom Light"/>
                <a:hlinkClick r:id="rId8"/>
              </a:rPr>
              <a:t>-</a:t>
            </a:r>
            <a:r>
              <a:rPr lang="de-DE" altLang="de-DE" sz="1500" dirty="0" err="1">
                <a:solidFill>
                  <a:sysClr val="windowText" lastClr="000000"/>
                </a:solidFill>
                <a:latin typeface="TheSans Swisscom Light"/>
                <a:hlinkClick r:id="rId8"/>
              </a:rPr>
              <a:t>yang</a:t>
            </a:r>
            <a:r>
              <a:rPr lang="de-DE" altLang="de-DE" sz="1500" dirty="0">
                <a:solidFill>
                  <a:sysClr val="windowText" lastClr="000000"/>
                </a:solidFill>
                <a:latin typeface="TheSans Swisscom Light"/>
                <a:hlinkClick r:id="rId8"/>
              </a:rPr>
              <a:t>-</a:t>
            </a:r>
            <a:r>
              <a:rPr lang="de-DE" altLang="de-DE" sz="1500" dirty="0" err="1">
                <a:solidFill>
                  <a:sysClr val="windowText" lastClr="000000"/>
                </a:solidFill>
                <a:latin typeface="TheSans Swisscom Light"/>
                <a:hlinkClick r:id="rId8"/>
              </a:rPr>
              <a:t>anydata</a:t>
            </a:r>
            <a:r>
              <a:rPr lang="de-DE" altLang="de-DE" sz="1500" dirty="0">
                <a:solidFill>
                  <a:sysClr val="windowText" lastClr="000000"/>
                </a:solidFill>
                <a:latin typeface="TheSans Swisscom Light"/>
                <a:hlinkClick r:id="rId8"/>
              </a:rPr>
              <a:t>-validation</a:t>
            </a:r>
            <a:endParaRPr lang="de-DE" altLang="de-DE" sz="1500" dirty="0">
              <a:solidFill>
                <a:sysClr val="windowText" lastClr="000000"/>
              </a:solidFill>
              <a:latin typeface="TheSans Swisscom Ligh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79B5F66-CC16-C7CF-A03F-3DCD0EFDCB38}"/>
              </a:ext>
            </a:extLst>
          </p:cNvPr>
          <p:cNvSpPr txBox="1">
            <a:spLocks/>
          </p:cNvSpPr>
          <p:nvPr/>
        </p:nvSpPr>
        <p:spPr>
          <a:xfrm>
            <a:off x="5892820" y="1608261"/>
            <a:ext cx="5898830" cy="336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heSans Swisscom Light"/>
              </a:rPr>
              <a:t>YANG-Push Integration Gaps and Arch:</a:t>
            </a: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prstClr val="black"/>
                </a:solidFill>
                <a:latin typeface="TheSans Swisscom Light"/>
              </a:rPr>
              <a:t>Support of Versioning in YANG Notifications Subscription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9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9"/>
              </a:rPr>
              <a:t>ietf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9"/>
              </a:rPr>
              <a:t>-netconf-yang-notifications-versioning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prstClr val="black"/>
                </a:solidFill>
                <a:latin typeface="TheSans Swisscom Light"/>
              </a:rPr>
              <a:t>Augmented-by Addition into the IETF-YANG-Library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0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0"/>
              </a:rPr>
              <a:t>ietf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0"/>
              </a:rPr>
              <a:t>-netconf-yang-library-augmentation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heSans Swisscom Light"/>
              </a:rPr>
              <a:t>YANG-Push Simplification:</a:t>
            </a: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prstClr val="black"/>
                </a:solidFill>
                <a:latin typeface="TheSans Swisscom Light"/>
              </a:rPr>
              <a:t>YANG-Push Operational Data Observability Enhancements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1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1"/>
              </a:rPr>
              <a:t>ietf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1"/>
              </a:rPr>
              <a:t>-netconf-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1"/>
              </a:rPr>
              <a:t>yp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1"/>
              </a:rPr>
              <a:t>-observability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heSans Swisscom Light"/>
              </a:rPr>
              <a:t>YANG-Push Message Broker:</a:t>
            </a: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prstClr val="black"/>
                </a:solidFill>
                <a:latin typeface="TheSans Swisscom Light"/>
              </a:rPr>
              <a:t>An Architecture for YANG-Push to Message Broker Integration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2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2"/>
              </a:rPr>
              <a:t>ietf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2"/>
              </a:rPr>
              <a:t>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2"/>
              </a:rPr>
              <a:t>nmop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2"/>
              </a:rPr>
              <a:t>-yang-message-broker-integration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prstClr val="black"/>
                </a:solidFill>
                <a:latin typeface="TheSans Swisscom Light"/>
              </a:rPr>
              <a:t>Extensible YANG Model for Network Telemetry Notifications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3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3"/>
              </a:rPr>
              <a:t>ietf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3"/>
              </a:rPr>
              <a:t>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3"/>
              </a:rPr>
              <a:t>nmop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3"/>
              </a:rPr>
              <a:t>-message-broker-telemetry-message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da-DK" sz="1500" dirty="0">
                <a:solidFill>
                  <a:prstClr val="black"/>
                </a:solidFill>
                <a:latin typeface="TheSans Swisscom Light"/>
              </a:rPr>
              <a:t>YANG Message Keys for Message Broker Integration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4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4"/>
              </a:rPr>
              <a:t>ietf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4"/>
              </a:rPr>
              <a:t>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4"/>
              </a:rPr>
              <a:t>nmop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4"/>
              </a:rPr>
              <a:t>-yang-message-broker-message-key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r>
              <a:rPr lang="en-US" sz="1500" dirty="0">
                <a:solidFill>
                  <a:prstClr val="black"/>
                </a:solidFill>
                <a:latin typeface="TheSans Swisscom Light"/>
              </a:rPr>
              <a:t>BMP YANG Model for Network Telemetry Messages</a:t>
            </a:r>
            <a:br>
              <a:rPr lang="en-US" sz="1500" dirty="0">
                <a:solidFill>
                  <a:prstClr val="black"/>
                </a:solidFill>
                <a:latin typeface="TheSans Swisscom Light"/>
              </a:rPr>
            </a:b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5"/>
              </a:rPr>
              <a:t>draft-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5"/>
              </a:rPr>
              <a:t>netana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5"/>
              </a:rPr>
              <a:t>-</a:t>
            </a:r>
            <a:r>
              <a:rPr lang="en-US" sz="1500" dirty="0" err="1">
                <a:solidFill>
                  <a:prstClr val="black"/>
                </a:solidFill>
                <a:latin typeface="TheSans Swisscom Light"/>
                <a:hlinkClick r:id="rId15"/>
              </a:rPr>
              <a:t>nmop</a:t>
            </a:r>
            <a:r>
              <a:rPr lang="en-US" sz="1500" dirty="0">
                <a:solidFill>
                  <a:prstClr val="black"/>
                </a:solidFill>
                <a:latin typeface="TheSans Swisscom Light"/>
                <a:hlinkClick r:id="rId15"/>
              </a:rPr>
              <a:t>-message-broker-bmp-telemetry-msg</a:t>
            </a:r>
            <a:endParaRPr lang="en-US" sz="1500" dirty="0">
              <a:solidFill>
                <a:prstClr val="black"/>
              </a:solidFill>
              <a:latin typeface="TheSans Swisscom Light"/>
            </a:endParaRPr>
          </a:p>
          <a:p>
            <a:pPr>
              <a:spcBef>
                <a:spcPts val="300"/>
              </a:spcBef>
              <a:defRPr/>
            </a:pPr>
            <a:endParaRPr lang="en-US" sz="1500" dirty="0">
              <a:solidFill>
                <a:prstClr val="black"/>
              </a:solidFill>
              <a:latin typeface="TheSans Swisscom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8CC49A-6895-F74F-AFC4-016BF2936961}"/>
              </a:ext>
            </a:extLst>
          </p:cNvPr>
          <p:cNvSpPr txBox="1"/>
          <p:nvPr/>
        </p:nvSpPr>
        <p:spPr>
          <a:xfrm>
            <a:off x="989516" y="5154863"/>
            <a:ext cx="72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TheSans Swisscom Light"/>
              </a:rPr>
              <a:t>2025</a:t>
            </a:r>
            <a:endParaRPr lang="de-CH" dirty="0">
              <a:solidFill>
                <a:prstClr val="black"/>
              </a:solidFill>
              <a:latin typeface="TheSans Swisscom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F87DB1-249D-2010-9A18-71853A3E781B}"/>
              </a:ext>
            </a:extLst>
          </p:cNvPr>
          <p:cNvSpPr txBox="1"/>
          <p:nvPr/>
        </p:nvSpPr>
        <p:spPr>
          <a:xfrm>
            <a:off x="2037371" y="5154705"/>
            <a:ext cx="72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TheSans Swisscom Light"/>
              </a:rPr>
              <a:t>2026</a:t>
            </a:r>
            <a:endParaRPr lang="de-CH" dirty="0">
              <a:solidFill>
                <a:prstClr val="black"/>
              </a:solidFill>
              <a:latin typeface="TheSans Swisscom Ligh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1C0B43-EB43-FF82-DC28-2CCCB3A0B8C1}"/>
              </a:ext>
            </a:extLst>
          </p:cNvPr>
          <p:cNvSpPr txBox="1"/>
          <p:nvPr/>
        </p:nvSpPr>
        <p:spPr>
          <a:xfrm>
            <a:off x="3365451" y="5154705"/>
            <a:ext cx="790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TheSans Swisscom Light"/>
              </a:rPr>
              <a:t>2027</a:t>
            </a:r>
            <a:endParaRPr lang="de-CH" dirty="0">
              <a:solidFill>
                <a:prstClr val="black"/>
              </a:solidFill>
              <a:latin typeface="TheSans Swisscom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B35023-D3FA-04E4-1B14-9EC671FE8E9D}"/>
              </a:ext>
            </a:extLst>
          </p:cNvPr>
          <p:cNvSpPr txBox="1"/>
          <p:nvPr/>
        </p:nvSpPr>
        <p:spPr>
          <a:xfrm>
            <a:off x="4758822" y="5156044"/>
            <a:ext cx="746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TheSans Swisscom Light"/>
              </a:rPr>
              <a:t>2028</a:t>
            </a:r>
            <a:endParaRPr lang="de-CH" dirty="0">
              <a:solidFill>
                <a:prstClr val="black"/>
              </a:solidFill>
              <a:latin typeface="TheSans Swisscom Ligh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CE4583-17FB-6FE2-7783-CE874BADDBE6}"/>
              </a:ext>
            </a:extLst>
          </p:cNvPr>
          <p:cNvSpPr txBox="1"/>
          <p:nvPr/>
        </p:nvSpPr>
        <p:spPr bwMode="gray">
          <a:xfrm>
            <a:off x="838200" y="1947022"/>
            <a:ext cx="432048" cy="27622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de-CH" sz="1100" dirty="0">
                <a:solidFill>
                  <a:srgbClr val="FF0000"/>
                </a:solidFill>
                <a:latin typeface="TheSans Swisscom Light"/>
              </a:rPr>
              <a:t>IESG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37093F-16D0-F27B-E026-597CC79CD4CE}"/>
              </a:ext>
            </a:extLst>
          </p:cNvPr>
          <p:cNvSpPr txBox="1"/>
          <p:nvPr/>
        </p:nvSpPr>
        <p:spPr bwMode="gray">
          <a:xfrm>
            <a:off x="838200" y="2370305"/>
            <a:ext cx="432048" cy="27622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de-CH" sz="1100" dirty="0">
                <a:solidFill>
                  <a:srgbClr val="FF0000"/>
                </a:solidFill>
                <a:latin typeface="TheSans Swisscom Light"/>
              </a:rPr>
              <a:t>IESG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209E17-B4BC-3C4B-3E5F-9AE03902FDF9}"/>
              </a:ext>
            </a:extLst>
          </p:cNvPr>
          <p:cNvSpPr txBox="1"/>
          <p:nvPr/>
        </p:nvSpPr>
        <p:spPr bwMode="gray">
          <a:xfrm>
            <a:off x="838200" y="3201188"/>
            <a:ext cx="432048" cy="27622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de-CH" sz="1100" dirty="0">
                <a:solidFill>
                  <a:srgbClr val="FF0000"/>
                </a:solidFill>
                <a:latin typeface="TheSans Swisscom Light"/>
              </a:rPr>
              <a:t>IESG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B7591E-3FB3-7C06-CD24-23BAC7D17B58}"/>
              </a:ext>
            </a:extLst>
          </p:cNvPr>
          <p:cNvSpPr txBox="1"/>
          <p:nvPr/>
        </p:nvSpPr>
        <p:spPr bwMode="gray">
          <a:xfrm>
            <a:off x="838200" y="3655413"/>
            <a:ext cx="432048" cy="27622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de-CH" sz="1100" dirty="0">
                <a:solidFill>
                  <a:srgbClr val="FF0000"/>
                </a:solidFill>
                <a:latin typeface="TheSans Swisscom Light"/>
              </a:rPr>
              <a:t>IESG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4F33C0-A9A4-860B-D709-9B2BD94D3E70}"/>
              </a:ext>
            </a:extLst>
          </p:cNvPr>
          <p:cNvSpPr txBox="1"/>
          <p:nvPr/>
        </p:nvSpPr>
        <p:spPr bwMode="gray">
          <a:xfrm>
            <a:off x="5622969" y="1947021"/>
            <a:ext cx="432048" cy="27622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de-CH" sz="1100" dirty="0">
                <a:solidFill>
                  <a:srgbClr val="FF0000"/>
                </a:solidFill>
                <a:latin typeface="TheSans Swisscom Light"/>
              </a:rPr>
              <a:t>IESG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A1470D-8A9A-544C-555F-573282903804}"/>
              </a:ext>
            </a:extLst>
          </p:cNvPr>
          <p:cNvSpPr txBox="1"/>
          <p:nvPr/>
        </p:nvSpPr>
        <p:spPr bwMode="gray">
          <a:xfrm>
            <a:off x="5622969" y="2391398"/>
            <a:ext cx="432048" cy="27622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de-CH" sz="1100" dirty="0">
                <a:solidFill>
                  <a:srgbClr val="FF0000"/>
                </a:solidFill>
                <a:latin typeface="TheSans Swisscom Light"/>
              </a:rPr>
              <a:t>IESG</a:t>
            </a:r>
          </a:p>
        </p:txBody>
      </p:sp>
    </p:spTree>
    <p:extLst>
      <p:ext uri="{BB962C8B-B14F-4D97-AF65-F5344CB8AC3E}">
        <p14:creationId xmlns:p14="http://schemas.microsoft.com/office/powerpoint/2010/main" val="332583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14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194B37B-813A-99FE-7B78-4D87D8C30D44}"/>
              </a:ext>
            </a:extLst>
          </p:cNvPr>
          <p:cNvSpPr txBox="1">
            <a:spLocks/>
          </p:cNvSpPr>
          <p:nvPr/>
        </p:nvSpPr>
        <p:spPr bwMode="black">
          <a:xfrm>
            <a:off x="1447800" y="1690688"/>
            <a:ext cx="9906000" cy="4492621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b="1" dirty="0"/>
              <a:t>MVP 1 - Works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hlinkClick r:id="rId2"/>
              </a:rPr>
              <a:t>draft-</a:t>
            </a:r>
            <a:r>
              <a:rPr lang="en-US" sz="1600" dirty="0" err="1">
                <a:hlinkClick r:id="rId2"/>
              </a:rPr>
              <a:t>ietf</a:t>
            </a:r>
            <a:r>
              <a:rPr lang="en-US" sz="1600" dirty="0">
                <a:hlinkClick r:id="rId2"/>
              </a:rPr>
              <a:t>-netconf-</a:t>
            </a:r>
            <a:r>
              <a:rPr lang="en-US" sz="1600" dirty="0" err="1">
                <a:hlinkClick r:id="rId2"/>
              </a:rPr>
              <a:t>udp</a:t>
            </a:r>
            <a:r>
              <a:rPr lang="en-US" sz="1600" dirty="0">
                <a:hlinkClick r:id="rId2"/>
              </a:rPr>
              <a:t>-</a:t>
            </a:r>
            <a:r>
              <a:rPr lang="en-US" sz="1600" dirty="0" err="1">
                <a:hlinkClick r:id="rId2"/>
              </a:rPr>
              <a:t>notif</a:t>
            </a:r>
            <a:r>
              <a:rPr lang="en-US" sz="1600" dirty="0"/>
              <a:t> transport (with segmentation option) and notifications encoded in RFC 7951 IETF-JSON.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hlinkClick r:id="rId3"/>
              </a:rPr>
              <a:t>RFC 8641 </a:t>
            </a:r>
            <a:r>
              <a:rPr lang="en-US" sz="1600" dirty="0"/>
              <a:t>periodic subscription with anchor-time configurable in </a:t>
            </a:r>
            <a:r>
              <a:rPr lang="en-US" sz="1600" dirty="0" err="1"/>
              <a:t>ietf</a:t>
            </a:r>
            <a:r>
              <a:rPr lang="en-US" sz="1600" dirty="0"/>
              <a:t>-subscribed-notifications.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YANG notifications as defined in </a:t>
            </a:r>
            <a:r>
              <a:rPr lang="en-US" sz="1600" dirty="0">
                <a:ea typeface="Times New Roman" panose="02020603050405020304" pitchFamily="18" charset="0"/>
                <a:hlinkClick r:id="rId4"/>
              </a:rPr>
              <a:t>draft-</a:t>
            </a:r>
            <a:r>
              <a:rPr lang="en-US" sz="1600" dirty="0" err="1">
                <a:ea typeface="Times New Roman" panose="02020603050405020304" pitchFamily="18" charset="0"/>
                <a:hlinkClick r:id="rId4"/>
              </a:rPr>
              <a:t>netana</a:t>
            </a:r>
            <a:r>
              <a:rPr lang="en-US" sz="1600" dirty="0">
                <a:ea typeface="Times New Roman" panose="02020603050405020304" pitchFamily="18" charset="0"/>
                <a:hlinkClick r:id="rId4"/>
              </a:rPr>
              <a:t>-netconf-</a:t>
            </a:r>
            <a:r>
              <a:rPr lang="en-US" sz="1600" dirty="0" err="1">
                <a:ea typeface="Times New Roman" panose="02020603050405020304" pitchFamily="18" charset="0"/>
                <a:hlinkClick r:id="rId4"/>
              </a:rPr>
              <a:t>notif</a:t>
            </a:r>
            <a:r>
              <a:rPr lang="en-US" sz="1600" dirty="0">
                <a:ea typeface="Times New Roman" panose="02020603050405020304" pitchFamily="18" charset="0"/>
                <a:hlinkClick r:id="rId4"/>
              </a:rPr>
              <a:t>-envelope</a:t>
            </a:r>
            <a:r>
              <a:rPr lang="en-US" sz="1600" dirty="0">
                <a:ea typeface="Times New Roman" panose="02020603050405020304" pitchFamily="18" charset="0"/>
              </a:rPr>
              <a:t>, </a:t>
            </a:r>
            <a:r>
              <a:rPr lang="en-US" sz="1600" dirty="0"/>
              <a:t>YANG module name, version and yang-library-content-id as in </a:t>
            </a:r>
            <a:r>
              <a:rPr lang="en-US" sz="1600" dirty="0">
                <a:hlinkClick r:id="rId5"/>
              </a:rPr>
              <a:t>draft-</a:t>
            </a:r>
            <a:r>
              <a:rPr lang="en-US" sz="1600" dirty="0" err="1">
                <a:hlinkClick r:id="rId5"/>
              </a:rPr>
              <a:t>ietf</a:t>
            </a:r>
            <a:r>
              <a:rPr lang="en-US" sz="1600" dirty="0">
                <a:hlinkClick r:id="rId5"/>
              </a:rPr>
              <a:t>-netconf-yang-notifications-versioning </a:t>
            </a:r>
            <a:r>
              <a:rPr lang="en-US" sz="1600" dirty="0"/>
              <a:t>and notification capabilities (</a:t>
            </a:r>
            <a:r>
              <a:rPr lang="en-US" sz="1600" dirty="0">
                <a:hlinkClick r:id="rId6"/>
              </a:rPr>
              <a:t>RFC 9196</a:t>
            </a:r>
            <a:r>
              <a:rPr lang="en-US" sz="1600" dirty="0"/>
              <a:t>) discoverable as defined in their documents.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YANG-Library as defined in </a:t>
            </a:r>
            <a:r>
              <a:rPr lang="en-US" sz="1600" dirty="0">
                <a:hlinkClick r:id="rId7"/>
              </a:rPr>
              <a:t>RFC 8525 </a:t>
            </a:r>
            <a:r>
              <a:rPr lang="en-US" sz="1600" dirty="0"/>
              <a:t>and </a:t>
            </a:r>
            <a:r>
              <a:rPr lang="en-US" sz="1600" dirty="0">
                <a:hlinkClick r:id="rId8"/>
              </a:rPr>
              <a:t>draft-</a:t>
            </a:r>
            <a:r>
              <a:rPr lang="en-US" sz="1600" dirty="0" err="1">
                <a:hlinkClick r:id="rId8"/>
              </a:rPr>
              <a:t>ietf</a:t>
            </a:r>
            <a:r>
              <a:rPr lang="en-US" sz="1600" dirty="0">
                <a:hlinkClick r:id="rId8"/>
              </a:rPr>
              <a:t>-netconf-yang-library-</a:t>
            </a:r>
            <a:r>
              <a:rPr lang="en-US" sz="1600" dirty="0" err="1">
                <a:hlinkClick r:id="rId8"/>
              </a:rPr>
              <a:t>augmentedby</a:t>
            </a:r>
            <a:r>
              <a:rPr lang="en-US" sz="1600" dirty="0"/>
              <a:t>.</a:t>
            </a:r>
            <a:endParaRPr lang="en-US" sz="1600" b="1" dirty="0"/>
          </a:p>
          <a:p>
            <a:pPr>
              <a:spcAft>
                <a:spcPts val="0"/>
              </a:spcAft>
            </a:pPr>
            <a:r>
              <a:rPr lang="en-US" b="1" dirty="0"/>
              <a:t>MVP 2 – Scales and Secures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Distributed notifications as defined in </a:t>
            </a:r>
            <a:r>
              <a:rPr lang="en-US" sz="1600" dirty="0">
                <a:hlinkClick r:id="rId9"/>
              </a:rPr>
              <a:t>draft-</a:t>
            </a:r>
            <a:r>
              <a:rPr lang="en-US" sz="1600" dirty="0" err="1">
                <a:hlinkClick r:id="rId9"/>
              </a:rPr>
              <a:t>ietf</a:t>
            </a:r>
            <a:r>
              <a:rPr lang="en-US" sz="1600" dirty="0">
                <a:hlinkClick r:id="rId9"/>
              </a:rPr>
              <a:t>-netconf-distributed-</a:t>
            </a:r>
            <a:r>
              <a:rPr lang="en-US" sz="1600" dirty="0" err="1">
                <a:hlinkClick r:id="rId9"/>
              </a:rPr>
              <a:t>notif</a:t>
            </a:r>
            <a:r>
              <a:rPr lang="en-US" sz="1600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YANG notifications encoded in CBOR (named identifiers) as defined in </a:t>
            </a:r>
            <a:r>
              <a:rPr lang="en-US" sz="1600" dirty="0">
                <a:hlinkClick r:id="rId10"/>
              </a:rPr>
              <a:t>RFC 9254</a:t>
            </a:r>
            <a:r>
              <a:rPr lang="en-US" sz="1600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YANG notifications DTLS (1.2 MUST </a:t>
            </a:r>
            <a:r>
              <a:rPr lang="en-US" sz="1600" dirty="0">
                <a:hlinkClick r:id="rId11"/>
              </a:rPr>
              <a:t>RFC 6347</a:t>
            </a:r>
            <a:r>
              <a:rPr lang="en-US" sz="1600" dirty="0"/>
              <a:t>, 1.3 SHOULD </a:t>
            </a:r>
            <a:r>
              <a:rPr lang="en-US" sz="1600" dirty="0">
                <a:hlinkClick r:id="rId12"/>
              </a:rPr>
              <a:t>RFC 9147</a:t>
            </a:r>
            <a:r>
              <a:rPr lang="en-US" sz="1600" dirty="0"/>
              <a:t>) encrypted as defined in </a:t>
            </a:r>
            <a:r>
              <a:rPr lang="en-US" sz="1600" dirty="0">
                <a:hlinkClick r:id="rId2"/>
              </a:rPr>
              <a:t>draft-</a:t>
            </a:r>
            <a:r>
              <a:rPr lang="en-US" sz="1600" dirty="0" err="1">
                <a:hlinkClick r:id="rId2"/>
              </a:rPr>
              <a:t>ietf</a:t>
            </a:r>
            <a:r>
              <a:rPr lang="en-US" sz="1600" dirty="0">
                <a:hlinkClick r:id="rId2"/>
              </a:rPr>
              <a:t>-netconf-</a:t>
            </a:r>
            <a:r>
              <a:rPr lang="en-US" sz="1600" dirty="0" err="1">
                <a:hlinkClick r:id="rId2"/>
              </a:rPr>
              <a:t>udp</a:t>
            </a:r>
            <a:r>
              <a:rPr lang="en-US" sz="1600" dirty="0">
                <a:hlinkClick r:id="rId2"/>
              </a:rPr>
              <a:t>-</a:t>
            </a:r>
            <a:r>
              <a:rPr lang="en-US" sz="1600" dirty="0" err="1">
                <a:hlinkClick r:id="rId2"/>
              </a:rPr>
              <a:t>notif</a:t>
            </a:r>
            <a:r>
              <a:rPr lang="en-US" sz="1600" dirty="0"/>
              <a:t>.</a:t>
            </a:r>
          </a:p>
          <a:p>
            <a:pPr>
              <a:spcAft>
                <a:spcPts val="0"/>
              </a:spcAft>
            </a:pPr>
            <a:r>
              <a:rPr lang="en-US" b="1" dirty="0"/>
              <a:t>MVP 3 - Optimizes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hlinkClick r:id="rId3"/>
              </a:rPr>
              <a:t>RFC 8641 </a:t>
            </a:r>
            <a:r>
              <a:rPr lang="en-US" sz="1600" dirty="0"/>
              <a:t>on-change subscription configurable in </a:t>
            </a:r>
            <a:r>
              <a:rPr lang="en-US" sz="1600" dirty="0" err="1"/>
              <a:t>ietf</a:t>
            </a:r>
            <a:r>
              <a:rPr lang="en-US" sz="1600" dirty="0"/>
              <a:t>-subscribed-notifications.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hlinkClick r:id="rId3"/>
              </a:rPr>
              <a:t>RFC 8641 </a:t>
            </a:r>
            <a:r>
              <a:rPr lang="en-US" sz="1600" dirty="0"/>
              <a:t>on-change and periodical subscription in </a:t>
            </a:r>
            <a:r>
              <a:rPr lang="en-US" sz="1600" dirty="0">
                <a:hlinkClick r:id="rId6"/>
              </a:rPr>
              <a:t>RFC 9196 </a:t>
            </a:r>
            <a:r>
              <a:rPr lang="en-US" sz="1600" dirty="0"/>
              <a:t>defined capabilities discoverable.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hlinkClick r:id="rId2"/>
              </a:rPr>
              <a:t>draft-</a:t>
            </a:r>
            <a:r>
              <a:rPr lang="en-US" sz="1600" dirty="0" err="1">
                <a:hlinkClick r:id="rId2"/>
              </a:rPr>
              <a:t>ietf</a:t>
            </a:r>
            <a:r>
              <a:rPr lang="en-US" sz="1600" dirty="0">
                <a:hlinkClick r:id="rId2"/>
              </a:rPr>
              <a:t>-netconf-</a:t>
            </a:r>
            <a:r>
              <a:rPr lang="en-US" sz="1600" dirty="0" err="1">
                <a:hlinkClick r:id="rId2"/>
              </a:rPr>
              <a:t>udp</a:t>
            </a:r>
            <a:r>
              <a:rPr lang="en-US" sz="1600" dirty="0">
                <a:hlinkClick r:id="rId2"/>
              </a:rPr>
              <a:t>-</a:t>
            </a:r>
            <a:r>
              <a:rPr lang="en-US" sz="1600" dirty="0" err="1">
                <a:hlinkClick r:id="rId2"/>
              </a:rPr>
              <a:t>notif</a:t>
            </a:r>
            <a:r>
              <a:rPr lang="en-US" sz="1600" dirty="0"/>
              <a:t> transport, encoding and encryption capabilities (</a:t>
            </a:r>
            <a:r>
              <a:rPr lang="en-US" sz="1600" dirty="0">
                <a:hlinkClick r:id="rId6"/>
              </a:rPr>
              <a:t>RFC 9196</a:t>
            </a:r>
            <a:r>
              <a:rPr lang="en-US" sz="1600" dirty="0"/>
              <a:t>) discoverable with </a:t>
            </a:r>
            <a:r>
              <a:rPr lang="en-US" sz="1600" dirty="0">
                <a:hlinkClick r:id="rId13"/>
              </a:rPr>
              <a:t>draft-</a:t>
            </a:r>
            <a:r>
              <a:rPr lang="en-US" sz="1600" dirty="0" err="1">
                <a:hlinkClick r:id="rId13"/>
              </a:rPr>
              <a:t>ietf</a:t>
            </a:r>
            <a:r>
              <a:rPr lang="en-US" sz="1600" dirty="0">
                <a:hlinkClick r:id="rId13"/>
              </a:rPr>
              <a:t>-netconf-</a:t>
            </a:r>
            <a:r>
              <a:rPr lang="en-US" sz="1600" dirty="0" err="1">
                <a:hlinkClick r:id="rId13"/>
              </a:rPr>
              <a:t>yp</a:t>
            </a:r>
            <a:r>
              <a:rPr lang="en-US" sz="1600" dirty="0">
                <a:hlinkClick r:id="rId13"/>
              </a:rPr>
              <a:t>-transport-capabilities</a:t>
            </a:r>
            <a:r>
              <a:rPr lang="en-US" sz="1600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IETF YANG-Push Implementations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Incremental development…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9953F08-D7B3-20B4-75F7-C1E5DCC9613D}"/>
              </a:ext>
            </a:extLst>
          </p:cNvPr>
          <p:cNvSpPr/>
          <p:nvPr/>
        </p:nvSpPr>
        <p:spPr>
          <a:xfrm>
            <a:off x="1159512" y="2192838"/>
            <a:ext cx="181183" cy="13255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2690-F01A-E120-61E5-D76F9E4A6A57}"/>
              </a:ext>
            </a:extLst>
          </p:cNvPr>
          <p:cNvSpPr txBox="1">
            <a:spLocks/>
          </p:cNvSpPr>
          <p:nvPr/>
        </p:nvSpPr>
        <p:spPr>
          <a:xfrm>
            <a:off x="209550" y="2278541"/>
            <a:ext cx="904665" cy="1154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FF0000"/>
                </a:solidFill>
              </a:rPr>
              <a:t>4 major vendor implementations finalized.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13189D-B3C7-34A8-942D-0A871DC2C1EC}"/>
              </a:ext>
            </a:extLst>
          </p:cNvPr>
          <p:cNvSpPr txBox="1">
            <a:spLocks/>
          </p:cNvSpPr>
          <p:nvPr/>
        </p:nvSpPr>
        <p:spPr>
          <a:xfrm>
            <a:off x="209550" y="4157533"/>
            <a:ext cx="904665" cy="1154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FF0000"/>
                </a:solidFill>
              </a:rPr>
              <a:t>2 major vendor implementations started.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7DAB121-B9E6-F4BC-D42B-2750688257DF}"/>
              </a:ext>
            </a:extLst>
          </p:cNvPr>
          <p:cNvSpPr/>
          <p:nvPr/>
        </p:nvSpPr>
        <p:spPr>
          <a:xfrm>
            <a:off x="1221320" y="4157534"/>
            <a:ext cx="116837" cy="3668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271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52DFEA-8F53-02A0-A281-4A06B9B24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23900"/>
            <a:ext cx="6486525" cy="408622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de-CH" sz="5600" dirty="0"/>
              <a:t>Part 2</a:t>
            </a:r>
          </a:p>
          <a:p>
            <a:pPr marL="0" indent="0" algn="ctr">
              <a:buNone/>
            </a:pPr>
            <a:endParaRPr lang="de-CH" dirty="0"/>
          </a:p>
          <a:p>
            <a:pPr marL="0" indent="0" algn="ctr">
              <a:buNone/>
            </a:pPr>
            <a:r>
              <a:rPr lang="de-CH" sz="4600" dirty="0" err="1"/>
              <a:t>Our</a:t>
            </a:r>
            <a:r>
              <a:rPr lang="de-CH" sz="4600" dirty="0"/>
              <a:t> </a:t>
            </a:r>
            <a:r>
              <a:rPr lang="de-CH" sz="4600" dirty="0" err="1"/>
              <a:t>collaboration</a:t>
            </a:r>
            <a:r>
              <a:rPr lang="de-CH" sz="4600" dirty="0"/>
              <a:t> </a:t>
            </a:r>
            <a:r>
              <a:rPr lang="de-CH" sz="4600" dirty="0" err="1"/>
              <a:t>goes</a:t>
            </a:r>
            <a:r>
              <a:rPr lang="de-CH" sz="4600" dirty="0"/>
              <a:t> </a:t>
            </a:r>
            <a:r>
              <a:rPr lang="de-CH" sz="4600" dirty="0" err="1"/>
              <a:t>into</a:t>
            </a:r>
            <a:r>
              <a:rPr lang="de-CH" sz="4600" dirty="0"/>
              <a:t> </a:t>
            </a:r>
            <a:br>
              <a:rPr lang="de-CH" sz="4600" dirty="0"/>
            </a:br>
            <a:r>
              <a:rPr lang="de-CH" sz="4600" dirty="0" err="1"/>
              <a:t>the</a:t>
            </a:r>
            <a:r>
              <a:rPr lang="de-CH" sz="4600" dirty="0"/>
              <a:t> </a:t>
            </a:r>
            <a:r>
              <a:rPr lang="de-CH" sz="4600" dirty="0" err="1"/>
              <a:t>next</a:t>
            </a:r>
            <a:r>
              <a:rPr lang="de-CH" sz="4600" dirty="0"/>
              <a:t> </a:t>
            </a:r>
            <a:r>
              <a:rPr lang="de-CH" sz="4600" dirty="0" err="1"/>
              <a:t>step</a:t>
            </a:r>
            <a:r>
              <a:rPr lang="de-CH" sz="4600" dirty="0"/>
              <a:t> in 2026</a:t>
            </a:r>
          </a:p>
          <a:p>
            <a:pPr marL="0" indent="0" algn="ctr">
              <a:buNone/>
            </a:pPr>
            <a:r>
              <a:rPr lang="de-CH" sz="4600" dirty="0"/>
              <a:t>This </a:t>
            </a:r>
            <a:r>
              <a:rPr lang="de-CH" sz="4600" dirty="0" err="1"/>
              <a:t>allows</a:t>
            </a:r>
            <a:r>
              <a:rPr lang="de-CH" sz="4600" dirty="0"/>
              <a:t> Swisscom</a:t>
            </a:r>
            <a:endParaRPr lang="de-CH" sz="2100" dirty="0"/>
          </a:p>
          <a:p>
            <a:pPr marL="0" indent="0" algn="ctr">
              <a:buNone/>
            </a:pPr>
            <a:br>
              <a:rPr lang="de-CH" sz="2100" dirty="0"/>
            </a:br>
            <a:r>
              <a:rPr lang="de-CH" sz="4800" dirty="0">
                <a:solidFill>
                  <a:srgbClr val="FF0000"/>
                </a:solidFill>
              </a:rPr>
              <a:t>to </a:t>
            </a:r>
            <a:r>
              <a:rPr lang="de-CH" sz="4800" dirty="0" err="1">
                <a:solidFill>
                  <a:srgbClr val="FF0000"/>
                </a:solidFill>
              </a:rPr>
              <a:t>transition</a:t>
            </a:r>
            <a:r>
              <a:rPr lang="de-CH" sz="4800" dirty="0">
                <a:solidFill>
                  <a:srgbClr val="FF0000"/>
                </a:solidFill>
              </a:rPr>
              <a:t> </a:t>
            </a:r>
            <a:r>
              <a:rPr lang="de-CH" sz="4800" dirty="0" err="1">
                <a:solidFill>
                  <a:srgbClr val="FF0000"/>
                </a:solidFill>
              </a:rPr>
              <a:t>from</a:t>
            </a:r>
            <a:r>
              <a:rPr lang="de-CH" sz="4800" dirty="0">
                <a:solidFill>
                  <a:srgbClr val="FF0000"/>
                </a:solidFill>
              </a:rPr>
              <a:t> </a:t>
            </a:r>
            <a:br>
              <a:rPr lang="de-CH" sz="4800" dirty="0">
                <a:solidFill>
                  <a:srgbClr val="FF0000"/>
                </a:solidFill>
              </a:rPr>
            </a:br>
            <a:r>
              <a:rPr lang="de-CH" sz="4800" dirty="0">
                <a:solidFill>
                  <a:srgbClr val="FF0000"/>
                </a:solidFill>
              </a:rPr>
              <a:t>SNMP to YANG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FD45B-0C03-9A3C-FC7A-F38B4A719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72" y="812371"/>
            <a:ext cx="4669256" cy="591439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059833-9620-9568-0610-8D4539847E11}"/>
              </a:ext>
            </a:extLst>
          </p:cNvPr>
          <p:cNvSpPr/>
          <p:nvPr/>
        </p:nvSpPr>
        <p:spPr>
          <a:xfrm>
            <a:off x="7110672" y="666750"/>
            <a:ext cx="4669256" cy="1991129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943A5-2937-30C6-6332-8F4367C5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5277116"/>
            <a:ext cx="6103778" cy="1449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3A9F58-979C-534D-5DD3-9DEA63277D68}"/>
              </a:ext>
            </a:extLst>
          </p:cNvPr>
          <p:cNvSpPr txBox="1"/>
          <p:nvPr/>
        </p:nvSpPr>
        <p:spPr>
          <a:xfrm>
            <a:off x="1751823" y="4982646"/>
            <a:ext cx="674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2025</a:t>
            </a:r>
            <a:endParaRPr lang="de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98FAD-4BC1-20D9-06AD-9ED997FFAF59}"/>
              </a:ext>
            </a:extLst>
          </p:cNvPr>
          <p:cNvSpPr txBox="1"/>
          <p:nvPr/>
        </p:nvSpPr>
        <p:spPr>
          <a:xfrm>
            <a:off x="2746700" y="4982488"/>
            <a:ext cx="674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2026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C8CD6-88E3-049A-C013-901127A28452}"/>
              </a:ext>
            </a:extLst>
          </p:cNvPr>
          <p:cNvSpPr txBox="1"/>
          <p:nvPr/>
        </p:nvSpPr>
        <p:spPr>
          <a:xfrm>
            <a:off x="4074780" y="4982488"/>
            <a:ext cx="674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2027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2A5561-36E4-5776-AC1C-0ACEC1A0C701}"/>
              </a:ext>
            </a:extLst>
          </p:cNvPr>
          <p:cNvSpPr txBox="1"/>
          <p:nvPr/>
        </p:nvSpPr>
        <p:spPr>
          <a:xfrm>
            <a:off x="5468151" y="4983827"/>
            <a:ext cx="674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2028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565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24DC3B6-499C-4E15-9336-2F15A0DF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16</a:t>
            </a:fld>
            <a:endParaRPr lang="de-CH" sz="1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194B37B-813A-99FE-7B78-4D87D8C30D44}"/>
              </a:ext>
            </a:extLst>
          </p:cNvPr>
          <p:cNvSpPr txBox="1">
            <a:spLocks/>
          </p:cNvSpPr>
          <p:nvPr/>
        </p:nvSpPr>
        <p:spPr bwMode="black">
          <a:xfrm>
            <a:off x="1447800" y="2928939"/>
            <a:ext cx="4648200" cy="370046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b="1" dirty="0"/>
              <a:t>MVP 2 – Physical &amp; Essential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ietf-interfaces.yang</a:t>
            </a:r>
            <a:r>
              <a:rPr lang="en-US" sz="1600" dirty="0"/>
              <a:t> (inventory, state and statistic)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ietf-hardware.yang</a:t>
            </a:r>
            <a:r>
              <a:rPr lang="en-US" sz="1600" dirty="0"/>
              <a:t> (inventory, state and statistic)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ietf-alarms.yang</a:t>
            </a:r>
            <a:r>
              <a:rPr lang="en-US" sz="1600" dirty="0"/>
              <a:t> (state)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ieee802-dot1ab-lldp.yang (inventory and state)</a:t>
            </a:r>
          </a:p>
          <a:p>
            <a:pPr>
              <a:spcAft>
                <a:spcPts val="0"/>
              </a:spcAft>
            </a:pPr>
            <a:r>
              <a:rPr lang="en-US" b="1" dirty="0"/>
              <a:t>MVP 3 – Logical Relationships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ieee802-dot1ax.yang (inventory, state and statistic)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</a:t>
            </a:r>
            <a:r>
              <a:rPr lang="en-US" sz="1600" dirty="0"/>
              <a:t>-bfd-</a:t>
            </a:r>
            <a:r>
              <a:rPr lang="en-US" sz="1600" dirty="0" err="1"/>
              <a:t>ip</a:t>
            </a:r>
            <a:r>
              <a:rPr lang="en-US" sz="1600" dirty="0"/>
              <a:t>-</a:t>
            </a:r>
            <a:r>
              <a:rPr lang="en-US" sz="1600" dirty="0" err="1"/>
              <a:t>sh.yang</a:t>
            </a:r>
            <a:r>
              <a:rPr lang="en-US" sz="1600" dirty="0"/>
              <a:t> (state)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</a:t>
            </a:r>
            <a:r>
              <a:rPr lang="en-US" sz="1600" dirty="0"/>
              <a:t>-bfd-</a:t>
            </a:r>
            <a:r>
              <a:rPr lang="en-US" sz="1600" dirty="0" err="1"/>
              <a:t>ip</a:t>
            </a:r>
            <a:r>
              <a:rPr lang="en-US" sz="1600" dirty="0"/>
              <a:t>-</a:t>
            </a:r>
            <a:r>
              <a:rPr lang="en-US" sz="1600" dirty="0" err="1"/>
              <a:t>mh.yang</a:t>
            </a:r>
            <a:r>
              <a:rPr lang="en-US" sz="1600" dirty="0"/>
              <a:t> (state)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</a:t>
            </a:r>
            <a:r>
              <a:rPr lang="en-US" sz="1600" dirty="0"/>
              <a:t>-bfd-</a:t>
            </a:r>
            <a:r>
              <a:rPr lang="en-US" sz="1600" dirty="0" err="1"/>
              <a:t>lag.yang</a:t>
            </a:r>
            <a:r>
              <a:rPr lang="en-US" sz="1600" dirty="0"/>
              <a:t> (state)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ietf-isis.yang</a:t>
            </a:r>
            <a:r>
              <a:rPr lang="en-US" sz="1600" dirty="0"/>
              <a:t> (state)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6D79134-17A9-8BC8-B7D0-97BCFFB9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IETF YANG Model Implementations</a:t>
            </a:r>
            <a:br>
              <a:rPr lang="en-US" sz="3600" dirty="0"/>
            </a:b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Incremental development…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9953F08-D7B3-20B4-75F7-C1E5DCC9613D}"/>
              </a:ext>
            </a:extLst>
          </p:cNvPr>
          <p:cNvSpPr/>
          <p:nvPr/>
        </p:nvSpPr>
        <p:spPr>
          <a:xfrm>
            <a:off x="1219200" y="3327335"/>
            <a:ext cx="133350" cy="3789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2690-F01A-E120-61E5-D76F9E4A6A57}"/>
              </a:ext>
            </a:extLst>
          </p:cNvPr>
          <p:cNvSpPr txBox="1">
            <a:spLocks/>
          </p:cNvSpPr>
          <p:nvPr/>
        </p:nvSpPr>
        <p:spPr>
          <a:xfrm>
            <a:off x="219285" y="3327335"/>
            <a:ext cx="904665" cy="1154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FF0000"/>
                </a:solidFill>
              </a:rPr>
              <a:t>Already supported by OLT MA5800.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B533D5-5BC7-957A-10FF-6A4C28EE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872" y="435919"/>
            <a:ext cx="4387928" cy="605695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7A84E0-66F5-B7C4-4201-B3B76ED1733A}"/>
              </a:ext>
            </a:extLst>
          </p:cNvPr>
          <p:cNvSpPr/>
          <p:nvPr/>
        </p:nvSpPr>
        <p:spPr>
          <a:xfrm>
            <a:off x="6904809" y="5845963"/>
            <a:ext cx="4448991" cy="674691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F9B229A-3852-90DE-F772-6441EBCBF4F4}"/>
              </a:ext>
            </a:extLst>
          </p:cNvPr>
          <p:cNvSpPr txBox="1">
            <a:spLocks/>
          </p:cNvSpPr>
          <p:nvPr/>
        </p:nvSpPr>
        <p:spPr bwMode="black">
          <a:xfrm>
            <a:off x="990600" y="1614166"/>
            <a:ext cx="5741180" cy="776609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900" dirty="0"/>
              <a:t>"Starting 2026, Swisscom onboards new network platforms with YANG-Push only. Initiating the </a:t>
            </a:r>
            <a:r>
              <a:rPr lang="en-US" sz="1900" dirty="0">
                <a:solidFill>
                  <a:srgbClr val="FF0000"/>
                </a:solidFill>
              </a:rPr>
              <a:t>SNMP to YANG lifecycle and the standardization of YANG models</a:t>
            </a:r>
            <a:r>
              <a:rPr lang="en-US" sz="19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102752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200" y="1572915"/>
            <a:ext cx="5105400" cy="417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ietf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description?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type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enabled?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link-up-down-trap-enable?   enumeration {if-mib}?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admin-status                enumeration {if-mib}?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-status              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last-change?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if-index                    int32 {if-mib}?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phys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-address?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yang:phys-address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higher-layer-if*            interface-ref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lower-layer-if*             interface-ref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speed?                      yang:gauge64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statistics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discontinuity-time    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FF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in-octets?       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in-unicast-pkts? 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in-broadcast-pkts?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in-multicast-pkts?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in-discards?      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in-errors?        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in-unknown-protos?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out-octets?      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out-unicast-pkts?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out-broadcast-pkts?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out-multicast-pkts?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out-discards?     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out-errors?           yang:counter32</a:t>
            </a:r>
            <a:endParaRPr lang="en-US" sz="10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8343 – </a:t>
            </a:r>
            <a:r>
              <a:rPr lang="en-US" sz="2800" b="1" dirty="0" err="1">
                <a:solidFill>
                  <a:srgbClr val="FF0000"/>
                </a:solidFill>
              </a:rPr>
              <a:t>ietf-interfaces</a:t>
            </a:r>
            <a:r>
              <a:rPr lang="en-US" sz="2800" b="1" dirty="0" err="1"/>
              <a:t>.yang</a:t>
            </a:r>
            <a:br>
              <a:rPr lang="en-US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Interface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1" y="1690687"/>
            <a:ext cx="6744342" cy="2005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sync-on-start </a:t>
            </a:r>
          </a:p>
          <a:p>
            <a:pPr lvl="1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inventory</a:t>
            </a:r>
            <a:r>
              <a:rPr lang="en-US" sz="1600" dirty="0"/>
              <a:t> and alert use cases </a:t>
            </a:r>
            <a:r>
              <a:rPr lang="en-US" sz="1600" dirty="0">
                <a:highlight>
                  <a:srgbClr val="00FF00"/>
                </a:highlight>
              </a:rPr>
              <a:t>the state of the interface</a:t>
            </a:r>
            <a:r>
              <a:rPr lang="en-US" sz="1600" dirty="0"/>
              <a:t>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and periodically</a:t>
            </a:r>
          </a:p>
          <a:p>
            <a:pPr lvl="1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performance</a:t>
            </a:r>
            <a:r>
              <a:rPr lang="en-US" sz="1600" dirty="0"/>
              <a:t> measurement use cases </a:t>
            </a:r>
            <a:r>
              <a:rPr lang="en-US" sz="1600" dirty="0">
                <a:highlight>
                  <a:srgbClr val="FFFF00"/>
                </a:highlight>
              </a:rPr>
              <a:t>the interface statistics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800" dirty="0">
              <a:ea typeface="Times New Roman" panose="02020603050405020304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17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71118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200" y="1572915"/>
            <a:ext cx="5105400" cy="522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ietf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-hardware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hardware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last-change?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component*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class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physical-index?   int32 {entity-mib}?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description?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parent?           -&gt; ../../component/name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parent-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rel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-pos?   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contains-child*   -&gt; ../../component/name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hardware-rev?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firmware-rev?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software-rev?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serial-num?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mfg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-name?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model-name?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alias?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asset-id?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fru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mfg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-date?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uri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inet:uri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uuid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yang:uuid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 {hardware-state}?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state-last-changed?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       admin-state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-state?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usage-state?          usage-state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alarm-state?          alarm-state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standby-state?        standby-state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sensor-data {hardware-sensor}?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value?               sensor-value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value-type?          sensor-value-type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value-scale?         sensor-value-scale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value-precision?     sensor-value-precision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-status?         sensor-status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units-display?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value-timestamp?     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FF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value-update-rate?   uint32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8348 – </a:t>
            </a:r>
            <a:r>
              <a:rPr lang="en-US" sz="2800" b="1" dirty="0" err="1">
                <a:solidFill>
                  <a:srgbClr val="FF0000"/>
                </a:solidFill>
              </a:rPr>
              <a:t>ietf-hardware</a:t>
            </a:r>
            <a:r>
              <a:rPr lang="en-US" sz="2800" b="1" dirty="0" err="1"/>
              <a:t>.yang</a:t>
            </a:r>
            <a:br>
              <a:rPr lang="en-GB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Hardware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1" y="1690687"/>
            <a:ext cx="6744342" cy="5036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sync-on-start </a:t>
            </a:r>
          </a:p>
          <a:p>
            <a:pPr lvl="1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inventory</a:t>
            </a:r>
            <a:r>
              <a:rPr lang="en-US" sz="1600" dirty="0"/>
              <a:t> use cases </a:t>
            </a:r>
            <a:r>
              <a:rPr lang="en-US" sz="1600" dirty="0">
                <a:highlight>
                  <a:srgbClr val="00FF00"/>
                </a:highlight>
              </a:rPr>
              <a:t>the state of the hardware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For</a:t>
            </a:r>
            <a:r>
              <a:rPr lang="en-US" sz="1600" dirty="0">
                <a:solidFill>
                  <a:srgbClr val="FF0000"/>
                </a:solidFill>
              </a:rPr>
              <a:t> alert </a:t>
            </a:r>
            <a:r>
              <a:rPr lang="en-US" sz="1600" dirty="0"/>
              <a:t>use cases the </a:t>
            </a:r>
            <a:r>
              <a:rPr lang="en-US" sz="1600" dirty="0">
                <a:highlight>
                  <a:srgbClr val="00FFFF"/>
                </a:highlight>
              </a:rPr>
              <a:t>hardware state change notifications</a:t>
            </a:r>
            <a:r>
              <a:rPr lang="en-US" sz="1600" dirty="0"/>
              <a:t>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and periodically</a:t>
            </a:r>
          </a:p>
          <a:p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performance measurement </a:t>
            </a:r>
            <a:r>
              <a:rPr lang="en-US" sz="1600" dirty="0"/>
              <a:t>use cases </a:t>
            </a:r>
            <a:r>
              <a:rPr lang="en-US" sz="1600" dirty="0">
                <a:highlight>
                  <a:srgbClr val="FFFF00"/>
                </a:highlight>
              </a:rPr>
              <a:t>the hardware sensor-data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800" dirty="0">
              <a:ea typeface="Times New Roman" panose="02020603050405020304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18</a:t>
            </a:fld>
            <a:endParaRPr lang="de-CH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C69B6-DA2C-D9D1-9361-DE67F44A410D}"/>
              </a:ext>
            </a:extLst>
          </p:cNvPr>
          <p:cNvSpPr txBox="1"/>
          <p:nvPr/>
        </p:nvSpPr>
        <p:spPr>
          <a:xfrm>
            <a:off x="5257801" y="4300927"/>
            <a:ext cx="5105400" cy="153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hardware-state-change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hardware-state-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-enabled {hardware-state}?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-&gt; /hardware/component/name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-&gt; /hardware/component/state/admin-state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alarm-state?   -&gt; /hardware/component/state/alarm-state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hardware-state-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-disabled {hardware-state}?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-&gt; /hardware/component/name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-&gt; /hardware/component/state/admin-state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alarm-state?   -&gt; /hardware/component/state/alarm-state</a:t>
            </a:r>
            <a:endParaRPr lang="de-CH" sz="10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4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199" y="1690686"/>
            <a:ext cx="4419602" cy="2987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alarm-notification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resource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resource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alarm-type-id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alarm-type-id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alarm-type-qualifier?   alarm-type-qualifier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alt-resource*           resource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related-alarm* [resource alarm-type-id alarm-type-qualifier] {alarm-correlation}?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resource                -&gt; /alarms/alarm-list/alarm/resource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alarm-type-id           -&gt; /alarms/alarm-list/alarm[resource=current()/../resource]/alarm-type-id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alarm-type-qualifier    -&gt; /alarms/alarm-list/alarm[resource=current()/../resource][alarm-type-id=current()/../alarm-type-id]/alarm-type-qualifier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impacted-resource*      resource {service-impact-analysis}?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root-cause-resource*    resource {root-cause-analysis}?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 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perceived-severity      severity-with-clear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alarm-text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alarm-text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alarm-inventory-changed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8632 – </a:t>
            </a:r>
            <a:r>
              <a:rPr lang="en-US" sz="2800" b="1" dirty="0" err="1">
                <a:solidFill>
                  <a:srgbClr val="FF0000"/>
                </a:solidFill>
              </a:rPr>
              <a:t>ietf-alarms</a:t>
            </a:r>
            <a:r>
              <a:rPr lang="en-US" sz="2800" b="1" dirty="0" err="1"/>
              <a:t>.yang</a:t>
            </a:r>
            <a:br>
              <a:rPr lang="en-GB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Alarm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1" y="1690687"/>
            <a:ext cx="6744342" cy="1414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</a:t>
            </a:r>
          </a:p>
          <a:p>
            <a:pPr lvl="1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alert</a:t>
            </a:r>
            <a:r>
              <a:rPr lang="en-US" sz="1600" dirty="0"/>
              <a:t> use cases the </a:t>
            </a:r>
            <a:r>
              <a:rPr lang="en-US" sz="1600" dirty="0">
                <a:highlight>
                  <a:srgbClr val="00FFFF"/>
                </a:highlight>
              </a:rPr>
              <a:t>alarm notifications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800" dirty="0">
              <a:ea typeface="Times New Roman" panose="02020603050405020304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de-CH" sz="1400" smtClean="0"/>
              <a:t>19</a:t>
            </a:fld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470033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200" y="1572915"/>
            <a:ext cx="5543550" cy="364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ieee802-dot1ab-lldp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local-system-data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chassis-id-subtype?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ieee:chassis-id-subtype-type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chassis-id?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system-name?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system-description?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system-capabilities-supported?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system-capabilities-enabled?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port* [name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-mac-address]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-mac-address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ieee:mac-address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port-id?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ieee:port-id-type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remote-systems-data* [time-mark remote-index]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time-mark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yang:timeticks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remote-index      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remote-too-many-neighbors?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remote-changes?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chassis-id-subtype?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ieee:chassis-id-subtype-type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chassis-id?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port-id-subtype?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ieee:port-id-subtype-type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port-id? 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ieee:port-id-type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port-desc?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system-name?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system-description?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system-capabilities-supported?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system-capabilities-enabled?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IEEE LLDP – </a:t>
            </a:r>
            <a:r>
              <a:rPr lang="en-US" sz="2800" b="1" dirty="0">
                <a:solidFill>
                  <a:srgbClr val="FF0000"/>
                </a:solidFill>
              </a:rPr>
              <a:t>ieee802-dot1ab-lldp</a:t>
            </a:r>
            <a:r>
              <a:rPr lang="en-US" sz="2800" b="1" dirty="0"/>
              <a:t>.yang</a:t>
            </a:r>
            <a:br>
              <a:rPr lang="en-US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LLDP Neighbor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025" y="1690687"/>
            <a:ext cx="5706118" cy="17383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sync-on-start </a:t>
            </a:r>
          </a:p>
          <a:p>
            <a:pPr lvl="1"/>
            <a:r>
              <a:rPr lang="en-US" sz="1600" dirty="0"/>
              <a:t>For</a:t>
            </a:r>
            <a:r>
              <a:rPr lang="en-US" sz="1600" dirty="0">
                <a:solidFill>
                  <a:srgbClr val="FF0000"/>
                </a:solidFill>
              </a:rPr>
              <a:t> inventory</a:t>
            </a:r>
            <a:r>
              <a:rPr lang="en-US" sz="1600" dirty="0"/>
              <a:t> use cases </a:t>
            </a:r>
            <a:r>
              <a:rPr lang="en-US" sz="1600" dirty="0">
                <a:highlight>
                  <a:srgbClr val="00FF00"/>
                </a:highlight>
              </a:rPr>
              <a:t>the local and remote-systems-data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800" dirty="0">
              <a:ea typeface="Times New Roman" panose="02020603050405020304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20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1003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200" y="1572915"/>
            <a:ext cx="5105400" cy="4041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ieee802-dot1ax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lag-system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aggregating-system* [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-system]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-system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system-id?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ieee:mac-address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system-priority?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augment 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-system-name?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           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link-up-down-notification?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collector-max-delay?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aggregator-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actor-admin-key?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augment 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aggregation-port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aggregation-port-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actor-system-priority?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actor-admin-key?    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partner-admin-system-priority?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partner-admin-system-id?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ieee:mac-address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partner-admin-key?  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actor-port-priority?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partner-admin-port? 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partner-admin-port-priority?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actor-admin-state?               bits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partner-admin-state?             bits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IEEE dot1ax – </a:t>
            </a:r>
            <a:r>
              <a:rPr lang="en-US" sz="2800" b="1" dirty="0">
                <a:solidFill>
                  <a:srgbClr val="FF0000"/>
                </a:solidFill>
              </a:rPr>
              <a:t>ieee802-dot1ax</a:t>
            </a:r>
            <a:r>
              <a:rPr lang="en-US" sz="2800" b="1" dirty="0"/>
              <a:t>.yang</a:t>
            </a:r>
            <a:br>
              <a:rPr lang="en-US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LAG Interface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1" y="1690687"/>
            <a:ext cx="6744342" cy="1414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sync-on-start </a:t>
            </a:r>
          </a:p>
          <a:p>
            <a:pPr lvl="1"/>
            <a:r>
              <a:rPr lang="en-US" sz="1600" dirty="0"/>
              <a:t>For</a:t>
            </a:r>
            <a:r>
              <a:rPr lang="en-US" sz="1600" dirty="0">
                <a:solidFill>
                  <a:srgbClr val="FF0000"/>
                </a:solidFill>
              </a:rPr>
              <a:t> inventory </a:t>
            </a:r>
            <a:r>
              <a:rPr lang="en-US" sz="1600" dirty="0"/>
              <a:t>use cases </a:t>
            </a:r>
            <a:r>
              <a:rPr lang="en-US" sz="1600" dirty="0">
                <a:highlight>
                  <a:srgbClr val="00FF00"/>
                </a:highlight>
              </a:rPr>
              <a:t>the state of the hardware</a:t>
            </a:r>
            <a:r>
              <a:rPr lang="en-US" sz="1600" dirty="0"/>
              <a:t>.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21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4553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200" y="1572915"/>
            <a:ext cx="5105400" cy="4568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BFD IP Single-Hop Hierarchy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hlinkClick r:id="rId3"/>
              </a:rPr>
              <a:t>https://datatracker.ietf.org/doc/html/rfc9127#section-2.6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singlehop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new-state?                  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state-change-reason?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iana-bfd-types:diagnostic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time-of-last-state-change?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dest-addr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source-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session-index?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path-type?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echo-enabled?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BFD-over-LAG Hierarchy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hlinkClick r:id="rId4"/>
              </a:rPr>
              <a:t>https://datatracker.ietf.org/doc/html/rfc9127#section-2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lag-notification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new-state?                  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state-change-reason?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iana-bfd-types:diagnostic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time-of-last-state-change?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dest-addr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source-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session-index?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path-type?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lag-name? 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member-link?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9127 – </a:t>
            </a:r>
            <a:r>
              <a:rPr lang="en-US" sz="2800" b="1" dirty="0" err="1">
                <a:solidFill>
                  <a:srgbClr val="FF0000"/>
                </a:solidFill>
              </a:rPr>
              <a:t>ietf-bfd</a:t>
            </a:r>
            <a:r>
              <a:rPr lang="en-US" sz="2800" b="1" dirty="0" err="1"/>
              <a:t>.yang</a:t>
            </a:r>
            <a:br>
              <a:rPr lang="en-US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Bidirectional Forwarding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1" y="1690688"/>
            <a:ext cx="6744342" cy="1325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sync-on-start </a:t>
            </a:r>
          </a:p>
          <a:p>
            <a:pPr lvl="1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alert</a:t>
            </a:r>
            <a:r>
              <a:rPr lang="en-US" sz="1600" dirty="0"/>
              <a:t> use cases the </a:t>
            </a:r>
            <a:r>
              <a:rPr lang="en-US" sz="1600" dirty="0">
                <a:highlight>
                  <a:srgbClr val="00FFFF"/>
                </a:highlight>
              </a:rPr>
              <a:t>hardware state notifications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800" dirty="0">
              <a:ea typeface="Times New Roman" panose="02020603050405020304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22</a:t>
            </a:fld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C69B6-DA2C-D9D1-9361-DE67F44A410D}"/>
              </a:ext>
            </a:extLst>
          </p:cNvPr>
          <p:cNvSpPr txBox="1"/>
          <p:nvPr/>
        </p:nvSpPr>
        <p:spPr>
          <a:xfrm>
            <a:off x="5257801" y="4529527"/>
            <a:ext cx="5105400" cy="216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BFD IP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Multihop</a:t>
            </a: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Hierarchy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hlinkClick r:id="rId5"/>
              </a:rPr>
              <a:t>https://datatracker.ietf.org/doc/html/rfc9127#section-2.7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multihop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new-state?                  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state-change-reason?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iana-bfd-types:diagnostic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time-of-last-state-change?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dest-addr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source-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session-index?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path-type?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56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F78EE4C-6EFD-4363-A98F-3E5608669DF5}"/>
              </a:ext>
            </a:extLst>
          </p:cNvPr>
          <p:cNvSpPr txBox="1"/>
          <p:nvPr/>
        </p:nvSpPr>
        <p:spPr>
          <a:xfrm>
            <a:off x="838200" y="1572915"/>
            <a:ext cx="5105400" cy="3909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database-overload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routing-protocol-name?   -&gt; /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rt:routing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control-plane-protocols/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-level?     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overload?             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if-state-change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routing-protocol-name?   -&gt; /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rt:routing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control-plane-protocols/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-level?     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interface-name?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interface-level?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extended-circuit-id?     extended-circuit-id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state?                   if-state-type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adjacency-state-change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routing-protocol-name?   -&gt; /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rt:routing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control-plane-protocols/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-level?     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interface-name?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interface-level?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extended-circuit-id?     extended-circuit-id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neighbor?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neighbor-system-id?      system-id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state?                   adj-state-type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reason?                  string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0F271-6F0D-4AC0-BB1D-F5C3381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9130 – </a:t>
            </a:r>
            <a:r>
              <a:rPr lang="en-US" sz="2800" b="1" dirty="0" err="1">
                <a:solidFill>
                  <a:srgbClr val="FF0000"/>
                </a:solidFill>
              </a:rPr>
              <a:t>ietf-isis</a:t>
            </a:r>
            <a:r>
              <a:rPr lang="en-US" sz="2800" b="1" dirty="0" err="1"/>
              <a:t>.yang</a:t>
            </a:r>
            <a:br>
              <a:rPr lang="en-US" sz="32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the IS-IS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DFD4-432D-4B0C-93DF-790441DC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1" y="1690687"/>
            <a:ext cx="6744342" cy="132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With IETF YANG-Push we like to subscribe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1600" dirty="0"/>
              <a:t>with on-change sync-on-start </a:t>
            </a:r>
          </a:p>
          <a:p>
            <a:pPr lvl="1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alert</a:t>
            </a:r>
            <a:r>
              <a:rPr lang="en-US" sz="1600" dirty="0"/>
              <a:t> use cases the </a:t>
            </a:r>
            <a:r>
              <a:rPr lang="en-US" sz="1600" dirty="0">
                <a:highlight>
                  <a:srgbClr val="00FFFF"/>
                </a:highlight>
              </a:rPr>
              <a:t>hardware state notifications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800" dirty="0">
              <a:ea typeface="Times New Roman" panose="02020603050405020304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31654D8-5CEC-4B8C-A548-2C0DECDF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23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779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09" descr="A cake with a message on it&#10;&#10;Description automatically generated with medium confidence">
            <a:extLst>
              <a:ext uri="{FF2B5EF4-FFF2-40B4-BE49-F238E27FC236}">
                <a16:creationId xmlns:a16="http://schemas.microsoft.com/office/drawing/2014/main" id="{BE29D9A2-AA39-4B1B-B366-9C43E70E33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2" b="24198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9690665C-8566-4537-9D7A-7F19909CBC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gray">
          <a:xfrm flipH="1">
            <a:off x="191344" y="6093336"/>
            <a:ext cx="432048" cy="360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8FF9B0DE-3FEB-4AA0-B465-B80EF7C1333D}" type="slidenum">
              <a:rPr lang="de-CH" smtClean="0"/>
              <a:pPr>
                <a:spcAft>
                  <a:spcPts val="600"/>
                </a:spcAft>
              </a:pPr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0772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7D17A-A259-8B8A-20E0-474E61FF5DB6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506" name="Google Shape;1506;p43"/>
          <p:cNvSpPr txBox="1">
            <a:spLocks noGrp="1"/>
          </p:cNvSpPr>
          <p:nvPr>
            <p:ph type="ctrTitle" idx="4294967295"/>
          </p:nvPr>
        </p:nvSpPr>
        <p:spPr>
          <a:xfrm>
            <a:off x="615481" y="374074"/>
            <a:ext cx="7726919" cy="19827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>
              <a:buClr>
                <a:srgbClr val="888888"/>
              </a:buClr>
              <a:buSzPts val="2500"/>
            </a:pPr>
            <a:r>
              <a:rPr lang="en-US" sz="3733" b="1" dirty="0"/>
              <a:t>Validate YANG-Push to Message Broker End-To-End Data Processing Chain</a:t>
            </a:r>
            <a:br>
              <a:rPr lang="en" sz="5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33" dirty="0">
                <a:solidFill>
                  <a:srgbClr val="888888"/>
                </a:solidFill>
              </a:rPr>
              <a:t>IETF 126 Hackathon, July 18/19</a:t>
            </a:r>
            <a:r>
              <a:rPr lang="en-US" sz="3733" baseline="30000" dirty="0">
                <a:solidFill>
                  <a:srgbClr val="888888"/>
                </a:solidFill>
              </a:rPr>
              <a:t>th</a:t>
            </a:r>
            <a:r>
              <a:rPr lang="en-US" sz="3733" dirty="0">
                <a:solidFill>
                  <a:srgbClr val="888888"/>
                </a:solidFill>
              </a:rPr>
              <a:t> 2026</a:t>
            </a:r>
            <a:endParaRPr sz="3733" dirty="0">
              <a:solidFill>
                <a:srgbClr val="88888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4A158-30A9-C387-5FFD-6AEF5849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08" y="166365"/>
            <a:ext cx="3617520" cy="6691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9727B-B192-98C3-96AF-57104AF0EAA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2" name="Google Shape;1523;p45">
            <a:extLst>
              <a:ext uri="{FF2B5EF4-FFF2-40B4-BE49-F238E27FC236}">
                <a16:creationId xmlns:a16="http://schemas.microsoft.com/office/drawing/2014/main" id="{BCB98076-6DA6-6B8C-F53E-DB5902062E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83759"/>
            <a:ext cx="245415" cy="307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pPr>
              <a:buClr>
                <a:srgbClr val="888888"/>
              </a:buClr>
              <a:buSzPts val="1200"/>
            </a:pPr>
            <a:fld id="{00000000-1234-1234-1234-123412341234}" type="slidenum">
              <a:rPr lang="en"/>
              <a:pPr>
                <a:buClr>
                  <a:srgbClr val="888888"/>
                </a:buClr>
                <a:buSzPts val="1200"/>
              </a:pPr>
              <a:t>25</a:t>
            </a:fld>
            <a:endParaRPr dirty="0"/>
          </a:p>
        </p:txBody>
      </p:sp>
      <p:pic>
        <p:nvPicPr>
          <p:cNvPr id="3" name="Picture 2" descr="IETF | Suggested IETF 126 Sessions for Getting Familiar with New Topics">
            <a:extLst>
              <a:ext uri="{FF2B5EF4-FFF2-40B4-BE49-F238E27FC236}">
                <a16:creationId xmlns:a16="http://schemas.microsoft.com/office/drawing/2014/main" id="{5F561052-D90B-7443-52F5-24F846E0E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831" y="2356855"/>
            <a:ext cx="5579872" cy="402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44"/>
          <p:cNvSpPr txBox="1">
            <a:spLocks noGrp="1"/>
          </p:cNvSpPr>
          <p:nvPr>
            <p:ph type="title"/>
          </p:nvPr>
        </p:nvSpPr>
        <p:spPr>
          <a:xfrm>
            <a:off x="728132" y="274638"/>
            <a:ext cx="10292595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-US" sz="5067" dirty="0"/>
              <a:t>Hackathon Plan, Software and Website</a:t>
            </a:r>
          </a:p>
        </p:txBody>
      </p:sp>
      <p:sp>
        <p:nvSpPr>
          <p:cNvPr id="1515" name="Google Shape;1515;p44"/>
          <p:cNvSpPr txBox="1">
            <a:spLocks noGrp="1"/>
          </p:cNvSpPr>
          <p:nvPr>
            <p:ph type="body" idx="1"/>
          </p:nvPr>
        </p:nvSpPr>
        <p:spPr>
          <a:xfrm>
            <a:off x="728133" y="1219200"/>
            <a:ext cx="10662924" cy="27779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2177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US" sz="1867" b="1" dirty="0"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lang="en-US" noProof="0" dirty="0"/>
          </a:p>
          <a:p>
            <a:pPr marL="2177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US" sz="1600" dirty="0"/>
              <a:t>Validate and verify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5 YANG-Push Publishers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2 YANG-Push Receivers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2 YANG-Push Network Telemetry Message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1 YANG Message Broker Producer and Schema Registry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3 YANG Message Broker Consumers</a:t>
            </a:r>
          </a:p>
          <a:p>
            <a:pPr marL="21771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400"/>
              <a:buNone/>
            </a:pPr>
            <a:r>
              <a:rPr lang="en-US" sz="1600" dirty="0"/>
              <a:t>implementation in YANG data integration automation. Subscribe to YANG</a:t>
            </a:r>
            <a:br>
              <a:rPr lang="en-US" sz="1600" dirty="0"/>
            </a:br>
            <a:r>
              <a:rPr lang="en-US" sz="1600" dirty="0"/>
              <a:t>data on YANG-Publisher, obtain and register all YANG modules necessary</a:t>
            </a:r>
            <a:br>
              <a:rPr lang="en-US" sz="1600" dirty="0"/>
            </a:br>
            <a:r>
              <a:rPr lang="en-US" sz="1600" dirty="0"/>
              <a:t>to build YANG schema tree, register YANG schemas to Schema  Registry</a:t>
            </a:r>
            <a:br>
              <a:rPr lang="en-US" sz="1600" dirty="0"/>
            </a:br>
            <a:r>
              <a:rPr lang="en-US" sz="1600" dirty="0"/>
              <a:t>and verify YANG notifications against scheme trees and produce and</a:t>
            </a:r>
            <a:br>
              <a:rPr lang="en-US" sz="1600" dirty="0"/>
            </a:br>
            <a:r>
              <a:rPr lang="en-US" sz="1600" dirty="0"/>
              <a:t>consume from Message Broker.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21771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400"/>
              <a:buNone/>
            </a:pPr>
            <a:r>
              <a:rPr lang="en-US" sz="1867" b="1" dirty="0"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lang="en-US" noProof="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YANG-Push Publisher - Cisco IOS XR, 6WIND VSR, Huawei NE (Router),MA (OLT), </a:t>
            </a:r>
            <a:r>
              <a:rPr lang="en-US" sz="1600" dirty="0" err="1"/>
              <a:t>Arrcus</a:t>
            </a:r>
            <a:r>
              <a:rPr lang="en-US" sz="1600" dirty="0"/>
              <a:t> Arcos and Ductus DMAP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YANG-Push Receiver –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de-CH" sz="1600" dirty="0">
                <a:hlinkClick r:id="rId3"/>
              </a:rPr>
              <a:t>™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3"/>
              </a:rPr>
              <a:t>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1600" dirty="0" err="1">
                <a:hlinkClick r:id="rId4"/>
              </a:rPr>
              <a:t>Pmacct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 Message Broker Producer </a:t>
            </a:r>
            <a:r>
              <a:rPr lang="en-US" sz="1600" dirty="0"/>
              <a:t>– </a:t>
            </a:r>
            <a:r>
              <a:rPr lang="en-US" sz="1600" dirty="0"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de-CH" sz="1600" dirty="0">
                <a:hlinkClick r:id="rId3"/>
              </a:rPr>
              <a:t>™</a:t>
            </a:r>
            <a:endParaRPr lang="en-US" sz="160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 Message Broker Consumer – </a:t>
            </a:r>
            <a:r>
              <a:rPr lang="en-US" sz="1600" dirty="0"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de-CH" sz="1600" dirty="0">
                <a:hlinkClick r:id="rId3"/>
              </a:rPr>
              <a:t>™</a:t>
            </a:r>
            <a:r>
              <a:rPr lang="en-US" sz="1600" dirty="0"/>
              <a:t>, Ciena Blue Planet UAA Workflow Engine, Cisco </a:t>
            </a:r>
            <a:r>
              <a:rPr lang="en-US" sz="1600" dirty="0" err="1"/>
              <a:t>Crosswork</a:t>
            </a:r>
            <a:r>
              <a:rPr lang="en-US" sz="1600" dirty="0"/>
              <a:t> Ingestion Service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 Schema Registry –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5"/>
              </a:rPr>
              <a:t>Apache Kafka YANG Plugin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Libyang - </a:t>
            </a:r>
            <a:r>
              <a:rPr lang="en-US" sz="1600" dirty="0">
                <a:hlinkClick r:id="rId6"/>
              </a:rPr>
              <a:t>https://github.com/CESNET/libyang/releases/tag/v5.4.9</a:t>
            </a:r>
            <a:endParaRPr lang="en-US" sz="160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 err="1"/>
              <a:t>Yangkit</a:t>
            </a:r>
            <a:r>
              <a:rPr lang="en-US" sz="1600" dirty="0"/>
              <a:t> - </a:t>
            </a:r>
            <a:r>
              <a:rPr lang="en-US" sz="1600" dirty="0">
                <a:hlinkClick r:id="rId7"/>
              </a:rPr>
              <a:t>https://github.com/yang-central/yangkit/</a:t>
            </a:r>
            <a:endParaRPr lang="en-US" sz="160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Wireshark -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8"/>
              </a:rPr>
              <a:t>udp-notif dissector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C4F4D-B33D-1118-BAC0-63500FDC96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7217" y="1431355"/>
            <a:ext cx="3236607" cy="3016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639EC6-CFEC-5C52-B9C7-BC997E33CB5C}"/>
              </a:ext>
            </a:extLst>
          </p:cNvPr>
          <p:cNvSpPr txBox="1"/>
          <p:nvPr/>
        </p:nvSpPr>
        <p:spPr>
          <a:xfrm>
            <a:off x="6034643" y="4547971"/>
            <a:ext cx="5371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10"/>
              </a:rPr>
              <a:t>https://www.network-analytics.org/yp/how-to-deploy.html</a:t>
            </a: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48DDB2-AD4A-DEAE-D5A3-D3BC5389479D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CC267-4141-8946-2B25-FD5BC687F09A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6" name="Google Shape;1523;p45">
            <a:extLst>
              <a:ext uri="{FF2B5EF4-FFF2-40B4-BE49-F238E27FC236}">
                <a16:creationId xmlns:a16="http://schemas.microsoft.com/office/drawing/2014/main" id="{8BF5BFF0-D54E-9B49-7B24-4B838033AC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Hackathon – Repositories</a:t>
            </a:r>
            <a:endParaRPr sz="4533" dirty="0"/>
          </a:p>
        </p:txBody>
      </p:sp>
      <p:sp>
        <p:nvSpPr>
          <p:cNvPr id="1522" name="Google Shape;1522;p45"/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4671964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21771" indent="0">
              <a:lnSpc>
                <a:spcPct val="90000"/>
              </a:lnSpc>
              <a:spcBef>
                <a:spcPts val="0"/>
              </a:spcBef>
              <a:buSzPts val="1400"/>
              <a:buNone/>
            </a:pPr>
            <a:r>
              <a:rPr lang="de-CH" sz="1867" b="1" dirty="0">
                <a:latin typeface="Calibri"/>
                <a:ea typeface="Calibri"/>
                <a:cs typeface="Calibri"/>
              </a:rPr>
              <a:t>The 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results</a:t>
            </a:r>
            <a:r>
              <a:rPr lang="de-CH" sz="1867" b="1" dirty="0">
                <a:latin typeface="Calibri"/>
                <a:ea typeface="Calibri"/>
                <a:cs typeface="Calibri"/>
              </a:rPr>
              <a:t> of 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the</a:t>
            </a:r>
            <a:r>
              <a:rPr lang="de-CH" sz="1867" b="1" dirty="0">
                <a:latin typeface="Calibri"/>
                <a:ea typeface="Calibri"/>
                <a:cs typeface="Calibri"/>
              </a:rPr>
              <a:t> end-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to</a:t>
            </a:r>
            <a:r>
              <a:rPr lang="de-CH" sz="1867" b="1" dirty="0">
                <a:latin typeface="Calibri"/>
                <a:ea typeface="Calibri"/>
                <a:cs typeface="Calibri"/>
              </a:rPr>
              <a:t>-end 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tests</a:t>
            </a:r>
            <a:br>
              <a:rPr lang="de-CH" sz="1867" b="1" dirty="0">
                <a:latin typeface="Calibri"/>
                <a:ea typeface="Calibri"/>
                <a:cs typeface="Calibri"/>
                <a:sym typeface="Calibri"/>
              </a:rPr>
            </a:br>
            <a:endParaRPr lang="de-CH" sz="1600" u="sng" dirty="0">
              <a:solidFill>
                <a:schemeClr val="hlink"/>
              </a:solidFill>
            </a:endParaRP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RPCs and YANG-Push JSON and CBOR encoded notifications with wire captures from receiver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YANG-Push Receiver cache content generation with YANG library context, YANG modules, metadata and notification schema validation logs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/>
              <a:t>YANG Message Broker Producer serialization logs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/>
              <a:t>YANG Schema Registry schema examples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 Message Broker Consumer, serialization logs, </a:t>
            </a:r>
            <a:r>
              <a:rPr lang="en" sz="1600" dirty="0"/>
              <a:t>YANG library context, YANG modules and message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schema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2D983028-030F-7FAC-361F-2F3CEBD4D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DEF4D-758D-BDC4-17FB-86FA77F8BD87}"/>
              </a:ext>
            </a:extLst>
          </p:cNvPr>
          <p:cNvSpPr txBox="1"/>
          <p:nvPr/>
        </p:nvSpPr>
        <p:spPr>
          <a:xfrm>
            <a:off x="737164" y="6160374"/>
            <a:ext cx="10379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600" dirty="0">
                <a:solidFill>
                  <a:srgbClr val="00B0F0"/>
                </a:solidFill>
                <a:hlinkClick r:id="rId3"/>
              </a:rPr>
              <a:t>https://github.com/network-analytics/ietf-network-analytics-document-status/tree/main/126/Hackathon/</a:t>
            </a:r>
            <a:endParaRPr lang="de-CH" sz="1600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97AD8-22B5-E27A-E2F6-9342B03BB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547" y="1891145"/>
            <a:ext cx="5793421" cy="276718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9;p46">
            <a:extLst>
              <a:ext uri="{FF2B5EF4-FFF2-40B4-BE49-F238E27FC236}">
                <a16:creationId xmlns:a16="http://schemas.microsoft.com/office/drawing/2014/main" id="{A24BD4EE-319E-99D8-8524-268A6B1E7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868583"/>
            <a:ext cx="5257800" cy="39565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YANG Notifications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3"/>
              </a:rPr>
              <a:t>RFC 8639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YANG Notifications for Datastore Updates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4"/>
              </a:rPr>
              <a:t>RFC 8641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UDP-based Transport for Configured Subscriptions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5"/>
              </a:rPr>
              <a:t>draft-ietf-netconf-udp-notif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Distributed Notifications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6"/>
              </a:rPr>
              <a:t>draft-ietf-netconf-distributed-notif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Extensible YANG Model for YANG-Push Notifications</a:t>
            </a:r>
            <a:br>
              <a:rPr lang="en" sz="1333" dirty="0"/>
            </a:br>
            <a:r>
              <a:rPr lang="de-CH" sz="1333" u="sng" dirty="0">
                <a:solidFill>
                  <a:schemeClr val="hlink"/>
                </a:solidFill>
                <a:hlinkClick r:id="rId7"/>
              </a:rPr>
              <a:t>draft-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ietf</a:t>
            </a:r>
            <a:r>
              <a:rPr lang="de-CH" sz="1333" u="sng" dirty="0">
                <a:solidFill>
                  <a:schemeClr val="hlink"/>
                </a:solidFill>
                <a:hlinkClick r:id="rId7"/>
              </a:rPr>
              <a:t>-netconf-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notif</a:t>
            </a:r>
            <a:r>
              <a:rPr lang="de-CH" sz="1333" u="sng" dirty="0">
                <a:solidFill>
                  <a:schemeClr val="hlink"/>
                </a:solidFill>
                <a:hlinkClick r:id="rId7"/>
              </a:rPr>
              <a:t>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envelope</a:t>
            </a:r>
            <a:endParaRPr lang="de-CH" sz="1333" u="sng" dirty="0">
              <a:solidFill>
                <a:schemeClr val="hlink"/>
              </a:solidFill>
            </a:endParaRPr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Support of Versioning in YANG Notifications Subscription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8"/>
              </a:rPr>
              <a:t>draft-ietf-netconf-yang-notifications-versioning</a:t>
            </a:r>
            <a:endParaRPr lang="de-CH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YANG Modules Describing Capabilities for Systems and </a:t>
            </a:r>
            <a:br>
              <a:rPr lang="en-US" sz="1333" dirty="0"/>
            </a:br>
            <a:r>
              <a:rPr lang="en-US" sz="1333" dirty="0"/>
              <a:t>Datastore Update Notifications</a:t>
            </a:r>
            <a:br>
              <a:rPr lang="en-US" sz="1333" dirty="0"/>
            </a:br>
            <a:r>
              <a:rPr lang="en-US" sz="1333" dirty="0">
                <a:hlinkClick r:id="rId9"/>
              </a:rPr>
              <a:t>RFC 9196</a:t>
            </a:r>
            <a:endParaRPr lang="en-US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YANG Notification Transport Capabilities</a:t>
            </a:r>
            <a:br>
              <a:rPr lang="en-US" sz="1333" dirty="0"/>
            </a:br>
            <a:r>
              <a:rPr lang="en-US" sz="1333" dirty="0">
                <a:hlinkClick r:id="rId10"/>
              </a:rPr>
              <a:t>draft-</a:t>
            </a:r>
            <a:r>
              <a:rPr lang="en-US" sz="1333" dirty="0" err="1">
                <a:hlinkClick r:id="rId10"/>
              </a:rPr>
              <a:t>ietf</a:t>
            </a:r>
            <a:r>
              <a:rPr lang="en-US" sz="1333" dirty="0">
                <a:hlinkClick r:id="rId10"/>
              </a:rPr>
              <a:t>-netconf-</a:t>
            </a:r>
            <a:r>
              <a:rPr lang="en-US" sz="1333" dirty="0" err="1">
                <a:hlinkClick r:id="rId10"/>
              </a:rPr>
              <a:t>yp</a:t>
            </a:r>
            <a:r>
              <a:rPr lang="en-US" sz="1333" dirty="0">
                <a:hlinkClick r:id="rId10"/>
              </a:rPr>
              <a:t>-transport-capabilities</a:t>
            </a:r>
            <a:endParaRPr lang="en-US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YANG Library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11"/>
              </a:rPr>
              <a:t>RFC 8525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Augmented-by Addition into the IETF-YANG-Library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12"/>
              </a:rPr>
              <a:t>draft-ietf-netconf-yang-library-augmentation</a:t>
            </a:r>
            <a:endParaRPr lang="en" sz="1333" u="sng" dirty="0">
              <a:solidFill>
                <a:schemeClr val="hlink"/>
              </a:solidFill>
            </a:endParaRPr>
          </a:p>
          <a:p>
            <a:pPr marL="228594" indent="-228594">
              <a:spcBef>
                <a:spcPts val="0"/>
              </a:spcBef>
              <a:buSzPts val="1200"/>
            </a:pPr>
            <a:r>
              <a:rPr lang="en-US" sz="1333" dirty="0"/>
              <a:t>Validating </a:t>
            </a:r>
            <a:r>
              <a:rPr lang="en-US" sz="1333" dirty="0" err="1"/>
              <a:t>anydata</a:t>
            </a:r>
            <a:r>
              <a:rPr lang="en-US" sz="1333" dirty="0"/>
              <a:t> in YANG Library context</a:t>
            </a:r>
            <a:br>
              <a:rPr lang="en-US" sz="1333" dirty="0"/>
            </a:br>
            <a:r>
              <a:rPr lang="en-US" sz="1333" dirty="0">
                <a:hlinkClick r:id="rId13"/>
              </a:rPr>
              <a:t>draft-</a:t>
            </a:r>
            <a:r>
              <a:rPr lang="en-US" sz="1333" dirty="0" err="1">
                <a:hlinkClick r:id="rId13"/>
              </a:rPr>
              <a:t>netana</a:t>
            </a:r>
            <a:r>
              <a:rPr lang="en-US" sz="1333" dirty="0">
                <a:hlinkClick r:id="rId13"/>
              </a:rPr>
              <a:t>-</a:t>
            </a:r>
            <a:r>
              <a:rPr lang="en-US" sz="1333" dirty="0" err="1">
                <a:hlinkClick r:id="rId13"/>
              </a:rPr>
              <a:t>nmop</a:t>
            </a:r>
            <a:r>
              <a:rPr lang="en-US" sz="1333" dirty="0">
                <a:hlinkClick r:id="rId13"/>
              </a:rPr>
              <a:t>-yang-</a:t>
            </a:r>
            <a:r>
              <a:rPr lang="en-US" sz="1333" dirty="0" err="1">
                <a:hlinkClick r:id="rId13"/>
              </a:rPr>
              <a:t>anydata</a:t>
            </a:r>
            <a:r>
              <a:rPr lang="en-US" sz="1333" dirty="0">
                <a:hlinkClick r:id="rId13"/>
              </a:rPr>
              <a:t>-validation</a:t>
            </a:r>
            <a:endParaRPr lang="en-US" sz="1333" dirty="0"/>
          </a:p>
          <a:p>
            <a:pPr marL="228594" indent="-228594">
              <a:spcBef>
                <a:spcPts val="0"/>
              </a:spcBef>
              <a:buSzPts val="1200"/>
            </a:pPr>
            <a:r>
              <a:rPr lang="en-US" sz="1333" dirty="0"/>
              <a:t>Encoding of Data Modeled with YANG in the CBOR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</a:rPr>
              <a:t>RFC </a:t>
            </a:r>
            <a:r>
              <a:rPr lang="en" sz="1333" u="sng" dirty="0">
                <a:solidFill>
                  <a:schemeClr val="hlink"/>
                </a:solidFill>
                <a:hlinkClick r:id="rId14"/>
              </a:rPr>
              <a:t>9254</a:t>
            </a:r>
            <a:endParaRPr lang="en" sz="1333" u="sng" dirty="0">
              <a:solidFill>
                <a:schemeClr val="hlink"/>
              </a:solidFill>
            </a:endParaRPr>
          </a:p>
        </p:txBody>
      </p:sp>
      <p:sp>
        <p:nvSpPr>
          <p:cNvPr id="10" name="Google Shape;1531;p46">
            <a:extLst>
              <a:ext uri="{FF2B5EF4-FFF2-40B4-BE49-F238E27FC236}">
                <a16:creationId xmlns:a16="http://schemas.microsoft.com/office/drawing/2014/main" id="{64A11574-7DDA-89DF-5BD5-1D5AFE7CC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6124977" cy="15034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 algn="l"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n" sz="2933" b="1" dirty="0"/>
              <a:t>An Architecture for YANG-Push </a:t>
            </a:r>
            <a:br>
              <a:rPr lang="en" sz="2933" b="1" dirty="0"/>
            </a:br>
            <a:r>
              <a:rPr lang="en" sz="2933" b="1" dirty="0"/>
              <a:t>to Message Broker Integration </a:t>
            </a:r>
            <a:br>
              <a:rPr lang="en" sz="3600" dirty="0"/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yang</a:t>
            </a:r>
            <a:r>
              <a:rPr lang="de-CH" sz="1733" dirty="0">
                <a:solidFill>
                  <a:srgbClr val="AEABAB"/>
                </a:solidFill>
              </a:rPr>
              <a:t>-message-broker-integration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-message-broker-</a:t>
            </a:r>
            <a:r>
              <a:rPr lang="de-CH" sz="1733" dirty="0" err="1">
                <a:solidFill>
                  <a:srgbClr val="AEABAB"/>
                </a:solidFill>
              </a:rPr>
              <a:t>telemetry</a:t>
            </a:r>
            <a:r>
              <a:rPr lang="de-CH" sz="1733" dirty="0">
                <a:solidFill>
                  <a:srgbClr val="AEABAB"/>
                </a:solidFill>
              </a:rPr>
              <a:t>-message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yang</a:t>
            </a:r>
            <a:r>
              <a:rPr lang="de-CH" sz="1733" dirty="0">
                <a:solidFill>
                  <a:srgbClr val="AEABAB"/>
                </a:solidFill>
              </a:rPr>
              <a:t>-message-broker-message-</a:t>
            </a:r>
            <a:r>
              <a:rPr lang="de-CH" sz="1733" dirty="0" err="1">
                <a:solidFill>
                  <a:srgbClr val="AEABAB"/>
                </a:solidFill>
              </a:rPr>
              <a:t>key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netana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-message-broker-</a:t>
            </a:r>
            <a:r>
              <a:rPr lang="de-CH" sz="1733" dirty="0" err="1">
                <a:solidFill>
                  <a:srgbClr val="AEABAB"/>
                </a:solidFill>
              </a:rPr>
              <a:t>bmp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telemetry</a:t>
            </a:r>
            <a:r>
              <a:rPr lang="de-CH" sz="1733" dirty="0">
                <a:solidFill>
                  <a:srgbClr val="AEABAB"/>
                </a:solidFill>
              </a:rPr>
              <a:t>-message</a:t>
            </a:r>
            <a:br>
              <a:rPr lang="de-CH" sz="1733" dirty="0">
                <a:solidFill>
                  <a:srgbClr val="AEABAB"/>
                </a:solidFill>
              </a:rPr>
            </a:br>
            <a:endParaRPr sz="1733" dirty="0"/>
          </a:p>
        </p:txBody>
      </p:sp>
      <p:sp>
        <p:nvSpPr>
          <p:cNvPr id="11" name="Google Shape;1532;p46">
            <a:extLst>
              <a:ext uri="{FF2B5EF4-FFF2-40B4-BE49-F238E27FC236}">
                <a16:creationId xmlns:a16="http://schemas.microsoft.com/office/drawing/2014/main" id="{575B41E3-AAFA-DCEA-6665-0E3C0B3CA4D6}"/>
              </a:ext>
            </a:extLst>
          </p:cNvPr>
          <p:cNvSpPr txBox="1"/>
          <p:nvPr/>
        </p:nvSpPr>
        <p:spPr>
          <a:xfrm>
            <a:off x="5955950" y="216267"/>
            <a:ext cx="5450527" cy="642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Storage 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(12)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Ingest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Data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According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Consumer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^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(10)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                                | (9)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Schema |  |            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Serialized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Schema on Consumer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Message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Broker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(8)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Serialize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(11)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| YANG-Push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Schema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annotated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v  |                  (6) Post         | ID on Producer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Schema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YANG         | &lt;--------------- |  Data Collection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Schema Registry   | ---------------&gt; | YANG-Push Receiver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(7)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Schema ID        |  ^ (3)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Receive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                 |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v                         (4) Discover |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 Schema |  | Start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Stream        |     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Dependencies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Catalog       |            and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Obtain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| (5) Publish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Schemas |  | 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(1) Discover          |  |   | Subscriber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Notification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v  |   | ID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Capabilities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Manage YANG-Push  | ---------------&gt; |   Network Node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| ---------------&gt; | YANG-Push Publisher|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(2)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Subscribe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+--------------------+</a:t>
            </a:r>
            <a:endParaRPr sz="933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FBABCE45-8F6B-3984-B0EF-B4C86A7D5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14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33FA7E77-C99D-444D-C5DB-0056DFE3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9DDC19D8-D4BA-AA5E-61E1-B0A4525A6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Publisher - Subscription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01FF5-7F7B-3666-7E0C-79E25D32BE46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23EA9-CB88-A3CF-8EA6-F7AACC2B0B9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B03EBD5C-5FD5-F8CB-6932-FF33457BA1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46658-3377-44D0-D254-CD664F57F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651" y="1434476"/>
            <a:ext cx="5582413" cy="5148886"/>
          </a:xfrm>
          <a:prstGeom prst="rect">
            <a:avLst/>
          </a:prstGeom>
        </p:spPr>
      </p:pic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9B8E9BE6-DD0F-99BA-5FF0-AD176F68E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3834837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RPC calls to create, delete and obtain YANG-Push subscriptions and receiver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3853061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2012EE96-0018-6996-C41B-B7C58E31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53AAD7B6-A6B5-89DF-3082-CF9E15BC3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Publisher - Notifications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F3AB96-8CC1-4183-B953-FF51D710E242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12F44-20F3-CBF9-494C-95EF44DEAC40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653C64F2-63B1-4B12-29C8-F42780F83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30</a:t>
            </a:fld>
            <a:endParaRPr dirty="0"/>
          </a:p>
        </p:txBody>
      </p:sp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56F76BE1-A152-FF58-4794-2D4959E1E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3834837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Subscription state change notifications as JSON and PCAP.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Push update and change-update notifications as JSON and PCAP.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FBEB9-3CD2-E356-4FCC-35FD36EBC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811" y="1417639"/>
            <a:ext cx="5755669" cy="517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26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E48BD2AB-ED3A-E464-175F-E88670C9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F8866217-59C3-9562-4230-3580E12F9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UDP-Notif – DTLS and CBOR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1AFAF7-57B2-7987-99D5-B5484D625EA8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B97EA-30FD-F962-1487-48021726A3E0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E64C87A1-6890-5958-929C-2F26234DE0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605D30-1CC0-030C-82E1-9C055A7B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50" y="2440420"/>
            <a:ext cx="5071015" cy="3719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BF8E69-25C2-F773-DBE5-1317A3E69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132" y="2440420"/>
            <a:ext cx="5781378" cy="3719015"/>
          </a:xfrm>
          <a:prstGeom prst="rect">
            <a:avLst/>
          </a:prstGeom>
        </p:spPr>
      </p:pic>
      <p:sp>
        <p:nvSpPr>
          <p:cNvPr id="13" name="Google Shape;1522;p45">
            <a:extLst>
              <a:ext uri="{FF2B5EF4-FFF2-40B4-BE49-F238E27FC236}">
                <a16:creationId xmlns:a16="http://schemas.microsoft.com/office/drawing/2014/main" id="{294199AF-DE49-CEF5-3B42-4C0ED64CB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7381" y="1417639"/>
            <a:ext cx="10418937" cy="8493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With Cisco IOS XR, 6Wind VSR and Arrcus Arcos we have now three implementations supporting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  <a:hlinkClick r:id="rId5"/>
              </a:rPr>
              <a:t>CBOR Name Identifiers </a:t>
            </a:r>
            <a:endParaRPr lang="en" sz="1600" dirty="0">
              <a:latin typeface="Calibri"/>
              <a:ea typeface="Calibri"/>
              <a:cs typeface="Calibri"/>
              <a:sym typeface="Calibri"/>
            </a:endParaRP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ea typeface="Calibri"/>
                <a:cs typeface="Calibri"/>
                <a:sym typeface="Calibri"/>
              </a:rPr>
              <a:t>With Cisco IOS XR we have the first implementation supporting </a:t>
            </a:r>
            <a:r>
              <a:rPr lang="en" sz="1600" dirty="0">
                <a:ea typeface="Calibri"/>
                <a:cs typeface="Calibri"/>
                <a:sym typeface="Calibri"/>
                <a:hlinkClick r:id="rId6"/>
              </a:rPr>
              <a:t>DTLS 1.2 in UDP-Notif</a:t>
            </a:r>
            <a:r>
              <a:rPr lang="en" sz="1600" dirty="0">
                <a:ea typeface="Calibri"/>
                <a:cs typeface="Calibri"/>
                <a:sym typeface="Calibri"/>
              </a:rPr>
              <a:t>.</a:t>
            </a:r>
            <a:endParaRPr lang="en" sz="1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5838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BBCD6CB7-1F92-3E93-79DF-00615991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3D996E3F-3C50-B6F1-48E1-B0BA03B6F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Capabilities &amp; YANG Lib</a:t>
            </a:r>
            <a:r>
              <a:rPr lang="de-CH" sz="4533" dirty="0"/>
              <a:t>r</a:t>
            </a:r>
            <a:r>
              <a:rPr lang="en" sz="4533" dirty="0"/>
              <a:t>ary - RPC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289D24-3570-B0F2-DD7C-21179905022C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75B5C-3C14-DCE6-34D6-2E3C6875A055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55DD11AD-51A0-3455-0F61-CBDE2353B0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 dirty="0"/>
          </a:p>
        </p:txBody>
      </p:sp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EA234121-DE88-D68E-0FD9-976CDBB2D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8396446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XML encoded reply for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  <a:hlinkClick r:id="rId3"/>
              </a:rPr>
              <a:t>RFC 9196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YANG-Push capabilities.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XML encoded reply  for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  <a:hlinkClick r:id="rId4"/>
              </a:rPr>
              <a:t>RFC 8525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de-CH" sz="1600" dirty="0">
                <a:ea typeface="Calibri"/>
                <a:cs typeface="Calibri"/>
                <a:sym typeface="Calibri"/>
                <a:hlinkClick r:id="rId5"/>
              </a:rPr>
              <a:t>draft-</a:t>
            </a:r>
            <a:r>
              <a:rPr lang="de-CH" sz="1600" dirty="0" err="1">
                <a:ea typeface="Calibri"/>
                <a:cs typeface="Calibri"/>
                <a:sym typeface="Calibri"/>
                <a:hlinkClick r:id="rId5"/>
              </a:rPr>
              <a:t>ietf</a:t>
            </a:r>
            <a:r>
              <a:rPr lang="de-CH" sz="1600" dirty="0">
                <a:ea typeface="Calibri"/>
                <a:cs typeface="Calibri"/>
                <a:sym typeface="Calibri"/>
                <a:hlinkClick r:id="rId5"/>
              </a:rPr>
              <a:t>-netconf-</a:t>
            </a:r>
            <a:r>
              <a:rPr lang="de-CH" sz="1600" dirty="0" err="1">
                <a:ea typeface="Calibri"/>
                <a:cs typeface="Calibri"/>
                <a:sym typeface="Calibri"/>
                <a:hlinkClick r:id="rId5"/>
              </a:rPr>
              <a:t>yang</a:t>
            </a:r>
            <a:r>
              <a:rPr lang="de-CH" sz="1600" dirty="0">
                <a:ea typeface="Calibri"/>
                <a:cs typeface="Calibri"/>
                <a:sym typeface="Calibri"/>
                <a:hlinkClick r:id="rId5"/>
              </a:rPr>
              <a:t>-</a:t>
            </a:r>
            <a:r>
              <a:rPr lang="de-CH" sz="1600" dirty="0" err="1">
                <a:ea typeface="Calibri"/>
                <a:cs typeface="Calibri"/>
                <a:sym typeface="Calibri"/>
                <a:hlinkClick r:id="rId5"/>
              </a:rPr>
              <a:t>library-augmentedby</a:t>
            </a:r>
            <a:r>
              <a:rPr lang="de-CH" sz="1600" dirty="0">
                <a:ea typeface="Calibri"/>
                <a:cs typeface="Calibri"/>
                <a:sym typeface="Calibri"/>
              </a:rPr>
              <a:t>.</a:t>
            </a:r>
            <a:endParaRPr lang="en" sz="16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18685-B89C-880C-44A0-31CBD603A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63" y="3188888"/>
            <a:ext cx="926911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91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7A1754DF-BFD9-6CEE-E187-3DBD4CC7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755E8-EC21-6A3B-4AEA-55AE3AF2094E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4C505-90AC-FBB6-6CD8-D72DCB65D929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E3507CCC-E28A-A9EF-7C54-FE287DD592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FFFE766-17F6-D669-4B6B-5FC7ED4069D7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kern="0" dirty="0">
                <a:solidFill>
                  <a:srgbClr val="000000"/>
                </a:solidFill>
              </a:rPr>
              <a:t>YANG-Push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kern="0" dirty="0">
                <a:solidFill>
                  <a:srgbClr val="AEABAB"/>
                </a:solidFill>
              </a:rPr>
              <a:t>IETF </a:t>
            </a:r>
            <a:r>
              <a:rPr lang="de-CH" sz="2667" dirty="0">
                <a:solidFill>
                  <a:srgbClr val="AEABAB"/>
                </a:solidFill>
              </a:rPr>
              <a:t>126 Publisher Implementation </a:t>
            </a:r>
            <a:r>
              <a:rPr lang="de-CH" sz="2667" kern="0" dirty="0">
                <a:solidFill>
                  <a:srgbClr val="AEABAB"/>
                </a:solidFill>
              </a:rPr>
              <a:t>Status</a:t>
            </a:r>
          </a:p>
        </p:txBody>
      </p:sp>
      <p:graphicFrame>
        <p:nvGraphicFramePr>
          <p:cNvPr id="17" name="Google Shape;1617;p55">
            <a:extLst>
              <a:ext uri="{FF2B5EF4-FFF2-40B4-BE49-F238E27FC236}">
                <a16:creationId xmlns:a16="http://schemas.microsoft.com/office/drawing/2014/main" id="{5ECCBFC6-73D0-E6BC-CB73-B40DF9A7AED2}"/>
              </a:ext>
            </a:extLst>
          </p:cNvPr>
          <p:cNvGraphicFramePr/>
          <p:nvPr/>
        </p:nvGraphicFramePr>
        <p:xfrm>
          <a:off x="815424" y="1370031"/>
          <a:ext cx="9648220" cy="496685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17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573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75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108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  <a:gridCol w="746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036">
                  <a:extLst>
                    <a:ext uri="{9D8B030D-6E8A-4147-A177-3AD203B41FA5}">
                      <a16:colId xmlns:a16="http://schemas.microsoft.com/office/drawing/2014/main" val="3525373323"/>
                    </a:ext>
                  </a:extLst>
                </a:gridCol>
              </a:tblGrid>
              <a:tr h="577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</a:t>
                      </a:r>
                      <a:endParaRPr sz="14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dirty="0"/>
                        <a:t>Ductus DMAP</a:t>
                      </a:r>
                      <a:endParaRPr sz="1400" b="1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8639 YANG-Push Subscription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8641 YANG-Push Notification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draft-ietf-netconf-udp-notif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draft-ietf-netconf-udp-notif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DTLS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043927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envelope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de-CH" sz="1600" b="0" i="0" u="none" strike="noStrike" cap="none" dirty="0">
                          <a:solidFill>
                            <a:schemeClr val="accent6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de-CH" sz="1600" b="0" i="0" u="none" strike="noStrike" cap="none" dirty="0">
                        <a:solidFill>
                          <a:schemeClr val="accent6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notifications-versioning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8525 YANG Library</a:t>
                      </a:r>
                      <a:endParaRPr sz="16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draft-ietf-netconf-yang-library-augmentation</a:t>
                      </a:r>
                      <a:endParaRPr sz="160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9196 System and Notification Capabilities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de-CH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draft-netana-netconf-yp-transport-capabilities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9254 CBOR Named Identifiers</a:t>
                      </a:r>
                      <a:endParaRPr lang="en-US" sz="1600" u="none" strike="noStrike" kern="1200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796846"/>
                  </a:ext>
                </a:extLst>
              </a:tr>
            </a:tbl>
          </a:graphicData>
        </a:graphic>
      </p:graphicFrame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A350FCEA-6E80-6AEA-E88A-9B2A5E449AD1}"/>
              </a:ext>
            </a:extLst>
          </p:cNvPr>
          <p:cNvSpPr txBox="1"/>
          <p:nvPr/>
        </p:nvSpPr>
        <p:spPr>
          <a:xfrm>
            <a:off x="815424" y="6352981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126.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5A9D6B90-0053-C962-54DC-C5C0EDD4D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47403" y="136820"/>
            <a:ext cx="1722118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023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529A6BF7-D5ED-B109-4A34-CA3A3637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14971D-785A-BB4F-8B14-17C1A5D4CE45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5CE53-3265-1DD9-3C79-EEBD0A194FC1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3B879DA6-564A-7051-69F5-49C48C8B4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34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AB3B5A3-BA47-369D-3D2B-5283DC573BC2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dirty="0">
                <a:solidFill>
                  <a:srgbClr val="000000"/>
                </a:solidFill>
              </a:rPr>
              <a:t>Operational IETF/IEEE YANG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dirty="0">
                <a:solidFill>
                  <a:srgbClr val="AEABAB"/>
                </a:solidFill>
              </a:rPr>
              <a:t>IETF 126 Module Implementation Status</a:t>
            </a:r>
            <a:endParaRPr lang="de-CH" sz="2667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9B870C59-13A4-06EE-06E8-D7BBE5C3B479}"/>
              </a:ext>
            </a:extLst>
          </p:cNvPr>
          <p:cNvSpPr txBox="1"/>
          <p:nvPr/>
        </p:nvSpPr>
        <p:spPr>
          <a:xfrm>
            <a:off x="815425" y="6155149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126.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3895974-3045-C97E-ABDB-DB5597C9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47403" y="136820"/>
            <a:ext cx="1722118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A107FAE6-D7B4-1153-52E9-1B1F1A1D3AD2}"/>
              </a:ext>
            </a:extLst>
          </p:cNvPr>
          <p:cNvGraphicFramePr/>
          <p:nvPr/>
        </p:nvGraphicFramePr>
        <p:xfrm>
          <a:off x="818716" y="1575375"/>
          <a:ext cx="8666205" cy="38627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9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570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ietf-interfaces.yang</a:t>
                      </a: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ietf-hardware.yang</a:t>
                      </a: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ietf-alarms.yang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ieee802-dot1ab-lldp.yang (inventory and state)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ieee802-dot1ax.yang (inventory, state and statistic)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ietf-bfd-ip-sh.yang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ietf-bfd-ip-mh.yang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ietf-bfd-lag.yang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ietf-isis.yang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681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13786091-A017-6FC9-0F48-AAC28526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01454-EB1E-A0B2-7D91-DF1EF096CBF5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87497-A9EA-7211-01D3-2DDA431A6915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035FA214-16B0-2899-B357-0D4BDF2D0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35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501A433C-2098-C817-EE16-847A004F8D61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dirty="0">
                <a:solidFill>
                  <a:srgbClr val="000000"/>
                </a:solidFill>
              </a:rPr>
              <a:t>YANG Message Broker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dirty="0">
                <a:solidFill>
                  <a:srgbClr val="AEABAB"/>
                </a:solidFill>
              </a:rPr>
              <a:t>IETF 126 Implementation Status</a:t>
            </a:r>
            <a:endParaRPr lang="de-CH" sz="2667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5A963854-3EC6-087D-C527-92986F221A3B}"/>
              </a:ext>
            </a:extLst>
          </p:cNvPr>
          <p:cNvSpPr txBox="1"/>
          <p:nvPr/>
        </p:nvSpPr>
        <p:spPr>
          <a:xfrm>
            <a:off x="815425" y="6127323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126.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7699E31-B0AD-E40F-C5F9-5ABC071A8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47604" y="136820"/>
            <a:ext cx="1721717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20D70089-A937-8B76-C6A7-4F44AECC93BB}"/>
              </a:ext>
            </a:extLst>
          </p:cNvPr>
          <p:cNvGraphicFramePr/>
          <p:nvPr/>
        </p:nvGraphicFramePr>
        <p:xfrm>
          <a:off x="815425" y="1534627"/>
          <a:ext cx="8743060" cy="384001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37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989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4637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548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NetGauze™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Pmacct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Apache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Kafka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Ciena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Blueplanet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Crosswork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nmop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-message-broker-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telemetry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5749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YANG-Push Receiver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Retrieval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35668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Producer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Registry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Consumer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Telemetry Message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against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YANG Schema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7273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netmod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anydata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-validation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Comparison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7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069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A8C7286C-A9A1-4E76-AD48-2673C611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49DB6F02-E0BB-A29E-F028-DC4EA2F8FB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 Library Feature Comparison 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749560-2E17-BB63-D897-E5D4D83B263A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0CF7E-CB8B-5FB6-4B51-0A55BFBD8670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99BE356F-6A9B-1323-FA07-2648D2B983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36</a:t>
            </a:fld>
            <a:endParaRPr dirty="0"/>
          </a:p>
        </p:txBody>
      </p:sp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BB8D74FA-BFBD-F2E9-6933-639CEAC7E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3834837" cy="12949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ea typeface="Calibri"/>
                <a:cs typeface="Calibri"/>
                <a:sym typeface="Calibri"/>
              </a:rPr>
              <a:t>An extensive YANG feature comparison between the different YANG library open-source implementations.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ea typeface="Calibri"/>
                <a:cs typeface="Calibri"/>
                <a:sym typeface="Calibri"/>
              </a:rPr>
              <a:t>Focuses on YANG features needed to validate YANG instance data against YANG schema and performing YANG to YANG transformations.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75D2F-D3C6-1E3E-7B32-A3EF56A03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121" y="1551389"/>
            <a:ext cx="6224183" cy="3580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3BE3A-39F6-0022-F166-599CCA1463B8}"/>
              </a:ext>
            </a:extLst>
          </p:cNvPr>
          <p:cNvSpPr txBox="1"/>
          <p:nvPr/>
        </p:nvSpPr>
        <p:spPr>
          <a:xfrm>
            <a:off x="3470564" y="5706650"/>
            <a:ext cx="7652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600" dirty="0">
                <a:hlinkClick r:id="rId4"/>
              </a:rPr>
              <a:t>https://github.com/network-analytics/yang_tests/blob/master/report_v2.pdf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2755856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8F82-5D2F-BC90-43F9-81651D86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7DDB-21B5-67D8-ADB5-503A3599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SzPts val="3800"/>
            </a:pPr>
            <a:r>
              <a:rPr lang="en-US" sz="4533" dirty="0"/>
              <a:t>Next Steps from IETF 125 Hackathon…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C2B84D-0952-8FD4-2C86-DD67CE4D80B5}"/>
              </a:ext>
            </a:extLst>
          </p:cNvPr>
          <p:cNvSpPr txBox="1">
            <a:spLocks/>
          </p:cNvSpPr>
          <p:nvPr/>
        </p:nvSpPr>
        <p:spPr>
          <a:xfrm>
            <a:off x="720000" y="1825625"/>
            <a:ext cx="9761480" cy="329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Re-do YANG Message Broker Consumer tests on updated testbed with Ciena Blue Planet UAA Workflow Engine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Complete IETF YANG module subscription tests with 6Wind VSR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Compare YANG feature coverage between </a:t>
            </a:r>
            <a:r>
              <a:rPr lang="en-US" sz="2267" dirty="0" err="1">
                <a:hlinkClick r:id="rId2"/>
              </a:rPr>
              <a:t>libyang</a:t>
            </a:r>
            <a:r>
              <a:rPr lang="en-US" sz="2267" dirty="0"/>
              <a:t>, </a:t>
            </a:r>
            <a:r>
              <a:rPr lang="en-US" sz="2267" dirty="0" err="1">
                <a:hlinkClick r:id="rId3"/>
              </a:rPr>
              <a:t>yangkit</a:t>
            </a:r>
            <a:r>
              <a:rPr lang="en-US" sz="2267" dirty="0"/>
              <a:t> and </a:t>
            </a:r>
            <a:r>
              <a:rPr lang="en-US" sz="2267" dirty="0" err="1">
                <a:hlinkClick r:id="rId4"/>
              </a:rPr>
              <a:t>yangtools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Revert </a:t>
            </a:r>
            <a:r>
              <a:rPr lang="en-US" sz="2267" dirty="0">
                <a:hlinkClick r:id="rId5"/>
              </a:rPr>
              <a:t>import only modules for augmented-by </a:t>
            </a:r>
            <a:r>
              <a:rPr lang="en-US" sz="2267" dirty="0"/>
              <a:t>workaround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>
                <a:hlinkClick r:id="rId6"/>
              </a:rPr>
              <a:t>Preserve cached YANG-Push subscription state across receiver reload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>
                <a:hlinkClick r:id="rId7"/>
              </a:rPr>
              <a:t>Obtain YANG-Push subscription state from publisher if missing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Netconf session queuing for schema retrieval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</a:t>
            </a:r>
            <a:r>
              <a:rPr lang="en-US" sz="2267" dirty="0" err="1"/>
              <a:t>libyang</a:t>
            </a:r>
            <a:r>
              <a:rPr lang="en-US" sz="2267" dirty="0"/>
              <a:t> 5.4.9 in YANG-Push Receiver and Message Broker Consumer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>
                <a:hlinkClick r:id="rId8"/>
              </a:rPr>
              <a:t>Message Key and Topic Name proof of concept</a:t>
            </a:r>
            <a:endParaRPr lang="en-US" sz="226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06BA-8C31-6027-6A59-19A61A4E92F4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1C530-AF29-FCB1-1AC4-4CF6DC96BEA2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3;p45">
            <a:extLst>
              <a:ext uri="{FF2B5EF4-FFF2-40B4-BE49-F238E27FC236}">
                <a16:creationId xmlns:a16="http://schemas.microsoft.com/office/drawing/2014/main" id="{4278CCB4-5174-944F-86E2-7562992D4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2401" y="6352981"/>
            <a:ext cx="33954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3" name="Picture 2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14E3782D-487C-5895-C400-7CFF02FE9C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9705" y="1802044"/>
            <a:ext cx="548203" cy="548203"/>
          </a:xfrm>
          <a:prstGeom prst="rect">
            <a:avLst/>
          </a:prstGeom>
        </p:spPr>
      </p:pic>
      <p:pic>
        <p:nvPicPr>
          <p:cNvPr id="5" name="Picture 4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7627A04-5ACB-2493-F722-488169BA1A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4901" y="2307028"/>
            <a:ext cx="548203" cy="548203"/>
          </a:xfrm>
          <a:prstGeom prst="rect">
            <a:avLst/>
          </a:prstGeom>
        </p:spPr>
      </p:pic>
      <p:pic>
        <p:nvPicPr>
          <p:cNvPr id="8" name="Picture 7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B9EAFCCD-78F9-ED7E-C5F6-4CDC0A9111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2810655"/>
            <a:ext cx="548203" cy="548203"/>
          </a:xfrm>
          <a:prstGeom prst="rect">
            <a:avLst/>
          </a:prstGeom>
        </p:spPr>
      </p:pic>
      <p:pic>
        <p:nvPicPr>
          <p:cNvPr id="10" name="Picture 9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44EEFF8-28EB-AABD-B98B-022445B5DE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3348625"/>
            <a:ext cx="548203" cy="548203"/>
          </a:xfrm>
          <a:prstGeom prst="rect">
            <a:avLst/>
          </a:prstGeom>
        </p:spPr>
      </p:pic>
      <p:pic>
        <p:nvPicPr>
          <p:cNvPr id="11" name="Picture 10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8E9142F-731D-24E6-01FD-F7E525BD8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3962396"/>
            <a:ext cx="548203" cy="548203"/>
          </a:xfrm>
          <a:prstGeom prst="rect">
            <a:avLst/>
          </a:prstGeom>
        </p:spPr>
      </p:pic>
      <p:pic>
        <p:nvPicPr>
          <p:cNvPr id="12" name="Picture 11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78661CE5-AB28-C054-5975-391B82CC0D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4434799"/>
            <a:ext cx="548203" cy="548203"/>
          </a:xfrm>
          <a:prstGeom prst="rect">
            <a:avLst/>
          </a:prstGeom>
        </p:spPr>
      </p:pic>
      <p:pic>
        <p:nvPicPr>
          <p:cNvPr id="13" name="Picture 12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5FDC4080-7DA9-34E9-74B9-93D13734B4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5584" y="4915835"/>
            <a:ext cx="548203" cy="548203"/>
          </a:xfrm>
          <a:prstGeom prst="rect">
            <a:avLst/>
          </a:prstGeom>
        </p:spPr>
      </p:pic>
      <p:pic>
        <p:nvPicPr>
          <p:cNvPr id="14" name="Picture 13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6AEFD3DE-2F2A-33DA-E787-B482BC94EC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5583" y="5365949"/>
            <a:ext cx="548203" cy="54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13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D01D8-A137-56E2-7F33-BDDF3DF7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9892-8D71-893A-C801-A1A88154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SzPts val="3800"/>
            </a:pPr>
            <a:r>
              <a:rPr lang="en-US" sz="4533" dirty="0"/>
              <a:t>Next Steps for IETF 127 Hackathon…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414349-C8F0-A8B2-1397-DF24059FF38F}"/>
              </a:ext>
            </a:extLst>
          </p:cNvPr>
          <p:cNvSpPr txBox="1">
            <a:spLocks/>
          </p:cNvSpPr>
          <p:nvPr/>
        </p:nvSpPr>
        <p:spPr>
          <a:xfrm>
            <a:off x="720000" y="1825625"/>
            <a:ext cx="9761480" cy="329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building </a:t>
            </a:r>
            <a:r>
              <a:rPr lang="en-US" sz="2267" dirty="0">
                <a:hlinkClick r:id="rId2"/>
              </a:rPr>
              <a:t>RFC 8525 YANG Library in Java Message Broker Consumer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draft-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netana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nmop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yang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anydata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-validation</a:t>
            </a:r>
            <a:r>
              <a:rPr lang="de-CH" sz="2400" dirty="0">
                <a:solidFill>
                  <a:schemeClr val="dk1"/>
                </a:solidFill>
              </a:rPr>
              <a:t> and RFC 8525 YANG </a:t>
            </a:r>
            <a:r>
              <a:rPr lang="de-CH" sz="2400" dirty="0" err="1">
                <a:solidFill>
                  <a:schemeClr val="dk1"/>
                </a:solidFill>
              </a:rPr>
              <a:t>library</a:t>
            </a:r>
            <a:r>
              <a:rPr lang="de-CH" sz="2400" dirty="0">
                <a:solidFill>
                  <a:schemeClr val="dk1"/>
                </a:solidFill>
              </a:rPr>
              <a:t> in </a:t>
            </a:r>
            <a:r>
              <a:rPr lang="de-CH" sz="2400" dirty="0" err="1">
                <a:solidFill>
                  <a:schemeClr val="dk1"/>
                </a:solidFill>
              </a:rPr>
              <a:t>yangkit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</a:t>
            </a:r>
            <a:r>
              <a:rPr lang="en-US" sz="2267" dirty="0">
                <a:hlinkClick r:id="rId4"/>
              </a:rPr>
              <a:t>YANG-Push Message Broker Topic Naming</a:t>
            </a:r>
            <a:r>
              <a:rPr lang="en-US" sz="2267" dirty="0"/>
              <a:t> with </a:t>
            </a:r>
            <a:r>
              <a:rPr lang="en-US" sz="2267" dirty="0">
                <a:hlinkClick r:id="rId5"/>
              </a:rPr>
              <a:t>dynamic Apache Kafka topic creation API</a:t>
            </a:r>
            <a:endParaRPr lang="en-US" sz="226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CAD4D-8FC5-C49E-F033-C474E654B659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DFAF-1252-2FB9-75AD-DB4EA57D699F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3;p45">
            <a:extLst>
              <a:ext uri="{FF2B5EF4-FFF2-40B4-BE49-F238E27FC236}">
                <a16:creationId xmlns:a16="http://schemas.microsoft.com/office/drawing/2014/main" id="{8AE562E4-22AE-A59B-0126-FD13715431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2401" y="6352981"/>
            <a:ext cx="33954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795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0665C-8566-4537-9D7A-7F19909C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de-CH" sz="16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CH" sz="16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E5644D-AF4A-4732-B3D8-A1D12FF5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4" y="332656"/>
            <a:ext cx="9682811" cy="720000"/>
          </a:xfrm>
        </p:spPr>
        <p:txBody>
          <a:bodyPr/>
          <a:lstStyle/>
          <a:p>
            <a:r>
              <a:rPr lang="de-CH" dirty="0"/>
              <a:t>IETF NMOP 125/126 – Network </a:t>
            </a:r>
            <a:r>
              <a:rPr lang="de-CH" dirty="0" err="1"/>
              <a:t>Observability</a:t>
            </a:r>
            <a:r>
              <a:rPr lang="de-CH" dirty="0"/>
              <a:t> Development</a:t>
            </a:r>
            <a:br>
              <a:rPr lang="de-CH" dirty="0"/>
            </a:br>
            <a:r>
              <a:rPr lang="de-CH" b="0" dirty="0">
                <a:solidFill>
                  <a:schemeClr val="bg1">
                    <a:lumMod val="65000"/>
                  </a:schemeClr>
                </a:solidFill>
              </a:rPr>
              <a:t>Network 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</a:rPr>
              <a:t>Anomaly Detection and YANG-Push/Message Broker Integration</a:t>
            </a:r>
            <a:endParaRPr lang="de-CH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FBEB4D-AD99-4CD8-B6FE-BF1CEFC301FF}"/>
              </a:ext>
            </a:extLst>
          </p:cNvPr>
          <p:cNvSpPr/>
          <p:nvPr/>
        </p:nvSpPr>
        <p:spPr>
          <a:xfrm>
            <a:off x="623392" y="5567279"/>
            <a:ext cx="38194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  <a:hlinkClick r:id="rId3"/>
              </a:rPr>
              <a:t>https://datatracker.ietf.org/group/nmop/about/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90F5A-0E9A-44CD-80C5-0EAEBF015784}"/>
              </a:ext>
            </a:extLst>
          </p:cNvPr>
          <p:cNvSpPr txBox="1"/>
          <p:nvPr/>
        </p:nvSpPr>
        <p:spPr bwMode="gray">
          <a:xfrm>
            <a:off x="4205038" y="5565902"/>
            <a:ext cx="3755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  <a:hlinkClick r:id="rId4"/>
              </a:rPr>
              <a:t>https://www.linkedin.com/pulse/network-analytics-ietf-125-shenzhen-thomas-graf-svmee/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A2B876-D987-7221-822A-5750E179A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55" y="1556094"/>
            <a:ext cx="3141772" cy="3950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0F0E0F-56A4-192D-1F70-639C5FDBC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829" y="1556095"/>
            <a:ext cx="3550420" cy="39502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9DDEA8-C26D-C264-4276-78173B5925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851" y="1556095"/>
            <a:ext cx="3575237" cy="39502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082BA9-C367-48DB-76DD-E4453506B23D}"/>
              </a:ext>
            </a:extLst>
          </p:cNvPr>
          <p:cNvSpPr txBox="1"/>
          <p:nvPr/>
        </p:nvSpPr>
        <p:spPr bwMode="gray">
          <a:xfrm>
            <a:off x="8086851" y="5621382"/>
            <a:ext cx="3575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heSans Swisscom Light"/>
                <a:ea typeface="+mn-ea"/>
                <a:cs typeface="+mn-cs"/>
                <a:hlinkClick r:id="rId8"/>
              </a:rPr>
              <a:t>https://www.linkedin.com/pulse/network-analytics-ietf-126-vienna-thomas-graf-vng8f/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heSans Swissco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165461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3AEB-63BA-865E-8F6C-777DCB51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9799-0807-4432-708D-12674255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8343 – </a:t>
            </a:r>
            <a:r>
              <a:rPr lang="en-US" sz="2800" b="1" dirty="0" err="1"/>
              <a:t>ietf-interfaces.yang</a:t>
            </a:r>
            <a:r>
              <a:rPr lang="en-US" sz="2800" b="1" dirty="0"/>
              <a:t> vs. </a:t>
            </a:r>
            <a:r>
              <a:rPr lang="en-US" sz="2800" b="1" dirty="0" err="1">
                <a:solidFill>
                  <a:srgbClr val="FF0000"/>
                </a:solidFill>
              </a:rPr>
              <a:t>openconfig-interfaces.yang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Interface Management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1AD1C5-F7AD-BBF1-76B5-2F3F3E763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40</a:t>
            </a:fld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7B707-5CCD-C78C-4AC6-F75188177BCB}"/>
              </a:ext>
            </a:extLst>
          </p:cNvPr>
          <p:cNvSpPr txBox="1"/>
          <p:nvPr/>
        </p:nvSpPr>
        <p:spPr>
          <a:xfrm>
            <a:off x="838200" y="1572915"/>
            <a:ext cx="5105400" cy="417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ietf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description?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type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enabled?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link-up-down-trap-enable?   enumeration {if-mib}?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admin-status                enumeration {if-mib}?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-status              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last-change?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if-index                    int32 {if-mib}?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phys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-address?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yang:phys-address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higher-layer-if*            interface-ref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lower-layer-if*             interface-ref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speed?                      yang:gauge64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statistics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discontinuity-time    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FF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in-octets?       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in-unicast-pkts? 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in-broadcast-pkts?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in-multicast-pkts?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in-discards?      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in-errors?        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in-unknown-protos?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out-octets?      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out-unicast-pkts?  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out-broadcast-pkts?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out-multicast-pkts?   yang:counter64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out-discards?         yang:counter32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out-errors?           yang:counter32</a:t>
            </a:r>
            <a:endParaRPr lang="en-US" sz="1000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1F04E-D720-EFA2-3171-1D7ED546BFF3}"/>
              </a:ext>
            </a:extLst>
          </p:cNvPr>
          <p:cNvSpPr txBox="1"/>
          <p:nvPr/>
        </p:nvSpPr>
        <p:spPr>
          <a:xfrm>
            <a:off x="4265595" y="1589393"/>
            <a:ext cx="63150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module: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openconfig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-interfaces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interfaces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interface* [name]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name             -&gt; ../config/name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config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name?         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type    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identityref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mtu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?             uint16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loopback-mode?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oc-opt-types:loopback-mode-type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description?  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enabled?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state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name?         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type    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identityref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mtu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?             uint16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loopback-mode?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oc-opt-types:loopback-mode-type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description?  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enabled?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ifindex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?         uint32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admin-status     enumeration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oper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-status      enumeration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last-change?     oc-types:timeticks64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logical?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management?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cpu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?    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counters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in-octets?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in-pkts?  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in-unicast-pkts?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in-broadcast-pkts?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in-multicast-pkts?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in-discards?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in-errors?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in-unknown-protos?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in-fcs-errors?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out-octets?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out-pkts? 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out-unicast-pkts?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out-broadcast-pkts?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out-multicast-pkts?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out-discards?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|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out-errors?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E26BB-0EE0-447E-3CAD-1EF975A41CBC}"/>
              </a:ext>
            </a:extLst>
          </p:cNvPr>
          <p:cNvSpPr txBox="1"/>
          <p:nvPr/>
        </p:nvSpPr>
        <p:spPr>
          <a:xfrm>
            <a:off x="7651540" y="1579339"/>
            <a:ext cx="426423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module: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openconfig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-interfaces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interfaces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interface* [name]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subinterfaces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           +--</a:t>
            </a:r>
            <a:r>
              <a:rPr lang="en-US" sz="80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subinterface</a:t>
            </a:r>
            <a:r>
              <a:rPr lang="en-US" sz="80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* [index]</a:t>
            </a:r>
            <a:endParaRPr lang="de-CH" sz="800" dirty="0">
              <a:effectLst/>
              <a:highlight>
                <a:srgbClr val="FF00FF"/>
              </a:highlight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              +--</a:t>
            </a:r>
            <a:r>
              <a:rPr lang="en-US" sz="80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urier New" panose="02070309020205020404" pitchFamily="49" charset="0"/>
                <a:ea typeface="Times New Roman" panose="02020603050405020304" pitchFamily="18" charset="0"/>
              </a:rPr>
              <a:t> index     -&gt; ../config/index</a:t>
            </a:r>
            <a:endParaRPr lang="de-CH" sz="800" dirty="0">
              <a:effectLst/>
              <a:highlight>
                <a:srgbClr val="FF00FF"/>
              </a:highlight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config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index?         uint32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description?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|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rw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enabled?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state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index?          uint32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description? 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enabled?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name?           string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ifindex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?        uint32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admin-status    enumeration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oper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-status     enumeration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last-change?    oc-types:timeticks64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logical?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management?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cpu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?        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counters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in-octets?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in-pkts?  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in-unicast-pkts?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in-broadcast-pkts?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in-multicast-pkts?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in-discards?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in-errors?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in-unknown-protos?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in-fcs-errors?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out-octets?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out-pkts?  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out-unicast-pkts?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out-broadcast-pkts?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out-multicast-pkts?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out-discards?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+--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out-errors?            oc-yang:counter64</a:t>
            </a:r>
            <a:endParaRPr lang="de-CH" sz="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495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62E8-8DEA-89FE-D640-20ACC340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C5EA-5CB5-DE1D-9C3F-8900A0D7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8348 – </a:t>
            </a:r>
            <a:r>
              <a:rPr lang="en-US" sz="2800" b="1" dirty="0" err="1"/>
              <a:t>ietf-hardware.yang</a:t>
            </a:r>
            <a:r>
              <a:rPr lang="en-US" sz="2800" b="1" dirty="0"/>
              <a:t> vs. </a:t>
            </a:r>
            <a:r>
              <a:rPr lang="en-US" sz="2800" b="1" dirty="0" err="1">
                <a:solidFill>
                  <a:srgbClr val="FF0000"/>
                </a:solidFill>
              </a:rPr>
              <a:t>openconfig-platform</a:t>
            </a:r>
            <a:r>
              <a:rPr lang="en-US" sz="2800" b="1" dirty="0" err="1"/>
              <a:t>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Hardware Management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6F63172-8C80-FBAF-CFBF-1EF706F6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41</a:t>
            </a:fld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0067B-02C1-64E9-40E0-95BA4438C494}"/>
              </a:ext>
            </a:extLst>
          </p:cNvPr>
          <p:cNvSpPr txBox="1"/>
          <p:nvPr/>
        </p:nvSpPr>
        <p:spPr>
          <a:xfrm>
            <a:off x="838200" y="1572915"/>
            <a:ext cx="5105400" cy="522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ietf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-hardware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hardware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last-change?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component*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class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physical-index?   int32 {entity-mib}?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description?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parent?           -&gt; ../../component/name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parent-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rel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-pos?   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contains-child*   -&gt; ../../component/name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hardware-rev?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firmware-rev?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software-rev?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serial-num?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mfg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-name?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model-name?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alias?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asset-id?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fru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mfg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-date?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uri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inet:uri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uuid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yang:uuid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 {hardware-state}?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state-last-changed?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       admin-state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-state?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usage-state?          usage-state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alarm-state?          alarm-state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standby-state?        standby-state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sensor-data {hardware-sensor}?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value?               sensor-value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value-type?          sensor-value-type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value-scale?         sensor-value-scale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value-precision?     sensor-value-precision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-status?         sensor-status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units-display?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value-timestamp?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solidFill>
                <a:srgbClr val="FF0000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value-update-rate?   uint32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FC6D0-EE20-6BF0-EA6D-42021CF062D2}"/>
              </a:ext>
            </a:extLst>
          </p:cNvPr>
          <p:cNvSpPr txBox="1"/>
          <p:nvPr/>
        </p:nvSpPr>
        <p:spPr>
          <a:xfrm>
            <a:off x="4725926" y="1339919"/>
            <a:ext cx="3282834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openconfig-platform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components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* [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-&gt; ../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type?   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x--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x--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-position?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install-component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-&gt; ../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mfg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-name?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mfg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-date?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oc-yang:date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hardware-version?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firmware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-version?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software-version?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serial-no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part-no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model-name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clei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-code?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removable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oper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-status?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empty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-&gt; ../../../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redundant-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oc-platform-types:component-redundant-role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last-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poweroff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reason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-last-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poweroff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reason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-trigger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details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last-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poweroff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-time?       oc-types:timeticks64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last-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switchover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reason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-redundant-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switchover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reason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-trigger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details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last-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switchover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-time?     oc-types:timeticks64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last-reboot-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reason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x--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last-reboot-time?         oc-types:timeticks64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boot-time?                oc-types:timeticks64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switchover-ready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-mac-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oc-yang:mac-address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temperature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instant?           decimal64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decimal64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min?               decimal64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decimal64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alarm-status?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alarm-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threshold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uint32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alarm-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severity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available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uint64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utilized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allocated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-power?          uint32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-power?               Uint32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chassis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utilization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* [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-&gt; ../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used-threshold-upper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used-threshold-upper-clear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used-threshold-upper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used-threshold-upper-clear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committed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-limit?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high-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watermark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last-high-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watermark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oc-types:timeticks64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used-threshold-upper-exceeded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CH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CH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78A226-6AE2-DBAB-CE9B-F996B34D634E}"/>
              </a:ext>
            </a:extLst>
          </p:cNvPr>
          <p:cNvSpPr txBox="1"/>
          <p:nvPr/>
        </p:nvSpPr>
        <p:spPr>
          <a:xfrm>
            <a:off x="8114118" y="1333522"/>
            <a:ext cx="323968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power-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supply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fan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oc-fan:speed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uint32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fabric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storage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oc-cpu:utilization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oc-cpu:state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integrated-circuit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utilization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* [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-&gt; ../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used-threshold-upper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used-threshold-upper-clear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used-threshold-upper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used-threshold-upper-clear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oc-types:percentage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committed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-limit?     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high-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watermark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uint64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last-high-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watermark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oc-types:timeticks64</a:t>
            </a: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          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used-threshold-upper-exceeded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oc-transceiver:transceiver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oc-transceiver:config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oc-transceiver:enabled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oc-transceiver:form-factor-preconf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oc-transceiver:ethernet-pmd-preconf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oc-transceiver:fec-mode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oc-transceiver:module-functional-type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oc-transceiver:state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oc-transceiver:enabled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oc-transceiver:form-factor-preconf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oc-transceiver:ethernet-pmd-preconf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oc-transceiver:fec-mode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oc-transceiver:module-functional-type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oc-transceiver:present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enumeration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oc-transceiver:form-factor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oc-transceiver:connector-type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oc-transceiver:vendor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oc-transceiver:vendor-part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oc-transceiver:vendor-rev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oc-transceiver:ethernet-pmd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oc-transceiver:sonet-sdh-compliance-code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oc-transceiver:otn-compliance-code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oc-transceiver:serial-no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oc-transceiver:date-code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oc-yang:date-and-time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oc-transceiver:fault-condition</a:t>
            </a:r>
            <a:r>
              <a:rPr lang="de-CH" sz="45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?             </a:t>
            </a:r>
            <a:r>
              <a:rPr lang="de-CH" sz="45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de-CH" sz="45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oc-transceiver:fec-status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       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de-CH" sz="4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oc-transceiver:fec-uncorrectable-blocks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yang:counter64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oc-transceiver:fec-uncorrectable-words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yang:counter64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oc-transceiver:fec-corrected-bytes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yang:counter64</a:t>
            </a:r>
          </a:p>
          <a:p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  +--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CH" sz="4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oc-transceiver:fec-corrected-bits</a:t>
            </a:r>
            <a:r>
              <a:rPr lang="de-CH" sz="450" dirty="0">
                <a:latin typeface="Courier New" panose="02070309020205020404" pitchFamily="49" charset="0"/>
                <a:cs typeface="Courier New" panose="02070309020205020404" pitchFamily="49" charset="0"/>
              </a:rPr>
              <a:t>?          yang:counter64</a:t>
            </a:r>
          </a:p>
        </p:txBody>
      </p:sp>
    </p:spTree>
    <p:extLst>
      <p:ext uri="{BB962C8B-B14F-4D97-AF65-F5344CB8AC3E}">
        <p14:creationId xmlns:p14="http://schemas.microsoft.com/office/powerpoint/2010/main" val="22834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AF5A-07EE-E676-2B10-ADB5632E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5FEA-BE04-B0B6-2FD8-AA9FC2A0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8632/8348 – </a:t>
            </a:r>
            <a:r>
              <a:rPr lang="en-US" sz="2800" b="1" dirty="0" err="1"/>
              <a:t>ietf</a:t>
            </a:r>
            <a:r>
              <a:rPr lang="en-US" sz="2800" b="1" dirty="0"/>
              <a:t>-alarms/</a:t>
            </a:r>
            <a:r>
              <a:rPr lang="en-US" sz="2800" b="1" dirty="0" err="1"/>
              <a:t>ietf-hardware.yang</a:t>
            </a:r>
            <a:r>
              <a:rPr lang="en-US" sz="2800" b="1" dirty="0"/>
              <a:t> vs </a:t>
            </a:r>
            <a:r>
              <a:rPr lang="en-US" sz="2800" b="1" dirty="0" err="1">
                <a:solidFill>
                  <a:srgbClr val="FF0000"/>
                </a:solidFill>
              </a:rPr>
              <a:t>openconfig-alarms</a:t>
            </a:r>
            <a:r>
              <a:rPr lang="en-US" sz="2800" b="1" dirty="0" err="1"/>
              <a:t>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Alarm Management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C537C39-6D6A-3669-AC27-28D5B7B2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42</a:t>
            </a:fld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2C003-109A-FED5-C1BA-9AA251818277}"/>
              </a:ext>
            </a:extLst>
          </p:cNvPr>
          <p:cNvSpPr txBox="1"/>
          <p:nvPr/>
        </p:nvSpPr>
        <p:spPr>
          <a:xfrm>
            <a:off x="838199" y="3373960"/>
            <a:ext cx="4419602" cy="2987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alarm-notification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resource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resource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alarm-type-id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alarm-type-id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alarm-type-qualifier?   alarm-type-qualifier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alt-resource*           resource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related-alarm* [resource alarm-type-id alarm-type-qualifier] {alarm-correlation}?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resource                -&gt; /alarms/alarm-list/alarm/resource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alarm-type-id           -&gt; /alarms/alarm-list/alarm[resource=current()/../resource]/alarm-type-id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alarm-type-qualifier    -&gt; /alarms/alarm-list/alarm[resource=current()/../resource][alarm-type-id=current()/../alarm-type-id]/alarm-type-qualifier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impacted-resource*      resource {service-impact-analysis}?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root-cause-resource*    resource {root-cause-analysis}?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 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perceived-severity      severity-with-clear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alarm-text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alarm-text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alarm-inventory-changed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169D6-3BE3-05A9-F87B-1E7B105B2747}"/>
              </a:ext>
            </a:extLst>
          </p:cNvPr>
          <p:cNvSpPr txBox="1"/>
          <p:nvPr/>
        </p:nvSpPr>
        <p:spPr>
          <a:xfrm>
            <a:off x="838199" y="1564372"/>
            <a:ext cx="5105400" cy="1538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hardware-state-change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hardware-state-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-enabled {hardware-state}?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-&gt; /hardware/component/name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-&gt; /hardware/component/state/admin-state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alarm-state?   -&gt; /hardware/component/state/alarm-state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hardware-state-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-disabled {hardware-state}?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-&gt; /hardware/component/name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-&gt; /hardware/component/state/admin-state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alarm-state?   -&gt; /hardware/component/state/alarm-state</a:t>
            </a:r>
            <a:endParaRPr lang="de-CH" sz="1000" dirty="0">
              <a:solidFill>
                <a:srgbClr val="FF0000"/>
              </a:solidFill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EC453-0288-51D4-04FD-E4D5BDC1BE07}"/>
              </a:ext>
            </a:extLst>
          </p:cNvPr>
          <p:cNvSpPr txBox="1"/>
          <p:nvPr/>
        </p:nvSpPr>
        <p:spPr>
          <a:xfrm>
            <a:off x="5700822" y="1759232"/>
            <a:ext cx="5105400" cy="127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openconfig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-platform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components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component*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    -&gt; ../config/name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config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oc-alarms:equipment-failure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oc-alarms:equipment-mismatch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de-CH" sz="10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60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AACA-DCA6-3827-1D03-4B2CE835A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C601-096C-293A-65DF-F7655BE91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IEEE LLDP – ieee802-dot1ab-lldp.yang vs. </a:t>
            </a:r>
            <a:r>
              <a:rPr lang="en-US" sz="2800" b="1" dirty="0" err="1">
                <a:solidFill>
                  <a:srgbClr val="FF0000"/>
                </a:solidFill>
              </a:rPr>
              <a:t>openconfig-lldp</a:t>
            </a:r>
            <a:r>
              <a:rPr lang="en-US" sz="2800" b="1" dirty="0" err="1"/>
              <a:t>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LLDP Neighbor Discovery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50FAB19-AF75-4D3C-C3E2-DA0C9F7B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43</a:t>
            </a:fld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4D35B-65B7-82D8-7613-46150D3B8FEC}"/>
              </a:ext>
            </a:extLst>
          </p:cNvPr>
          <p:cNvSpPr txBox="1"/>
          <p:nvPr/>
        </p:nvSpPr>
        <p:spPr>
          <a:xfrm>
            <a:off x="838200" y="1572915"/>
            <a:ext cx="5543550" cy="364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ieee802-dot1ab-lldp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local-system-data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chassis-id-subtype?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ieee:chassis-id-subtype-type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chassis-id?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system-name?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system-description?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system-capabilities-supported?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system-capabilities-enabled?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port* [name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-mac-address]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-mac-address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ieee:mac-address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port-id?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ieee:port-id-type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remote-systems-data* [time-mark remote-index]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time-mark     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yang:timeticks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remote-index      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remote-too-many-neighbors?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remote-changes?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chassis-id-subtype?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ieee:chassis-id-subtype-type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chassis-id?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ieee:chassis-id-type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port-id-subtype?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ieee:port-id-subtype-type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port-id?                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ieee:port-id-type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port-desc?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system-name?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system-description?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system-capabilities-supported?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system-capabilities-enabled?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lldp-types:system-capabilities-map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93759-D5FC-4079-CA96-148CF82C7BFF}"/>
              </a:ext>
            </a:extLst>
          </p:cNvPr>
          <p:cNvSpPr txBox="1"/>
          <p:nvPr/>
        </p:nvSpPr>
        <p:spPr>
          <a:xfrm>
            <a:off x="6251467" y="1638894"/>
            <a:ext cx="5543550" cy="4568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openconfig-lldp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lldp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enabled?   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hello-timer?                  uint64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suppress-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tlv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-advertisement*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system-name?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system-description?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chassis-id?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chassis-id-type?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oc-lldp-types:chassis-id-type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-&gt; ../config/name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oc-if:base-interface-ref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enabled?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neighbor* [id]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id              -&gt; ../state/id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system-name?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system-description?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chassis-id?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chassis-id-type?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oc-lldp-types:chassis-id-type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id? 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age?                       uint64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last-update?               int64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ttl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  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port-id?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port-id-type?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oc-lldp-types:port-id-type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port-description?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management-address?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management-address-type?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437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AFAB-614B-3943-7529-129A414C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7CAF-EE6D-6125-9629-F5F1B9211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IEEE dot1ax – ieee802-dot1ax.yang vs. </a:t>
            </a:r>
            <a:r>
              <a:rPr lang="en-US" sz="2800" b="1" dirty="0" err="1">
                <a:solidFill>
                  <a:srgbClr val="FF0000"/>
                </a:solidFill>
              </a:rPr>
              <a:t>openconfig-lacp</a:t>
            </a:r>
            <a:r>
              <a:rPr lang="en-US" sz="2800" b="1" dirty="0" err="1"/>
              <a:t>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LAG Interface Management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A7B5E0B-3396-75B8-75D8-202BD7C6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44</a:t>
            </a:fld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F3462-A19D-EAFB-6C29-751AFD80D2F1}"/>
              </a:ext>
            </a:extLst>
          </p:cNvPr>
          <p:cNvSpPr txBox="1"/>
          <p:nvPr/>
        </p:nvSpPr>
        <p:spPr>
          <a:xfrm>
            <a:off x="838200" y="1572915"/>
            <a:ext cx="5105400" cy="4041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ieee802-dot1ax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lag-system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aggregating-system* [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-system]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-system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system-id?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ieee:mac-address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system-priority?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augment 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-system-name?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admin-state?              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link-up-down-notification?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collector-max-delay?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aggregator-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endParaRPr lang="en-US" sz="800" dirty="0">
              <a:solidFill>
                <a:srgbClr val="FF0000"/>
              </a:solidFill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actor-admin-key?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augment 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aggregation-port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aggregation-port-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actor-system-priority?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actor-admin-key?    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partner-admin-system-priority?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partner-admin-system-id?         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ieee:mac-address</a:t>
            </a:r>
            <a:endParaRPr lang="en-US" sz="800" dirty="0">
              <a:effectLst/>
              <a:highlight>
                <a:srgbClr val="00FF00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partner-admin-key?  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actor-port-priority?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partner-admin-port?         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partner-admin-port-priority?     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actor-admin-state?               bits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partner-admin-state?             bits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0B75CC-DA78-69BA-50F6-81BFC43268F0}"/>
              </a:ext>
            </a:extLst>
          </p:cNvPr>
          <p:cNvSpPr txBox="1"/>
          <p:nvPr/>
        </p:nvSpPr>
        <p:spPr>
          <a:xfrm>
            <a:off x="5232991" y="1572915"/>
            <a:ext cx="5105400" cy="417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openconfig-lacp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system-priority?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-&gt; ../config/name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name?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oc-if:base-interface-ref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interval?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-period-type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-mode?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-activity-type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system-id-mac?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oc-yang:mac-address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system-priority?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members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member* [interface]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    -&gt; ../state/interface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interface?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oc-if:base-interface-ref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activity?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-activity-type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timeout?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-timeout-type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synchronization?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lacp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-synchronization-type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aggregatable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collecting?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distributing?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system-id?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oc-yang:mac-address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oper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-key?        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partner-id?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oc-yang:mac-address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partner-key?     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port-num?        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partner-port-num?   uint16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last-change?        oc-types:timeticks64</a:t>
            </a:r>
          </a:p>
        </p:txBody>
      </p:sp>
    </p:spTree>
    <p:extLst>
      <p:ext uri="{BB962C8B-B14F-4D97-AF65-F5344CB8AC3E}">
        <p14:creationId xmlns:p14="http://schemas.microsoft.com/office/powerpoint/2010/main" val="1366911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8DC0-8791-FAB4-851A-55E4A2FCD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DBEA-BA26-F083-C7D7-C01AC7AB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9127 – </a:t>
            </a:r>
            <a:r>
              <a:rPr lang="en-US" sz="2800" b="1" dirty="0" err="1"/>
              <a:t>ietf-bfd.yang</a:t>
            </a:r>
            <a:r>
              <a:rPr lang="en-US" sz="2800" b="1" dirty="0"/>
              <a:t> vs. </a:t>
            </a:r>
            <a:r>
              <a:rPr lang="en-US" sz="2800" b="1" dirty="0" err="1">
                <a:solidFill>
                  <a:srgbClr val="FF0000"/>
                </a:solidFill>
              </a:rPr>
              <a:t>openconfig-bfd</a:t>
            </a:r>
            <a:r>
              <a:rPr lang="en-US" sz="2800" b="1" dirty="0" err="1"/>
              <a:t>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Bidirectional Forwarding Detection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EDCCE04-9081-0395-0FB0-AC41736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45</a:t>
            </a:fld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C0CF2-E659-2990-BD36-85A81124E058}"/>
              </a:ext>
            </a:extLst>
          </p:cNvPr>
          <p:cNvSpPr txBox="1"/>
          <p:nvPr/>
        </p:nvSpPr>
        <p:spPr>
          <a:xfrm>
            <a:off x="838200" y="1572915"/>
            <a:ext cx="5105400" cy="4568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BFD IP Single-Hop Hierarchy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hlinkClick r:id="rId3"/>
              </a:rPr>
              <a:t>https://datatracker.ietf.org/doc/html/rfc9127#section-2.6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singlehop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new-state?                  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state-change-reason?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iana-bfd-types:diagnostic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time-of-last-state-change?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dest-addr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source-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session-index?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path-type?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interface?         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echo-enabled?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BFD-over-LAG Hierarchy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hlinkClick r:id="rId4"/>
              </a:rPr>
              <a:t>https://datatracker.ietf.org/doc/html/rfc9127#section-2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lag-notification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discr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new-state?                  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state-change-reason?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iana-bfd-types:diagnostic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time-of-last-state-change?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yang:date-and-time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dest-addr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source-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addr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inet:ip-address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session-index?         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path-type?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lag-name?   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member-link?                 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solidFill>
                <a:srgbClr val="FF0000"/>
              </a:solidFill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8CF74-9DA1-C8DD-F36F-E217E132BFF9}"/>
              </a:ext>
            </a:extLst>
          </p:cNvPr>
          <p:cNvSpPr txBox="1"/>
          <p:nvPr/>
        </p:nvSpPr>
        <p:spPr>
          <a:xfrm>
            <a:off x="5201093" y="1631841"/>
            <a:ext cx="5718545" cy="5094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openconfig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-bfd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bfd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interface* [id]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id                    -&gt; ../config/id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id?            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enabled?    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local-address?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oc-inet:ip-address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desired-minimum-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tx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-interval?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required-minimum-receive?  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detection-multiplier?          uint8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enable-per-member-link?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interface-ref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interface?      -&gt; 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oc-if:interfaces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/interface/name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subinterface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-&gt; 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oc-if:interfaces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/interface[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oc-if:name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=current()/../interface]/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subinterfaces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subinterface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/index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peers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peer* [local-discriminator]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local-discriminator    -&gt; ../state/local-discriminator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local-address?   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oc-inet:ip-address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remote-address?  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oc-inet:ip-address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subscribed-protocols*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session-state?                      bfd-session-state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remote-session-state?               bfd-session-state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last-failure-time?                  oc-types:timeticks64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failure-transitions?                uint64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local-discriminator?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remote-discriminator?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local-diagnostic-code?              bfd-diagnostic-code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remote-diagnostic-code?             bfd-diagnostic-code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remote-minimum-receive-interval?    uint32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demand-mode-requested?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remote-authentication-enabled?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remote-control-plane-independent?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297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42C13-A42C-1B06-BF91-AAB11ABA6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6F07-81D5-7E17-A998-FE4CF427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7575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RFC 9130 – </a:t>
            </a:r>
            <a:r>
              <a:rPr lang="en-US" sz="2800" b="1" dirty="0" err="1"/>
              <a:t>ietf-isis.yang</a:t>
            </a:r>
            <a:r>
              <a:rPr lang="en-US" sz="2800" b="1" dirty="0"/>
              <a:t> vs. </a:t>
            </a:r>
            <a:r>
              <a:rPr lang="en-US" sz="2800" b="1" dirty="0" err="1">
                <a:solidFill>
                  <a:srgbClr val="FF0000"/>
                </a:solidFill>
              </a:rPr>
              <a:t>openconfig-isis</a:t>
            </a:r>
            <a:r>
              <a:rPr lang="en-US" sz="2800" b="1" dirty="0" err="1"/>
              <a:t>.yang</a:t>
            </a:r>
            <a:br>
              <a:rPr lang="de-CH" sz="2800" dirty="0"/>
            </a:br>
            <a:r>
              <a:rPr lang="en-US" sz="2100" dirty="0">
                <a:solidFill>
                  <a:schemeClr val="bg2">
                    <a:lumMod val="75000"/>
                  </a:schemeClr>
                </a:solidFill>
              </a:rPr>
              <a:t>YANG Data Model for the IS-IS Protocol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1EC6F18-C8EB-FA7D-46F2-98D7CBCB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7892" y="6361637"/>
            <a:ext cx="414251" cy="365125"/>
          </a:xfrm>
        </p:spPr>
        <p:txBody>
          <a:bodyPr/>
          <a:lstStyle/>
          <a:p>
            <a:fld id="{FC4AC485-25DE-431E-B345-9C0A15BB7F8A}" type="slidenum">
              <a:rPr lang="en-US" sz="1400" smtClean="0"/>
              <a:t>46</a:t>
            </a:fld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59A47-462C-1C7D-4256-4504C02F0FD9}"/>
              </a:ext>
            </a:extLst>
          </p:cNvPr>
          <p:cNvSpPr txBox="1"/>
          <p:nvPr/>
        </p:nvSpPr>
        <p:spPr>
          <a:xfrm>
            <a:off x="838200" y="1572915"/>
            <a:ext cx="5105400" cy="3909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notifications: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database-overload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routing-protocol-name?   -&gt; /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rt:routing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control-plane-protocols/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-level?     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overload?                enumeration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if-state-change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routing-protocol-name?   -&gt; /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rt:routing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control-plane-protocols/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-level?     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interface-name?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interface-level?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extended-circuit-id?     extended-circuit-id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state?                   if-state-type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+---n adjacency-state-change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routing-protocol-name?   -&gt; /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rt:routing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control-plane-protocols/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|                                 control-plane-protocol/name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-level?     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interface-name?          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if:interface-ref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interface-level?         level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extended-circuit-id?     extended-circuit-id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neighbor?                string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neighbor-system-id?      system-id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state?                   adj-state-type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|  +--</a:t>
            </a:r>
            <a:r>
              <a:rPr lang="en-US" sz="800" dirty="0" err="1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reason?                 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BF2EF-3B2C-69F5-3EA1-659F30FDEF3F}"/>
              </a:ext>
            </a:extLst>
          </p:cNvPr>
          <p:cNvSpPr txBox="1"/>
          <p:nvPr/>
        </p:nvSpPr>
        <p:spPr>
          <a:xfrm>
            <a:off x="4914013" y="1622808"/>
            <a:ext cx="7515447" cy="4963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module: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openconfig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-network-instance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network-instances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network-instance* [name]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name                       -&gt; ../config/name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protocols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protocol* [identifier name]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isis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global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interface* [interface-id]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interface-id        -&gt; ../config/interface-id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levels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level* [level-number]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rw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level-number            -&gt; ../config/level-number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adjacencies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adjacency* [system-id]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system-id    -&gt; ../state/system-id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state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system-id?   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oc-isis-types:system-id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neighbor-ipv4-address?          oc-inet:ipv4-address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neighbor-ipv6-address?          oc-inet:ipv6-address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snpa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oc-isis-types:snpa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local-extended-circuit-id?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oc-isis-types:extended-circuit-id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neighbor-extended-circuit-id?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oc-isis-types:extended-circuit-id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priority?                       uint8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dis-system-id?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oc-isis-types:system-id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neighbor-circuit-type?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oc-isis-types:level-type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adjacency-type?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oc-isis-types:level-type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adjacency-state?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oc-isis-types:isis-interface-adj-state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up-timestamp?                   oc-types:timeticks64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multi-topology?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topology*    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identityref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restart-support?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restart-suppress?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restart-status?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area-address*                  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oc-isis-types:area-address</a:t>
            </a:r>
            <a:endParaRPr lang="en-US" sz="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|        |     |        +--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nlpid</a:t>
            </a:r>
            <a:r>
              <a:rPr lang="en-US" sz="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                          enumeration</a:t>
            </a:r>
            <a:endParaRPr lang="en-US" sz="800" dirty="0">
              <a:effectLst/>
              <a:highlight>
                <a:srgbClr val="00FFFF"/>
              </a:highlight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53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wisscom Master 16:9">
  <a:themeElements>
    <a:clrScheme name="Swisscom Office">
      <a:dk1>
        <a:srgbClr val="333333"/>
      </a:dk1>
      <a:lt1>
        <a:sysClr val="window" lastClr="FFFFFF"/>
      </a:lt1>
      <a:dk2>
        <a:srgbClr val="DD1122"/>
      </a:dk2>
      <a:lt2>
        <a:srgbClr val="001155"/>
      </a:lt2>
      <a:accent1>
        <a:srgbClr val="001155"/>
      </a:accent1>
      <a:accent2>
        <a:srgbClr val="11AAFF"/>
      </a:accent2>
      <a:accent3>
        <a:srgbClr val="0851DA"/>
      </a:accent3>
      <a:accent4>
        <a:srgbClr val="5C5C5C"/>
      </a:accent4>
      <a:accent5>
        <a:srgbClr val="858585"/>
      </a:accent5>
      <a:accent6>
        <a:srgbClr val="C1C1C1"/>
      </a:accent6>
      <a:hlink>
        <a:srgbClr val="11AAFF"/>
      </a:hlink>
      <a:folHlink>
        <a:srgbClr val="333333"/>
      </a:folHlink>
    </a:clrScheme>
    <a:fontScheme name="Benutzerdefiniert 6">
      <a:majorFont>
        <a:latin typeface="TheSans Swisscom Light"/>
        <a:ea typeface=""/>
        <a:cs typeface=""/>
      </a:majorFont>
      <a:minorFont>
        <a:latin typeface="TheSans Swisscom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lnSpc>
            <a:spcPct val="110000"/>
          </a:lnSpc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vert="horz" wrap="none" lIns="0" tIns="0" rIns="0" bIns="0" rtlCol="0">
        <a:noAutofit/>
      </a:bodyPr>
      <a:lstStyle>
        <a:defPPr marL="180000" indent="-180000" algn="l">
          <a:lnSpc>
            <a:spcPct val="110000"/>
          </a:lnSpc>
          <a:buFont typeface="Arial" panose="020B0604020202020204" pitchFamily="34" charset="0"/>
          <a:buChar char="•"/>
          <a:defRPr sz="1600" dirty="0"/>
        </a:defPPr>
      </a:lstStyle>
    </a:txDef>
  </a:objectDefaults>
  <a:extraClrSchemeLst/>
  <a:custClrLst>
    <a:custClr name="Pink">
      <a:srgbClr val="E61E64"/>
    </a:custClr>
    <a:custClr name="Orchid">
      <a:srgbClr val="A63297"/>
    </a:custClr>
    <a:custClr name="Iris">
      <a:srgbClr val="5944C6"/>
    </a:custClr>
    <a:custClr name="Dark Blue">
      <a:srgbClr val="1781E3"/>
    </a:custClr>
    <a:custClr name="Turquoise">
      <a:srgbClr val="0EABA9"/>
    </a:custClr>
    <a:custClr name="Aluminium">
      <a:srgbClr val="DDE3E7"/>
    </a:custClr>
    <a:custClr name="Horizon">
      <a:srgbClr val="EEF3F6"/>
    </a:custClr>
  </a:custClrLst>
  <a:extLst>
    <a:ext uri="{05A4C25C-085E-4340-85A3-A5531E510DB2}">
      <thm15:themeFamily xmlns:thm15="http://schemas.microsoft.com/office/thememl/2012/main" name="11_Presentation.potx" id="{7B97D6A9-4619-4506-9837-6CE85D33AF65}" vid="{F7B604C9-6113-49C9-A558-BEC3AFB8596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9716</Words>
  <Application>Microsoft Office PowerPoint</Application>
  <PresentationFormat>Widescreen</PresentationFormat>
  <Paragraphs>1376</Paragraphs>
  <Slides>46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Noto Sans Symbols</vt:lpstr>
      <vt:lpstr>TheSans Swisscom Light</vt:lpstr>
      <vt:lpstr>Times New Roman</vt:lpstr>
      <vt:lpstr>Office Theme</vt:lpstr>
      <vt:lpstr>Swisscom Master 16:9</vt:lpstr>
      <vt:lpstr>PowerPoint Presentation</vt:lpstr>
      <vt:lpstr>IETF YANG-Push A 22 years journey</vt:lpstr>
      <vt:lpstr>Handling Operational YANG Modelled Data State of the Union</vt:lpstr>
      <vt:lpstr>From YANG-Push to Network Analytics Aiming for an automated data processing pipeline</vt:lpstr>
      <vt:lpstr>We have a dream Digital Twin at your fingertips</vt:lpstr>
      <vt:lpstr>Terminology (1) Message Broker</vt:lpstr>
      <vt:lpstr>Terminology (2) YANG Data Taxonomy and Index</vt:lpstr>
      <vt:lpstr>YANG-Push Discover and Subscribe to YANG metrics</vt:lpstr>
      <vt:lpstr>YANG Schema Registry From 4 subscription ID's to 2 schema ID's</vt:lpstr>
      <vt:lpstr>Message Broker Topics, Subjects, Partitions, Segments and Message Keys</vt:lpstr>
      <vt:lpstr>YANG Data Consumption Discover and Subscribe to YANG metrics</vt:lpstr>
      <vt:lpstr>Fully YANG aware Data Pipeline From network nodes to message broker nodes</vt:lpstr>
      <vt:lpstr>Addressing YANG Specification and Integration Gaps 12 documents at NMOP, NETCONF and NETMOD</vt:lpstr>
      <vt:lpstr>IETF YANG-Push Implementations Incremental development…</vt:lpstr>
      <vt:lpstr>PowerPoint Presentation</vt:lpstr>
      <vt:lpstr>IETF YANG Model Implementations Incremental development…</vt:lpstr>
      <vt:lpstr>RFC 8343 – ietf-interfaces.yang YANG Data Model for Interface Management</vt:lpstr>
      <vt:lpstr>RFC 8348 – ietf-hardware.yang YANG Data Model for Hardware Management</vt:lpstr>
      <vt:lpstr>RFC 8632 – ietf-alarms.yang YANG Data Model for Alarm Management</vt:lpstr>
      <vt:lpstr>IEEE LLDP – ieee802-dot1ab-lldp.yang YANG Data Model for LLDP Neighbor Discovery</vt:lpstr>
      <vt:lpstr>IEEE dot1ax – ieee802-dot1ax.yang YANG Data Model for LAG Interface Management</vt:lpstr>
      <vt:lpstr>RFC 9127 – ietf-bfd.yang YANG Data Model for Bidirectional Forwarding Detection</vt:lpstr>
      <vt:lpstr>RFC 9130 – ietf-isis.yang YANG Data Model for the IS-IS Protocol</vt:lpstr>
      <vt:lpstr>PowerPoint Presentation</vt:lpstr>
      <vt:lpstr>Validate YANG-Push to Message Broker End-To-End Data Processing Chain IETF 126 Hackathon, July 18/19th 2026</vt:lpstr>
      <vt:lpstr>Hackathon Plan, Software and Website</vt:lpstr>
      <vt:lpstr>Hackathon – Repositories</vt:lpstr>
      <vt:lpstr>An Architecture for YANG-Push  to Message Broker Integration  draft-ietf-nmop-yang-message-broker-integration draft-ietf-nmop-message-broker-telemetry-message draft-ietf-nmop-yang-message-broker-message-key draft-netana-nmop-message-broker-bmp-telemetry-message </vt:lpstr>
      <vt:lpstr>YANG-Push Publisher - Subscription</vt:lpstr>
      <vt:lpstr>YANG-Push Publisher - Notifications</vt:lpstr>
      <vt:lpstr>YANG-Push UDP-Notif – DTLS and CBOR</vt:lpstr>
      <vt:lpstr>YANG-Push Capabilities &amp; YANG Library - RPC</vt:lpstr>
      <vt:lpstr>PowerPoint Presentation</vt:lpstr>
      <vt:lpstr>PowerPoint Presentation</vt:lpstr>
      <vt:lpstr>PowerPoint Presentation</vt:lpstr>
      <vt:lpstr>YANG Library Feature Comparison </vt:lpstr>
      <vt:lpstr>Next Steps from IETF 125 Hackathon…</vt:lpstr>
      <vt:lpstr>Next Steps for IETF 127 Hackathon…</vt:lpstr>
      <vt:lpstr>IETF NMOP 125/126 – Network Observability Development Network Anomaly Detection and YANG-Push/Message Broker Integration</vt:lpstr>
      <vt:lpstr>RFC 8343 – ietf-interfaces.yang vs. openconfig-interfaces.yang YANG Data Model for Interface Management</vt:lpstr>
      <vt:lpstr>RFC 8348 – ietf-hardware.yang vs. openconfig-platform.yang YANG Data Model for Hardware Management</vt:lpstr>
      <vt:lpstr>RFC 8632/8348 – ietf-alarms/ietf-hardware.yang vs openconfig-alarms.yang YANG Data Model for Alarm Management</vt:lpstr>
      <vt:lpstr>IEEE LLDP – ieee802-dot1ab-lldp.yang vs. openconfig-lldp.yang YANG Data Model for LLDP Neighbor Discovery</vt:lpstr>
      <vt:lpstr>IEEE dot1ax – ieee802-dot1ax.yang vs. openconfig-lacp.yang YANG Data Model for LAG Interface Management</vt:lpstr>
      <vt:lpstr>RFC 9127 – ietf-bfd.yang vs. openconfig-bfd.yang YANG Data Model for Bidirectional Forwarding Detection</vt:lpstr>
      <vt:lpstr>RFC 9130 – ietf-isis.yang vs. openconfig-isis.yang YANG Data Model for the IS-IS Protocol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Graf Thomas, SCS-INI-NET-VNC-E2E</cp:lastModifiedBy>
  <cp:revision>295</cp:revision>
  <dcterms:created xsi:type="dcterms:W3CDTF">2019-11-29T14:22:02Z</dcterms:created>
  <dcterms:modified xsi:type="dcterms:W3CDTF">2026-10-29T14:12:34Z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2023-03-20T10:46:29Z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