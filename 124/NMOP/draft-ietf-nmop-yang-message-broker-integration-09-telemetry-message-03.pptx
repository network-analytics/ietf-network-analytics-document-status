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1041" r:id="rId2"/>
    <p:sldId id="2145706242" r:id="rId3"/>
    <p:sldId id="2145706243" r:id="rId4"/>
    <p:sldId id="2145706244" r:id="rId5"/>
    <p:sldId id="2145706248" r:id="rId6"/>
    <p:sldId id="2145706249" r:id="rId7"/>
    <p:sldId id="2145706305" r:id="rId8"/>
    <p:sldId id="2145706306" r:id="rId9"/>
    <p:sldId id="2145706307" r:id="rId10"/>
    <p:sldId id="2145706247" r:id="rId11"/>
    <p:sldId id="2145706245" r:id="rId12"/>
    <p:sldId id="2145706246" r:id="rId1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B30"/>
    <a:srgbClr val="ACAB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AAA70E-921F-47F1-8CE8-3DD05F71A227}" v="72" dt="2025-10-28T10:16:26.684"/>
    <p1510:client id="{B7E9E866-497E-4D88-936B-C586A2280E44}" v="1" dt="2025-10-28T10:21:02.1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53" autoAdjust="0"/>
    <p:restoredTop sz="91695" autoAdjust="0"/>
  </p:normalViewPr>
  <p:slideViewPr>
    <p:cSldViewPr snapToGrid="0">
      <p:cViewPr varScale="1">
        <p:scale>
          <a:sx n="98" d="100"/>
          <a:sy n="98" d="100"/>
        </p:scale>
        <p:origin x="876" y="7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SCS-INI-NET-VNC-E2E" userId="487bc3e3-9ce7-4cdd-b7b4-8899ea88d289" providerId="ADAL" clId="{B7E9E866-497E-4D88-936B-C586A2280E44}"/>
    <pc:docChg chg="modSld">
      <pc:chgData name="Graf Thomas, SCS-INI-NET-VNC-E2E" userId="487bc3e3-9ce7-4cdd-b7b4-8899ea88d289" providerId="ADAL" clId="{B7E9E866-497E-4D88-936B-C586A2280E44}" dt="2025-10-28T10:22:07.513" v="88" actId="20577"/>
      <pc:docMkLst>
        <pc:docMk/>
      </pc:docMkLst>
      <pc:sldChg chg="modSp mod">
        <pc:chgData name="Graf Thomas, SCS-INI-NET-VNC-E2E" userId="487bc3e3-9ce7-4cdd-b7b4-8899ea88d289" providerId="ADAL" clId="{B7E9E866-497E-4D88-936B-C586A2280E44}" dt="2025-10-28T10:22:07.513" v="88" actId="20577"/>
        <pc:sldMkLst>
          <pc:docMk/>
          <pc:sldMk cId="2617504443" sldId="2145706242"/>
        </pc:sldMkLst>
        <pc:spChg chg="mod">
          <ac:chgData name="Graf Thomas, SCS-INI-NET-VNC-E2E" userId="487bc3e3-9ce7-4cdd-b7b4-8899ea88d289" providerId="ADAL" clId="{B7E9E866-497E-4D88-936B-C586A2280E44}" dt="2025-10-28T10:22:07.513" v="88" actId="20577"/>
          <ac:spMkLst>
            <pc:docMk/>
            <pc:sldMk cId="2617504443" sldId="2145706242"/>
            <ac:spMk id="3" creationId="{29C0DFD4-432D-4B0C-93DF-790441DCF5B9}"/>
          </ac:spMkLst>
        </pc:spChg>
      </pc:sldChg>
    </pc:docChg>
  </pc:docChgLst>
  <pc:docChgLst>
    <pc:chgData name="Graf Thomas, SCS-INI-NET-VNC-E2E" userId="487bc3e3-9ce7-4cdd-b7b4-8899ea88d289" providerId="ADAL" clId="{1BAAA70E-921F-47F1-8CE8-3DD05F71A227}"/>
    <pc:docChg chg="undo custSel addSld delSld modSld">
      <pc:chgData name="Graf Thomas, SCS-INI-NET-VNC-E2E" userId="487bc3e3-9ce7-4cdd-b7b4-8899ea88d289" providerId="ADAL" clId="{1BAAA70E-921F-47F1-8CE8-3DD05F71A227}" dt="2025-10-28T10:16:50.477" v="3277" actId="20577"/>
      <pc:docMkLst>
        <pc:docMk/>
      </pc:docMkLst>
      <pc:sldChg chg="modSp mod">
        <pc:chgData name="Graf Thomas, SCS-INI-NET-VNC-E2E" userId="487bc3e3-9ce7-4cdd-b7b4-8899ea88d289" providerId="ADAL" clId="{1BAAA70E-921F-47F1-8CE8-3DD05F71A227}" dt="2025-10-28T10:16:45.447" v="3276" actId="20577"/>
        <pc:sldMkLst>
          <pc:docMk/>
          <pc:sldMk cId="3578665336" sldId="1041"/>
        </pc:sldMkLst>
        <pc:spChg chg="mod">
          <ac:chgData name="Graf Thomas, SCS-INI-NET-VNC-E2E" userId="487bc3e3-9ce7-4cdd-b7b4-8899ea88d289" providerId="ADAL" clId="{1BAAA70E-921F-47F1-8CE8-3DD05F71A227}" dt="2025-10-25T06:54:06.307" v="0" actId="20577"/>
          <ac:spMkLst>
            <pc:docMk/>
            <pc:sldMk cId="3578665336" sldId="1041"/>
            <ac:spMk id="5" creationId="{C26208B2-0D10-4C23-B2DE-372A62E98644}"/>
          </ac:spMkLst>
        </pc:spChg>
        <pc:spChg chg="mod">
          <ac:chgData name="Graf Thomas, SCS-INI-NET-VNC-E2E" userId="487bc3e3-9ce7-4cdd-b7b4-8899ea88d289" providerId="ADAL" clId="{1BAAA70E-921F-47F1-8CE8-3DD05F71A227}" dt="2025-10-28T10:16:45.447" v="3276" actId="20577"/>
          <ac:spMkLst>
            <pc:docMk/>
            <pc:sldMk cId="3578665336" sldId="1041"/>
            <ac:spMk id="6" creationId="{6CAA0765-1318-4A03-8F91-D3ECC43D8FA7}"/>
          </ac:spMkLst>
        </pc:spChg>
      </pc:sldChg>
      <pc:sldChg chg="addSp delSp modSp mod">
        <pc:chgData name="Graf Thomas, SCS-INI-NET-VNC-E2E" userId="487bc3e3-9ce7-4cdd-b7b4-8899ea88d289" providerId="ADAL" clId="{1BAAA70E-921F-47F1-8CE8-3DD05F71A227}" dt="2025-10-26T12:36:52.161" v="1823" actId="20577"/>
        <pc:sldMkLst>
          <pc:docMk/>
          <pc:sldMk cId="2617504443" sldId="2145706242"/>
        </pc:sldMkLst>
        <pc:spChg chg="mod">
          <ac:chgData name="Graf Thomas, SCS-INI-NET-VNC-E2E" userId="487bc3e3-9ce7-4cdd-b7b4-8899ea88d289" providerId="ADAL" clId="{1BAAA70E-921F-47F1-8CE8-3DD05F71A227}" dt="2025-10-25T08:13:07.288" v="1691" actId="113"/>
          <ac:spMkLst>
            <pc:docMk/>
            <pc:sldMk cId="2617504443" sldId="2145706242"/>
            <ac:spMk id="2" creationId="{FF20F271-6F0D-4AC0-BB1D-F5C338165C13}"/>
          </ac:spMkLst>
        </pc:spChg>
        <pc:spChg chg="mod">
          <ac:chgData name="Graf Thomas, SCS-INI-NET-VNC-E2E" userId="487bc3e3-9ce7-4cdd-b7b4-8899ea88d289" providerId="ADAL" clId="{1BAAA70E-921F-47F1-8CE8-3DD05F71A227}" dt="2025-10-26T12:36:52.161" v="1823" actId="20577"/>
          <ac:spMkLst>
            <pc:docMk/>
            <pc:sldMk cId="2617504443" sldId="2145706242"/>
            <ac:spMk id="3" creationId="{29C0DFD4-432D-4B0C-93DF-790441DCF5B9}"/>
          </ac:spMkLst>
        </pc:spChg>
      </pc:sldChg>
      <pc:sldChg chg="modSp add mod">
        <pc:chgData name="Graf Thomas, SCS-INI-NET-VNC-E2E" userId="487bc3e3-9ce7-4cdd-b7b4-8899ea88d289" providerId="ADAL" clId="{1BAAA70E-921F-47F1-8CE8-3DD05F71A227}" dt="2025-10-26T13:40:53.571" v="2960" actId="20577"/>
        <pc:sldMkLst>
          <pc:docMk/>
          <pc:sldMk cId="2750719351" sldId="2145706243"/>
        </pc:sldMkLst>
        <pc:spChg chg="mod">
          <ac:chgData name="Graf Thomas, SCS-INI-NET-VNC-E2E" userId="487bc3e3-9ce7-4cdd-b7b4-8899ea88d289" providerId="ADAL" clId="{1BAAA70E-921F-47F1-8CE8-3DD05F71A227}" dt="2025-10-26T12:38:22.344" v="1832" actId="20577"/>
          <ac:spMkLst>
            <pc:docMk/>
            <pc:sldMk cId="2750719351" sldId="2145706243"/>
            <ac:spMk id="2" creationId="{925D8FC1-6AD2-4FDB-0618-87CF7F39767C}"/>
          </ac:spMkLst>
        </pc:spChg>
        <pc:spChg chg="mod">
          <ac:chgData name="Graf Thomas, SCS-INI-NET-VNC-E2E" userId="487bc3e3-9ce7-4cdd-b7b4-8899ea88d289" providerId="ADAL" clId="{1BAAA70E-921F-47F1-8CE8-3DD05F71A227}" dt="2025-10-26T13:40:53.571" v="2960" actId="20577"/>
          <ac:spMkLst>
            <pc:docMk/>
            <pc:sldMk cId="2750719351" sldId="2145706243"/>
            <ac:spMk id="3" creationId="{E1C8AC62-B5C5-ADE4-1957-88D3A14E964A}"/>
          </ac:spMkLst>
        </pc:spChg>
      </pc:sldChg>
      <pc:sldChg chg="delSp modSp add del mod">
        <pc:chgData name="Graf Thomas, SCS-INI-NET-VNC-E2E" userId="487bc3e3-9ce7-4cdd-b7b4-8899ea88d289" providerId="ADAL" clId="{1BAAA70E-921F-47F1-8CE8-3DD05F71A227}" dt="2025-10-25T08:15:30.036" v="1719" actId="2696"/>
        <pc:sldMkLst>
          <pc:docMk/>
          <pc:sldMk cId="100426460" sldId="2145706244"/>
        </pc:sldMkLst>
      </pc:sldChg>
      <pc:sldChg chg="addSp delSp modSp add mod">
        <pc:chgData name="Graf Thomas, SCS-INI-NET-VNC-E2E" userId="487bc3e3-9ce7-4cdd-b7b4-8899ea88d289" providerId="ADAL" clId="{1BAAA70E-921F-47F1-8CE8-3DD05F71A227}" dt="2025-10-28T10:16:50.477" v="3277" actId="20577"/>
        <pc:sldMkLst>
          <pc:docMk/>
          <pc:sldMk cId="388497335" sldId="2145706244"/>
        </pc:sldMkLst>
        <pc:spChg chg="mod">
          <ac:chgData name="Graf Thomas, SCS-INI-NET-VNC-E2E" userId="487bc3e3-9ce7-4cdd-b7b4-8899ea88d289" providerId="ADAL" clId="{1BAAA70E-921F-47F1-8CE8-3DD05F71A227}" dt="2025-10-26T12:38:29.130" v="1836" actId="20577"/>
          <ac:spMkLst>
            <pc:docMk/>
            <pc:sldMk cId="388497335" sldId="2145706244"/>
            <ac:spMk id="2" creationId="{623503D3-1A0C-80A8-0BCF-4B81D8325DA7}"/>
          </ac:spMkLst>
        </pc:spChg>
        <pc:spChg chg="mod">
          <ac:chgData name="Graf Thomas, SCS-INI-NET-VNC-E2E" userId="487bc3e3-9ce7-4cdd-b7b4-8899ea88d289" providerId="ADAL" clId="{1BAAA70E-921F-47F1-8CE8-3DD05F71A227}" dt="2025-10-26T13:02:30.235" v="2959" actId="21"/>
          <ac:spMkLst>
            <pc:docMk/>
            <pc:sldMk cId="388497335" sldId="2145706244"/>
            <ac:spMk id="3" creationId="{9C0498A2-E3FA-3E2D-2B34-142A2DCB1578}"/>
          </ac:spMkLst>
        </pc:spChg>
        <pc:spChg chg="add mod">
          <ac:chgData name="Graf Thomas, SCS-INI-NET-VNC-E2E" userId="487bc3e3-9ce7-4cdd-b7b4-8899ea88d289" providerId="ADAL" clId="{1BAAA70E-921F-47F1-8CE8-3DD05F71A227}" dt="2025-10-28T10:16:50.477" v="3277" actId="20577"/>
          <ac:spMkLst>
            <pc:docMk/>
            <pc:sldMk cId="388497335" sldId="2145706244"/>
            <ac:spMk id="4" creationId="{0E301C0F-66CA-73F9-A0FD-EA9585884704}"/>
          </ac:spMkLst>
        </pc:spChg>
      </pc:sldChg>
      <pc:sldChg chg="addSp delSp modSp add mod">
        <pc:chgData name="Graf Thomas, SCS-INI-NET-VNC-E2E" userId="487bc3e3-9ce7-4cdd-b7b4-8899ea88d289" providerId="ADAL" clId="{1BAAA70E-921F-47F1-8CE8-3DD05F71A227}" dt="2025-10-28T09:06:20.352" v="3260" actId="790"/>
        <pc:sldMkLst>
          <pc:docMk/>
          <pc:sldMk cId="1877027452" sldId="2145706245"/>
        </pc:sldMkLst>
        <pc:spChg chg="mod">
          <ac:chgData name="Graf Thomas, SCS-INI-NET-VNC-E2E" userId="487bc3e3-9ce7-4cdd-b7b4-8899ea88d289" providerId="ADAL" clId="{1BAAA70E-921F-47F1-8CE8-3DD05F71A227}" dt="2025-10-28T09:06:20.352" v="3260" actId="790"/>
          <ac:spMkLst>
            <pc:docMk/>
            <pc:sldMk cId="1877027452" sldId="2145706245"/>
            <ac:spMk id="2" creationId="{AF363DE5-D7A4-3591-E3FF-650F77756614}"/>
          </ac:spMkLst>
        </pc:spChg>
        <pc:spChg chg="del mod">
          <ac:chgData name="Graf Thomas, SCS-INI-NET-VNC-E2E" userId="487bc3e3-9ce7-4cdd-b7b4-8899ea88d289" providerId="ADAL" clId="{1BAAA70E-921F-47F1-8CE8-3DD05F71A227}" dt="2025-10-28T08:57:01.461" v="3100" actId="478"/>
          <ac:spMkLst>
            <pc:docMk/>
            <pc:sldMk cId="1877027452" sldId="2145706245"/>
            <ac:spMk id="3" creationId="{61809A2F-6983-85BB-F5B3-C494F5706379}"/>
          </ac:spMkLst>
        </pc:spChg>
        <pc:spChg chg="del">
          <ac:chgData name="Graf Thomas, SCS-INI-NET-VNC-E2E" userId="487bc3e3-9ce7-4cdd-b7b4-8899ea88d289" providerId="ADAL" clId="{1BAAA70E-921F-47F1-8CE8-3DD05F71A227}" dt="2025-10-28T08:53:29.096" v="3000" actId="478"/>
          <ac:spMkLst>
            <pc:docMk/>
            <pc:sldMk cId="1877027452" sldId="2145706245"/>
            <ac:spMk id="4" creationId="{DBC866BC-7EB5-8A97-E4AB-ABBE74A4935E}"/>
          </ac:spMkLst>
        </pc:spChg>
        <pc:spChg chg="mod">
          <ac:chgData name="Graf Thomas, SCS-INI-NET-VNC-E2E" userId="487bc3e3-9ce7-4cdd-b7b4-8899ea88d289" providerId="ADAL" clId="{1BAAA70E-921F-47F1-8CE8-3DD05F71A227}" dt="2025-10-28T09:06:20.352" v="3260" actId="790"/>
          <ac:spMkLst>
            <pc:docMk/>
            <pc:sldMk cId="1877027452" sldId="2145706245"/>
            <ac:spMk id="8" creationId="{12350B8A-B723-6442-A68D-9157CC58CFAC}"/>
          </ac:spMkLst>
        </pc:spChg>
        <pc:spChg chg="add del mod">
          <ac:chgData name="Graf Thomas, SCS-INI-NET-VNC-E2E" userId="487bc3e3-9ce7-4cdd-b7b4-8899ea88d289" providerId="ADAL" clId="{1BAAA70E-921F-47F1-8CE8-3DD05F71A227}" dt="2025-10-28T08:57:21.819" v="3104" actId="478"/>
          <ac:spMkLst>
            <pc:docMk/>
            <pc:sldMk cId="1877027452" sldId="2145706245"/>
            <ac:spMk id="9" creationId="{E4525D69-8E72-188D-55DD-70DDE86AA576}"/>
          </ac:spMkLst>
        </pc:spChg>
        <pc:spChg chg="add del">
          <ac:chgData name="Graf Thomas, SCS-INI-NET-VNC-E2E" userId="487bc3e3-9ce7-4cdd-b7b4-8899ea88d289" providerId="ADAL" clId="{1BAAA70E-921F-47F1-8CE8-3DD05F71A227}" dt="2025-10-28T09:02:07.658" v="3192" actId="478"/>
          <ac:spMkLst>
            <pc:docMk/>
            <pc:sldMk cId="1877027452" sldId="2145706245"/>
            <ac:spMk id="10" creationId="{29FD1254-06FB-8490-13D9-2566A8CB9D5C}"/>
          </ac:spMkLst>
        </pc:spChg>
        <pc:spChg chg="add mod">
          <ac:chgData name="Graf Thomas, SCS-INI-NET-VNC-E2E" userId="487bc3e3-9ce7-4cdd-b7b4-8899ea88d289" providerId="ADAL" clId="{1BAAA70E-921F-47F1-8CE8-3DD05F71A227}" dt="2025-10-28T09:06:20.352" v="3260" actId="790"/>
          <ac:spMkLst>
            <pc:docMk/>
            <pc:sldMk cId="1877027452" sldId="2145706245"/>
            <ac:spMk id="11" creationId="{CF87792E-D2F9-941B-C564-FFA7FE8DB78D}"/>
          </ac:spMkLst>
        </pc:spChg>
        <pc:graphicFrameChg chg="add del mod modGraphic">
          <ac:chgData name="Graf Thomas, SCS-INI-NET-VNC-E2E" userId="487bc3e3-9ce7-4cdd-b7b4-8899ea88d289" providerId="ADAL" clId="{1BAAA70E-921F-47F1-8CE8-3DD05F71A227}" dt="2025-10-28T08:55:12.190" v="3045" actId="478"/>
          <ac:graphicFrameMkLst>
            <pc:docMk/>
            <pc:sldMk cId="1877027452" sldId="2145706245"/>
            <ac:graphicFrameMk id="5" creationId="{B80F9C3A-9A0E-6138-4525-24222C2EEA1F}"/>
          </ac:graphicFrameMkLst>
        </pc:graphicFrameChg>
        <pc:graphicFrameChg chg="add mod modGraphic">
          <ac:chgData name="Graf Thomas, SCS-INI-NET-VNC-E2E" userId="487bc3e3-9ce7-4cdd-b7b4-8899ea88d289" providerId="ADAL" clId="{1BAAA70E-921F-47F1-8CE8-3DD05F71A227}" dt="2025-10-28T09:03:17.945" v="3225" actId="20577"/>
          <ac:graphicFrameMkLst>
            <pc:docMk/>
            <pc:sldMk cId="1877027452" sldId="2145706245"/>
            <ac:graphicFrameMk id="6" creationId="{86837E2C-7DD9-62B8-E009-509CDFF94BF9}"/>
          </ac:graphicFrameMkLst>
        </pc:graphicFrameChg>
      </pc:sldChg>
      <pc:sldChg chg="modSp add mod">
        <pc:chgData name="Graf Thomas, SCS-INI-NET-VNC-E2E" userId="487bc3e3-9ce7-4cdd-b7b4-8899ea88d289" providerId="ADAL" clId="{1BAAA70E-921F-47F1-8CE8-3DD05F71A227}" dt="2025-10-28T09:06:12.054" v="3259" actId="790"/>
        <pc:sldMkLst>
          <pc:docMk/>
          <pc:sldMk cId="4476213" sldId="2145706246"/>
        </pc:sldMkLst>
        <pc:spChg chg="mod">
          <ac:chgData name="Graf Thomas, SCS-INI-NET-VNC-E2E" userId="487bc3e3-9ce7-4cdd-b7b4-8899ea88d289" providerId="ADAL" clId="{1BAAA70E-921F-47F1-8CE8-3DD05F71A227}" dt="2025-10-28T09:06:12.054" v="3259" actId="790"/>
          <ac:spMkLst>
            <pc:docMk/>
            <pc:sldMk cId="4476213" sldId="2145706246"/>
            <ac:spMk id="2" creationId="{237B38BF-943B-E87B-35FF-EC15CB8E47A9}"/>
          </ac:spMkLst>
        </pc:spChg>
        <pc:spChg chg="mod">
          <ac:chgData name="Graf Thomas, SCS-INI-NET-VNC-E2E" userId="487bc3e3-9ce7-4cdd-b7b4-8899ea88d289" providerId="ADAL" clId="{1BAAA70E-921F-47F1-8CE8-3DD05F71A227}" dt="2025-10-28T09:06:12.054" v="3259" actId="790"/>
          <ac:spMkLst>
            <pc:docMk/>
            <pc:sldMk cId="4476213" sldId="2145706246"/>
            <ac:spMk id="8" creationId="{2B59FCFE-20E3-BD78-B5F4-C48AB55E6255}"/>
          </ac:spMkLst>
        </pc:spChg>
        <pc:spChg chg="mod">
          <ac:chgData name="Graf Thomas, SCS-INI-NET-VNC-E2E" userId="487bc3e3-9ce7-4cdd-b7b4-8899ea88d289" providerId="ADAL" clId="{1BAAA70E-921F-47F1-8CE8-3DD05F71A227}" dt="2025-10-28T09:06:12.054" v="3259" actId="790"/>
          <ac:spMkLst>
            <pc:docMk/>
            <pc:sldMk cId="4476213" sldId="2145706246"/>
            <ac:spMk id="11" creationId="{5214FD9D-0CC4-FBBB-E1C6-B862B51697A9}"/>
          </ac:spMkLst>
        </pc:spChg>
        <pc:graphicFrameChg chg="mod modGraphic">
          <ac:chgData name="Graf Thomas, SCS-INI-NET-VNC-E2E" userId="487bc3e3-9ce7-4cdd-b7b4-8899ea88d289" providerId="ADAL" clId="{1BAAA70E-921F-47F1-8CE8-3DD05F71A227}" dt="2025-10-28T09:05:56.772" v="3258" actId="20577"/>
          <ac:graphicFrameMkLst>
            <pc:docMk/>
            <pc:sldMk cId="4476213" sldId="2145706246"/>
            <ac:graphicFrameMk id="6" creationId="{4E7CEF41-5DBF-BE8C-3E2D-7F5D56B757D3}"/>
          </ac:graphicFrameMkLst>
        </pc:graphicFrameChg>
      </pc:sldChg>
      <pc:sldChg chg="addSp delSp modSp add mod">
        <pc:chgData name="Graf Thomas, SCS-INI-NET-VNC-E2E" userId="487bc3e3-9ce7-4cdd-b7b4-8899ea88d289" providerId="ADAL" clId="{1BAAA70E-921F-47F1-8CE8-3DD05F71A227}" dt="2025-10-28T09:11:28.538" v="3274" actId="478"/>
        <pc:sldMkLst>
          <pc:docMk/>
          <pc:sldMk cId="1911218804" sldId="2145706247"/>
        </pc:sldMkLst>
        <pc:spChg chg="del">
          <ac:chgData name="Graf Thomas, SCS-INI-NET-VNC-E2E" userId="487bc3e3-9ce7-4cdd-b7b4-8899ea88d289" providerId="ADAL" clId="{1BAAA70E-921F-47F1-8CE8-3DD05F71A227}" dt="2025-10-28T09:11:25.662" v="3273" actId="478"/>
          <ac:spMkLst>
            <pc:docMk/>
            <pc:sldMk cId="1911218804" sldId="2145706247"/>
            <ac:spMk id="2" creationId="{4947FD74-42FE-3086-5158-C0D959905D82}"/>
          </ac:spMkLst>
        </pc:spChg>
        <pc:spChg chg="mod">
          <ac:chgData name="Graf Thomas, SCS-INI-NET-VNC-E2E" userId="487bc3e3-9ce7-4cdd-b7b4-8899ea88d289" providerId="ADAL" clId="{1BAAA70E-921F-47F1-8CE8-3DD05F71A227}" dt="2025-10-28T09:11:22.831" v="3272" actId="14100"/>
          <ac:spMkLst>
            <pc:docMk/>
            <pc:sldMk cId="1911218804" sldId="2145706247"/>
            <ac:spMk id="3" creationId="{63523839-2C3F-C4EE-4589-82ED2EE031BF}"/>
          </ac:spMkLst>
        </pc:spChg>
        <pc:spChg chg="del">
          <ac:chgData name="Graf Thomas, SCS-INI-NET-VNC-E2E" userId="487bc3e3-9ce7-4cdd-b7b4-8899ea88d289" providerId="ADAL" clId="{1BAAA70E-921F-47F1-8CE8-3DD05F71A227}" dt="2025-10-28T09:10:53.102" v="3262" actId="478"/>
          <ac:spMkLst>
            <pc:docMk/>
            <pc:sldMk cId="1911218804" sldId="2145706247"/>
            <ac:spMk id="4" creationId="{F53CEE2B-0A8D-E419-8200-E6C450480C17}"/>
          </ac:spMkLst>
        </pc:spChg>
        <pc:spChg chg="add del mod">
          <ac:chgData name="Graf Thomas, SCS-INI-NET-VNC-E2E" userId="487bc3e3-9ce7-4cdd-b7b4-8899ea88d289" providerId="ADAL" clId="{1BAAA70E-921F-47F1-8CE8-3DD05F71A227}" dt="2025-10-28T09:11:28.538" v="3274" actId="478"/>
          <ac:spMkLst>
            <pc:docMk/>
            <pc:sldMk cId="1911218804" sldId="2145706247"/>
            <ac:spMk id="6" creationId="{0D9A503E-12B0-B519-7B37-33E23665D8C7}"/>
          </ac:spMkLst>
        </pc:spChg>
      </pc:sldChg>
      <pc:sldChg chg="add">
        <pc:chgData name="Graf Thomas, SCS-INI-NET-VNC-E2E" userId="487bc3e3-9ce7-4cdd-b7b4-8899ea88d289" providerId="ADAL" clId="{1BAAA70E-921F-47F1-8CE8-3DD05F71A227}" dt="2025-10-28T10:16:26.673" v="3275"/>
        <pc:sldMkLst>
          <pc:docMk/>
          <pc:sldMk cId="2860389926" sldId="2145706248"/>
        </pc:sldMkLst>
      </pc:sldChg>
      <pc:sldChg chg="add">
        <pc:chgData name="Graf Thomas, SCS-INI-NET-VNC-E2E" userId="487bc3e3-9ce7-4cdd-b7b4-8899ea88d289" providerId="ADAL" clId="{1BAAA70E-921F-47F1-8CE8-3DD05F71A227}" dt="2025-10-28T10:16:26.673" v="3275"/>
        <pc:sldMkLst>
          <pc:docMk/>
          <pc:sldMk cId="3526766535" sldId="2145706249"/>
        </pc:sldMkLst>
      </pc:sldChg>
      <pc:sldChg chg="add">
        <pc:chgData name="Graf Thomas, SCS-INI-NET-VNC-E2E" userId="487bc3e3-9ce7-4cdd-b7b4-8899ea88d289" providerId="ADAL" clId="{1BAAA70E-921F-47F1-8CE8-3DD05F71A227}" dt="2025-10-28T10:16:26.673" v="3275"/>
        <pc:sldMkLst>
          <pc:docMk/>
          <pc:sldMk cId="2695572745" sldId="2145706305"/>
        </pc:sldMkLst>
      </pc:sldChg>
      <pc:sldChg chg="add">
        <pc:chgData name="Graf Thomas, SCS-INI-NET-VNC-E2E" userId="487bc3e3-9ce7-4cdd-b7b4-8899ea88d289" providerId="ADAL" clId="{1BAAA70E-921F-47F1-8CE8-3DD05F71A227}" dt="2025-10-28T10:16:26.673" v="3275"/>
        <pc:sldMkLst>
          <pc:docMk/>
          <pc:sldMk cId="2878460098" sldId="2145706306"/>
        </pc:sldMkLst>
      </pc:sldChg>
      <pc:sldChg chg="add">
        <pc:chgData name="Graf Thomas, SCS-INI-NET-VNC-E2E" userId="487bc3e3-9ce7-4cdd-b7b4-8899ea88d289" providerId="ADAL" clId="{1BAAA70E-921F-47F1-8CE8-3DD05F71A227}" dt="2025-10-28T10:16:26.673" v="3275"/>
        <pc:sldMkLst>
          <pc:docMk/>
          <pc:sldMk cId="4208302676" sldId="214570630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705E9-673F-4AC4-B29E-A7B26F3B8523}" type="datetimeFigureOut">
              <a:rPr lang="de-CH" smtClean="0"/>
              <a:t>01.11.2025</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BC52A0-2F3F-497F-8536-39D60282E9C2}" type="slidenum">
              <a:rPr lang="de-CH" smtClean="0"/>
              <a:t>‹#›</a:t>
            </a:fld>
            <a:endParaRPr lang="de-CH"/>
          </a:p>
        </p:txBody>
      </p:sp>
    </p:spTree>
    <p:extLst>
      <p:ext uri="{BB962C8B-B14F-4D97-AF65-F5344CB8AC3E}">
        <p14:creationId xmlns:p14="http://schemas.microsoft.com/office/powerpoint/2010/main" val="231673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4512-1D3B-4B73-B042-476E6184E8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a:extLst>
              <a:ext uri="{FF2B5EF4-FFF2-40B4-BE49-F238E27FC236}">
                <a16:creationId xmlns:a16="http://schemas.microsoft.com/office/drawing/2014/main" id="{14168D7F-8149-41A1-BACA-3AE93B5EBA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a:extLst>
              <a:ext uri="{FF2B5EF4-FFF2-40B4-BE49-F238E27FC236}">
                <a16:creationId xmlns:a16="http://schemas.microsoft.com/office/drawing/2014/main" id="{2F31F274-2081-4043-A760-EBE78731B51B}"/>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5" name="Footer Placeholder 4">
            <a:extLst>
              <a:ext uri="{FF2B5EF4-FFF2-40B4-BE49-F238E27FC236}">
                <a16:creationId xmlns:a16="http://schemas.microsoft.com/office/drawing/2014/main" id="{06F4A492-DE76-49D9-B2D6-119D939A640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8F859CCC-4F98-451F-BD3B-E72AFDCA696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785822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BDF6-FBD2-40AF-9486-BB4A908B2A31}"/>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6FAC614F-9AF2-40AF-A811-367A6AFA5E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8E787B81-7873-4625-90C6-65B7D39F68FA}"/>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5" name="Footer Placeholder 4">
            <a:extLst>
              <a:ext uri="{FF2B5EF4-FFF2-40B4-BE49-F238E27FC236}">
                <a16:creationId xmlns:a16="http://schemas.microsoft.com/office/drawing/2014/main" id="{7D062558-7E3E-4F68-94CA-8F448DCC8E48}"/>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2A3E61FB-1357-46F5-903C-1994E98B264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0993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D0C7-725B-4BFF-9522-83239C8F81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a:extLst>
              <a:ext uri="{FF2B5EF4-FFF2-40B4-BE49-F238E27FC236}">
                <a16:creationId xmlns:a16="http://schemas.microsoft.com/office/drawing/2014/main" id="{C97E1048-3DC5-4B9C-899F-DED6314AE2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B5DBFD-FBBF-4914-87A2-F3A61F56DED9}"/>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5" name="Footer Placeholder 4">
            <a:extLst>
              <a:ext uri="{FF2B5EF4-FFF2-40B4-BE49-F238E27FC236}">
                <a16:creationId xmlns:a16="http://schemas.microsoft.com/office/drawing/2014/main" id="{EB7571A4-73D2-444B-9013-7EFE083B18DF}"/>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C7CCFB92-7142-4854-ACC6-4129F01E705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390372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6279-2318-4AD6-A5F8-75FAC2F47DDA}"/>
              </a:ext>
            </a:extLst>
          </p:cNvPr>
          <p:cNvSpPr>
            <a:spLocks noGrp="1"/>
          </p:cNvSpPr>
          <p:nvPr>
            <p:ph type="title"/>
          </p:nvPr>
        </p:nvSpPr>
        <p:spPr/>
        <p:txBody>
          <a:bodyPr/>
          <a:lstStyle/>
          <a:p>
            <a:r>
              <a:rPr lang="en-US"/>
              <a:t>Click to edit Master title style</a:t>
            </a:r>
            <a:endParaRPr lang="de-CH"/>
          </a:p>
        </p:txBody>
      </p:sp>
      <p:sp>
        <p:nvSpPr>
          <p:cNvPr id="3" name="Content Placeholder 2">
            <a:extLst>
              <a:ext uri="{FF2B5EF4-FFF2-40B4-BE49-F238E27FC236}">
                <a16:creationId xmlns:a16="http://schemas.microsoft.com/office/drawing/2014/main" id="{7AD0583D-F808-46BC-A112-FEA6430F47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a:extLst>
              <a:ext uri="{FF2B5EF4-FFF2-40B4-BE49-F238E27FC236}">
                <a16:creationId xmlns:a16="http://schemas.microsoft.com/office/drawing/2014/main" id="{4FE9A202-30E0-43D7-8764-65A6F84FDD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a:extLst>
              <a:ext uri="{FF2B5EF4-FFF2-40B4-BE49-F238E27FC236}">
                <a16:creationId xmlns:a16="http://schemas.microsoft.com/office/drawing/2014/main" id="{32791E6B-307F-487A-ACE7-95C6B653CB57}"/>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6" name="Footer Placeholder 5">
            <a:extLst>
              <a:ext uri="{FF2B5EF4-FFF2-40B4-BE49-F238E27FC236}">
                <a16:creationId xmlns:a16="http://schemas.microsoft.com/office/drawing/2014/main" id="{2621F60B-CB79-4100-B5DF-1E9EA55C1EE4}"/>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8193C06A-1F3A-41DA-8ED0-F1B0534320A5}"/>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78735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37BF-12E0-4609-8885-BA3B61207024}"/>
              </a:ext>
            </a:extLst>
          </p:cNvPr>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a:extLst>
              <a:ext uri="{FF2B5EF4-FFF2-40B4-BE49-F238E27FC236}">
                <a16:creationId xmlns:a16="http://schemas.microsoft.com/office/drawing/2014/main" id="{41D6F202-5F12-4652-B24C-DE18E1A337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BF7499-BB9D-474C-80E4-FBDD9AF94F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a:extLst>
              <a:ext uri="{FF2B5EF4-FFF2-40B4-BE49-F238E27FC236}">
                <a16:creationId xmlns:a16="http://schemas.microsoft.com/office/drawing/2014/main" id="{1FE8ABCD-03D9-487D-A401-5C46542B9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90E7B8-775C-4651-8505-06EEF69C7C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a:extLst>
              <a:ext uri="{FF2B5EF4-FFF2-40B4-BE49-F238E27FC236}">
                <a16:creationId xmlns:a16="http://schemas.microsoft.com/office/drawing/2014/main" id="{5EE55546-7C7E-4AE1-B224-70E058A04CB8}"/>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8" name="Footer Placeholder 7">
            <a:extLst>
              <a:ext uri="{FF2B5EF4-FFF2-40B4-BE49-F238E27FC236}">
                <a16:creationId xmlns:a16="http://schemas.microsoft.com/office/drawing/2014/main" id="{0A87DA8F-0A89-45FF-A3CC-8973287CFF46}"/>
              </a:ext>
            </a:extLst>
          </p:cNvPr>
          <p:cNvSpPr>
            <a:spLocks noGrp="1"/>
          </p:cNvSpPr>
          <p:nvPr>
            <p:ph type="ftr" sz="quarter" idx="11"/>
          </p:nvPr>
        </p:nvSpPr>
        <p:spPr/>
        <p:txBody>
          <a:bodyPr/>
          <a:lstStyle/>
          <a:p>
            <a:endParaRPr lang="de-CH"/>
          </a:p>
        </p:txBody>
      </p:sp>
      <p:sp>
        <p:nvSpPr>
          <p:cNvPr id="9" name="Slide Number Placeholder 8">
            <a:extLst>
              <a:ext uri="{FF2B5EF4-FFF2-40B4-BE49-F238E27FC236}">
                <a16:creationId xmlns:a16="http://schemas.microsoft.com/office/drawing/2014/main" id="{D52A632D-9625-4B76-A006-24C009E135AD}"/>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80005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A4D9-592C-47DB-A38B-6773D38A3113}"/>
              </a:ext>
            </a:extLst>
          </p:cNvPr>
          <p:cNvSpPr>
            <a:spLocks noGrp="1"/>
          </p:cNvSpPr>
          <p:nvPr>
            <p:ph type="title"/>
          </p:nvPr>
        </p:nvSpPr>
        <p:spPr/>
        <p:txBody>
          <a:bodyPr/>
          <a:lstStyle/>
          <a:p>
            <a:r>
              <a:rPr lang="en-US"/>
              <a:t>Click to edit Master title style</a:t>
            </a:r>
            <a:endParaRPr lang="de-CH"/>
          </a:p>
        </p:txBody>
      </p:sp>
      <p:sp>
        <p:nvSpPr>
          <p:cNvPr id="3" name="Date Placeholder 2">
            <a:extLst>
              <a:ext uri="{FF2B5EF4-FFF2-40B4-BE49-F238E27FC236}">
                <a16:creationId xmlns:a16="http://schemas.microsoft.com/office/drawing/2014/main" id="{30F8F040-BDDF-4877-8526-169F2DA14C15}"/>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4" name="Footer Placeholder 3">
            <a:extLst>
              <a:ext uri="{FF2B5EF4-FFF2-40B4-BE49-F238E27FC236}">
                <a16:creationId xmlns:a16="http://schemas.microsoft.com/office/drawing/2014/main" id="{7E90B3BB-C496-4AF5-8EB6-7559F47A6841}"/>
              </a:ext>
            </a:extLst>
          </p:cNvPr>
          <p:cNvSpPr>
            <a:spLocks noGrp="1"/>
          </p:cNvSpPr>
          <p:nvPr>
            <p:ph type="ftr" sz="quarter" idx="11"/>
          </p:nvPr>
        </p:nvSpPr>
        <p:spPr/>
        <p:txBody>
          <a:bodyPr/>
          <a:lstStyle/>
          <a:p>
            <a:endParaRPr lang="de-CH"/>
          </a:p>
        </p:txBody>
      </p:sp>
      <p:sp>
        <p:nvSpPr>
          <p:cNvPr id="5" name="Slide Number Placeholder 4">
            <a:extLst>
              <a:ext uri="{FF2B5EF4-FFF2-40B4-BE49-F238E27FC236}">
                <a16:creationId xmlns:a16="http://schemas.microsoft.com/office/drawing/2014/main" id="{87FE77DB-3A65-40BB-95CE-131D701F68B3}"/>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49343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6202C-9526-41D5-A80B-2DF289677874}"/>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3" name="Footer Placeholder 2">
            <a:extLst>
              <a:ext uri="{FF2B5EF4-FFF2-40B4-BE49-F238E27FC236}">
                <a16:creationId xmlns:a16="http://schemas.microsoft.com/office/drawing/2014/main" id="{1E3DB588-08C7-4A6C-AB92-AA66E93DA399}"/>
              </a:ext>
            </a:extLst>
          </p:cNvPr>
          <p:cNvSpPr>
            <a:spLocks noGrp="1"/>
          </p:cNvSpPr>
          <p:nvPr>
            <p:ph type="ftr" sz="quarter" idx="11"/>
          </p:nvPr>
        </p:nvSpPr>
        <p:spPr/>
        <p:txBody>
          <a:bodyPr/>
          <a:lstStyle/>
          <a:p>
            <a:endParaRPr lang="de-CH"/>
          </a:p>
        </p:txBody>
      </p:sp>
      <p:sp>
        <p:nvSpPr>
          <p:cNvPr id="4" name="Slide Number Placeholder 3">
            <a:extLst>
              <a:ext uri="{FF2B5EF4-FFF2-40B4-BE49-F238E27FC236}">
                <a16:creationId xmlns:a16="http://schemas.microsoft.com/office/drawing/2014/main" id="{726035E7-88C8-4D96-B785-776340A7BD1B}"/>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458112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C2E0B-BAAE-488E-8A9B-5E2F97281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a:extLst>
              <a:ext uri="{FF2B5EF4-FFF2-40B4-BE49-F238E27FC236}">
                <a16:creationId xmlns:a16="http://schemas.microsoft.com/office/drawing/2014/main" id="{308C22BD-ADB1-4F08-B9D6-E993F811F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a:extLst>
              <a:ext uri="{FF2B5EF4-FFF2-40B4-BE49-F238E27FC236}">
                <a16:creationId xmlns:a16="http://schemas.microsoft.com/office/drawing/2014/main" id="{CB329BCF-9547-4664-BC89-023CF460C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46FE1-476B-4893-8CD9-264AC97F89A0}"/>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6" name="Footer Placeholder 5">
            <a:extLst>
              <a:ext uri="{FF2B5EF4-FFF2-40B4-BE49-F238E27FC236}">
                <a16:creationId xmlns:a16="http://schemas.microsoft.com/office/drawing/2014/main" id="{7235B88A-2D78-46C2-BBA5-A7E4B6C778E0}"/>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1CFBCD13-0D0A-4531-9C78-280B19232CD6}"/>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184895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2F91-0DE7-463A-B320-CFD88985B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a:extLst>
              <a:ext uri="{FF2B5EF4-FFF2-40B4-BE49-F238E27FC236}">
                <a16:creationId xmlns:a16="http://schemas.microsoft.com/office/drawing/2014/main" id="{DA8FAE06-08B0-40A8-8F3E-C20E2667A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a:extLst>
              <a:ext uri="{FF2B5EF4-FFF2-40B4-BE49-F238E27FC236}">
                <a16:creationId xmlns:a16="http://schemas.microsoft.com/office/drawing/2014/main" id="{F52DC7CF-A958-437D-97CD-D3E81DB92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C2DCF7-E5CF-40ED-9C23-5F54FB7C501D}"/>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6" name="Footer Placeholder 5">
            <a:extLst>
              <a:ext uri="{FF2B5EF4-FFF2-40B4-BE49-F238E27FC236}">
                <a16:creationId xmlns:a16="http://schemas.microsoft.com/office/drawing/2014/main" id="{46B598A1-F516-4BF3-A1DB-EFB3FD805F93}"/>
              </a:ext>
            </a:extLst>
          </p:cNvPr>
          <p:cNvSpPr>
            <a:spLocks noGrp="1"/>
          </p:cNvSpPr>
          <p:nvPr>
            <p:ph type="ftr" sz="quarter" idx="11"/>
          </p:nvPr>
        </p:nvSpPr>
        <p:spPr/>
        <p:txBody>
          <a:bodyPr/>
          <a:lstStyle/>
          <a:p>
            <a:endParaRPr lang="de-CH"/>
          </a:p>
        </p:txBody>
      </p:sp>
      <p:sp>
        <p:nvSpPr>
          <p:cNvPr id="7" name="Slide Number Placeholder 6">
            <a:extLst>
              <a:ext uri="{FF2B5EF4-FFF2-40B4-BE49-F238E27FC236}">
                <a16:creationId xmlns:a16="http://schemas.microsoft.com/office/drawing/2014/main" id="{24DCE8FE-0171-448F-8772-43B1E4122EF1}"/>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54026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D866-2D41-48BC-9DC3-7FEE77BA7CD7}"/>
              </a:ext>
            </a:extLst>
          </p:cNvPr>
          <p:cNvSpPr>
            <a:spLocks noGrp="1"/>
          </p:cNvSpPr>
          <p:nvPr>
            <p:ph type="title"/>
          </p:nvPr>
        </p:nvSpPr>
        <p:spPr/>
        <p:txBody>
          <a:bodyPr/>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7477519-4E02-40D8-8B6A-3A512977D4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56831AF6-5DD6-4C3B-B500-F46F75D54246}"/>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5" name="Footer Placeholder 4">
            <a:extLst>
              <a:ext uri="{FF2B5EF4-FFF2-40B4-BE49-F238E27FC236}">
                <a16:creationId xmlns:a16="http://schemas.microsoft.com/office/drawing/2014/main" id="{A75992F3-29F5-4955-B2D5-391EC52DB763}"/>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DBDB107A-54F3-441F-911A-3CD57FDE6E72}"/>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39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349AB2-2AB2-43A7-8656-1622691F7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a:extLst>
              <a:ext uri="{FF2B5EF4-FFF2-40B4-BE49-F238E27FC236}">
                <a16:creationId xmlns:a16="http://schemas.microsoft.com/office/drawing/2014/main" id="{0E3361E9-F971-441C-8CE6-36B5044224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18CF5765-AAA1-4EBA-9889-B58751F154F4}"/>
              </a:ext>
            </a:extLst>
          </p:cNvPr>
          <p:cNvSpPr>
            <a:spLocks noGrp="1"/>
          </p:cNvSpPr>
          <p:nvPr>
            <p:ph type="dt" sz="half" idx="10"/>
          </p:nvPr>
        </p:nvSpPr>
        <p:spPr/>
        <p:txBody>
          <a:bodyPr/>
          <a:lstStyle/>
          <a:p>
            <a:fld id="{9E9B238C-2335-4007-98C9-471C02CC43B6}" type="datetimeFigureOut">
              <a:rPr lang="de-CH" smtClean="0"/>
              <a:t>01.11.2025</a:t>
            </a:fld>
            <a:endParaRPr lang="de-CH"/>
          </a:p>
        </p:txBody>
      </p:sp>
      <p:sp>
        <p:nvSpPr>
          <p:cNvPr id="5" name="Footer Placeholder 4">
            <a:extLst>
              <a:ext uri="{FF2B5EF4-FFF2-40B4-BE49-F238E27FC236}">
                <a16:creationId xmlns:a16="http://schemas.microsoft.com/office/drawing/2014/main" id="{71F360DF-246C-4E18-B36B-0922733683DC}"/>
              </a:ext>
            </a:extLst>
          </p:cNvPr>
          <p:cNvSpPr>
            <a:spLocks noGrp="1"/>
          </p:cNvSpPr>
          <p:nvPr>
            <p:ph type="ftr" sz="quarter" idx="11"/>
          </p:nvPr>
        </p:nvSpPr>
        <p:spPr/>
        <p:txBody>
          <a:bodyPr/>
          <a:lstStyle/>
          <a:p>
            <a:endParaRPr lang="de-CH"/>
          </a:p>
        </p:txBody>
      </p:sp>
      <p:sp>
        <p:nvSpPr>
          <p:cNvPr id="6" name="Slide Number Placeholder 5">
            <a:extLst>
              <a:ext uri="{FF2B5EF4-FFF2-40B4-BE49-F238E27FC236}">
                <a16:creationId xmlns:a16="http://schemas.microsoft.com/office/drawing/2014/main" id="{F8C95E4A-A865-4DAD-8AEC-EE7D584D640C}"/>
              </a:ext>
            </a:extLst>
          </p:cNvPr>
          <p:cNvSpPr>
            <a:spLocks noGrp="1"/>
          </p:cNvSpPr>
          <p:nvPr>
            <p:ph type="sldNum" sz="quarter" idx="12"/>
          </p:nvPr>
        </p:nvSpPr>
        <p:spPr/>
        <p:txBody>
          <a:bodyPr/>
          <a:lstStyle/>
          <a:p>
            <a:fld id="{FC4AC485-25DE-431E-B345-9C0A15BB7F8A}" type="slidenum">
              <a:rPr lang="de-CH" smtClean="0"/>
              <a:t>‹#›</a:t>
            </a:fld>
            <a:endParaRPr lang="de-CH"/>
          </a:p>
        </p:txBody>
      </p:sp>
    </p:spTree>
    <p:extLst>
      <p:ext uri="{BB962C8B-B14F-4D97-AF65-F5344CB8AC3E}">
        <p14:creationId xmlns:p14="http://schemas.microsoft.com/office/powerpoint/2010/main" val="2755912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DFDE9-18F4-48C4-A401-3E984B392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a:extLst>
              <a:ext uri="{FF2B5EF4-FFF2-40B4-BE49-F238E27FC236}">
                <a16:creationId xmlns:a16="http://schemas.microsoft.com/office/drawing/2014/main" id="{E517C9F2-47EC-46EF-9DAA-721B9E5EF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a:extLst>
              <a:ext uri="{FF2B5EF4-FFF2-40B4-BE49-F238E27FC236}">
                <a16:creationId xmlns:a16="http://schemas.microsoft.com/office/drawing/2014/main" id="{B3B2DCEB-FFB0-4E16-B62A-C5FBA3476A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B238C-2335-4007-98C9-471C02CC43B6}" type="datetimeFigureOut">
              <a:rPr lang="de-CH" smtClean="0"/>
              <a:t>01.11.2025</a:t>
            </a:fld>
            <a:endParaRPr lang="de-CH"/>
          </a:p>
        </p:txBody>
      </p:sp>
      <p:sp>
        <p:nvSpPr>
          <p:cNvPr id="5" name="Footer Placeholder 4">
            <a:extLst>
              <a:ext uri="{FF2B5EF4-FFF2-40B4-BE49-F238E27FC236}">
                <a16:creationId xmlns:a16="http://schemas.microsoft.com/office/drawing/2014/main" id="{028C72CA-B967-43BF-81A8-8AE258386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a:extLst>
              <a:ext uri="{FF2B5EF4-FFF2-40B4-BE49-F238E27FC236}">
                <a16:creationId xmlns:a16="http://schemas.microsoft.com/office/drawing/2014/main" id="{EDD67793-ADCE-4178-B0C6-9992EC74B2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4AC485-25DE-431E-B345-9C0A15BB7F8A}" type="slidenum">
              <a:rPr lang="de-CH" smtClean="0"/>
              <a:t>‹#›</a:t>
            </a:fld>
            <a:endParaRPr lang="de-CH"/>
          </a:p>
        </p:txBody>
      </p:sp>
    </p:spTree>
    <p:extLst>
      <p:ext uri="{BB962C8B-B14F-4D97-AF65-F5344CB8AC3E}">
        <p14:creationId xmlns:p14="http://schemas.microsoft.com/office/powerpoint/2010/main" val="15759566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arxiv.org/html/2302.01713v4" TargetMode="External"/><Relationship Id="rId2" Type="http://schemas.openxmlformats.org/officeDocument/2006/relationships/hyperlink" Target="https://mailarchive.ietf.org/arch/msg/nmop/dc8w2524j2RoV3ZduR7t8T0Rt7o/" TargetMode="External"/><Relationship Id="rId1" Type="http://schemas.openxmlformats.org/officeDocument/2006/relationships/slideLayout" Target="../slideLayouts/slideLayout2.xml"/><Relationship Id="rId4" Type="http://schemas.openxmlformats.org/officeDocument/2006/relationships/hyperlink" Target="https://arxiv.org/html/2402.06511v1"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datatracker.ietf.org/doc/html/draft-ietf-netconf-notif-envelope"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datatracker.ietf.org/doc/html/draft-netana-nmop-yang-message-broker-message-ke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atatracker.ietf.org/doc/html/draft-ietf-opsawg-collected-data-manifes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mailarchive.ietf.org/arch/msg/nmop/Yi-WE5SgZ1hIxDfYtlgSQQfbC7U/" TargetMode="External"/><Relationship Id="rId7" Type="http://schemas.openxmlformats.org/officeDocument/2006/relationships/image" Target="../media/image1.png"/><Relationship Id="rId2" Type="http://schemas.openxmlformats.org/officeDocument/2006/relationships/hyperlink" Target="https://mailarchive.ietf.org/arch/msg/nmop/MfIthPyz61aJ9fX5WgJPuJud0us/" TargetMode="External"/><Relationship Id="rId1" Type="http://schemas.openxmlformats.org/officeDocument/2006/relationships/slideLayout" Target="../slideLayouts/slideLayout2.xml"/><Relationship Id="rId6" Type="http://schemas.openxmlformats.org/officeDocument/2006/relationships/hyperlink" Target="https://mailarchive.ietf.org/arch/msg/nmop/aefFROi7Pgm3m6xxfovqX_LIQ1c/" TargetMode="External"/><Relationship Id="rId5" Type="http://schemas.openxmlformats.org/officeDocument/2006/relationships/hyperlink" Target="https://datatracker.ietf.org/doc/html/draft-ietf-netmod-rfc8407bis-22#section-4.3.1" TargetMode="External"/><Relationship Id="rId4" Type="http://schemas.openxmlformats.org/officeDocument/2006/relationships/hyperlink" Target="https://datatracker.ietf.org/doc/html/draft-ietf-netmod-yang-semver"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atatracker.ietf.org/doc/html/rfc8791" TargetMode="External"/><Relationship Id="rId2" Type="http://schemas.openxmlformats.org/officeDocument/2006/relationships/hyperlink" Target="https://mailarchive.ietf.org/arch/msg/nmop/cgOnUQDVc_8hb0YOkIMDyBXyCrU/" TargetMode="External"/><Relationship Id="rId1" Type="http://schemas.openxmlformats.org/officeDocument/2006/relationships/slideLayout" Target="../slideLayouts/slideLayout2.xml"/><Relationship Id="rId5" Type="http://schemas.openxmlformats.org/officeDocument/2006/relationships/hyperlink" Target="https://datatracker.ietf.org/doc/html/draft-ietf-netconf-notif-envelope" TargetMode="External"/><Relationship Id="rId4" Type="http://schemas.openxmlformats.org/officeDocument/2006/relationships/hyperlink" Target="https://datatracker.ietf.org/doc/html/rfc7950#section-4.2.10"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pmacct/pmacct" TargetMode="External"/><Relationship Id="rId2" Type="http://schemas.openxmlformats.org/officeDocument/2006/relationships/hyperlink" Target="github.com/NetGauze/NetGauze" TargetMode="External"/><Relationship Id="rId1" Type="http://schemas.openxmlformats.org/officeDocument/2006/relationships/slideLayout" Target="../slideLayouts/slideLayout2.xml"/><Relationship Id="rId4" Type="http://schemas.openxmlformats.org/officeDocument/2006/relationships/hyperlink" Target="https://datatracker.ietf.org/doc/html/draft-ietf-nmop-yang-message-broker-integrati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atatracker.ietf.org/doc/draft-ietf-netconf-yang-library-augmentedby/" TargetMode="External"/><Relationship Id="rId7" Type="http://schemas.openxmlformats.org/officeDocument/2006/relationships/hyperlink" Target="https://datatracker.ietf.org/doc/draft-ietf-nmop-message-broker-telemetry-message/" TargetMode="External"/><Relationship Id="rId2" Type="http://schemas.openxmlformats.org/officeDocument/2006/relationships/hyperlink" Target="https://datatracker.ietf.org/doc/draft-ietf-netconf-notif-envelope/" TargetMode="External"/><Relationship Id="rId1" Type="http://schemas.openxmlformats.org/officeDocument/2006/relationships/slideLayout" Target="../slideLayouts/slideLayout2.xml"/><Relationship Id="rId6" Type="http://schemas.openxmlformats.org/officeDocument/2006/relationships/hyperlink" Target="https://datatracker.ietf.org/doc/draft-ietf-nmop-yang-message-broker-integration/" TargetMode="External"/><Relationship Id="rId5" Type="http://schemas.openxmlformats.org/officeDocument/2006/relationships/hyperlink" Target="https://datatracker.ietf.org/doc/draft-ietf-netconf-yp-transport-capabilities/" TargetMode="External"/><Relationship Id="rId4" Type="http://schemas.openxmlformats.org/officeDocument/2006/relationships/hyperlink" Target="https://datatracker.ietf.org/doc/draft-ietf-netconf-yang-notifications-versioning/"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datatracker.ietf.org/doc/draft-ietf-netconf-udp-client-server/" TargetMode="External"/><Relationship Id="rId2" Type="http://schemas.openxmlformats.org/officeDocument/2006/relationships/hyperlink" Target="https://datatracker.ietf.org/doc/draft-ietf-netconf-udp-notif/" TargetMode="External"/><Relationship Id="rId1" Type="http://schemas.openxmlformats.org/officeDocument/2006/relationships/slideLayout" Target="../slideLayouts/slideLayout2.xml"/><Relationship Id="rId5" Type="http://schemas.openxmlformats.org/officeDocument/2006/relationships/hyperlink" Target="https://datatracker.ietf.org/doc/draft-netana-nmop-yang-anydata-validation/" TargetMode="External"/><Relationship Id="rId4" Type="http://schemas.openxmlformats.org/officeDocument/2006/relationships/hyperlink" Target="https://datatracker.ietf.org/doc/draft-ietf-netconf-distributed-noti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606830" y="1365772"/>
            <a:ext cx="11395314" cy="3239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t>An Architecture for YANG-Push to Message Broker </a:t>
            </a:r>
            <a:r>
              <a:rPr lang="en-US" sz="3400" b="1" dirty="0">
                <a:solidFill>
                  <a:srgbClr val="FF0000"/>
                </a:solidFill>
              </a:rPr>
              <a:t>Integration</a:t>
            </a:r>
            <a:br>
              <a:rPr lang="en-US" sz="3600" b="1" dirty="0"/>
            </a:br>
            <a:r>
              <a:rPr lang="en-US" sz="2800" dirty="0"/>
              <a:t>draft-ietf-nmop-yang-message-broker-integration-09</a:t>
            </a:r>
          </a:p>
          <a:p>
            <a:endParaRPr lang="en-US" sz="2800" dirty="0"/>
          </a:p>
          <a:p>
            <a:r>
              <a:rPr lang="en-US" sz="2800" dirty="0">
                <a:solidFill>
                  <a:schemeClr val="bg2">
                    <a:lumMod val="75000"/>
                  </a:schemeClr>
                </a:solidFill>
              </a:rPr>
              <a:t>Motivation and architecture of a native</a:t>
            </a:r>
          </a:p>
          <a:p>
            <a:r>
              <a:rPr lang="en-US" sz="2800" dirty="0">
                <a:solidFill>
                  <a:schemeClr val="bg2">
                    <a:lumMod val="75000"/>
                  </a:schemeClr>
                </a:solidFill>
              </a:rPr>
              <a:t>	YANG-Push notifications and YANG Schema integration</a:t>
            </a:r>
          </a:p>
          <a:p>
            <a:r>
              <a:rPr lang="en-US" sz="2800" dirty="0">
                <a:solidFill>
                  <a:schemeClr val="bg2">
                    <a:lumMod val="75000"/>
                  </a:schemeClr>
                </a:solidFill>
              </a:rPr>
              <a:t>		into Message Broker and YANG Schema Registry</a:t>
            </a:r>
          </a:p>
        </p:txBody>
      </p:sp>
      <p:sp>
        <p:nvSpPr>
          <p:cNvPr id="2" name="Slide Number Placeholder 1">
            <a:extLst>
              <a:ext uri="{FF2B5EF4-FFF2-40B4-BE49-F238E27FC236}">
                <a16:creationId xmlns:a16="http://schemas.microsoft.com/office/drawing/2014/main" id="{AD23057C-339A-4254-8994-8EB77B8B4163}"/>
              </a:ext>
            </a:extLst>
          </p:cNvPr>
          <p:cNvSpPr>
            <a:spLocks noGrp="1"/>
          </p:cNvSpPr>
          <p:nvPr>
            <p:ph type="sldNum" sz="quarter" idx="12"/>
          </p:nvPr>
        </p:nvSpPr>
        <p:spPr>
          <a:xfrm>
            <a:off x="11587892" y="6361637"/>
            <a:ext cx="414251" cy="365125"/>
          </a:xfrm>
        </p:spPr>
        <p:txBody>
          <a:bodyPr/>
          <a:lstStyle/>
          <a:p>
            <a:fld id="{FC4AC485-25DE-431E-B345-9C0A15BB7F8A}" type="slidenum">
              <a:rPr lang="de-CH" sz="2200" smtClean="0"/>
              <a:t>1</a:t>
            </a:fld>
            <a:endParaRPr lang="de-CH" sz="2200" dirty="0"/>
          </a:p>
        </p:txBody>
      </p:sp>
      <p:sp>
        <p:nvSpPr>
          <p:cNvPr id="6" name="Subtitle 4">
            <a:extLst>
              <a:ext uri="{FF2B5EF4-FFF2-40B4-BE49-F238E27FC236}">
                <a16:creationId xmlns:a16="http://schemas.microsoft.com/office/drawing/2014/main" id="{6CAA0765-1318-4A03-8F91-D3ECC43D8FA7}"/>
              </a:ext>
            </a:extLst>
          </p:cNvPr>
          <p:cNvSpPr txBox="1">
            <a:spLocks/>
          </p:cNvSpPr>
          <p:nvPr/>
        </p:nvSpPr>
        <p:spPr>
          <a:xfrm>
            <a:off x="838200" y="5658415"/>
            <a:ext cx="11163943" cy="70322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de-CH" sz="1400" b="1" dirty="0">
                <a:latin typeface="+mj-lt"/>
              </a:rPr>
              <a:t>thomas.graf@swisscom.com</a:t>
            </a:r>
            <a:br>
              <a:rPr lang="de-CH" sz="1400" b="1" dirty="0">
                <a:latin typeface="+mj-lt"/>
              </a:rPr>
            </a:br>
            <a:r>
              <a:rPr lang="de-CH" sz="1400" dirty="0">
                <a:latin typeface="+mj-lt"/>
              </a:rPr>
              <a:t>ahmed.elhassany@swisscom.com</a:t>
            </a:r>
          </a:p>
          <a:p>
            <a:pPr marL="0" indent="0" algn="r">
              <a:spcBef>
                <a:spcPts val="300"/>
              </a:spcBef>
              <a:buNone/>
              <a:defRPr sz="1782"/>
            </a:pPr>
            <a:endParaRPr lang="de-CH" sz="1400" dirty="0">
              <a:latin typeface="+mj-lt"/>
            </a:endParaRPr>
          </a:p>
          <a:p>
            <a:pPr marL="0" indent="0" algn="r">
              <a:spcBef>
                <a:spcPts val="300"/>
              </a:spcBef>
              <a:buNone/>
            </a:pPr>
            <a:r>
              <a:rPr lang="de-CH" sz="1400" dirty="0">
                <a:latin typeface="+mj-lt"/>
              </a:rPr>
              <a:t>1. November </a:t>
            </a:r>
            <a:r>
              <a:rPr lang="de-CH" sz="1400" dirty="0">
                <a:latin typeface="+mj-lt"/>
                <a:ea typeface="+mj-ea"/>
                <a:cs typeface="+mj-cs"/>
              </a:rPr>
              <a:t>2025</a:t>
            </a:r>
            <a:endParaRPr lang="de-CH" sz="1400" dirty="0">
              <a:latin typeface="+mj-lt"/>
            </a:endParaRPr>
          </a:p>
          <a:p>
            <a:pPr algn="r"/>
            <a:endParaRPr lang="de-CH" sz="2200" dirty="0"/>
          </a:p>
        </p:txBody>
      </p:sp>
    </p:spTree>
    <p:extLst>
      <p:ext uri="{BB962C8B-B14F-4D97-AF65-F5344CB8AC3E}">
        <p14:creationId xmlns:p14="http://schemas.microsoft.com/office/powerpoint/2010/main" val="357866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r>
              <a:rPr lang="en-US" sz="2800" b="1" dirty="0"/>
              <a:t>An Architecture for YANG-Push to Message Broker Integration</a:t>
            </a:r>
            <a:br>
              <a:rPr lang="en-GB" sz="3600" dirty="0"/>
            </a:br>
            <a:r>
              <a:rPr lang="en-GB" sz="2700" dirty="0">
                <a:solidFill>
                  <a:schemeClr val="bg2">
                    <a:lumMod val="75000"/>
                  </a:schemeClr>
                </a:solidFill>
              </a:rPr>
              <a:t>Status and Summary </a:t>
            </a:r>
            <a:r>
              <a:rPr lang="de-CH" sz="2700" dirty="0" err="1">
                <a:solidFill>
                  <a:schemeClr val="bg2">
                    <a:lumMod val="75000"/>
                  </a:schemeClr>
                </a:solidFill>
              </a:rPr>
              <a:t>from</a:t>
            </a:r>
            <a:r>
              <a:rPr lang="de-CH" sz="2700" dirty="0">
                <a:solidFill>
                  <a:schemeClr val="bg2">
                    <a:lumMod val="75000"/>
                  </a:schemeClr>
                </a:solidFill>
              </a:rPr>
              <a:t> </a:t>
            </a:r>
            <a:r>
              <a:rPr lang="de-CH" sz="2700" b="1" dirty="0">
                <a:solidFill>
                  <a:srgbClr val="FF0000"/>
                </a:solidFill>
              </a:rPr>
              <a:t>-08</a:t>
            </a:r>
            <a:endParaRPr lang="en-US" sz="2700" b="1" dirty="0">
              <a:solidFill>
                <a:srgbClr val="FF0000"/>
              </a:solidFill>
            </a:endParaRPr>
          </a:p>
        </p:txBody>
      </p:sp>
      <p:sp>
        <p:nvSpPr>
          <p:cNvPr id="3" name="Content Placeholder 2">
            <a:extLst>
              <a:ext uri="{FF2B5EF4-FFF2-40B4-BE49-F238E27FC236}">
                <a16:creationId xmlns:a16="http://schemas.microsoft.com/office/drawing/2014/main" id="{29C0DFD4-432D-4B0C-93DF-790441DCF5B9}"/>
              </a:ext>
            </a:extLst>
          </p:cNvPr>
          <p:cNvSpPr>
            <a:spLocks noGrp="1"/>
          </p:cNvSpPr>
          <p:nvPr>
            <p:ph idx="1"/>
          </p:nvPr>
        </p:nvSpPr>
        <p:spPr>
          <a:xfrm>
            <a:off x="838200" y="1772816"/>
            <a:ext cx="10601528" cy="4404148"/>
          </a:xfrm>
        </p:spPr>
        <p:txBody>
          <a:bodyPr>
            <a:noAutofit/>
          </a:bodyPr>
          <a:lstStyle/>
          <a:p>
            <a:r>
              <a:rPr lang="en-US" sz="1800" dirty="0">
                <a:latin typeface="Calibri Body"/>
              </a:rPr>
              <a:t>Addressed comments from Paul Aitken. Many thanks for the review! (</a:t>
            </a:r>
            <a:r>
              <a:rPr lang="en-US" sz="1800" dirty="0">
                <a:latin typeface="Calibri Body"/>
                <a:hlinkClick r:id="rId2"/>
              </a:rPr>
              <a:t>https://mailarchive.ietf.org/arch/msg/nmop/dc8w2524j2RoV3ZduR7t8T0Rt7o/</a:t>
            </a:r>
            <a:r>
              <a:rPr lang="en-US" sz="1800" dirty="0">
                <a:latin typeface="Calibri Body"/>
              </a:rPr>
              <a:t>). </a:t>
            </a:r>
          </a:p>
          <a:p>
            <a:r>
              <a:rPr lang="en-US" sz="1800" dirty="0">
                <a:latin typeface="Calibri Body"/>
              </a:rPr>
              <a:t>Paul raised a valid point on YANG and Data Mesh industry adoption claims. </a:t>
            </a:r>
            <a:br>
              <a:rPr lang="en-US" sz="1800" dirty="0">
                <a:latin typeface="Calibri Body"/>
              </a:rPr>
            </a:br>
            <a:br>
              <a:rPr lang="en-US" sz="1800" dirty="0">
                <a:latin typeface="Calibri Body"/>
              </a:rPr>
            </a:br>
            <a:r>
              <a:rPr lang="en-US" sz="1800" dirty="0">
                <a:latin typeface="Calibri Body"/>
              </a:rPr>
              <a:t>That external references for this claims would help to undermine that this not just the authors opinion. </a:t>
            </a:r>
            <a:br>
              <a:rPr lang="en-US" sz="1800" dirty="0">
                <a:latin typeface="Calibri Body"/>
              </a:rPr>
            </a:br>
            <a:endParaRPr lang="en-US" sz="1800" dirty="0">
              <a:latin typeface="Calibri Body"/>
            </a:endParaRPr>
          </a:p>
          <a:p>
            <a:pPr lvl="1">
              <a:spcBef>
                <a:spcPts val="1000"/>
              </a:spcBef>
              <a:buFont typeface="Wingdings" panose="05000000000000000000" pitchFamily="2" charset="2"/>
              <a:buChar char="Ø"/>
            </a:pPr>
            <a:r>
              <a:rPr lang="de-CH" sz="1800" b="1" dirty="0">
                <a:solidFill>
                  <a:srgbClr val="FF0000"/>
                </a:solidFill>
                <a:latin typeface="Calibri Body"/>
              </a:rPr>
              <a:t>The </a:t>
            </a:r>
            <a:r>
              <a:rPr lang="de-CH" sz="1800" b="1" dirty="0" err="1">
                <a:solidFill>
                  <a:srgbClr val="FF0000"/>
                </a:solidFill>
                <a:latin typeface="Calibri Body"/>
              </a:rPr>
              <a:t>authors</a:t>
            </a:r>
            <a:r>
              <a:rPr lang="de-CH" sz="1800" b="1" dirty="0">
                <a:solidFill>
                  <a:srgbClr val="FF0000"/>
                </a:solidFill>
                <a:latin typeface="Calibri Body"/>
              </a:rPr>
              <a:t> </a:t>
            </a:r>
            <a:r>
              <a:rPr lang="de-CH" sz="1800" b="1" dirty="0" err="1">
                <a:solidFill>
                  <a:srgbClr val="FF0000"/>
                </a:solidFill>
                <a:latin typeface="Calibri Body"/>
              </a:rPr>
              <a:t>believe</a:t>
            </a:r>
            <a:r>
              <a:rPr lang="de-CH" sz="1800" b="1" dirty="0">
                <a:solidFill>
                  <a:srgbClr val="FF0000"/>
                </a:solidFill>
                <a:latin typeface="Calibri Body"/>
              </a:rPr>
              <a:t> </a:t>
            </a:r>
            <a:r>
              <a:rPr lang="de-CH" sz="1800" b="1" dirty="0" err="1">
                <a:solidFill>
                  <a:srgbClr val="FF0000"/>
                </a:solidFill>
                <a:latin typeface="Calibri Body"/>
              </a:rPr>
              <a:t>that</a:t>
            </a:r>
            <a:r>
              <a:rPr lang="de-CH" sz="1800" b="1" dirty="0">
                <a:solidFill>
                  <a:srgbClr val="FF0000"/>
                </a:solidFill>
                <a:latin typeface="Calibri Body"/>
              </a:rPr>
              <a:t> </a:t>
            </a:r>
            <a:r>
              <a:rPr lang="de-CH" sz="1800" b="1" dirty="0" err="1">
                <a:solidFill>
                  <a:srgbClr val="FF0000"/>
                </a:solidFill>
                <a:latin typeface="Calibri Body"/>
              </a:rPr>
              <a:t>the</a:t>
            </a:r>
            <a:r>
              <a:rPr lang="de-CH" sz="1800" b="1" dirty="0">
                <a:solidFill>
                  <a:srgbClr val="FF0000"/>
                </a:solidFill>
                <a:latin typeface="Calibri Body"/>
              </a:rPr>
              <a:t> </a:t>
            </a:r>
            <a:r>
              <a:rPr lang="de-CH" sz="1800" b="1" dirty="0" err="1">
                <a:solidFill>
                  <a:srgbClr val="FF0000"/>
                </a:solidFill>
                <a:latin typeface="Calibri Body"/>
              </a:rPr>
              <a:t>two</a:t>
            </a:r>
            <a:r>
              <a:rPr lang="de-CH" sz="1800" b="1" dirty="0">
                <a:solidFill>
                  <a:srgbClr val="FF0000"/>
                </a:solidFill>
                <a:latin typeface="Calibri Body"/>
              </a:rPr>
              <a:t> </a:t>
            </a:r>
            <a:r>
              <a:rPr lang="de-CH" sz="1800" b="1" dirty="0" err="1">
                <a:solidFill>
                  <a:srgbClr val="FF0000"/>
                </a:solidFill>
                <a:latin typeface="Calibri Body"/>
              </a:rPr>
              <a:t>references</a:t>
            </a:r>
            <a:r>
              <a:rPr lang="de-CH" sz="1800" b="1" dirty="0">
                <a:solidFill>
                  <a:srgbClr val="FF0000"/>
                </a:solidFill>
                <a:latin typeface="Calibri Body"/>
              </a:rPr>
              <a:t> </a:t>
            </a:r>
            <a:r>
              <a:rPr lang="de-CH" sz="1800" b="1" dirty="0" err="1">
                <a:solidFill>
                  <a:srgbClr val="FF0000"/>
                </a:solidFill>
                <a:latin typeface="Calibri Body"/>
              </a:rPr>
              <a:t>would</a:t>
            </a:r>
            <a:r>
              <a:rPr lang="de-CH" sz="1800" b="1" dirty="0">
                <a:solidFill>
                  <a:srgbClr val="FF0000"/>
                </a:solidFill>
                <a:latin typeface="Calibri Body"/>
              </a:rPr>
              <a:t> </a:t>
            </a:r>
            <a:r>
              <a:rPr lang="de-CH" sz="1800" b="1" dirty="0" err="1">
                <a:solidFill>
                  <a:srgbClr val="FF0000"/>
                </a:solidFill>
                <a:latin typeface="Calibri Body"/>
              </a:rPr>
              <a:t>undermine</a:t>
            </a:r>
            <a:r>
              <a:rPr lang="de-CH" sz="1800" b="1" dirty="0">
                <a:solidFill>
                  <a:srgbClr val="FF0000"/>
                </a:solidFill>
                <a:latin typeface="Calibri Body"/>
              </a:rPr>
              <a:t> </a:t>
            </a:r>
            <a:r>
              <a:rPr lang="de-CH" sz="1800" b="1" dirty="0" err="1">
                <a:solidFill>
                  <a:srgbClr val="FF0000"/>
                </a:solidFill>
                <a:latin typeface="Calibri Body"/>
              </a:rPr>
              <a:t>the</a:t>
            </a:r>
            <a:r>
              <a:rPr lang="de-CH" sz="1800" b="1" dirty="0">
                <a:solidFill>
                  <a:srgbClr val="FF0000"/>
                </a:solidFill>
                <a:latin typeface="Calibri Body"/>
              </a:rPr>
              <a:t> </a:t>
            </a:r>
            <a:r>
              <a:rPr lang="de-CH" sz="1800" b="1" dirty="0" err="1">
                <a:solidFill>
                  <a:srgbClr val="FF0000"/>
                </a:solidFill>
                <a:latin typeface="Calibri Body"/>
              </a:rPr>
              <a:t>claim</a:t>
            </a:r>
            <a:r>
              <a:rPr lang="de-CH" sz="1800" b="1" dirty="0">
                <a:solidFill>
                  <a:srgbClr val="FF0000"/>
                </a:solidFill>
                <a:latin typeface="Calibri Body"/>
              </a:rPr>
              <a:t> best. </a:t>
            </a:r>
            <a:r>
              <a:rPr lang="de-CH" sz="1800" b="1" dirty="0" err="1">
                <a:solidFill>
                  <a:srgbClr val="FF0000"/>
                </a:solidFill>
                <a:latin typeface="Calibri Body"/>
              </a:rPr>
              <a:t>Please</a:t>
            </a:r>
            <a:r>
              <a:rPr lang="de-CH" sz="1800" b="1" dirty="0">
                <a:solidFill>
                  <a:srgbClr val="FF0000"/>
                </a:solidFill>
                <a:latin typeface="Calibri Body"/>
              </a:rPr>
              <a:t> </a:t>
            </a:r>
            <a:r>
              <a:rPr lang="de-CH" sz="1800" b="1" dirty="0" err="1">
                <a:solidFill>
                  <a:srgbClr val="FF0000"/>
                </a:solidFill>
                <a:latin typeface="Calibri Body"/>
              </a:rPr>
              <a:t>speak</a:t>
            </a:r>
            <a:r>
              <a:rPr lang="de-CH" sz="1800" b="1" dirty="0">
                <a:solidFill>
                  <a:srgbClr val="FF0000"/>
                </a:solidFill>
                <a:latin typeface="Calibri Body"/>
              </a:rPr>
              <a:t> </a:t>
            </a:r>
            <a:r>
              <a:rPr lang="de-CH" sz="1800" b="1" dirty="0" err="1">
                <a:solidFill>
                  <a:srgbClr val="FF0000"/>
                </a:solidFill>
                <a:latin typeface="Calibri Body"/>
              </a:rPr>
              <a:t>up</a:t>
            </a:r>
            <a:r>
              <a:rPr lang="de-CH" sz="1800" b="1" dirty="0">
                <a:solidFill>
                  <a:srgbClr val="FF0000"/>
                </a:solidFill>
                <a:latin typeface="Calibri Body"/>
              </a:rPr>
              <a:t> </a:t>
            </a:r>
            <a:r>
              <a:rPr lang="de-CH" sz="1800" b="1" dirty="0" err="1">
                <a:solidFill>
                  <a:srgbClr val="FF0000"/>
                </a:solidFill>
                <a:latin typeface="Calibri Body"/>
              </a:rPr>
              <a:t>if</a:t>
            </a:r>
            <a:r>
              <a:rPr lang="de-CH" sz="1800" b="1" dirty="0">
                <a:solidFill>
                  <a:srgbClr val="FF0000"/>
                </a:solidFill>
                <a:latin typeface="Calibri Body"/>
              </a:rPr>
              <a:t> </a:t>
            </a:r>
            <a:r>
              <a:rPr lang="de-CH" sz="1800" b="1" dirty="0" err="1">
                <a:solidFill>
                  <a:srgbClr val="FF0000"/>
                </a:solidFill>
                <a:latin typeface="Calibri Body"/>
              </a:rPr>
              <a:t>you</a:t>
            </a:r>
            <a:r>
              <a:rPr lang="de-CH" sz="1800" b="1" dirty="0">
                <a:solidFill>
                  <a:srgbClr val="FF0000"/>
                </a:solidFill>
                <a:latin typeface="Calibri Body"/>
              </a:rPr>
              <a:t> </a:t>
            </a:r>
            <a:r>
              <a:rPr lang="de-CH" sz="1800" b="1" dirty="0" err="1">
                <a:solidFill>
                  <a:srgbClr val="FF0000"/>
                </a:solidFill>
                <a:latin typeface="Calibri Body"/>
              </a:rPr>
              <a:t>disagree</a:t>
            </a:r>
            <a:r>
              <a:rPr lang="de-CH" sz="1800" b="1" dirty="0">
                <a:solidFill>
                  <a:srgbClr val="FF0000"/>
                </a:solidFill>
                <a:latin typeface="Calibri Body"/>
              </a:rPr>
              <a:t> </a:t>
            </a:r>
            <a:r>
              <a:rPr lang="de-CH" sz="1800" b="1" dirty="0" err="1">
                <a:solidFill>
                  <a:srgbClr val="FF0000"/>
                </a:solidFill>
                <a:latin typeface="Calibri Body"/>
              </a:rPr>
              <a:t>or</a:t>
            </a:r>
            <a:r>
              <a:rPr lang="de-CH" sz="1800" b="1" dirty="0">
                <a:solidFill>
                  <a:srgbClr val="FF0000"/>
                </a:solidFill>
                <a:latin typeface="Calibri Body"/>
              </a:rPr>
              <a:t> </a:t>
            </a:r>
            <a:r>
              <a:rPr lang="de-CH" sz="1800" b="1" dirty="0" err="1">
                <a:solidFill>
                  <a:srgbClr val="FF0000"/>
                </a:solidFill>
                <a:latin typeface="Calibri Body"/>
              </a:rPr>
              <a:t>have</a:t>
            </a:r>
            <a:r>
              <a:rPr lang="de-CH" sz="1800" b="1" dirty="0">
                <a:solidFill>
                  <a:srgbClr val="FF0000"/>
                </a:solidFill>
                <a:latin typeface="Calibri Body"/>
              </a:rPr>
              <a:t> a </a:t>
            </a:r>
            <a:r>
              <a:rPr lang="de-CH" sz="1800" b="1" dirty="0" err="1">
                <a:solidFill>
                  <a:srgbClr val="FF0000"/>
                </a:solidFill>
                <a:latin typeface="Calibri Body"/>
              </a:rPr>
              <a:t>better</a:t>
            </a:r>
            <a:r>
              <a:rPr lang="de-CH" sz="1800" b="1" dirty="0">
                <a:solidFill>
                  <a:srgbClr val="FF0000"/>
                </a:solidFill>
                <a:latin typeface="Calibri Body"/>
              </a:rPr>
              <a:t> </a:t>
            </a:r>
            <a:r>
              <a:rPr lang="de-CH" sz="1800" b="1" dirty="0" err="1">
                <a:solidFill>
                  <a:srgbClr val="FF0000"/>
                </a:solidFill>
                <a:latin typeface="Calibri Body"/>
              </a:rPr>
              <a:t>proposal</a:t>
            </a:r>
            <a:r>
              <a:rPr lang="de-CH" sz="1800" b="1" dirty="0">
                <a:solidFill>
                  <a:srgbClr val="FF0000"/>
                </a:solidFill>
                <a:latin typeface="Calibri Body"/>
              </a:rPr>
              <a:t>.</a:t>
            </a:r>
            <a:br>
              <a:rPr lang="de-CH" sz="1800" b="1" dirty="0">
                <a:solidFill>
                  <a:srgbClr val="FF0000"/>
                </a:solidFill>
                <a:latin typeface="Calibri Body"/>
              </a:rPr>
            </a:br>
            <a:endParaRPr lang="en-US" sz="1800" b="1" dirty="0">
              <a:solidFill>
                <a:srgbClr val="FF0000"/>
              </a:solidFill>
              <a:latin typeface="Calibri Body"/>
            </a:endParaRPr>
          </a:p>
          <a:p>
            <a:pPr lvl="1">
              <a:spcBef>
                <a:spcPts val="1000"/>
              </a:spcBef>
            </a:pPr>
            <a:r>
              <a:rPr lang="en-US" sz="1800" dirty="0">
                <a:latin typeface="Calibri Body"/>
              </a:rPr>
              <a:t>Towards Avoiding the Data Mess: Industry Insights from Data Mesh Implementations: </a:t>
            </a:r>
            <a:r>
              <a:rPr lang="en-US" sz="1800" dirty="0">
                <a:latin typeface="Calibri Body"/>
                <a:hlinkClick r:id="rId3"/>
              </a:rPr>
              <a:t>https://arxiv.org/html/2302.01713v4</a:t>
            </a:r>
            <a:endParaRPr lang="en-US" sz="1800" dirty="0">
              <a:latin typeface="Calibri Body"/>
            </a:endParaRPr>
          </a:p>
          <a:p>
            <a:pPr lvl="1">
              <a:spcBef>
                <a:spcPts val="1000"/>
              </a:spcBef>
            </a:pPr>
            <a:r>
              <a:rPr lang="en-US" sz="1800" dirty="0">
                <a:latin typeface="Calibri Body"/>
              </a:rPr>
              <a:t>Toward Building a Semantic Network Inventory for Model-Driven Telemetry: </a:t>
            </a:r>
            <a:r>
              <a:rPr lang="en-US" sz="1800" dirty="0">
                <a:latin typeface="Calibri Body"/>
                <a:hlinkClick r:id="rId4"/>
              </a:rPr>
              <a:t>https://arxiv.org/html/2402.06511v1</a:t>
            </a:r>
            <a:endParaRPr lang="en-US" sz="1800" dirty="0">
              <a:latin typeface="Calibri Body"/>
            </a:endParaRPr>
          </a:p>
        </p:txBody>
      </p:sp>
      <p:sp>
        <p:nvSpPr>
          <p:cNvPr id="8" name="Slide Number Placeholder 1">
            <a:extLst>
              <a:ext uri="{FF2B5EF4-FFF2-40B4-BE49-F238E27FC236}">
                <a16:creationId xmlns:a16="http://schemas.microsoft.com/office/drawing/2014/main" id="{F03D7BF8-F90A-4F8C-8FCE-B1DB1DEC687A}"/>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2</a:t>
            </a:fld>
            <a:endParaRPr lang="de-CH" sz="1400" dirty="0"/>
          </a:p>
        </p:txBody>
      </p:sp>
    </p:spTree>
    <p:extLst>
      <p:ext uri="{BB962C8B-B14F-4D97-AF65-F5344CB8AC3E}">
        <p14:creationId xmlns:p14="http://schemas.microsoft.com/office/powerpoint/2010/main" val="261750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2E10-D23C-63C1-BF5E-2E15CFD128F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F6D5FF2-E4CF-46B4-608A-82B9EF4D42C4}"/>
              </a:ext>
            </a:extLst>
          </p:cNvPr>
          <p:cNvPicPr>
            <a:picLocks noChangeAspect="1"/>
          </p:cNvPicPr>
          <p:nvPr/>
        </p:nvPicPr>
        <p:blipFill>
          <a:blip r:embed="rId2"/>
          <a:stretch>
            <a:fillRect/>
          </a:stretch>
        </p:blipFill>
        <p:spPr>
          <a:xfrm>
            <a:off x="7498702" y="1287237"/>
            <a:ext cx="4089190" cy="5375306"/>
          </a:xfrm>
          <a:prstGeom prst="rect">
            <a:avLst/>
          </a:prstGeom>
        </p:spPr>
      </p:pic>
      <p:sp>
        <p:nvSpPr>
          <p:cNvPr id="2" name="Title 1">
            <a:extLst>
              <a:ext uri="{FF2B5EF4-FFF2-40B4-BE49-F238E27FC236}">
                <a16:creationId xmlns:a16="http://schemas.microsoft.com/office/drawing/2014/main" id="{925D8FC1-6AD2-4FDB-0618-87CF7F39767C}"/>
              </a:ext>
            </a:extLst>
          </p:cNvPr>
          <p:cNvSpPr>
            <a:spLocks noGrp="1"/>
          </p:cNvSpPr>
          <p:nvPr>
            <p:ph type="title"/>
          </p:nvPr>
        </p:nvSpPr>
        <p:spPr/>
        <p:txBody>
          <a:bodyPr>
            <a:normAutofit/>
          </a:bodyPr>
          <a:lstStyle/>
          <a:p>
            <a:r>
              <a:rPr lang="en-US" sz="2800" b="1" dirty="0"/>
              <a:t>An Architecture for YANG-Push to Message Broker Integration</a:t>
            </a:r>
            <a:br>
              <a:rPr lang="en-GB" sz="3600" dirty="0"/>
            </a:br>
            <a:r>
              <a:rPr lang="en-GB" sz="2700" dirty="0">
                <a:solidFill>
                  <a:schemeClr val="bg2">
                    <a:lumMod val="75000"/>
                  </a:schemeClr>
                </a:solidFill>
              </a:rPr>
              <a:t>Status and Summary </a:t>
            </a:r>
            <a:r>
              <a:rPr lang="de-CH" sz="2700" dirty="0" err="1">
                <a:solidFill>
                  <a:schemeClr val="bg2">
                    <a:lumMod val="75000"/>
                  </a:schemeClr>
                </a:solidFill>
              </a:rPr>
              <a:t>from</a:t>
            </a:r>
            <a:r>
              <a:rPr lang="de-CH" sz="2700" dirty="0">
                <a:solidFill>
                  <a:schemeClr val="bg2">
                    <a:lumMod val="75000"/>
                  </a:schemeClr>
                </a:solidFill>
              </a:rPr>
              <a:t> </a:t>
            </a:r>
            <a:r>
              <a:rPr lang="de-CH" sz="2700" b="1" dirty="0">
                <a:solidFill>
                  <a:srgbClr val="FF0000"/>
                </a:solidFill>
              </a:rPr>
              <a:t>-09</a:t>
            </a:r>
            <a:endParaRPr lang="en-US" sz="2700" dirty="0">
              <a:solidFill>
                <a:schemeClr val="bg2">
                  <a:lumMod val="75000"/>
                </a:schemeClr>
              </a:solidFill>
            </a:endParaRPr>
          </a:p>
        </p:txBody>
      </p:sp>
      <p:sp>
        <p:nvSpPr>
          <p:cNvPr id="3" name="Content Placeholder 2">
            <a:extLst>
              <a:ext uri="{FF2B5EF4-FFF2-40B4-BE49-F238E27FC236}">
                <a16:creationId xmlns:a16="http://schemas.microsoft.com/office/drawing/2014/main" id="{E1C8AC62-B5C5-ADE4-1957-88D3A14E964A}"/>
              </a:ext>
            </a:extLst>
          </p:cNvPr>
          <p:cNvSpPr>
            <a:spLocks noGrp="1"/>
          </p:cNvSpPr>
          <p:nvPr>
            <p:ph idx="1"/>
          </p:nvPr>
        </p:nvSpPr>
        <p:spPr>
          <a:xfrm>
            <a:off x="838200" y="1772816"/>
            <a:ext cx="6889468" cy="4404148"/>
          </a:xfrm>
        </p:spPr>
        <p:txBody>
          <a:bodyPr>
            <a:noAutofit/>
          </a:bodyPr>
          <a:lstStyle/>
          <a:p>
            <a:r>
              <a:rPr lang="en-US" sz="1800" dirty="0">
                <a:latin typeface="Calibri Body"/>
              </a:rPr>
              <a:t>Section 4.5, "Stream Catalog" was added. The term "Stream Catalog" was previously already defined. That semantics are exported to "Stream Catalog" and that end users interact with the "Streaming Catalog" is now clearly defined in the document. All other functional aspects of a "Stream Catalog" is out of document scope.</a:t>
            </a:r>
          </a:p>
          <a:p>
            <a:r>
              <a:rPr lang="en-US" sz="1800" dirty="0">
                <a:latin typeface="Calibri Body"/>
              </a:rPr>
              <a:t>Nacho mentioned in during IETF 123 that "Data Catalog" would be a better term than "Stream Catalog". The authors believe that "Stream Catalog" is a more commonly used term in context of Message Brokers. </a:t>
            </a:r>
            <a:r>
              <a:rPr lang="en-US" sz="1800" b="1" dirty="0">
                <a:solidFill>
                  <a:srgbClr val="FF0000"/>
                </a:solidFill>
                <a:latin typeface="Calibri Body"/>
              </a:rPr>
              <a:t>What is the working group opinion?</a:t>
            </a:r>
          </a:p>
          <a:p>
            <a:r>
              <a:rPr lang="en-US" sz="1800" dirty="0">
                <a:latin typeface="Calibri Body"/>
                <a:ea typeface="Times New Roman" panose="02020603050405020304" pitchFamily="18" charset="0"/>
              </a:rPr>
              <a:t>Changed from "</a:t>
            </a:r>
            <a:r>
              <a:rPr lang="en-US" sz="1800" dirty="0" err="1">
                <a:latin typeface="Calibri Body"/>
                <a:ea typeface="Times New Roman" panose="02020603050405020304" pitchFamily="18" charset="0"/>
              </a:rPr>
              <a:t>sysName</a:t>
            </a:r>
            <a:r>
              <a:rPr lang="en-US" sz="1800" dirty="0">
                <a:latin typeface="Calibri Body"/>
                <a:ea typeface="Times New Roman" panose="02020603050405020304" pitchFamily="18" charset="0"/>
              </a:rPr>
              <a:t>" to "hostname" to adapt to changes in </a:t>
            </a:r>
            <a:r>
              <a:rPr lang="en-US" sz="1800" dirty="0">
                <a:latin typeface="Calibri Body"/>
                <a:ea typeface="Times New Roman" panose="02020603050405020304" pitchFamily="18" charset="0"/>
                <a:hlinkClick r:id="rId3"/>
              </a:rPr>
              <a:t>draft-</a:t>
            </a:r>
            <a:r>
              <a:rPr lang="en-US" sz="1800" dirty="0" err="1">
                <a:latin typeface="Calibri Body"/>
                <a:ea typeface="Times New Roman" panose="02020603050405020304" pitchFamily="18" charset="0"/>
                <a:hlinkClick r:id="rId3"/>
              </a:rPr>
              <a:t>ietf</a:t>
            </a:r>
            <a:r>
              <a:rPr lang="en-US" sz="1800" dirty="0">
                <a:latin typeface="Calibri Body"/>
                <a:ea typeface="Times New Roman" panose="02020603050405020304" pitchFamily="18" charset="0"/>
                <a:hlinkClick r:id="rId3"/>
              </a:rPr>
              <a:t>-netconf-</a:t>
            </a:r>
            <a:r>
              <a:rPr lang="en-US" sz="1800" dirty="0" err="1">
                <a:latin typeface="Calibri Body"/>
                <a:ea typeface="Times New Roman" panose="02020603050405020304" pitchFamily="18" charset="0"/>
                <a:hlinkClick r:id="rId3"/>
              </a:rPr>
              <a:t>notif</a:t>
            </a:r>
            <a:r>
              <a:rPr lang="en-US" sz="1800" dirty="0">
                <a:latin typeface="Calibri Body"/>
                <a:ea typeface="Times New Roman" panose="02020603050405020304" pitchFamily="18" charset="0"/>
                <a:hlinkClick r:id="rId3"/>
              </a:rPr>
              <a:t>-envelope</a:t>
            </a:r>
            <a:r>
              <a:rPr lang="en-US" sz="1800" dirty="0">
                <a:latin typeface="Calibri Body"/>
                <a:ea typeface="Times New Roman" panose="02020603050405020304" pitchFamily="18" charset="0"/>
              </a:rPr>
              <a:t>.</a:t>
            </a:r>
          </a:p>
          <a:p>
            <a:r>
              <a:rPr lang="en-US" sz="1800" dirty="0">
                <a:effectLst/>
                <a:latin typeface="Calibri Body"/>
                <a:ea typeface="Times New Roman" panose="02020603050405020304" pitchFamily="18" charset="0"/>
              </a:rPr>
              <a:t>Changed </a:t>
            </a:r>
            <a:r>
              <a:rPr lang="en-US" sz="1800" dirty="0">
                <a:latin typeface="Calibri Body"/>
                <a:ea typeface="Times New Roman" panose="02020603050405020304" pitchFamily="18" charset="0"/>
              </a:rPr>
              <a:t>message broker examples from RabbitMQ to Apache Pulsar since Apache Pulsar also supports </a:t>
            </a:r>
            <a:r>
              <a:rPr lang="en-US" sz="1800" dirty="0">
                <a:latin typeface="Calibri Body"/>
                <a:ea typeface="Times New Roman" panose="02020603050405020304" pitchFamily="18" charset="0"/>
                <a:hlinkClick r:id="rId4"/>
              </a:rPr>
              <a:t>draft-</a:t>
            </a:r>
            <a:r>
              <a:rPr lang="en-US" sz="1800" dirty="0" err="1">
                <a:latin typeface="Calibri Body"/>
                <a:ea typeface="Times New Roman" panose="02020603050405020304" pitchFamily="18" charset="0"/>
                <a:hlinkClick r:id="rId4"/>
              </a:rPr>
              <a:t>netana</a:t>
            </a:r>
            <a:r>
              <a:rPr lang="en-US" sz="1800" dirty="0">
                <a:latin typeface="Calibri Body"/>
                <a:ea typeface="Times New Roman" panose="02020603050405020304" pitchFamily="18" charset="0"/>
                <a:hlinkClick r:id="rId4"/>
              </a:rPr>
              <a:t>-</a:t>
            </a:r>
            <a:r>
              <a:rPr lang="en-US" sz="1800" dirty="0" err="1">
                <a:latin typeface="Calibri Body"/>
                <a:ea typeface="Times New Roman" panose="02020603050405020304" pitchFamily="18" charset="0"/>
                <a:hlinkClick r:id="rId4"/>
              </a:rPr>
              <a:t>nmop</a:t>
            </a:r>
            <a:r>
              <a:rPr lang="en-US" sz="1800" dirty="0">
                <a:latin typeface="Calibri Body"/>
                <a:ea typeface="Times New Roman" panose="02020603050405020304" pitchFamily="18" charset="0"/>
                <a:hlinkClick r:id="rId4"/>
              </a:rPr>
              <a:t>-yang-message-broker-message-key</a:t>
            </a:r>
            <a:r>
              <a:rPr lang="en-US" sz="1800" dirty="0">
                <a:latin typeface="Calibri Body"/>
                <a:ea typeface="Times New Roman" panose="02020603050405020304" pitchFamily="18" charset="0"/>
              </a:rPr>
              <a:t> </a:t>
            </a:r>
            <a:r>
              <a:rPr lang="en-US" sz="1800">
                <a:latin typeface="Calibri Body"/>
                <a:ea typeface="Times New Roman" panose="02020603050405020304" pitchFamily="18" charset="0"/>
              </a:rPr>
              <a:t>aspects.</a:t>
            </a:r>
            <a:endParaRPr lang="en-US" sz="1800" dirty="0">
              <a:latin typeface="Calibri Body"/>
              <a:ea typeface="Times New Roman" panose="02020603050405020304" pitchFamily="18" charset="0"/>
            </a:endParaRPr>
          </a:p>
        </p:txBody>
      </p:sp>
      <p:sp>
        <p:nvSpPr>
          <p:cNvPr id="8" name="Slide Number Placeholder 1">
            <a:extLst>
              <a:ext uri="{FF2B5EF4-FFF2-40B4-BE49-F238E27FC236}">
                <a16:creationId xmlns:a16="http://schemas.microsoft.com/office/drawing/2014/main" id="{8BB66400-890A-2BF7-2334-5D3E2ED00552}"/>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3</a:t>
            </a:fld>
            <a:endParaRPr lang="de-CH" sz="1400" dirty="0"/>
          </a:p>
        </p:txBody>
      </p:sp>
      <p:sp>
        <p:nvSpPr>
          <p:cNvPr id="5" name="Oval 4">
            <a:extLst>
              <a:ext uri="{FF2B5EF4-FFF2-40B4-BE49-F238E27FC236}">
                <a16:creationId xmlns:a16="http://schemas.microsoft.com/office/drawing/2014/main" id="{8C23250E-A19C-6C6E-E1FC-F12B08950F9A}"/>
              </a:ext>
            </a:extLst>
          </p:cNvPr>
          <p:cNvSpPr/>
          <p:nvPr/>
        </p:nvSpPr>
        <p:spPr>
          <a:xfrm>
            <a:off x="8141919" y="5153464"/>
            <a:ext cx="678730" cy="650450"/>
          </a:xfrm>
          <a:prstGeom prst="ellipse">
            <a:avLst/>
          </a:prstGeom>
          <a:solidFill>
            <a:srgbClr val="FF0000">
              <a:alpha val="2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2750719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B5027-5F9C-B1E6-0B7E-B85D1FD63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3503D3-1A0C-80A8-0BCF-4B81D8325DA7}"/>
              </a:ext>
            </a:extLst>
          </p:cNvPr>
          <p:cNvSpPr>
            <a:spLocks noGrp="1"/>
          </p:cNvSpPr>
          <p:nvPr>
            <p:ph type="title"/>
          </p:nvPr>
        </p:nvSpPr>
        <p:spPr/>
        <p:txBody>
          <a:bodyPr>
            <a:normAutofit/>
          </a:bodyPr>
          <a:lstStyle/>
          <a:p>
            <a:r>
              <a:rPr lang="en-US" sz="2800" b="1" dirty="0"/>
              <a:t>An Architecture for YANG-Push to Message Broker Integration</a:t>
            </a:r>
            <a:br>
              <a:rPr lang="en-GB" sz="3600" dirty="0"/>
            </a:br>
            <a:r>
              <a:rPr lang="en-GB" sz="2700" dirty="0">
                <a:solidFill>
                  <a:schemeClr val="bg2">
                    <a:lumMod val="75000"/>
                  </a:schemeClr>
                </a:solidFill>
              </a:rPr>
              <a:t>Next Steps</a:t>
            </a:r>
            <a:endParaRPr lang="en-US" sz="2700" dirty="0">
              <a:solidFill>
                <a:schemeClr val="bg2">
                  <a:lumMod val="75000"/>
                </a:schemeClr>
              </a:solidFill>
            </a:endParaRPr>
          </a:p>
        </p:txBody>
      </p:sp>
      <p:sp>
        <p:nvSpPr>
          <p:cNvPr id="3" name="Content Placeholder 2">
            <a:extLst>
              <a:ext uri="{FF2B5EF4-FFF2-40B4-BE49-F238E27FC236}">
                <a16:creationId xmlns:a16="http://schemas.microsoft.com/office/drawing/2014/main" id="{9C0498A2-E3FA-3E2D-2B34-142A2DCB1578}"/>
              </a:ext>
            </a:extLst>
          </p:cNvPr>
          <p:cNvSpPr>
            <a:spLocks noGrp="1"/>
          </p:cNvSpPr>
          <p:nvPr>
            <p:ph idx="1"/>
          </p:nvPr>
        </p:nvSpPr>
        <p:spPr>
          <a:xfrm>
            <a:off x="838200" y="1772816"/>
            <a:ext cx="10886440" cy="4404148"/>
          </a:xfrm>
        </p:spPr>
        <p:txBody>
          <a:bodyPr>
            <a:noAutofit/>
          </a:bodyPr>
          <a:lstStyle/>
          <a:p>
            <a:pPr marL="0" indent="0">
              <a:buNone/>
            </a:pPr>
            <a:r>
              <a:rPr lang="en-US" sz="1800" b="1" dirty="0">
                <a:latin typeface="Calibri Body"/>
              </a:rPr>
              <a:t>Next Steps</a:t>
            </a:r>
          </a:p>
          <a:p>
            <a:pPr>
              <a:buFont typeface="Wingdings" panose="05000000000000000000" pitchFamily="2" charset="2"/>
              <a:buChar char="Ø"/>
            </a:pPr>
            <a:r>
              <a:rPr lang="en-US" sz="1800" dirty="0">
                <a:latin typeface="Calibri Body"/>
              </a:rPr>
              <a:t>The milestones in the NMOP charter aims September 2025 for "Submit Architecture for YANG-Push to Message Broker Integration to the IESG"</a:t>
            </a:r>
          </a:p>
          <a:p>
            <a:pPr>
              <a:buFont typeface="Wingdings" panose="05000000000000000000" pitchFamily="2" charset="2"/>
              <a:buChar char="Ø"/>
            </a:pPr>
            <a:r>
              <a:rPr lang="en-US" sz="1800" dirty="0">
                <a:latin typeface="Calibri Body"/>
              </a:rPr>
              <a:t>The document went through several iterations and has multiple implementations. The last remaining normative referenced documents which did not pass working group last call yet are:</a:t>
            </a:r>
          </a:p>
          <a:p>
            <a:pPr lvl="1">
              <a:buFont typeface="Wingdings" panose="05000000000000000000" pitchFamily="2" charset="2"/>
              <a:buChar char="Ø"/>
            </a:pPr>
            <a:r>
              <a:rPr lang="en-US" sz="1800" dirty="0">
                <a:latin typeface="Calibri Body"/>
              </a:rPr>
              <a:t>draft-</a:t>
            </a:r>
            <a:r>
              <a:rPr lang="en-US" sz="1800" dirty="0" err="1">
                <a:latin typeface="Calibri Body"/>
              </a:rPr>
              <a:t>ietf</a:t>
            </a:r>
            <a:r>
              <a:rPr lang="en-US" sz="1800" dirty="0">
                <a:latin typeface="Calibri Body"/>
              </a:rPr>
              <a:t>-netconf-yang-notifications-versioning (requested working group last call at IETF 124)</a:t>
            </a:r>
          </a:p>
          <a:p>
            <a:pPr lvl="1">
              <a:buFont typeface="Wingdings" panose="05000000000000000000" pitchFamily="2" charset="2"/>
              <a:buChar char="Ø"/>
            </a:pPr>
            <a:r>
              <a:rPr lang="en-US" sz="1800" dirty="0">
                <a:latin typeface="Calibri Body"/>
              </a:rPr>
              <a:t>draft-</a:t>
            </a:r>
            <a:r>
              <a:rPr lang="en-US" sz="1800" dirty="0" err="1">
                <a:latin typeface="Calibri Body"/>
              </a:rPr>
              <a:t>ietf</a:t>
            </a:r>
            <a:r>
              <a:rPr lang="en-US" sz="1800" dirty="0">
                <a:latin typeface="Calibri Body"/>
              </a:rPr>
              <a:t>-</a:t>
            </a:r>
            <a:r>
              <a:rPr lang="en-US" sz="1800" dirty="0" err="1">
                <a:latin typeface="Calibri Body"/>
              </a:rPr>
              <a:t>nmop</a:t>
            </a:r>
            <a:r>
              <a:rPr lang="en-US" sz="1800" dirty="0">
                <a:latin typeface="Calibri Body"/>
              </a:rPr>
              <a:t>-message-broker-telemetry-message (second implementation at IETF 124, intend to request working group at IETF 125)</a:t>
            </a:r>
          </a:p>
          <a:p>
            <a:pPr>
              <a:buFont typeface="Wingdings" panose="05000000000000000000" pitchFamily="2" charset="2"/>
              <a:buChar char="Ø"/>
            </a:pPr>
            <a:r>
              <a:rPr lang="en-US" sz="1800" b="1" dirty="0">
                <a:solidFill>
                  <a:srgbClr val="FF0000"/>
                </a:solidFill>
                <a:latin typeface="Calibri Body"/>
              </a:rPr>
              <a:t>The authors suggest to trigger an early OPS directorate review to gauge wherever we have missed anything from an operations or management perspective.</a:t>
            </a:r>
          </a:p>
          <a:p>
            <a:pPr>
              <a:buFont typeface="Wingdings" panose="05000000000000000000" pitchFamily="2" charset="2"/>
              <a:buChar char="Ø"/>
            </a:pPr>
            <a:r>
              <a:rPr lang="en-US" sz="1800" b="1" dirty="0">
                <a:solidFill>
                  <a:srgbClr val="FF0000"/>
                </a:solidFill>
                <a:latin typeface="Calibri Body"/>
              </a:rPr>
              <a:t>The authors believe that the document is stable and ready for working group last call and be submitted together with draft-</a:t>
            </a:r>
            <a:r>
              <a:rPr lang="en-US" sz="1800" b="1" dirty="0" err="1">
                <a:solidFill>
                  <a:srgbClr val="FF0000"/>
                </a:solidFill>
                <a:latin typeface="Calibri Body"/>
              </a:rPr>
              <a:t>ietf</a:t>
            </a:r>
            <a:r>
              <a:rPr lang="en-US" sz="1800" b="1" dirty="0">
                <a:solidFill>
                  <a:srgbClr val="FF0000"/>
                </a:solidFill>
                <a:latin typeface="Calibri Body"/>
              </a:rPr>
              <a:t>-</a:t>
            </a:r>
            <a:r>
              <a:rPr lang="en-US" sz="1800" b="1" dirty="0" err="1">
                <a:solidFill>
                  <a:srgbClr val="FF0000"/>
                </a:solidFill>
                <a:latin typeface="Calibri Body"/>
              </a:rPr>
              <a:t>nmop</a:t>
            </a:r>
            <a:r>
              <a:rPr lang="en-US" sz="1800" b="1" dirty="0">
                <a:solidFill>
                  <a:srgbClr val="FF0000"/>
                </a:solidFill>
                <a:latin typeface="Calibri Body"/>
              </a:rPr>
              <a:t>-message-broker-telemetry-message to IESG at IETF 125.</a:t>
            </a:r>
          </a:p>
        </p:txBody>
      </p:sp>
      <p:sp>
        <p:nvSpPr>
          <p:cNvPr id="8" name="Slide Number Placeholder 1">
            <a:extLst>
              <a:ext uri="{FF2B5EF4-FFF2-40B4-BE49-F238E27FC236}">
                <a16:creationId xmlns:a16="http://schemas.microsoft.com/office/drawing/2014/main" id="{01C66484-AF25-6578-8718-283434135732}"/>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4</a:t>
            </a:fld>
            <a:endParaRPr lang="de-CH" sz="1400" dirty="0"/>
          </a:p>
        </p:txBody>
      </p:sp>
      <p:sp>
        <p:nvSpPr>
          <p:cNvPr id="5" name="Subtitle 4">
            <a:extLst>
              <a:ext uri="{FF2B5EF4-FFF2-40B4-BE49-F238E27FC236}">
                <a16:creationId xmlns:a16="http://schemas.microsoft.com/office/drawing/2014/main" id="{1606C27F-46B4-B0B8-0E03-5046A811F284}"/>
              </a:ext>
            </a:extLst>
          </p:cNvPr>
          <p:cNvSpPr txBox="1">
            <a:spLocks/>
          </p:cNvSpPr>
          <p:nvPr/>
        </p:nvSpPr>
        <p:spPr>
          <a:xfrm>
            <a:off x="838200" y="5658415"/>
            <a:ext cx="11163943" cy="70322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de-CH" sz="1400" b="1" dirty="0">
                <a:latin typeface="+mj-lt"/>
              </a:rPr>
              <a:t>thomas.graf@swisscom.com</a:t>
            </a:r>
            <a:br>
              <a:rPr lang="de-CH" sz="1400" b="1" dirty="0">
                <a:latin typeface="+mj-lt"/>
              </a:rPr>
            </a:br>
            <a:r>
              <a:rPr lang="de-CH" sz="1400" dirty="0">
                <a:latin typeface="+mj-lt"/>
              </a:rPr>
              <a:t>ahmed.elhassany@swisscom.com</a:t>
            </a:r>
          </a:p>
          <a:p>
            <a:pPr marL="0" indent="0" algn="r">
              <a:spcBef>
                <a:spcPts val="300"/>
              </a:spcBef>
              <a:buNone/>
              <a:defRPr sz="1782"/>
            </a:pPr>
            <a:endParaRPr lang="de-CH" sz="1400" dirty="0">
              <a:latin typeface="+mj-lt"/>
            </a:endParaRPr>
          </a:p>
          <a:p>
            <a:pPr marL="0" indent="0" algn="r">
              <a:spcBef>
                <a:spcPts val="300"/>
              </a:spcBef>
              <a:buNone/>
            </a:pPr>
            <a:r>
              <a:rPr lang="de-CH" sz="1400" dirty="0">
                <a:latin typeface="+mj-lt"/>
              </a:rPr>
              <a:t>1. November </a:t>
            </a:r>
            <a:r>
              <a:rPr lang="de-CH" sz="1400" dirty="0">
                <a:latin typeface="+mj-lt"/>
                <a:ea typeface="+mj-ea"/>
                <a:cs typeface="+mj-cs"/>
              </a:rPr>
              <a:t>2025</a:t>
            </a:r>
            <a:endParaRPr lang="de-CH" sz="1400" dirty="0">
              <a:latin typeface="+mj-lt"/>
            </a:endParaRPr>
          </a:p>
          <a:p>
            <a:pPr algn="r"/>
            <a:endParaRPr lang="de-CH" sz="2200" dirty="0"/>
          </a:p>
        </p:txBody>
      </p:sp>
    </p:spTree>
    <p:extLst>
      <p:ext uri="{BB962C8B-B14F-4D97-AF65-F5344CB8AC3E}">
        <p14:creationId xmlns:p14="http://schemas.microsoft.com/office/powerpoint/2010/main" val="388497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C26208B2-0D10-4C23-B2DE-372A62E98644}"/>
              </a:ext>
            </a:extLst>
          </p:cNvPr>
          <p:cNvSpPr txBox="1">
            <a:spLocks/>
          </p:cNvSpPr>
          <p:nvPr/>
        </p:nvSpPr>
        <p:spPr>
          <a:xfrm>
            <a:off x="606830" y="1365772"/>
            <a:ext cx="11395314" cy="32390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400" b="1" dirty="0"/>
              <a:t>Extensible YANG Model for Network Telemetry </a:t>
            </a:r>
            <a:r>
              <a:rPr lang="en-US" sz="3400" b="1" dirty="0">
                <a:solidFill>
                  <a:srgbClr val="FF0000"/>
                </a:solidFill>
              </a:rPr>
              <a:t>Messages</a:t>
            </a:r>
            <a:br>
              <a:rPr lang="en-US" sz="3600" b="1" dirty="0"/>
            </a:br>
            <a:r>
              <a:rPr lang="en-US" sz="2800" dirty="0"/>
              <a:t>draft-ietf-nmop-message-broker-telemetry-message-03</a:t>
            </a:r>
          </a:p>
          <a:p>
            <a:endParaRPr lang="en-US" sz="2800" dirty="0"/>
          </a:p>
          <a:p>
            <a:r>
              <a:rPr lang="en-US" sz="2800" dirty="0">
                <a:solidFill>
                  <a:schemeClr val="bg2">
                    <a:lumMod val="75000"/>
                  </a:schemeClr>
                </a:solidFill>
              </a:rPr>
              <a:t>Defines an extensible message schema in YANG</a:t>
            </a:r>
            <a:br>
              <a:rPr lang="en-US" sz="2800" dirty="0">
                <a:solidFill>
                  <a:schemeClr val="bg2">
                    <a:lumMod val="75000"/>
                  </a:schemeClr>
                </a:solidFill>
              </a:rPr>
            </a:br>
            <a:r>
              <a:rPr lang="en-US" sz="2800" dirty="0">
                <a:solidFill>
                  <a:schemeClr val="bg2">
                    <a:lumMod val="75000"/>
                  </a:schemeClr>
                </a:solidFill>
              </a:rPr>
              <a:t>	to be used at data collection to transform Network Telemetry messages 		into external systems such as Message Brokers</a:t>
            </a:r>
          </a:p>
        </p:txBody>
      </p:sp>
      <p:sp>
        <p:nvSpPr>
          <p:cNvPr id="2" name="Slide Number Placeholder 1">
            <a:extLst>
              <a:ext uri="{FF2B5EF4-FFF2-40B4-BE49-F238E27FC236}">
                <a16:creationId xmlns:a16="http://schemas.microsoft.com/office/drawing/2014/main" id="{AD23057C-339A-4254-8994-8EB77B8B4163}"/>
              </a:ext>
            </a:extLst>
          </p:cNvPr>
          <p:cNvSpPr>
            <a:spLocks noGrp="1"/>
          </p:cNvSpPr>
          <p:nvPr>
            <p:ph type="sldNum" sz="quarter" idx="12"/>
          </p:nvPr>
        </p:nvSpPr>
        <p:spPr>
          <a:xfrm>
            <a:off x="11587892" y="6361637"/>
            <a:ext cx="414251" cy="365125"/>
          </a:xfrm>
        </p:spPr>
        <p:txBody>
          <a:bodyPr/>
          <a:lstStyle/>
          <a:p>
            <a:fld id="{FC4AC485-25DE-431E-B345-9C0A15BB7F8A}" type="slidenum">
              <a:rPr lang="de-CH" sz="2200" smtClean="0"/>
              <a:t>5</a:t>
            </a:fld>
            <a:endParaRPr lang="de-CH" sz="2200" dirty="0"/>
          </a:p>
        </p:txBody>
      </p:sp>
      <p:sp>
        <p:nvSpPr>
          <p:cNvPr id="3" name="Subtitle 4">
            <a:extLst>
              <a:ext uri="{FF2B5EF4-FFF2-40B4-BE49-F238E27FC236}">
                <a16:creationId xmlns:a16="http://schemas.microsoft.com/office/drawing/2014/main" id="{BBB844A7-7BFE-F9CE-6167-A015C4EFE812}"/>
              </a:ext>
            </a:extLst>
          </p:cNvPr>
          <p:cNvSpPr txBox="1">
            <a:spLocks/>
          </p:cNvSpPr>
          <p:nvPr/>
        </p:nvSpPr>
        <p:spPr>
          <a:xfrm>
            <a:off x="838200" y="5658415"/>
            <a:ext cx="11163943" cy="70322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de-CH" sz="1400" b="1" dirty="0">
                <a:latin typeface="+mj-lt"/>
              </a:rPr>
              <a:t>thomas.graf@swisscom.com</a:t>
            </a:r>
            <a:br>
              <a:rPr lang="de-CH" sz="1400" b="1" dirty="0">
                <a:latin typeface="+mj-lt"/>
              </a:rPr>
            </a:br>
            <a:r>
              <a:rPr lang="de-CH" sz="1400" dirty="0">
                <a:latin typeface="+mj-lt"/>
              </a:rPr>
              <a:t>ahmed.elhassany@swisscom.com</a:t>
            </a:r>
          </a:p>
          <a:p>
            <a:pPr marL="0" indent="0" algn="r">
              <a:spcBef>
                <a:spcPts val="300"/>
              </a:spcBef>
              <a:buNone/>
              <a:defRPr sz="1782"/>
            </a:pPr>
            <a:endParaRPr lang="de-CH" sz="1400" dirty="0">
              <a:latin typeface="+mj-lt"/>
            </a:endParaRPr>
          </a:p>
          <a:p>
            <a:pPr marL="0" indent="0" algn="r">
              <a:spcBef>
                <a:spcPts val="300"/>
              </a:spcBef>
              <a:buNone/>
            </a:pPr>
            <a:r>
              <a:rPr lang="de-CH" sz="1400" dirty="0">
                <a:latin typeface="+mj-lt"/>
              </a:rPr>
              <a:t>1. November </a:t>
            </a:r>
            <a:r>
              <a:rPr lang="de-CH" sz="1400" dirty="0">
                <a:latin typeface="+mj-lt"/>
                <a:ea typeface="+mj-ea"/>
                <a:cs typeface="+mj-cs"/>
              </a:rPr>
              <a:t>2025</a:t>
            </a:r>
            <a:endParaRPr lang="de-CH" sz="1400" dirty="0">
              <a:latin typeface="+mj-lt"/>
            </a:endParaRPr>
          </a:p>
          <a:p>
            <a:pPr algn="r"/>
            <a:endParaRPr lang="de-CH" sz="2200" dirty="0"/>
          </a:p>
        </p:txBody>
      </p:sp>
    </p:spTree>
    <p:extLst>
      <p:ext uri="{BB962C8B-B14F-4D97-AF65-F5344CB8AC3E}">
        <p14:creationId xmlns:p14="http://schemas.microsoft.com/office/powerpoint/2010/main" val="2860389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0F271-6F0D-4AC0-BB1D-F5C338165C13}"/>
              </a:ext>
            </a:extLst>
          </p:cNvPr>
          <p:cNvSpPr>
            <a:spLocks noGrp="1"/>
          </p:cNvSpPr>
          <p:nvPr>
            <p:ph type="title"/>
          </p:nvPr>
        </p:nvSpPr>
        <p:spPr/>
        <p:txBody>
          <a:bodyPr>
            <a:normAutofit/>
          </a:bodyPr>
          <a:lstStyle/>
          <a:p>
            <a:r>
              <a:rPr lang="en-US" sz="2800" b="1" dirty="0"/>
              <a:t>Extensible YANG Model for Network Telemetry Messages</a:t>
            </a:r>
            <a:br>
              <a:rPr lang="en-GB" sz="3600" dirty="0"/>
            </a:br>
            <a:r>
              <a:rPr lang="de-CH" sz="2700" dirty="0">
                <a:solidFill>
                  <a:schemeClr val="bg2">
                    <a:lumMod val="75000"/>
                  </a:schemeClr>
                </a:solidFill>
              </a:rPr>
              <a:t>YANG Schema </a:t>
            </a:r>
            <a:r>
              <a:rPr lang="de-CH" sz="2700" dirty="0" err="1">
                <a:solidFill>
                  <a:schemeClr val="bg2">
                    <a:lumMod val="75000"/>
                  </a:schemeClr>
                </a:solidFill>
              </a:rPr>
              <a:t>Trees</a:t>
            </a:r>
            <a:endParaRPr lang="en-US" sz="2700" b="1" dirty="0">
              <a:solidFill>
                <a:srgbClr val="FF0000"/>
              </a:solidFill>
            </a:endParaRPr>
          </a:p>
        </p:txBody>
      </p:sp>
      <p:sp>
        <p:nvSpPr>
          <p:cNvPr id="3" name="Content Placeholder 2">
            <a:extLst>
              <a:ext uri="{FF2B5EF4-FFF2-40B4-BE49-F238E27FC236}">
                <a16:creationId xmlns:a16="http://schemas.microsoft.com/office/drawing/2014/main" id="{29C0DFD4-432D-4B0C-93DF-790441DCF5B9}"/>
              </a:ext>
            </a:extLst>
          </p:cNvPr>
          <p:cNvSpPr>
            <a:spLocks noGrp="1"/>
          </p:cNvSpPr>
          <p:nvPr>
            <p:ph idx="1"/>
          </p:nvPr>
        </p:nvSpPr>
        <p:spPr>
          <a:xfrm>
            <a:off x="923954" y="1873299"/>
            <a:ext cx="2397368" cy="4730028"/>
          </a:xfrm>
        </p:spPr>
        <p:txBody>
          <a:bodyPr>
            <a:noAutofit/>
          </a:bodyPr>
          <a:lstStyle/>
          <a:p>
            <a:pPr marL="342900" indent="-342900">
              <a:buClr>
                <a:srgbClr val="FF0000"/>
              </a:buClr>
              <a:buFont typeface="+mj-lt"/>
              <a:buAutoNum type="arabicParenBoth"/>
            </a:pPr>
            <a:r>
              <a:rPr lang="en-US" sz="1700" dirty="0"/>
              <a:t>Optional network node and collector data manifest reused from </a:t>
            </a:r>
            <a:r>
              <a:rPr lang="en-US" sz="1700" dirty="0">
                <a:hlinkClick r:id="rId2"/>
              </a:rPr>
              <a:t>draft-</a:t>
            </a:r>
            <a:r>
              <a:rPr lang="en-US" sz="1700" dirty="0" err="1">
                <a:hlinkClick r:id="rId2"/>
              </a:rPr>
              <a:t>ietf</a:t>
            </a:r>
            <a:r>
              <a:rPr lang="en-US" sz="1700" dirty="0">
                <a:hlinkClick r:id="rId2"/>
              </a:rPr>
              <a:t>-opsawg-collected-data-manifest</a:t>
            </a:r>
            <a:r>
              <a:rPr lang="en-US" sz="1700" dirty="0"/>
              <a:t>.</a:t>
            </a:r>
          </a:p>
          <a:p>
            <a:pPr marL="342900" indent="-342900">
              <a:buClr>
                <a:srgbClr val="FF0000"/>
              </a:buClr>
              <a:buFont typeface="+mj-lt"/>
              <a:buAutoNum type="arabicParenBoth"/>
            </a:pPr>
            <a:r>
              <a:rPr lang="en-US" sz="1700" dirty="0"/>
              <a:t>Telemetry Protocol Metadata.</a:t>
            </a:r>
          </a:p>
          <a:p>
            <a:pPr marL="342900" indent="-342900">
              <a:buClr>
                <a:srgbClr val="FF0000"/>
              </a:buClr>
              <a:buFont typeface="+mj-lt"/>
              <a:buAutoNum type="arabicParenBoth"/>
            </a:pPr>
            <a:r>
              <a:rPr lang="en-US" sz="1700" dirty="0"/>
              <a:t>Optional network operator metadata.</a:t>
            </a:r>
          </a:p>
          <a:p>
            <a:pPr marL="342900" indent="-342900">
              <a:buClr>
                <a:srgbClr val="FF0000"/>
              </a:buClr>
              <a:buFont typeface="+mj-lt"/>
              <a:buAutoNum type="arabicParenBoth"/>
            </a:pPr>
            <a:r>
              <a:rPr lang="en-US" sz="1700" dirty="0"/>
              <a:t>YANG-Push notification received from the network node.</a:t>
            </a:r>
          </a:p>
          <a:p>
            <a:pPr marL="342900" indent="-342900">
              <a:buClr>
                <a:srgbClr val="FF0000"/>
              </a:buClr>
              <a:buFont typeface="+mj-lt"/>
              <a:buAutoNum type="arabicParenBoth"/>
            </a:pPr>
            <a:r>
              <a:rPr lang="en-US" sz="1700" dirty="0"/>
              <a:t>YANG-Push subscription received from network node.</a:t>
            </a:r>
          </a:p>
        </p:txBody>
      </p:sp>
      <p:sp>
        <p:nvSpPr>
          <p:cNvPr id="8" name="Slide Number Placeholder 1">
            <a:extLst>
              <a:ext uri="{FF2B5EF4-FFF2-40B4-BE49-F238E27FC236}">
                <a16:creationId xmlns:a16="http://schemas.microsoft.com/office/drawing/2014/main" id="{F03D7BF8-F90A-4F8C-8FCE-B1DB1DEC687A}"/>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6</a:t>
            </a:fld>
            <a:endParaRPr lang="de-CH" sz="1400" dirty="0"/>
          </a:p>
        </p:txBody>
      </p:sp>
      <p:sp>
        <p:nvSpPr>
          <p:cNvPr id="10" name="TextBox 9">
            <a:extLst>
              <a:ext uri="{FF2B5EF4-FFF2-40B4-BE49-F238E27FC236}">
                <a16:creationId xmlns:a16="http://schemas.microsoft.com/office/drawing/2014/main" id="{A73566BC-78F4-D0EF-6976-E60E3F76036D}"/>
              </a:ext>
            </a:extLst>
          </p:cNvPr>
          <p:cNvSpPr txBox="1"/>
          <p:nvPr/>
        </p:nvSpPr>
        <p:spPr>
          <a:xfrm>
            <a:off x="7558395" y="1140617"/>
            <a:ext cx="4633606" cy="5586145"/>
          </a:xfrm>
          <a:prstGeom prst="rect">
            <a:avLst/>
          </a:prstGeom>
          <a:noFill/>
        </p:spPr>
        <p:txBody>
          <a:bodyPr wrap="square">
            <a:spAutoFit/>
          </a:bodyPr>
          <a:lstStyle/>
          <a:p>
            <a:r>
              <a:rPr lang="de-CH" sz="850" dirty="0" err="1">
                <a:latin typeface="Courier New" panose="02070309020205020404" pitchFamily="49" charset="0"/>
                <a:cs typeface="Courier New" panose="02070309020205020404" pitchFamily="49" charset="0"/>
              </a:rPr>
              <a:t>module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ietf</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telemetry</a:t>
            </a:r>
            <a:r>
              <a:rPr lang="de-CH" sz="850" dirty="0">
                <a:latin typeface="Courier New" panose="02070309020205020404" pitchFamily="49" charset="0"/>
                <a:cs typeface="Courier New" panose="02070309020205020404" pitchFamily="49" charset="0"/>
              </a:rPr>
              <a:t>-message</a:t>
            </a:r>
          </a:p>
          <a:p>
            <a:endParaRPr lang="de-CH" sz="850" dirty="0">
              <a:latin typeface="Courier New" panose="02070309020205020404" pitchFamily="49" charset="0"/>
              <a:cs typeface="Courier New" panose="02070309020205020404" pitchFamily="49" charset="0"/>
            </a:endParaRPr>
          </a:p>
          <a:p>
            <a:r>
              <a:rPr lang="de-CH" sz="850" b="1" dirty="0">
                <a:solidFill>
                  <a:srgbClr val="FF0000"/>
                </a:solidFill>
                <a:latin typeface="Courier New" panose="02070309020205020404" pitchFamily="49" charset="0"/>
                <a:cs typeface="Courier New" panose="02070309020205020404" pitchFamily="49" charset="0"/>
              </a:rPr>
              <a:t>  </a:t>
            </a:r>
            <a:r>
              <a:rPr lang="de-CH" sz="850" b="1" dirty="0" err="1">
                <a:solidFill>
                  <a:srgbClr val="FF0000"/>
                </a:solidFill>
                <a:latin typeface="Courier New" panose="02070309020205020404" pitchFamily="49" charset="0"/>
                <a:cs typeface="Courier New" panose="02070309020205020404" pitchFamily="49" charset="0"/>
              </a:rPr>
              <a:t>structure</a:t>
            </a:r>
            <a:r>
              <a:rPr lang="de-CH" sz="850" b="1" dirty="0">
                <a:solidFill>
                  <a:srgbClr val="FF0000"/>
                </a:solidFill>
                <a:latin typeface="Courier New" panose="02070309020205020404" pitchFamily="49" charset="0"/>
                <a:cs typeface="Courier New" panose="02070309020205020404" pitchFamily="49" charset="0"/>
              </a:rPr>
              <a:t> </a:t>
            </a:r>
            <a:r>
              <a:rPr lang="de-CH" sz="850" b="1" dirty="0" err="1">
                <a:solidFill>
                  <a:srgbClr val="FF0000"/>
                </a:solidFill>
                <a:latin typeface="Courier New" panose="02070309020205020404" pitchFamily="49" charset="0"/>
                <a:cs typeface="Courier New" panose="02070309020205020404" pitchFamily="49" charset="0"/>
              </a:rPr>
              <a:t>message</a:t>
            </a:r>
            <a:r>
              <a:rPr lang="de-CH" sz="850" b="1" dirty="0">
                <a:solidFill>
                  <a:srgbClr val="FF0000"/>
                </a:solidFill>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network-</a:t>
            </a:r>
            <a:r>
              <a:rPr lang="de-CH" sz="850" dirty="0" err="1">
                <a:latin typeface="Courier New" panose="02070309020205020404" pitchFamily="49" charset="0"/>
                <a:cs typeface="Courier New" panose="02070309020205020404" pitchFamily="49" charset="0"/>
              </a:rPr>
              <a:t>node</a:t>
            </a:r>
            <a:r>
              <a:rPr lang="de-CH" sz="850" dirty="0">
                <a:latin typeface="Courier New" panose="02070309020205020404" pitchFamily="49" charset="0"/>
                <a:cs typeface="Courier New" panose="02070309020205020404" pitchFamily="49" charset="0"/>
              </a:rPr>
              <a:t>-manifest {network-</a:t>
            </a:r>
            <a:r>
              <a:rPr lang="de-CH" sz="850" dirty="0" err="1">
                <a:latin typeface="Courier New" panose="02070309020205020404" pitchFamily="49" charset="0"/>
                <a:cs typeface="Courier New" panose="02070309020205020404" pitchFamily="49" charset="0"/>
              </a:rPr>
              <a:t>node</a:t>
            </a:r>
            <a:r>
              <a:rPr lang="de-CH" sz="850" dirty="0">
                <a:latin typeface="Courier New" panose="02070309020205020404" pitchFamily="49" charset="0"/>
                <a:cs typeface="Courier New" panose="02070309020205020404" pitchFamily="49" charset="0"/>
              </a:rPr>
              <a:t>-manifest}?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vendor</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vendor-pen</a:t>
            </a:r>
            <a:r>
              <a:rPr lang="de-CH" sz="850" dirty="0">
                <a:latin typeface="Courier New" panose="02070309020205020404" pitchFamily="49" charset="0"/>
                <a:cs typeface="Courier New" panose="02070309020205020404" pitchFamily="49" charset="0"/>
              </a:rPr>
              <a:t>?         uint32</a:t>
            </a:r>
          </a:p>
          <a:p>
            <a:r>
              <a:rPr lang="de-CH" sz="850" dirty="0">
                <a:latin typeface="Courier New" panose="02070309020205020404" pitchFamily="49" charset="0"/>
                <a:cs typeface="Courier New" panose="02070309020205020404" pitchFamily="49" charset="0"/>
              </a:rPr>
              <a:t>    |  +-- software-version?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software-</a:t>
            </a:r>
            <a:r>
              <a:rPr lang="de-CH" sz="850" dirty="0" err="1">
                <a:latin typeface="Courier New" panose="02070309020205020404" pitchFamily="49" charset="0"/>
                <a:cs typeface="Courier New" panose="02070309020205020404" pitchFamily="49" charset="0"/>
              </a:rPr>
              <a:t>flavor</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os</a:t>
            </a:r>
            <a:r>
              <a:rPr lang="de-CH" sz="850" dirty="0">
                <a:latin typeface="Courier New" panose="02070309020205020404" pitchFamily="49" charset="0"/>
                <a:cs typeface="Courier New" panose="02070309020205020404" pitchFamily="49" charset="0"/>
              </a:rPr>
              <a:t>-version?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os</a:t>
            </a:r>
            <a:r>
              <a:rPr lang="de-CH" sz="850" dirty="0">
                <a:latin typeface="Courier New" panose="02070309020205020404" pitchFamily="49" charset="0"/>
                <a:cs typeface="Courier New" panose="02070309020205020404" pitchFamily="49" charset="0"/>
              </a:rPr>
              <a:t>-type?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telemetry</a:t>
            </a:r>
            <a:r>
              <a:rPr lang="de-CH" sz="850" dirty="0">
                <a:latin typeface="Courier New" panose="02070309020205020404" pitchFamily="49" charset="0"/>
                <a:cs typeface="Courier New" panose="02070309020205020404" pitchFamily="49" charset="0"/>
              </a:rPr>
              <a:t>-message-</a:t>
            </a:r>
            <a:r>
              <a:rPr lang="de-CH" sz="850" dirty="0" err="1">
                <a:latin typeface="Courier New" panose="02070309020205020404" pitchFamily="49" charset="0"/>
                <a:cs typeface="Courier New" panose="02070309020205020404" pitchFamily="49" charset="0"/>
              </a:rPr>
              <a:t>metadata</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node</a:t>
            </a:r>
            <a:r>
              <a:rPr lang="de-CH" sz="850" dirty="0">
                <a:latin typeface="Courier New" panose="02070309020205020404" pitchFamily="49" charset="0"/>
                <a:cs typeface="Courier New" panose="02070309020205020404" pitchFamily="49" charset="0"/>
              </a:rPr>
              <a:t>-export-</a:t>
            </a:r>
            <a:r>
              <a:rPr lang="de-CH" sz="850" dirty="0" err="1">
                <a:latin typeface="Courier New" panose="02070309020205020404" pitchFamily="49" charset="0"/>
                <a:cs typeface="Courier New" panose="02070309020205020404" pitchFamily="49" charset="0"/>
              </a:rPr>
              <a:t>timestamp</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yang:date-and-time</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collection-timestamp</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yang:date-and-time</a:t>
            </a:r>
            <a:endParaRPr lang="de-CH" sz="850" dirty="0">
              <a:latin typeface="Courier New" panose="02070309020205020404" pitchFamily="49" charset="0"/>
              <a:cs typeface="Courier New" panose="02070309020205020404" pitchFamily="49" charset="0"/>
            </a:endParaRPr>
          </a:p>
          <a:p>
            <a:r>
              <a:rPr lang="de-CH" sz="850" b="1" dirty="0">
                <a:solidFill>
                  <a:srgbClr val="FF0000"/>
                </a:solidFill>
                <a:latin typeface="Courier New" panose="02070309020205020404" pitchFamily="49" charset="0"/>
                <a:cs typeface="Courier New" panose="02070309020205020404" pitchFamily="49" charset="0"/>
              </a:rPr>
              <a:t>    |  +-- </a:t>
            </a:r>
            <a:r>
              <a:rPr lang="de-CH" sz="850" b="1" dirty="0" err="1">
                <a:solidFill>
                  <a:srgbClr val="FF0000"/>
                </a:solidFill>
                <a:latin typeface="Courier New" panose="02070309020205020404" pitchFamily="49" charset="0"/>
                <a:cs typeface="Courier New" panose="02070309020205020404" pitchFamily="49" charset="0"/>
              </a:rPr>
              <a:t>notification</a:t>
            </a:r>
            <a:r>
              <a:rPr lang="de-CH" sz="850" b="1" dirty="0">
                <a:solidFill>
                  <a:srgbClr val="FF0000"/>
                </a:solidFill>
                <a:latin typeface="Courier New" panose="02070309020205020404" pitchFamily="49" charset="0"/>
                <a:cs typeface="Courier New" panose="02070309020205020404" pitchFamily="49" charset="0"/>
              </a:rPr>
              <a:t>-event</a:t>
            </a:r>
          </a:p>
          <a:p>
            <a:r>
              <a:rPr lang="de-CH" sz="850" b="1" dirty="0">
                <a:solidFill>
                  <a:srgbClr val="FF0000"/>
                </a:solidFill>
                <a:latin typeface="Courier New" panose="02070309020205020404" pitchFamily="49" charset="0"/>
                <a:cs typeface="Courier New" panose="02070309020205020404" pitchFamily="49" charset="0"/>
              </a:rPr>
              <a:t>    |  |     </a:t>
            </a:r>
            <a:r>
              <a:rPr lang="de-CH" sz="850" b="1" dirty="0" err="1">
                <a:solidFill>
                  <a:srgbClr val="FF0000"/>
                </a:solidFill>
                <a:latin typeface="Courier New" panose="02070309020205020404" pitchFamily="49" charset="0"/>
                <a:cs typeface="Courier New" panose="02070309020205020404" pitchFamily="49" charset="0"/>
              </a:rPr>
              <a:t>telemetry</a:t>
            </a:r>
            <a:r>
              <a:rPr lang="de-CH" sz="850" b="1" dirty="0">
                <a:solidFill>
                  <a:srgbClr val="FF0000"/>
                </a:solidFill>
                <a:latin typeface="Courier New" panose="02070309020205020404" pitchFamily="49" charset="0"/>
                <a:cs typeface="Courier New" panose="02070309020205020404" pitchFamily="49" charset="0"/>
              </a:rPr>
              <a:t>-</a:t>
            </a:r>
            <a:r>
              <a:rPr lang="de-CH" sz="850" b="1" dirty="0" err="1">
                <a:solidFill>
                  <a:srgbClr val="FF0000"/>
                </a:solidFill>
                <a:latin typeface="Courier New" panose="02070309020205020404" pitchFamily="49" charset="0"/>
                <a:cs typeface="Courier New" panose="02070309020205020404" pitchFamily="49" charset="0"/>
              </a:rPr>
              <a:t>notification</a:t>
            </a:r>
            <a:r>
              <a:rPr lang="de-CH" sz="850" b="1" dirty="0">
                <a:solidFill>
                  <a:srgbClr val="FF0000"/>
                </a:solidFill>
                <a:latin typeface="Courier New" panose="02070309020205020404" pitchFamily="49" charset="0"/>
                <a:cs typeface="Courier New" panose="02070309020205020404" pitchFamily="49" charset="0"/>
              </a:rPr>
              <a:t>-event-type</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session-protocol</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telemetry</a:t>
            </a:r>
            <a:r>
              <a:rPr lang="de-CH" sz="850" dirty="0">
                <a:latin typeface="Courier New" panose="02070309020205020404" pitchFamily="49" charset="0"/>
                <a:cs typeface="Courier New" panose="02070309020205020404" pitchFamily="49" charset="0"/>
              </a:rPr>
              <a:t>-session-</a:t>
            </a:r>
            <a:r>
              <a:rPr lang="de-CH" sz="850" dirty="0" err="1">
                <a:latin typeface="Courier New" panose="02070309020205020404" pitchFamily="49" charset="0"/>
                <a:cs typeface="Courier New" panose="02070309020205020404" pitchFamily="49" charset="0"/>
              </a:rPr>
              <a:t>protocol</a:t>
            </a:r>
            <a:r>
              <a:rPr lang="de-CH" sz="850" dirty="0">
                <a:latin typeface="Courier New" panose="02070309020205020404" pitchFamily="49" charset="0"/>
                <a:cs typeface="Courier New" panose="02070309020205020404" pitchFamily="49" charset="0"/>
              </a:rPr>
              <a:t>-type</a:t>
            </a:r>
          </a:p>
          <a:p>
            <a:r>
              <a:rPr lang="de-CH" sz="850" dirty="0">
                <a:latin typeface="Courier New" panose="02070309020205020404" pitchFamily="49" charset="0"/>
                <a:cs typeface="Courier New" panose="02070309020205020404" pitchFamily="49" charset="0"/>
              </a:rPr>
              <a:t>    |  +-- export-</a:t>
            </a:r>
            <a:r>
              <a:rPr lang="de-CH" sz="850" dirty="0" err="1">
                <a:latin typeface="Courier New" panose="02070309020205020404" pitchFamily="49" charset="0"/>
                <a:cs typeface="Courier New" panose="02070309020205020404" pitchFamily="49" charset="0"/>
              </a:rPr>
              <a:t>address</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inet:host</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export-</a:t>
            </a:r>
            <a:r>
              <a:rPr lang="de-CH" sz="850" dirty="0" err="1">
                <a:latin typeface="Courier New" panose="02070309020205020404" pitchFamily="49" charset="0"/>
                <a:cs typeface="Courier New" panose="02070309020205020404" pitchFamily="49" charset="0"/>
              </a:rPr>
              <a:t>port</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inet:port-number</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collection-address</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inet:host</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collection-port</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inet:port-number</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data</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collection</a:t>
            </a:r>
            <a:r>
              <a:rPr lang="de-CH" sz="850" dirty="0">
                <a:latin typeface="Courier New" panose="02070309020205020404" pitchFamily="49" charset="0"/>
                <a:cs typeface="Courier New" panose="02070309020205020404" pitchFamily="49" charset="0"/>
              </a:rPr>
              <a:t>-manifest {</a:t>
            </a:r>
            <a:r>
              <a:rPr lang="de-CH" sz="850" dirty="0" err="1">
                <a:latin typeface="Courier New" panose="02070309020205020404" pitchFamily="49" charset="0"/>
                <a:cs typeface="Courier New" panose="02070309020205020404" pitchFamily="49" charset="0"/>
              </a:rPr>
              <a:t>data</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collection</a:t>
            </a:r>
            <a:r>
              <a:rPr lang="de-CH" sz="850" dirty="0">
                <a:latin typeface="Courier New" panose="02070309020205020404" pitchFamily="49" charset="0"/>
                <a:cs typeface="Courier New" panose="02070309020205020404" pitchFamily="49" charset="0"/>
              </a:rPr>
              <a:t>-manifest}?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vendor</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vendor-pen</a:t>
            </a:r>
            <a:r>
              <a:rPr lang="de-CH" sz="850" dirty="0">
                <a:latin typeface="Courier New" panose="02070309020205020404" pitchFamily="49" charset="0"/>
                <a:cs typeface="Courier New" panose="02070309020205020404" pitchFamily="49" charset="0"/>
              </a:rPr>
              <a:t>?         uint32</a:t>
            </a:r>
          </a:p>
          <a:p>
            <a:r>
              <a:rPr lang="de-CH" sz="850" dirty="0">
                <a:latin typeface="Courier New" panose="02070309020205020404" pitchFamily="49" charset="0"/>
                <a:cs typeface="Courier New" panose="02070309020205020404" pitchFamily="49" charset="0"/>
              </a:rPr>
              <a:t>    |  +-- software-version?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software-</a:t>
            </a:r>
            <a:r>
              <a:rPr lang="de-CH" sz="850" dirty="0" err="1">
                <a:latin typeface="Courier New" panose="02070309020205020404" pitchFamily="49" charset="0"/>
                <a:cs typeface="Courier New" panose="02070309020205020404" pitchFamily="49" charset="0"/>
              </a:rPr>
              <a:t>flavor</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os</a:t>
            </a:r>
            <a:r>
              <a:rPr lang="de-CH" sz="850" dirty="0">
                <a:latin typeface="Courier New" panose="02070309020205020404" pitchFamily="49" charset="0"/>
                <a:cs typeface="Courier New" panose="02070309020205020404" pitchFamily="49" charset="0"/>
              </a:rPr>
              <a:t>-version?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os</a:t>
            </a:r>
            <a:r>
              <a:rPr lang="de-CH" sz="850" dirty="0">
                <a:latin typeface="Courier New" panose="02070309020205020404" pitchFamily="49" charset="0"/>
                <a:cs typeface="Courier New" panose="02070309020205020404" pitchFamily="49" charset="0"/>
              </a:rPr>
              <a:t>-type?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network-operator-</a:t>
            </a:r>
            <a:r>
              <a:rPr lang="de-CH" sz="850" dirty="0" err="1">
                <a:latin typeface="Courier New" panose="02070309020205020404" pitchFamily="49" charset="0"/>
                <a:cs typeface="Courier New" panose="02070309020205020404" pitchFamily="49" charset="0"/>
              </a:rPr>
              <a:t>metadata</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labels</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value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string-choice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string-choice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string-value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string-value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anydata-choice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anydata-choice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anydata-values</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anydata-values</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anydata</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payload</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anydata</a:t>
            </a:r>
            <a:endParaRPr lang="de-CH" sz="850" dirty="0">
              <a:latin typeface="Courier New" panose="02070309020205020404" pitchFamily="49" charset="0"/>
              <a:cs typeface="Courier New" panose="02070309020205020404" pitchFamily="49" charset="0"/>
            </a:endParaRPr>
          </a:p>
        </p:txBody>
      </p:sp>
      <p:sp>
        <p:nvSpPr>
          <p:cNvPr id="12" name="TextBox 11">
            <a:extLst>
              <a:ext uri="{FF2B5EF4-FFF2-40B4-BE49-F238E27FC236}">
                <a16:creationId xmlns:a16="http://schemas.microsoft.com/office/drawing/2014/main" id="{78A63645-5CD4-D847-644F-2DFC2A5D5D3D}"/>
              </a:ext>
            </a:extLst>
          </p:cNvPr>
          <p:cNvSpPr txBox="1"/>
          <p:nvPr/>
        </p:nvSpPr>
        <p:spPr>
          <a:xfrm>
            <a:off x="3416225" y="2214781"/>
            <a:ext cx="4339525" cy="4278094"/>
          </a:xfrm>
          <a:prstGeom prst="rect">
            <a:avLst/>
          </a:prstGeom>
          <a:noFill/>
        </p:spPr>
        <p:txBody>
          <a:bodyPr wrap="square">
            <a:spAutoFit/>
          </a:bodyPr>
          <a:lstStyle/>
          <a:p>
            <a:r>
              <a:rPr lang="de-CH" sz="850" dirty="0" err="1">
                <a:latin typeface="Courier New" panose="02070309020205020404" pitchFamily="49" charset="0"/>
                <a:cs typeface="Courier New" panose="02070309020205020404" pitchFamily="49" charset="0"/>
              </a:rPr>
              <a:t>module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ietf</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yang</a:t>
            </a:r>
            <a:r>
              <a:rPr lang="de-CH" sz="850" dirty="0">
                <a:latin typeface="Courier New" panose="02070309020205020404" pitchFamily="49" charset="0"/>
                <a:cs typeface="Courier New" panose="02070309020205020404" pitchFamily="49" charset="0"/>
              </a:rPr>
              <a:t>-push-</a:t>
            </a:r>
            <a:r>
              <a:rPr lang="de-CH" sz="850" dirty="0" err="1">
                <a:latin typeface="Courier New" panose="02070309020205020404" pitchFamily="49" charset="0"/>
                <a:cs typeface="Courier New" panose="02070309020205020404" pitchFamily="49" charset="0"/>
              </a:rPr>
              <a:t>telemetry</a:t>
            </a:r>
            <a:r>
              <a:rPr lang="de-CH" sz="850" dirty="0">
                <a:latin typeface="Courier New" panose="02070309020205020404" pitchFamily="49" charset="0"/>
                <a:cs typeface="Courier New" panose="02070309020205020404" pitchFamily="49" charset="0"/>
              </a:rPr>
              <a:t>-message</a:t>
            </a:r>
          </a:p>
          <a:p>
            <a:endParaRPr lang="de-CH" sz="850" dirty="0">
              <a:latin typeface="Courier New" panose="02070309020205020404" pitchFamily="49" charset="0"/>
              <a:cs typeface="Courier New" panose="02070309020205020404" pitchFamily="49" charset="0"/>
            </a:endParaRPr>
          </a:p>
          <a:p>
            <a:r>
              <a:rPr lang="de-CH" sz="850" b="1" dirty="0">
                <a:solidFill>
                  <a:srgbClr val="FF0000"/>
                </a:solidFill>
                <a:latin typeface="Courier New" panose="02070309020205020404" pitchFamily="49" charset="0"/>
                <a:cs typeface="Courier New" panose="02070309020205020404" pitchFamily="49" charset="0"/>
              </a:rPr>
              <a:t>  </a:t>
            </a:r>
            <a:r>
              <a:rPr lang="de-CH" sz="850" b="1" dirty="0" err="1">
                <a:solidFill>
                  <a:srgbClr val="FF0000"/>
                </a:solidFill>
                <a:latin typeface="Courier New" panose="02070309020205020404" pitchFamily="49" charset="0"/>
                <a:cs typeface="Courier New" panose="02070309020205020404" pitchFamily="49" charset="0"/>
              </a:rPr>
              <a:t>augment-structure</a:t>
            </a:r>
            <a:r>
              <a:rPr lang="de-CH" sz="850" b="1" dirty="0">
                <a:solidFill>
                  <a:srgbClr val="FF0000"/>
                </a:solidFill>
                <a:latin typeface="Courier New" panose="02070309020205020404" pitchFamily="49" charset="0"/>
                <a:cs typeface="Courier New" panose="02070309020205020404" pitchFamily="49" charset="0"/>
              </a:rPr>
              <a:t> </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tm:message</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tm:telemetry-message-metadata</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yang</a:t>
            </a:r>
            <a:r>
              <a:rPr lang="de-CH" sz="850" dirty="0">
                <a:latin typeface="Courier New" panose="02070309020205020404" pitchFamily="49" charset="0"/>
                <a:cs typeface="Courier New" panose="02070309020205020404" pitchFamily="49" charset="0"/>
              </a:rPr>
              <a:t>-push-</a:t>
            </a:r>
            <a:r>
              <a:rPr lang="de-CH" sz="850" dirty="0" err="1">
                <a:latin typeface="Courier New" panose="02070309020205020404" pitchFamily="49" charset="0"/>
                <a:cs typeface="Courier New" panose="02070309020205020404" pitchFamily="49" charset="0"/>
              </a:rPr>
              <a:t>subscription</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id</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sn:subscription-id</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(filter-</a:t>
            </a:r>
            <a:r>
              <a:rPr lang="de-CH" sz="850" dirty="0" err="1">
                <a:latin typeface="Courier New" panose="02070309020205020404" pitchFamily="49" charset="0"/>
                <a:cs typeface="Courier New" panose="02070309020205020404" pitchFamily="49" charset="0"/>
              </a:rPr>
              <a:t>spec</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subtree</a:t>
            </a:r>
            <a:r>
              <a:rPr lang="de-CH" sz="850" dirty="0">
                <a:latin typeface="Courier New" panose="02070309020205020404" pitchFamily="49" charset="0"/>
                <a:cs typeface="Courier New" panose="02070309020205020404" pitchFamily="49" charset="0"/>
              </a:rPr>
              <a:t>-filter)?</a:t>
            </a: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subtree</a:t>
            </a:r>
            <a:r>
              <a:rPr lang="de-CH" sz="850" dirty="0">
                <a:latin typeface="Courier New" panose="02070309020205020404" pitchFamily="49" charset="0"/>
                <a:cs typeface="Courier New" panose="02070309020205020404" pitchFamily="49" charset="0"/>
              </a:rPr>
              <a:t>-filter?   </a:t>
            </a:r>
            <a:r>
              <a:rPr lang="de-CH" sz="850" dirty="0" err="1">
                <a:latin typeface="Courier New" panose="02070309020205020404" pitchFamily="49" charset="0"/>
                <a:cs typeface="Courier New" panose="02070309020205020404" pitchFamily="49" charset="0"/>
              </a:rPr>
              <a:t>anydata</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xpath</a:t>
            </a:r>
            <a:r>
              <a:rPr lang="de-CH" sz="850" dirty="0">
                <a:latin typeface="Courier New" panose="02070309020205020404" pitchFamily="49" charset="0"/>
                <a:cs typeface="Courier New" panose="02070309020205020404" pitchFamily="49" charset="0"/>
              </a:rPr>
              <a:t>-filter)?</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xpath</a:t>
            </a:r>
            <a:r>
              <a:rPr lang="de-CH" sz="850" dirty="0">
                <a:latin typeface="Courier New" panose="02070309020205020404" pitchFamily="49" charset="0"/>
                <a:cs typeface="Courier New" panose="02070309020205020404" pitchFamily="49" charset="0"/>
              </a:rPr>
              <a:t>-filter?     yang:xpath1.0</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target</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+--:(stream)</a:t>
            </a:r>
          </a:p>
          <a:p>
            <a:r>
              <a:rPr lang="de-CH" sz="850" dirty="0">
                <a:latin typeface="Courier New" panose="02070309020205020404" pitchFamily="49" charset="0"/>
                <a:cs typeface="Courier New" panose="02070309020205020404" pitchFamily="49" charset="0"/>
              </a:rPr>
              <a:t>       |  |  +-- stream?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datastore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datastore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identityref</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transport</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sn:transport</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encoding</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sn:encoding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purpose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(update-trigger)?</a:t>
            </a: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periodic</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periodic</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period</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yp:centiseconds</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 </a:t>
            </a:r>
            <a:r>
              <a:rPr lang="de-CH" sz="850" dirty="0" err="1">
                <a:latin typeface="Courier New" panose="02070309020205020404" pitchFamily="49" charset="0"/>
                <a:cs typeface="Courier New" panose="02070309020205020404" pitchFamily="49" charset="0"/>
              </a:rPr>
              <a:t>anchor</a:t>
            </a:r>
            <a:r>
              <a:rPr lang="de-CH" sz="850" dirty="0">
                <a:latin typeface="Courier New" panose="02070309020205020404" pitchFamily="49" charset="0"/>
                <a:cs typeface="Courier New" panose="02070309020205020404" pitchFamily="49" charset="0"/>
              </a:rPr>
              <a:t>-time?   </a:t>
            </a:r>
            <a:r>
              <a:rPr lang="de-CH" sz="850" dirty="0" err="1">
                <a:latin typeface="Courier New" panose="02070309020205020404" pitchFamily="49" charset="0"/>
                <a:cs typeface="Courier New" panose="02070309020205020404" pitchFamily="49" charset="0"/>
              </a:rPr>
              <a:t>yang:date-and-time</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+--:(on-change)</a:t>
            </a:r>
          </a:p>
          <a:p>
            <a:r>
              <a:rPr lang="de-CH" sz="850" dirty="0">
                <a:latin typeface="Courier New" panose="02070309020205020404" pitchFamily="49" charset="0"/>
                <a:cs typeface="Courier New" panose="02070309020205020404" pitchFamily="49" charset="0"/>
              </a:rPr>
              <a:t>       |     +-- on-change!</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dampening-period</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yp:centiseconds</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sync</a:t>
            </a:r>
            <a:r>
              <a:rPr lang="de-CH" sz="850" dirty="0">
                <a:latin typeface="Courier New" panose="02070309020205020404" pitchFamily="49" charset="0"/>
                <a:cs typeface="Courier New" panose="02070309020205020404" pitchFamily="49" charset="0"/>
              </a:rPr>
              <a:t>-on-start?      </a:t>
            </a:r>
            <a:r>
              <a:rPr lang="de-CH" sz="850" dirty="0" err="1">
                <a:latin typeface="Courier New" panose="02070309020205020404" pitchFamily="49" charset="0"/>
                <a:cs typeface="Courier New" panose="02070309020205020404" pitchFamily="49" charset="0"/>
              </a:rPr>
              <a:t>boolean</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module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a:t>
            </a: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name</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yang:yang-identifier</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revision</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rev:revision-date</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 </a:t>
            </a:r>
            <a:r>
              <a:rPr lang="de-CH" sz="850" dirty="0" err="1">
                <a:latin typeface="Courier New" panose="02070309020205020404" pitchFamily="49" charset="0"/>
                <a:cs typeface="Courier New" panose="02070309020205020404" pitchFamily="49" charset="0"/>
              </a:rPr>
              <a:t>version</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ysver:version</a:t>
            </a:r>
            <a:endParaRPr lang="de-CH" sz="850" dirty="0">
              <a:latin typeface="Courier New" panose="02070309020205020404" pitchFamily="49" charset="0"/>
              <a:cs typeface="Courier New" panose="02070309020205020404" pitchFamily="49" charset="0"/>
            </a:endParaRPr>
          </a:p>
          <a:p>
            <a:r>
              <a:rPr lang="de-CH" sz="850" dirty="0">
                <a:latin typeface="Courier New" panose="02070309020205020404" pitchFamily="49" charset="0"/>
                <a:cs typeface="Courier New" panose="02070309020205020404" pitchFamily="49" charset="0"/>
              </a:rPr>
              <a:t>       +-- </a:t>
            </a:r>
            <a:r>
              <a:rPr lang="de-CH" sz="850" dirty="0" err="1">
                <a:latin typeface="Courier New" panose="02070309020205020404" pitchFamily="49" charset="0"/>
                <a:cs typeface="Courier New" panose="02070309020205020404" pitchFamily="49" charset="0"/>
              </a:rPr>
              <a:t>yang</a:t>
            </a:r>
            <a:r>
              <a:rPr lang="de-CH" sz="850" dirty="0">
                <a:latin typeface="Courier New" panose="02070309020205020404" pitchFamily="49" charset="0"/>
                <a:cs typeface="Courier New" panose="02070309020205020404" pitchFamily="49" charset="0"/>
              </a:rPr>
              <a:t>-</a:t>
            </a:r>
            <a:r>
              <a:rPr lang="de-CH" sz="850" dirty="0" err="1">
                <a:latin typeface="Courier New" panose="02070309020205020404" pitchFamily="49" charset="0"/>
                <a:cs typeface="Courier New" panose="02070309020205020404" pitchFamily="49" charset="0"/>
              </a:rPr>
              <a:t>library</a:t>
            </a:r>
            <a:r>
              <a:rPr lang="de-CH" sz="850" dirty="0">
                <a:latin typeface="Courier New" panose="02070309020205020404" pitchFamily="49" charset="0"/>
                <a:cs typeface="Courier New" panose="02070309020205020404" pitchFamily="49" charset="0"/>
              </a:rPr>
              <a:t>-content-</a:t>
            </a:r>
            <a:r>
              <a:rPr lang="de-CH" sz="850" dirty="0" err="1">
                <a:latin typeface="Courier New" panose="02070309020205020404" pitchFamily="49" charset="0"/>
                <a:cs typeface="Courier New" panose="02070309020205020404" pitchFamily="49" charset="0"/>
              </a:rPr>
              <a:t>id</a:t>
            </a:r>
            <a:r>
              <a:rPr lang="de-CH" sz="850" dirty="0">
                <a:latin typeface="Courier New" panose="02070309020205020404" pitchFamily="49" charset="0"/>
                <a:cs typeface="Courier New" panose="02070309020205020404" pitchFamily="49" charset="0"/>
              </a:rPr>
              <a:t>?   </a:t>
            </a:r>
            <a:r>
              <a:rPr lang="de-CH" sz="850" dirty="0" err="1">
                <a:latin typeface="Courier New" panose="02070309020205020404" pitchFamily="49" charset="0"/>
                <a:cs typeface="Courier New" panose="02070309020205020404" pitchFamily="49" charset="0"/>
              </a:rPr>
              <a:t>string</a:t>
            </a:r>
            <a:endParaRPr lang="de-CH" sz="850" dirty="0">
              <a:latin typeface="Courier New" panose="02070309020205020404" pitchFamily="49" charset="0"/>
              <a:cs typeface="Courier New" panose="02070309020205020404" pitchFamily="49" charset="0"/>
            </a:endParaRPr>
          </a:p>
        </p:txBody>
      </p:sp>
      <p:sp>
        <p:nvSpPr>
          <p:cNvPr id="13" name="Oval 12">
            <a:extLst>
              <a:ext uri="{FF2B5EF4-FFF2-40B4-BE49-F238E27FC236}">
                <a16:creationId xmlns:a16="http://schemas.microsoft.com/office/drawing/2014/main" id="{9EE5BAB2-AD56-F814-A128-39290E96651A}"/>
              </a:ext>
            </a:extLst>
          </p:cNvPr>
          <p:cNvSpPr/>
          <p:nvPr/>
        </p:nvSpPr>
        <p:spPr>
          <a:xfrm>
            <a:off x="3321322" y="2955011"/>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5</a:t>
            </a:r>
          </a:p>
        </p:txBody>
      </p:sp>
      <p:sp>
        <p:nvSpPr>
          <p:cNvPr id="14" name="Oval 13">
            <a:extLst>
              <a:ext uri="{FF2B5EF4-FFF2-40B4-BE49-F238E27FC236}">
                <a16:creationId xmlns:a16="http://schemas.microsoft.com/office/drawing/2014/main" id="{C65A4B26-CA66-E481-8A30-F04EF75B2F3E}"/>
              </a:ext>
            </a:extLst>
          </p:cNvPr>
          <p:cNvSpPr/>
          <p:nvPr/>
        </p:nvSpPr>
        <p:spPr>
          <a:xfrm>
            <a:off x="7407373" y="1873299"/>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1</a:t>
            </a:r>
          </a:p>
        </p:txBody>
      </p:sp>
      <p:sp>
        <p:nvSpPr>
          <p:cNvPr id="15" name="Oval 14">
            <a:extLst>
              <a:ext uri="{FF2B5EF4-FFF2-40B4-BE49-F238E27FC236}">
                <a16:creationId xmlns:a16="http://schemas.microsoft.com/office/drawing/2014/main" id="{6DB2FF59-6A37-7B3C-D87A-9523DC30E665}"/>
              </a:ext>
            </a:extLst>
          </p:cNvPr>
          <p:cNvSpPr/>
          <p:nvPr/>
        </p:nvSpPr>
        <p:spPr>
          <a:xfrm>
            <a:off x="7401282" y="4075373"/>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1</a:t>
            </a:r>
          </a:p>
        </p:txBody>
      </p:sp>
      <p:sp>
        <p:nvSpPr>
          <p:cNvPr id="16" name="Oval 15">
            <a:extLst>
              <a:ext uri="{FF2B5EF4-FFF2-40B4-BE49-F238E27FC236}">
                <a16:creationId xmlns:a16="http://schemas.microsoft.com/office/drawing/2014/main" id="{90A1D24B-C0A3-99AF-79F0-39C371307E52}"/>
              </a:ext>
            </a:extLst>
          </p:cNvPr>
          <p:cNvSpPr/>
          <p:nvPr/>
        </p:nvSpPr>
        <p:spPr>
          <a:xfrm>
            <a:off x="7401281" y="2852266"/>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2</a:t>
            </a:r>
          </a:p>
        </p:txBody>
      </p:sp>
      <p:sp>
        <p:nvSpPr>
          <p:cNvPr id="17" name="Oval 16">
            <a:extLst>
              <a:ext uri="{FF2B5EF4-FFF2-40B4-BE49-F238E27FC236}">
                <a16:creationId xmlns:a16="http://schemas.microsoft.com/office/drawing/2014/main" id="{93573FC5-D9A3-9EAB-DEE8-F9DAD7D202FC}"/>
              </a:ext>
            </a:extLst>
          </p:cNvPr>
          <p:cNvSpPr/>
          <p:nvPr/>
        </p:nvSpPr>
        <p:spPr>
          <a:xfrm>
            <a:off x="7410884" y="5197592"/>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3</a:t>
            </a:r>
          </a:p>
        </p:txBody>
      </p:sp>
      <p:sp>
        <p:nvSpPr>
          <p:cNvPr id="18" name="Oval 17">
            <a:extLst>
              <a:ext uri="{FF2B5EF4-FFF2-40B4-BE49-F238E27FC236}">
                <a16:creationId xmlns:a16="http://schemas.microsoft.com/office/drawing/2014/main" id="{EEFA89AB-995F-33E6-B5C2-0D30897EAEA6}"/>
              </a:ext>
            </a:extLst>
          </p:cNvPr>
          <p:cNvSpPr/>
          <p:nvPr/>
        </p:nvSpPr>
        <p:spPr>
          <a:xfrm>
            <a:off x="7401280" y="6380035"/>
            <a:ext cx="381837" cy="346727"/>
          </a:xfrm>
          <a:prstGeom prst="ellipse">
            <a:avLst/>
          </a:prstGeom>
          <a:solidFill>
            <a:srgbClr val="FF0000">
              <a:alpha val="10000"/>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solidFill>
                  <a:srgbClr val="FF0000"/>
                </a:solidFill>
              </a:rPr>
              <a:t>4</a:t>
            </a:r>
          </a:p>
        </p:txBody>
      </p:sp>
    </p:spTree>
    <p:extLst>
      <p:ext uri="{BB962C8B-B14F-4D97-AF65-F5344CB8AC3E}">
        <p14:creationId xmlns:p14="http://schemas.microsoft.com/office/powerpoint/2010/main" val="3526766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E83B-F691-36BC-C02A-8A6E6173A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307E7-7294-F676-0695-F5E8BCFB1114}"/>
              </a:ext>
            </a:extLst>
          </p:cNvPr>
          <p:cNvSpPr>
            <a:spLocks noGrp="1"/>
          </p:cNvSpPr>
          <p:nvPr>
            <p:ph type="title"/>
          </p:nvPr>
        </p:nvSpPr>
        <p:spPr/>
        <p:txBody>
          <a:bodyPr>
            <a:normAutofit/>
          </a:bodyPr>
          <a:lstStyle/>
          <a:p>
            <a:r>
              <a:rPr lang="en-US" sz="2800" b="1" dirty="0"/>
              <a:t>Extensible YANG Model for Network Telemetry Messages</a:t>
            </a:r>
            <a:br>
              <a:rPr lang="en-GB" sz="3600" dirty="0"/>
            </a:br>
            <a:r>
              <a:rPr lang="en-GB" sz="2700" dirty="0">
                <a:solidFill>
                  <a:schemeClr val="bg2">
                    <a:lumMod val="75000"/>
                  </a:schemeClr>
                </a:solidFill>
              </a:rPr>
              <a:t>Status and Summary </a:t>
            </a:r>
            <a:r>
              <a:rPr lang="de-CH" sz="2700" dirty="0" err="1">
                <a:solidFill>
                  <a:schemeClr val="bg2">
                    <a:lumMod val="75000"/>
                  </a:schemeClr>
                </a:solidFill>
              </a:rPr>
              <a:t>from</a:t>
            </a:r>
            <a:r>
              <a:rPr lang="de-CH" sz="2700" dirty="0">
                <a:solidFill>
                  <a:schemeClr val="bg2">
                    <a:lumMod val="75000"/>
                  </a:schemeClr>
                </a:solidFill>
              </a:rPr>
              <a:t> </a:t>
            </a:r>
            <a:r>
              <a:rPr lang="en-US" sz="2700" b="1" dirty="0">
                <a:solidFill>
                  <a:srgbClr val="FF0000"/>
                </a:solidFill>
              </a:rPr>
              <a:t>-02</a:t>
            </a:r>
          </a:p>
        </p:txBody>
      </p:sp>
      <p:sp>
        <p:nvSpPr>
          <p:cNvPr id="3" name="Content Placeholder 2">
            <a:extLst>
              <a:ext uri="{FF2B5EF4-FFF2-40B4-BE49-F238E27FC236}">
                <a16:creationId xmlns:a16="http://schemas.microsoft.com/office/drawing/2014/main" id="{DFFD1483-3E46-4ECB-FCD8-371365FD4D07}"/>
              </a:ext>
            </a:extLst>
          </p:cNvPr>
          <p:cNvSpPr>
            <a:spLocks noGrp="1"/>
          </p:cNvSpPr>
          <p:nvPr>
            <p:ph idx="1"/>
          </p:nvPr>
        </p:nvSpPr>
        <p:spPr>
          <a:xfrm>
            <a:off x="838200" y="1772816"/>
            <a:ext cx="6506183" cy="4404148"/>
          </a:xfrm>
        </p:spPr>
        <p:txBody>
          <a:bodyPr>
            <a:noAutofit/>
          </a:bodyPr>
          <a:lstStyle/>
          <a:p>
            <a:r>
              <a:rPr lang="en-US" sz="1800" dirty="0">
                <a:latin typeface="Calibri Body"/>
              </a:rPr>
              <a:t>Addressed comments from Reshad (</a:t>
            </a:r>
            <a:r>
              <a:rPr lang="en-US" sz="1800" dirty="0">
                <a:latin typeface="Calibri Body"/>
                <a:hlinkClick r:id="rId2"/>
              </a:rPr>
              <a:t>https://mailarchive.ietf.org/arch/msg/nmop/MfIthPyz61aJ9fX5WgJPuJud0us/</a:t>
            </a:r>
            <a:r>
              <a:rPr lang="en-US" sz="1800" dirty="0">
                <a:latin typeface="Calibri Body"/>
              </a:rPr>
              <a:t>) and Rob (</a:t>
            </a:r>
            <a:r>
              <a:rPr lang="en-US" sz="1800" dirty="0">
                <a:latin typeface="Calibri Body"/>
                <a:hlinkClick r:id="rId3"/>
              </a:rPr>
              <a:t>https://mailarchive.ietf.org/arch/msg/nmop/Yi-WE5SgZ1hIxDfYtlgSQQfbC7U/</a:t>
            </a:r>
            <a:r>
              <a:rPr lang="en-US" sz="1800" dirty="0">
                <a:latin typeface="Calibri Body"/>
              </a:rPr>
              <a:t>). Many thanks </a:t>
            </a:r>
            <a:r>
              <a:rPr lang="en-US" sz="1800">
                <a:latin typeface="Calibri Body"/>
              </a:rPr>
              <a:t>for the review!</a:t>
            </a:r>
            <a:endParaRPr lang="en-US" sz="1800" dirty="0">
              <a:latin typeface="Calibri Body"/>
            </a:endParaRPr>
          </a:p>
          <a:p>
            <a:r>
              <a:rPr lang="en-US" sz="1800" dirty="0">
                <a:latin typeface="Calibri Body"/>
              </a:rPr>
              <a:t>Reflected changes in </a:t>
            </a:r>
            <a:r>
              <a:rPr lang="en-US" sz="1800" dirty="0" err="1">
                <a:latin typeface="Calibri Body"/>
              </a:rPr>
              <a:t>ietf</a:t>
            </a:r>
            <a:r>
              <a:rPr lang="en-US" sz="1800" dirty="0">
                <a:latin typeface="Calibri Body"/>
              </a:rPr>
              <a:t>-yang-push-telemetry-message yang module node name changes from "</a:t>
            </a:r>
            <a:r>
              <a:rPr lang="en-US" sz="1800" dirty="0">
                <a:latin typeface="Calibri Body"/>
                <a:hlinkClick r:id="rId4"/>
              </a:rPr>
              <a:t>draft-</a:t>
            </a:r>
            <a:r>
              <a:rPr lang="en-US" sz="1800" dirty="0" err="1">
                <a:latin typeface="Calibri Body"/>
                <a:hlinkClick r:id="rId4"/>
              </a:rPr>
              <a:t>ietf</a:t>
            </a:r>
            <a:r>
              <a:rPr lang="en-US" sz="1800" dirty="0">
                <a:latin typeface="Calibri Body"/>
                <a:hlinkClick r:id="rId4"/>
              </a:rPr>
              <a:t>-</a:t>
            </a:r>
            <a:r>
              <a:rPr lang="en-US" sz="1800" dirty="0" err="1">
                <a:latin typeface="Calibri Body"/>
                <a:hlinkClick r:id="rId4"/>
              </a:rPr>
              <a:t>netmod</a:t>
            </a:r>
            <a:r>
              <a:rPr lang="en-US" sz="1800" dirty="0">
                <a:latin typeface="Calibri Body"/>
                <a:hlinkClick r:id="rId4"/>
              </a:rPr>
              <a:t>-yang-</a:t>
            </a:r>
            <a:r>
              <a:rPr lang="en-US" sz="1800" dirty="0" err="1">
                <a:latin typeface="Calibri Body"/>
                <a:hlinkClick r:id="rId4"/>
              </a:rPr>
              <a:t>semver</a:t>
            </a:r>
            <a:r>
              <a:rPr lang="en-US" sz="1800" dirty="0">
                <a:latin typeface="Calibri Body"/>
              </a:rPr>
              <a:t>" from "revision-label" to" version" and "module-name" to "name" to align with </a:t>
            </a:r>
            <a:r>
              <a:rPr lang="en-US" sz="1800" dirty="0">
                <a:latin typeface="Calibri Body"/>
                <a:hlinkClick r:id="rId5"/>
              </a:rPr>
              <a:t>https://datatracker.ietf.org/doc/html/draft-ietf-netmod-rfc8407bis-22#section-4.3.1</a:t>
            </a:r>
            <a:r>
              <a:rPr lang="en-US" sz="1800" dirty="0">
                <a:latin typeface="Calibri Body"/>
              </a:rPr>
              <a:t>.</a:t>
            </a:r>
          </a:p>
          <a:p>
            <a:pPr lvl="1">
              <a:spcBef>
                <a:spcPts val="1000"/>
              </a:spcBef>
            </a:pPr>
            <a:r>
              <a:rPr lang="en-US" sz="1800" dirty="0">
                <a:latin typeface="Calibri Body"/>
              </a:rPr>
              <a:t>Please note that the described changes also had implications on draft-ietf-netconf-yang-notifications-versioning-09 </a:t>
            </a:r>
            <a:r>
              <a:rPr lang="en-US" sz="1800" dirty="0">
                <a:latin typeface="Calibri Body"/>
                <a:hlinkClick r:id="rId6"/>
              </a:rPr>
              <a:t>https://mailarchive.ietf.org/arch/msg/nmop/aefFROi7Pgm3m6xxfovqX_LIQ1c/</a:t>
            </a:r>
            <a:r>
              <a:rPr lang="en-US" sz="1800" dirty="0">
                <a:latin typeface="Calibri Body"/>
              </a:rPr>
              <a:t>.</a:t>
            </a:r>
          </a:p>
        </p:txBody>
      </p:sp>
      <p:sp>
        <p:nvSpPr>
          <p:cNvPr id="8" name="Slide Number Placeholder 1">
            <a:extLst>
              <a:ext uri="{FF2B5EF4-FFF2-40B4-BE49-F238E27FC236}">
                <a16:creationId xmlns:a16="http://schemas.microsoft.com/office/drawing/2014/main" id="{F9740576-5CE1-1F72-1FA7-2F6F521B45BF}"/>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7</a:t>
            </a:fld>
            <a:endParaRPr lang="de-CH" sz="1400" dirty="0"/>
          </a:p>
        </p:txBody>
      </p:sp>
      <p:pic>
        <p:nvPicPr>
          <p:cNvPr id="6" name="Picture 5">
            <a:extLst>
              <a:ext uri="{FF2B5EF4-FFF2-40B4-BE49-F238E27FC236}">
                <a16:creationId xmlns:a16="http://schemas.microsoft.com/office/drawing/2014/main" id="{276D64D8-6EC6-121D-9AE4-BA5E220FA39C}"/>
              </a:ext>
            </a:extLst>
          </p:cNvPr>
          <p:cNvPicPr>
            <a:picLocks noChangeAspect="1"/>
          </p:cNvPicPr>
          <p:nvPr/>
        </p:nvPicPr>
        <p:blipFill>
          <a:blip r:embed="rId7"/>
          <a:stretch>
            <a:fillRect/>
          </a:stretch>
        </p:blipFill>
        <p:spPr>
          <a:xfrm>
            <a:off x="7498702" y="1287237"/>
            <a:ext cx="4089190" cy="5375306"/>
          </a:xfrm>
          <a:prstGeom prst="rect">
            <a:avLst/>
          </a:prstGeom>
        </p:spPr>
      </p:pic>
      <p:sp>
        <p:nvSpPr>
          <p:cNvPr id="7" name="Oval 6">
            <a:extLst>
              <a:ext uri="{FF2B5EF4-FFF2-40B4-BE49-F238E27FC236}">
                <a16:creationId xmlns:a16="http://schemas.microsoft.com/office/drawing/2014/main" id="{C1711D17-A3A3-369C-3704-52AF263AC327}"/>
              </a:ext>
            </a:extLst>
          </p:cNvPr>
          <p:cNvSpPr/>
          <p:nvPr/>
        </p:nvSpPr>
        <p:spPr>
          <a:xfrm>
            <a:off x="9999902" y="3742952"/>
            <a:ext cx="1498192" cy="838775"/>
          </a:xfrm>
          <a:prstGeom prst="ellipse">
            <a:avLst/>
          </a:prstGeom>
          <a:solidFill>
            <a:srgbClr val="FF0000">
              <a:alpha val="2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2695572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2E10-D23C-63C1-BF5E-2E15CFD12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D8FC1-6AD2-4FDB-0618-87CF7F39767C}"/>
              </a:ext>
            </a:extLst>
          </p:cNvPr>
          <p:cNvSpPr>
            <a:spLocks noGrp="1"/>
          </p:cNvSpPr>
          <p:nvPr>
            <p:ph type="title"/>
          </p:nvPr>
        </p:nvSpPr>
        <p:spPr/>
        <p:txBody>
          <a:bodyPr>
            <a:normAutofit/>
          </a:bodyPr>
          <a:lstStyle/>
          <a:p>
            <a:r>
              <a:rPr lang="en-US" sz="2800" b="1" dirty="0"/>
              <a:t>Extensible YANG Model for Network Telemetry Messages</a:t>
            </a:r>
            <a:br>
              <a:rPr lang="en-US" sz="3600" dirty="0"/>
            </a:br>
            <a:r>
              <a:rPr lang="en-GB" sz="2700" dirty="0">
                <a:solidFill>
                  <a:schemeClr val="bg2">
                    <a:lumMod val="75000"/>
                  </a:schemeClr>
                </a:solidFill>
              </a:rPr>
              <a:t>Status and Summary </a:t>
            </a:r>
            <a:r>
              <a:rPr lang="de-CH" sz="2700" dirty="0" err="1">
                <a:solidFill>
                  <a:schemeClr val="bg2">
                    <a:lumMod val="75000"/>
                  </a:schemeClr>
                </a:solidFill>
              </a:rPr>
              <a:t>from</a:t>
            </a:r>
            <a:r>
              <a:rPr lang="de-CH" sz="2700" dirty="0">
                <a:solidFill>
                  <a:schemeClr val="bg2">
                    <a:lumMod val="75000"/>
                  </a:schemeClr>
                </a:solidFill>
              </a:rPr>
              <a:t> </a:t>
            </a:r>
            <a:r>
              <a:rPr lang="en-US" sz="2700" b="1" dirty="0">
                <a:solidFill>
                  <a:srgbClr val="FF0000"/>
                </a:solidFill>
              </a:rPr>
              <a:t>-03</a:t>
            </a:r>
          </a:p>
        </p:txBody>
      </p:sp>
      <p:sp>
        <p:nvSpPr>
          <p:cNvPr id="3" name="Content Placeholder 2">
            <a:extLst>
              <a:ext uri="{FF2B5EF4-FFF2-40B4-BE49-F238E27FC236}">
                <a16:creationId xmlns:a16="http://schemas.microsoft.com/office/drawing/2014/main" id="{E1C8AC62-B5C5-ADE4-1957-88D3A14E964A}"/>
              </a:ext>
            </a:extLst>
          </p:cNvPr>
          <p:cNvSpPr>
            <a:spLocks noGrp="1"/>
          </p:cNvSpPr>
          <p:nvPr>
            <p:ph idx="1"/>
          </p:nvPr>
        </p:nvSpPr>
        <p:spPr>
          <a:xfrm>
            <a:off x="838199" y="1772816"/>
            <a:ext cx="10749693" cy="4404148"/>
          </a:xfrm>
        </p:spPr>
        <p:txBody>
          <a:bodyPr>
            <a:noAutofit/>
          </a:bodyPr>
          <a:lstStyle/>
          <a:p>
            <a:r>
              <a:rPr lang="en-US" sz="1800" dirty="0">
                <a:latin typeface="Calibri Body"/>
              </a:rPr>
              <a:t>Many thanks to Martin Björklund for the early YANG doctors review. Comments were addressed as bellow. See also  </a:t>
            </a:r>
            <a:r>
              <a:rPr lang="en-US" sz="1800" dirty="0">
                <a:latin typeface="Calibri Body"/>
                <a:hlinkClick r:id="rId2"/>
              </a:rPr>
              <a:t>https://mailarchive.ietf.org/arch/msg/nmop/cgOnUQDVc_8hb0YOkIMDyBXyCrU/</a:t>
            </a:r>
            <a:endParaRPr lang="en-US" sz="1800" dirty="0">
              <a:latin typeface="Calibri Body"/>
            </a:endParaRPr>
          </a:p>
          <a:p>
            <a:r>
              <a:rPr lang="en-US" sz="1800" dirty="0">
                <a:latin typeface="Calibri Body"/>
              </a:rPr>
              <a:t>identity name change from "</a:t>
            </a:r>
            <a:r>
              <a:rPr lang="en-US" sz="1800" dirty="0" err="1">
                <a:latin typeface="Calibri Body"/>
              </a:rPr>
              <a:t>yp</a:t>
            </a:r>
            <a:r>
              <a:rPr lang="en-US" sz="1800" dirty="0">
                <a:latin typeface="Calibri Body"/>
              </a:rPr>
              <a:t>-push" to "yang-push".</a:t>
            </a:r>
          </a:p>
          <a:p>
            <a:r>
              <a:rPr lang="en-US" sz="1800" dirty="0">
                <a:latin typeface="Calibri Body"/>
              </a:rPr>
              <a:t>Introduced missing leaf "notification-event" referencing "telemetry-notification-event-type" </a:t>
            </a:r>
            <a:r>
              <a:rPr lang="en-US" sz="1800" dirty="0" err="1">
                <a:latin typeface="Calibri Body"/>
              </a:rPr>
              <a:t>identityref</a:t>
            </a:r>
            <a:r>
              <a:rPr lang="en-US" sz="1800" dirty="0">
                <a:latin typeface="Calibri Body"/>
              </a:rPr>
              <a:t> to declare notification type of telemetry message. Wherever real-time transformed from network node or generated or removed out of cache in data collector as state update.</a:t>
            </a:r>
          </a:p>
          <a:p>
            <a:r>
              <a:rPr lang="en-US" sz="1800" dirty="0">
                <a:latin typeface="Calibri Body"/>
              </a:rPr>
              <a:t>Martin suggested to change "message" container to </a:t>
            </a:r>
            <a:r>
              <a:rPr lang="en-US" sz="1800" dirty="0" err="1">
                <a:latin typeface="Calibri Body"/>
              </a:rPr>
              <a:t>sx:structure</a:t>
            </a:r>
            <a:r>
              <a:rPr lang="en-US" sz="1800" dirty="0">
                <a:latin typeface="Calibri Body"/>
              </a:rPr>
              <a:t> (</a:t>
            </a:r>
            <a:r>
              <a:rPr lang="en-US" sz="1800" dirty="0">
                <a:latin typeface="Calibri Body"/>
                <a:hlinkClick r:id="rId3"/>
              </a:rPr>
              <a:t>RFC 8791</a:t>
            </a:r>
            <a:r>
              <a:rPr lang="en-US" sz="1800" dirty="0">
                <a:latin typeface="Calibri Body"/>
              </a:rPr>
              <a:t>, data structure) or notification (</a:t>
            </a:r>
            <a:r>
              <a:rPr lang="en-US" sz="1800" dirty="0">
                <a:latin typeface="Calibri Body"/>
                <a:hlinkClick r:id="rId4"/>
              </a:rPr>
              <a:t>Section 4.2.10 of RFC 7950</a:t>
            </a:r>
            <a:r>
              <a:rPr lang="en-US" sz="1800" dirty="0">
                <a:latin typeface="Calibri Body"/>
              </a:rPr>
              <a:t>). Considering that it envelops </a:t>
            </a:r>
            <a:r>
              <a:rPr lang="en-US" sz="1800" dirty="0">
                <a:latin typeface="Calibri Body"/>
                <a:hlinkClick r:id="rId5"/>
              </a:rPr>
              <a:t>draft-</a:t>
            </a:r>
            <a:r>
              <a:rPr lang="en-US" sz="1800" dirty="0" err="1">
                <a:latin typeface="Calibri Body"/>
                <a:hlinkClick r:id="rId5"/>
              </a:rPr>
              <a:t>ietf</a:t>
            </a:r>
            <a:r>
              <a:rPr lang="en-US" sz="1800" dirty="0">
                <a:latin typeface="Calibri Body"/>
                <a:hlinkClick r:id="rId5"/>
              </a:rPr>
              <a:t>-netconf-</a:t>
            </a:r>
            <a:r>
              <a:rPr lang="en-US" sz="1800" dirty="0" err="1">
                <a:latin typeface="Calibri Body"/>
                <a:hlinkClick r:id="rId5"/>
              </a:rPr>
              <a:t>notif</a:t>
            </a:r>
            <a:r>
              <a:rPr lang="en-US" sz="1800" dirty="0">
                <a:latin typeface="Calibri Body"/>
                <a:hlinkClick r:id="rId5"/>
              </a:rPr>
              <a:t>-envelope</a:t>
            </a:r>
            <a:r>
              <a:rPr lang="en-US" sz="1800" dirty="0">
                <a:latin typeface="Calibri Body"/>
              </a:rPr>
              <a:t>, authors opted for "</a:t>
            </a:r>
            <a:r>
              <a:rPr lang="en-US" sz="1800" dirty="0" err="1">
                <a:latin typeface="Calibri Body"/>
              </a:rPr>
              <a:t>sx:structure</a:t>
            </a:r>
            <a:r>
              <a:rPr lang="en-US" sz="1800" dirty="0">
                <a:latin typeface="Calibri Body"/>
              </a:rPr>
              <a:t>". </a:t>
            </a:r>
          </a:p>
          <a:p>
            <a:pPr lvl="1">
              <a:spcBef>
                <a:spcPts val="1000"/>
              </a:spcBef>
              <a:buFont typeface="Wingdings" panose="05000000000000000000" pitchFamily="2" charset="2"/>
              <a:buChar char="Ø"/>
            </a:pPr>
            <a:r>
              <a:rPr lang="en-US" sz="1800" b="1" dirty="0">
                <a:solidFill>
                  <a:srgbClr val="FF0000"/>
                </a:solidFill>
                <a:latin typeface="Calibri Body"/>
              </a:rPr>
              <a:t>We like to hear from the working group wherever the YANG doctors input and authors choice make sense. Other opinions?</a:t>
            </a:r>
          </a:p>
        </p:txBody>
      </p:sp>
      <p:sp>
        <p:nvSpPr>
          <p:cNvPr id="8" name="Slide Number Placeholder 1">
            <a:extLst>
              <a:ext uri="{FF2B5EF4-FFF2-40B4-BE49-F238E27FC236}">
                <a16:creationId xmlns:a16="http://schemas.microsoft.com/office/drawing/2014/main" id="{8BB66400-890A-2BF7-2334-5D3E2ED00552}"/>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8</a:t>
            </a:fld>
            <a:endParaRPr lang="en-US" sz="1400" dirty="0"/>
          </a:p>
        </p:txBody>
      </p:sp>
    </p:spTree>
    <p:extLst>
      <p:ext uri="{BB962C8B-B14F-4D97-AF65-F5344CB8AC3E}">
        <p14:creationId xmlns:p14="http://schemas.microsoft.com/office/powerpoint/2010/main" val="2878460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A5D84-7AFF-09C7-08E5-E3BE019B14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E077D2-7FD2-CAA6-BC26-8236770D9956}"/>
              </a:ext>
            </a:extLst>
          </p:cNvPr>
          <p:cNvSpPr>
            <a:spLocks noGrp="1"/>
          </p:cNvSpPr>
          <p:nvPr>
            <p:ph type="title"/>
          </p:nvPr>
        </p:nvSpPr>
        <p:spPr/>
        <p:txBody>
          <a:bodyPr>
            <a:normAutofit/>
          </a:bodyPr>
          <a:lstStyle/>
          <a:p>
            <a:r>
              <a:rPr lang="en-US" sz="2800" b="1" dirty="0"/>
              <a:t>Extensible YANG Model for Network Telemetry Messages</a:t>
            </a:r>
            <a:br>
              <a:rPr lang="en-US" sz="3600" dirty="0"/>
            </a:br>
            <a:r>
              <a:rPr lang="en-US" sz="2700" dirty="0">
                <a:solidFill>
                  <a:schemeClr val="bg2">
                    <a:lumMod val="75000"/>
                  </a:schemeClr>
                </a:solidFill>
              </a:rPr>
              <a:t>Next steps at </a:t>
            </a:r>
            <a:r>
              <a:rPr lang="en-US" sz="2700" b="1" dirty="0">
                <a:solidFill>
                  <a:srgbClr val="FF0000"/>
                </a:solidFill>
              </a:rPr>
              <a:t>IETF 124 and 125</a:t>
            </a:r>
          </a:p>
        </p:txBody>
      </p:sp>
      <p:sp>
        <p:nvSpPr>
          <p:cNvPr id="3" name="Content Placeholder 2">
            <a:extLst>
              <a:ext uri="{FF2B5EF4-FFF2-40B4-BE49-F238E27FC236}">
                <a16:creationId xmlns:a16="http://schemas.microsoft.com/office/drawing/2014/main" id="{07B878BF-4CE0-02B1-A1AF-E443CE11011B}"/>
              </a:ext>
            </a:extLst>
          </p:cNvPr>
          <p:cNvSpPr>
            <a:spLocks noGrp="1"/>
          </p:cNvSpPr>
          <p:nvPr>
            <p:ph idx="1"/>
          </p:nvPr>
        </p:nvSpPr>
        <p:spPr>
          <a:xfrm>
            <a:off x="838199" y="1772816"/>
            <a:ext cx="10749693" cy="4404148"/>
          </a:xfrm>
        </p:spPr>
        <p:txBody>
          <a:bodyPr>
            <a:noAutofit/>
          </a:bodyPr>
          <a:lstStyle/>
          <a:p>
            <a:pPr marL="0" indent="0">
              <a:buNone/>
            </a:pPr>
            <a:r>
              <a:rPr lang="en-US" sz="1800" b="1" dirty="0">
                <a:latin typeface="Calibri Body"/>
              </a:rPr>
              <a:t>Next Steps</a:t>
            </a:r>
          </a:p>
          <a:p>
            <a:pPr>
              <a:spcBef>
                <a:spcPts val="600"/>
              </a:spcBef>
            </a:pPr>
            <a:r>
              <a:rPr lang="en-US" sz="1800" dirty="0">
                <a:latin typeface="Calibri Body"/>
              </a:rPr>
              <a:t>The document describes in the implementation status section the </a:t>
            </a:r>
            <a:r>
              <a:rPr lang="en-US" sz="1800" dirty="0">
                <a:latin typeface="Calibri Body"/>
                <a:hlinkClick r:id="rId2"/>
              </a:rPr>
              <a:t>NetGauze</a:t>
            </a:r>
            <a:r>
              <a:rPr lang="en-US" sz="1800" dirty="0">
                <a:latin typeface="Calibri Body"/>
              </a:rPr>
              <a:t> YANG Message Broker Producer implementation which was validated at IETF 123 hackathon. </a:t>
            </a:r>
          </a:p>
          <a:p>
            <a:pPr>
              <a:spcBef>
                <a:spcPts val="600"/>
              </a:spcBef>
            </a:pPr>
            <a:r>
              <a:rPr lang="en-US" sz="1800" dirty="0">
                <a:latin typeface="Calibri Body"/>
              </a:rPr>
              <a:t>We validated </a:t>
            </a:r>
            <a:r>
              <a:rPr lang="en-US" sz="1800" dirty="0">
                <a:latin typeface="Calibri Body"/>
                <a:hlinkClick r:id="rId3"/>
              </a:rPr>
              <a:t>Pmacct</a:t>
            </a:r>
            <a:r>
              <a:rPr lang="en-US" sz="1800" dirty="0">
                <a:latin typeface="Calibri Body"/>
              </a:rPr>
              <a:t> as second YANG Message Broker Producer implementation at IETF 124 hackathon.</a:t>
            </a:r>
          </a:p>
          <a:p>
            <a:pPr lvl="1">
              <a:spcBef>
                <a:spcPts val="600"/>
              </a:spcBef>
              <a:buFont typeface="Wingdings" panose="05000000000000000000" pitchFamily="2" charset="2"/>
              <a:buChar char="Ø"/>
            </a:pPr>
            <a:r>
              <a:rPr lang="en-US" sz="1800" b="1" dirty="0">
                <a:solidFill>
                  <a:srgbClr val="FF0000"/>
                </a:solidFill>
                <a:latin typeface="Calibri Body"/>
              </a:rPr>
              <a:t>See separate presentation for details.</a:t>
            </a:r>
          </a:p>
          <a:p>
            <a:pPr>
              <a:spcBef>
                <a:spcPts val="600"/>
              </a:spcBef>
            </a:pPr>
            <a:r>
              <a:rPr lang="en-US" sz="1800" dirty="0">
                <a:latin typeface="Calibri Body"/>
              </a:rPr>
              <a:t>Workflow Engine from Ciena Blue Planet UAA is a YANG Message Broker Consumer implementation which is currently under development and testing. </a:t>
            </a:r>
          </a:p>
          <a:p>
            <a:pPr>
              <a:spcBef>
                <a:spcPts val="600"/>
              </a:spcBef>
            </a:pPr>
            <a:r>
              <a:rPr lang="en-US" sz="1800" dirty="0">
                <a:latin typeface="Calibri Body"/>
              </a:rPr>
              <a:t>The last remaining normative referenced document which did not pass working group last call is </a:t>
            </a:r>
            <a:r>
              <a:rPr lang="en-US" sz="1800" dirty="0">
                <a:latin typeface="Calibri Body"/>
                <a:hlinkClick r:id="rId4"/>
              </a:rPr>
              <a:t>draft-</a:t>
            </a:r>
            <a:r>
              <a:rPr lang="en-US" sz="1800" dirty="0" err="1">
                <a:latin typeface="Calibri Body"/>
                <a:hlinkClick r:id="rId4"/>
              </a:rPr>
              <a:t>ietf</a:t>
            </a:r>
            <a:r>
              <a:rPr lang="en-US" sz="1800" dirty="0">
                <a:latin typeface="Calibri Body"/>
                <a:hlinkClick r:id="rId4"/>
              </a:rPr>
              <a:t>-</a:t>
            </a:r>
            <a:r>
              <a:rPr lang="en-US" sz="1800" dirty="0" err="1">
                <a:latin typeface="Calibri Body"/>
                <a:hlinkClick r:id="rId4"/>
              </a:rPr>
              <a:t>nmop</a:t>
            </a:r>
            <a:r>
              <a:rPr lang="en-US" sz="1800" dirty="0">
                <a:latin typeface="Calibri Body"/>
                <a:hlinkClick r:id="rId4"/>
              </a:rPr>
              <a:t>-yang-message-broker-integration</a:t>
            </a:r>
            <a:r>
              <a:rPr lang="en-US" sz="1800" dirty="0">
                <a:latin typeface="Calibri Body"/>
              </a:rPr>
              <a:t>.</a:t>
            </a:r>
          </a:p>
          <a:p>
            <a:pPr>
              <a:spcBef>
                <a:spcPts val="600"/>
              </a:spcBef>
              <a:buFont typeface="Wingdings" panose="05000000000000000000" pitchFamily="2" charset="2"/>
              <a:buChar char="Ø"/>
            </a:pPr>
            <a:r>
              <a:rPr lang="en-US" sz="1800" b="1" dirty="0">
                <a:solidFill>
                  <a:srgbClr val="FF0000"/>
                </a:solidFill>
                <a:latin typeface="Calibri Body"/>
              </a:rPr>
              <a:t>Clarify with NMOP and OPS AD wherever the document should be "informational" or "standards track".</a:t>
            </a:r>
          </a:p>
          <a:p>
            <a:pPr>
              <a:spcBef>
                <a:spcPts val="600"/>
              </a:spcBef>
              <a:buFont typeface="Wingdings" panose="05000000000000000000" pitchFamily="2" charset="2"/>
              <a:buChar char="Ø"/>
            </a:pPr>
            <a:r>
              <a:rPr lang="en-US" sz="1800" b="1" dirty="0">
                <a:solidFill>
                  <a:srgbClr val="FF0000"/>
                </a:solidFill>
                <a:latin typeface="Calibri Body"/>
              </a:rPr>
              <a:t>The authors believe that the document is stable and once YANG doctors review and input from second implementation has been merged, working group last call at IETF 125 and submitted together with </a:t>
            </a:r>
            <a:br>
              <a:rPr lang="en-US" sz="1800" b="1" dirty="0">
                <a:solidFill>
                  <a:srgbClr val="FF0000"/>
                </a:solidFill>
                <a:latin typeface="Calibri Body"/>
              </a:rPr>
            </a:br>
            <a:r>
              <a:rPr lang="en-US" sz="1800" b="1" dirty="0">
                <a:solidFill>
                  <a:srgbClr val="FF0000"/>
                </a:solidFill>
                <a:latin typeface="Calibri Body"/>
                <a:hlinkClick r:id="rId4"/>
              </a:rPr>
              <a:t>draft-</a:t>
            </a:r>
            <a:r>
              <a:rPr lang="en-US" sz="1800" b="1" dirty="0" err="1">
                <a:solidFill>
                  <a:srgbClr val="FF0000"/>
                </a:solidFill>
                <a:latin typeface="Calibri Body"/>
                <a:hlinkClick r:id="rId4"/>
              </a:rPr>
              <a:t>ietf</a:t>
            </a:r>
            <a:r>
              <a:rPr lang="en-US" sz="1800" b="1" dirty="0">
                <a:solidFill>
                  <a:srgbClr val="FF0000"/>
                </a:solidFill>
                <a:latin typeface="Calibri Body"/>
                <a:hlinkClick r:id="rId4"/>
              </a:rPr>
              <a:t>-</a:t>
            </a:r>
            <a:r>
              <a:rPr lang="en-US" sz="1800" b="1" dirty="0" err="1">
                <a:solidFill>
                  <a:srgbClr val="FF0000"/>
                </a:solidFill>
                <a:latin typeface="Calibri Body"/>
                <a:hlinkClick r:id="rId4"/>
              </a:rPr>
              <a:t>nmop</a:t>
            </a:r>
            <a:r>
              <a:rPr lang="en-US" sz="1800" b="1" dirty="0">
                <a:solidFill>
                  <a:srgbClr val="FF0000"/>
                </a:solidFill>
                <a:latin typeface="Calibri Body"/>
                <a:hlinkClick r:id="rId4"/>
              </a:rPr>
              <a:t>-yang-message-broker-integration</a:t>
            </a:r>
            <a:r>
              <a:rPr lang="en-US" sz="1800" b="1" dirty="0">
                <a:solidFill>
                  <a:srgbClr val="FF0000"/>
                </a:solidFill>
                <a:latin typeface="Calibri Body"/>
              </a:rPr>
              <a:t> to IESG can be considered.</a:t>
            </a:r>
          </a:p>
        </p:txBody>
      </p:sp>
      <p:sp>
        <p:nvSpPr>
          <p:cNvPr id="8" name="Slide Number Placeholder 1">
            <a:extLst>
              <a:ext uri="{FF2B5EF4-FFF2-40B4-BE49-F238E27FC236}">
                <a16:creationId xmlns:a16="http://schemas.microsoft.com/office/drawing/2014/main" id="{179FA453-EA73-9ADC-D734-E02FEE26395B}"/>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9</a:t>
            </a:fld>
            <a:endParaRPr lang="en-US" sz="1400" dirty="0"/>
          </a:p>
        </p:txBody>
      </p:sp>
      <p:sp>
        <p:nvSpPr>
          <p:cNvPr id="5" name="Subtitle 4">
            <a:extLst>
              <a:ext uri="{FF2B5EF4-FFF2-40B4-BE49-F238E27FC236}">
                <a16:creationId xmlns:a16="http://schemas.microsoft.com/office/drawing/2014/main" id="{A417728E-F062-5B42-5709-7B4BE3EB0CF1}"/>
              </a:ext>
            </a:extLst>
          </p:cNvPr>
          <p:cNvSpPr txBox="1">
            <a:spLocks/>
          </p:cNvSpPr>
          <p:nvPr/>
        </p:nvSpPr>
        <p:spPr>
          <a:xfrm>
            <a:off x="838200" y="5658415"/>
            <a:ext cx="11163943" cy="70322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300"/>
              </a:spcBef>
              <a:buNone/>
              <a:defRPr sz="1782"/>
            </a:pPr>
            <a:r>
              <a:rPr lang="de-CH" sz="1400" b="1" dirty="0">
                <a:latin typeface="+mj-lt"/>
              </a:rPr>
              <a:t>thomas.graf@swisscom.com</a:t>
            </a:r>
            <a:br>
              <a:rPr lang="de-CH" sz="1400" b="1" dirty="0">
                <a:latin typeface="+mj-lt"/>
              </a:rPr>
            </a:br>
            <a:r>
              <a:rPr lang="de-CH" sz="1400" dirty="0">
                <a:latin typeface="+mj-lt"/>
              </a:rPr>
              <a:t>ahmed.elhassany@swisscom.com</a:t>
            </a:r>
          </a:p>
          <a:p>
            <a:pPr marL="0" indent="0" algn="r">
              <a:spcBef>
                <a:spcPts val="300"/>
              </a:spcBef>
              <a:buNone/>
              <a:defRPr sz="1782"/>
            </a:pPr>
            <a:endParaRPr lang="de-CH" sz="1400" dirty="0">
              <a:latin typeface="+mj-lt"/>
            </a:endParaRPr>
          </a:p>
          <a:p>
            <a:pPr marL="0" indent="0" algn="r">
              <a:spcBef>
                <a:spcPts val="300"/>
              </a:spcBef>
              <a:buNone/>
            </a:pPr>
            <a:r>
              <a:rPr lang="de-CH" sz="1400" dirty="0">
                <a:latin typeface="+mj-lt"/>
              </a:rPr>
              <a:t>1. November </a:t>
            </a:r>
            <a:r>
              <a:rPr lang="de-CH" sz="1400" dirty="0">
                <a:latin typeface="+mj-lt"/>
                <a:ea typeface="+mj-ea"/>
                <a:cs typeface="+mj-cs"/>
              </a:rPr>
              <a:t>2025</a:t>
            </a:r>
            <a:endParaRPr lang="de-CH" sz="1400" dirty="0">
              <a:latin typeface="+mj-lt"/>
            </a:endParaRPr>
          </a:p>
          <a:p>
            <a:pPr algn="r"/>
            <a:endParaRPr lang="de-CH" sz="2200" dirty="0"/>
          </a:p>
        </p:txBody>
      </p:sp>
    </p:spTree>
    <p:extLst>
      <p:ext uri="{BB962C8B-B14F-4D97-AF65-F5344CB8AC3E}">
        <p14:creationId xmlns:p14="http://schemas.microsoft.com/office/powerpoint/2010/main" val="4208302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4093C-DC3C-6F06-B43A-DA49375F21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23839-2C3F-C4EE-4589-82ED2EE031BF}"/>
              </a:ext>
            </a:extLst>
          </p:cNvPr>
          <p:cNvSpPr>
            <a:spLocks noGrp="1"/>
          </p:cNvSpPr>
          <p:nvPr>
            <p:ph idx="1"/>
          </p:nvPr>
        </p:nvSpPr>
        <p:spPr>
          <a:xfrm>
            <a:off x="838200" y="2570480"/>
            <a:ext cx="10886440" cy="3606484"/>
          </a:xfrm>
        </p:spPr>
        <p:txBody>
          <a:bodyPr>
            <a:noAutofit/>
          </a:bodyPr>
          <a:lstStyle/>
          <a:p>
            <a:pPr marL="0" indent="0" algn="ctr">
              <a:buNone/>
            </a:pPr>
            <a:r>
              <a:rPr lang="en-US" sz="7200" dirty="0">
                <a:latin typeface="Calibri Body"/>
              </a:rPr>
              <a:t>Backup</a:t>
            </a:r>
            <a:endParaRPr lang="en-US" sz="7200" dirty="0">
              <a:solidFill>
                <a:srgbClr val="FF0000"/>
              </a:solidFill>
              <a:latin typeface="Calibri Body"/>
            </a:endParaRPr>
          </a:p>
        </p:txBody>
      </p:sp>
      <p:sp>
        <p:nvSpPr>
          <p:cNvPr id="8" name="Slide Number Placeholder 1">
            <a:extLst>
              <a:ext uri="{FF2B5EF4-FFF2-40B4-BE49-F238E27FC236}">
                <a16:creationId xmlns:a16="http://schemas.microsoft.com/office/drawing/2014/main" id="{D039C72B-B5FE-3699-647F-08CDE22C48B3}"/>
              </a:ext>
            </a:extLst>
          </p:cNvPr>
          <p:cNvSpPr>
            <a:spLocks noGrp="1"/>
          </p:cNvSpPr>
          <p:nvPr>
            <p:ph type="sldNum" sz="quarter" idx="12"/>
          </p:nvPr>
        </p:nvSpPr>
        <p:spPr>
          <a:xfrm>
            <a:off x="11587892" y="6361637"/>
            <a:ext cx="414251" cy="365125"/>
          </a:xfrm>
        </p:spPr>
        <p:txBody>
          <a:bodyPr/>
          <a:lstStyle/>
          <a:p>
            <a:fld id="{FC4AC485-25DE-431E-B345-9C0A15BB7F8A}" type="slidenum">
              <a:rPr lang="de-CH" sz="1400" smtClean="0"/>
              <a:t>10</a:t>
            </a:fld>
            <a:endParaRPr lang="de-CH" sz="1400" dirty="0"/>
          </a:p>
        </p:txBody>
      </p:sp>
    </p:spTree>
    <p:extLst>
      <p:ext uri="{BB962C8B-B14F-4D97-AF65-F5344CB8AC3E}">
        <p14:creationId xmlns:p14="http://schemas.microsoft.com/office/powerpoint/2010/main" val="1911218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B90EF-8FB5-5112-4E13-96584E18D2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63DE5-D7A4-3591-E3FF-650F77756614}"/>
              </a:ext>
            </a:extLst>
          </p:cNvPr>
          <p:cNvSpPr>
            <a:spLocks noGrp="1"/>
          </p:cNvSpPr>
          <p:nvPr>
            <p:ph type="title"/>
          </p:nvPr>
        </p:nvSpPr>
        <p:spPr/>
        <p:txBody>
          <a:bodyPr>
            <a:normAutofit/>
          </a:bodyPr>
          <a:lstStyle/>
          <a:p>
            <a:r>
              <a:rPr lang="en-US" sz="2800" b="1" dirty="0"/>
              <a:t>An Architecture for YANG-Push to Message Broker Integration</a:t>
            </a:r>
            <a:br>
              <a:rPr lang="en-US" sz="3600" dirty="0"/>
            </a:br>
            <a:r>
              <a:rPr lang="en-US" sz="2700" dirty="0">
                <a:solidFill>
                  <a:schemeClr val="bg2">
                    <a:lumMod val="75000"/>
                  </a:schemeClr>
                </a:solidFill>
              </a:rPr>
              <a:t>Normative References, State and Reviewers</a:t>
            </a:r>
          </a:p>
        </p:txBody>
      </p:sp>
      <p:sp>
        <p:nvSpPr>
          <p:cNvPr id="8" name="Slide Number Placeholder 1">
            <a:extLst>
              <a:ext uri="{FF2B5EF4-FFF2-40B4-BE49-F238E27FC236}">
                <a16:creationId xmlns:a16="http://schemas.microsoft.com/office/drawing/2014/main" id="{12350B8A-B723-6442-A68D-9157CC58CFAC}"/>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11</a:t>
            </a:fld>
            <a:endParaRPr lang="en-US" sz="1400" dirty="0"/>
          </a:p>
        </p:txBody>
      </p:sp>
      <p:graphicFrame>
        <p:nvGraphicFramePr>
          <p:cNvPr id="6" name="Table 5">
            <a:extLst>
              <a:ext uri="{FF2B5EF4-FFF2-40B4-BE49-F238E27FC236}">
                <a16:creationId xmlns:a16="http://schemas.microsoft.com/office/drawing/2014/main" id="{86837E2C-7DD9-62B8-E009-509CDFF94BF9}"/>
              </a:ext>
            </a:extLst>
          </p:cNvPr>
          <p:cNvGraphicFramePr>
            <a:graphicFrameLocks noGrp="1"/>
          </p:cNvGraphicFramePr>
          <p:nvPr>
            <p:extLst>
              <p:ext uri="{D42A27DB-BD31-4B8C-83A1-F6EECF244321}">
                <p14:modId xmlns:p14="http://schemas.microsoft.com/office/powerpoint/2010/main" val="1661814293"/>
              </p:ext>
            </p:extLst>
          </p:nvPr>
        </p:nvGraphicFramePr>
        <p:xfrm>
          <a:off x="919480" y="1601359"/>
          <a:ext cx="10927079" cy="4577080"/>
        </p:xfrm>
        <a:graphic>
          <a:graphicData uri="http://schemas.openxmlformats.org/drawingml/2006/table">
            <a:tbl>
              <a:tblPr firstRow="1" bandRow="1">
                <a:tableStyleId>{C083E6E3-FA7D-4D7B-A595-EF9225AFEA82}</a:tableStyleId>
              </a:tblPr>
              <a:tblGrid>
                <a:gridCol w="1753468">
                  <a:extLst>
                    <a:ext uri="{9D8B030D-6E8A-4147-A177-3AD203B41FA5}">
                      <a16:colId xmlns:a16="http://schemas.microsoft.com/office/drawing/2014/main" val="862637982"/>
                    </a:ext>
                  </a:extLst>
                </a:gridCol>
                <a:gridCol w="3725470">
                  <a:extLst>
                    <a:ext uri="{9D8B030D-6E8A-4147-A177-3AD203B41FA5}">
                      <a16:colId xmlns:a16="http://schemas.microsoft.com/office/drawing/2014/main" val="3802101120"/>
                    </a:ext>
                  </a:extLst>
                </a:gridCol>
                <a:gridCol w="1893954">
                  <a:extLst>
                    <a:ext uri="{9D8B030D-6E8A-4147-A177-3AD203B41FA5}">
                      <a16:colId xmlns:a16="http://schemas.microsoft.com/office/drawing/2014/main" val="2584922424"/>
                    </a:ext>
                  </a:extLst>
                </a:gridCol>
                <a:gridCol w="3554187">
                  <a:extLst>
                    <a:ext uri="{9D8B030D-6E8A-4147-A177-3AD203B41FA5}">
                      <a16:colId xmlns:a16="http://schemas.microsoft.com/office/drawing/2014/main" val="3508605202"/>
                    </a:ext>
                  </a:extLst>
                </a:gridCol>
              </a:tblGrid>
              <a:tr h="370840">
                <a:tc>
                  <a:txBody>
                    <a:bodyPr/>
                    <a:lstStyle/>
                    <a:p>
                      <a:r>
                        <a:rPr lang="de-CH" dirty="0"/>
                        <a:t>Working Group</a:t>
                      </a:r>
                    </a:p>
                  </a:txBody>
                  <a:tcPr/>
                </a:tc>
                <a:tc>
                  <a:txBody>
                    <a:bodyPr/>
                    <a:lstStyle/>
                    <a:p>
                      <a:r>
                        <a:rPr lang="de-CH" dirty="0" err="1"/>
                        <a:t>Document</a:t>
                      </a:r>
                      <a:r>
                        <a:rPr lang="de-CH" dirty="0"/>
                        <a:t> Name</a:t>
                      </a:r>
                    </a:p>
                  </a:txBody>
                  <a:tcPr/>
                </a:tc>
                <a:tc>
                  <a:txBody>
                    <a:bodyPr/>
                    <a:lstStyle/>
                    <a:p>
                      <a:r>
                        <a:rPr lang="de-CH" dirty="0" err="1"/>
                        <a:t>Document</a:t>
                      </a:r>
                      <a:r>
                        <a:rPr lang="de-CH" dirty="0"/>
                        <a:t> State</a:t>
                      </a:r>
                    </a:p>
                  </a:txBody>
                  <a:tcPr/>
                </a:tc>
                <a:tc>
                  <a:txBody>
                    <a:bodyPr/>
                    <a:lstStyle/>
                    <a:p>
                      <a:r>
                        <a:rPr lang="de-CH" dirty="0"/>
                        <a:t>Reviews</a:t>
                      </a:r>
                    </a:p>
                  </a:txBody>
                  <a:tcPr/>
                </a:tc>
                <a:extLst>
                  <a:ext uri="{0D108BD9-81ED-4DB2-BD59-A6C34878D82A}">
                    <a16:rowId xmlns:a16="http://schemas.microsoft.com/office/drawing/2014/main" val="4040162611"/>
                  </a:ext>
                </a:extLst>
              </a:tr>
              <a:tr h="370840">
                <a:tc>
                  <a:txBody>
                    <a:bodyPr/>
                    <a:lstStyle/>
                    <a:p>
                      <a:r>
                        <a:rPr lang="de-CH" sz="1200" dirty="0"/>
                        <a:t>NETCONF</a:t>
                      </a:r>
                    </a:p>
                  </a:txBody>
                  <a:tcPr/>
                </a:tc>
                <a:tc>
                  <a:txBody>
                    <a:bodyPr/>
                    <a:lstStyle/>
                    <a:p>
                      <a:r>
                        <a:rPr lang="de-CH" sz="1200" dirty="0">
                          <a:hlinkClick r:id="rId2"/>
                        </a:rPr>
                        <a:t>draft-ietf-netconf-notif-envelope-03</a:t>
                      </a:r>
                      <a:endParaRPr lang="de-CH" sz="1200" dirty="0"/>
                    </a:p>
                  </a:txBody>
                  <a:tcPr/>
                </a:tc>
                <a:tc>
                  <a:txBody>
                    <a:bodyPr/>
                    <a:lstStyle/>
                    <a:p>
                      <a:r>
                        <a:rPr lang="en-US" sz="1200" dirty="0"/>
                        <a:t>WG Document (passed working group last call)</a:t>
                      </a:r>
                      <a:endParaRPr lang="de-CH" sz="1200" dirty="0"/>
                    </a:p>
                  </a:txBody>
                  <a:tcPr/>
                </a:tc>
                <a:tc>
                  <a:txBody>
                    <a:bodyPr/>
                    <a:lstStyle/>
                    <a:p>
                      <a:r>
                        <a:rPr lang="en-US" sz="1200" dirty="0"/>
                        <a:t>OPSDIR Early review by Joe Clarke *</a:t>
                      </a:r>
                    </a:p>
                    <a:p>
                      <a:r>
                        <a:rPr lang="en-US" sz="1200" dirty="0"/>
                        <a:t>YANGDOCTORS Early review (of -02) by Jürgen Schönwälder</a:t>
                      </a:r>
                      <a:endParaRPr lang="de-CH" sz="1200" dirty="0"/>
                    </a:p>
                  </a:txBody>
                  <a:tcPr/>
                </a:tc>
                <a:extLst>
                  <a:ext uri="{0D108BD9-81ED-4DB2-BD59-A6C34878D82A}">
                    <a16:rowId xmlns:a16="http://schemas.microsoft.com/office/drawing/2014/main" val="8811646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NETCONF</a:t>
                      </a:r>
                    </a:p>
                    <a:p>
                      <a:endParaRPr lang="de-CH" sz="1200" dirty="0"/>
                    </a:p>
                  </a:txBody>
                  <a:tcPr/>
                </a:tc>
                <a:tc>
                  <a:txBody>
                    <a:bodyPr/>
                    <a:lstStyle/>
                    <a:p>
                      <a:r>
                        <a:rPr lang="de-CH" sz="1200" dirty="0">
                          <a:hlinkClick r:id="rId3"/>
                        </a:rPr>
                        <a:t>draft-ietf-netconf-yang-library-augmentedby-12</a:t>
                      </a:r>
                      <a:endParaRPr lang="de-CH" sz="1200" dirty="0"/>
                    </a:p>
                  </a:txBody>
                  <a:tcPr/>
                </a:tc>
                <a:tc>
                  <a:txBody>
                    <a:bodyPr/>
                    <a:lstStyle/>
                    <a:p>
                      <a:r>
                        <a:rPr lang="en-US" sz="1200" dirty="0"/>
                        <a:t>Submitted to IESG for Publication</a:t>
                      </a:r>
                      <a:endParaRPr lang="de-CH" sz="1200" dirty="0"/>
                    </a:p>
                  </a:txBody>
                  <a:tcPr/>
                </a:tc>
                <a:tc>
                  <a:txBody>
                    <a:bodyPr/>
                    <a:lstStyle/>
                    <a:p>
                      <a:r>
                        <a:rPr lang="en-US" sz="1200" dirty="0"/>
                        <a:t>OPSDIR Early review (of -08) by Sheng Jiang</a:t>
                      </a:r>
                    </a:p>
                    <a:p>
                      <a:r>
                        <a:rPr lang="en-US" sz="1200" dirty="0"/>
                        <a:t>YANGDOCTORS Early review (of -07) by Andy Bierman</a:t>
                      </a:r>
                      <a:endParaRPr lang="de-CH" sz="1200" dirty="0"/>
                    </a:p>
                  </a:txBody>
                  <a:tcPr/>
                </a:tc>
                <a:extLst>
                  <a:ext uri="{0D108BD9-81ED-4DB2-BD59-A6C34878D82A}">
                    <a16:rowId xmlns:a16="http://schemas.microsoft.com/office/drawing/2014/main" val="36226791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NETCONF</a:t>
                      </a:r>
                    </a:p>
                    <a:p>
                      <a:endParaRPr lang="de-CH" sz="1200" dirty="0"/>
                    </a:p>
                  </a:txBody>
                  <a:tcPr/>
                </a:tc>
                <a:tc>
                  <a:txBody>
                    <a:bodyPr/>
                    <a:lstStyle/>
                    <a:p>
                      <a:r>
                        <a:rPr lang="de-CH" sz="1200" dirty="0">
                          <a:hlinkClick r:id="rId4"/>
                        </a:rPr>
                        <a:t>draft-ietf-netconf-yang-notifications-versioning-09</a:t>
                      </a:r>
                      <a:endParaRPr lang="de-CH" sz="1200" dirty="0"/>
                    </a:p>
                  </a:txBody>
                  <a:tcPr/>
                </a:tc>
                <a:tc>
                  <a:txBody>
                    <a:bodyPr/>
                    <a:lstStyle/>
                    <a:p>
                      <a:r>
                        <a:rPr lang="en-US" sz="1200" dirty="0"/>
                        <a:t>WG Document (request for working group last call at IETF 124)</a:t>
                      </a:r>
                      <a:endParaRPr lang="de-CH" sz="1200" dirty="0"/>
                    </a:p>
                  </a:txBody>
                  <a:tcPr/>
                </a:tc>
                <a:tc>
                  <a:txBody>
                    <a:bodyPr/>
                    <a:lstStyle/>
                    <a:p>
                      <a:r>
                        <a:rPr lang="en-US" sz="1200" dirty="0"/>
                        <a:t>YANGDOCTORS Early Review due 2025-10-29 *</a:t>
                      </a:r>
                      <a:endParaRPr lang="de-CH" sz="1200" dirty="0"/>
                    </a:p>
                  </a:txBody>
                  <a:tcPr/>
                </a:tc>
                <a:extLst>
                  <a:ext uri="{0D108BD9-81ED-4DB2-BD59-A6C34878D82A}">
                    <a16:rowId xmlns:a16="http://schemas.microsoft.com/office/drawing/2014/main" val="26980555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NETCONF</a:t>
                      </a:r>
                    </a:p>
                    <a:p>
                      <a:endParaRPr lang="de-CH" sz="1200" dirty="0"/>
                    </a:p>
                  </a:txBody>
                  <a:tcPr/>
                </a:tc>
                <a:tc>
                  <a:txBody>
                    <a:bodyPr/>
                    <a:lstStyle/>
                    <a:p>
                      <a:r>
                        <a:rPr lang="de-CH" sz="1200" dirty="0">
                          <a:hlinkClick r:id="rId5"/>
                        </a:rPr>
                        <a:t>draft-ietf-netconf-yp-transport-capabilities-05</a:t>
                      </a:r>
                      <a:endParaRPr lang="de-CH" sz="1200" dirty="0"/>
                    </a:p>
                  </a:txBody>
                  <a:tcPr/>
                </a:tc>
                <a:tc>
                  <a:txBody>
                    <a:bodyPr/>
                    <a:lstStyle/>
                    <a:p>
                      <a:r>
                        <a:rPr lang="en-US" sz="1200" dirty="0"/>
                        <a:t>Submitted to IESG for Publication </a:t>
                      </a:r>
                      <a:endParaRPr lang="de-CH" sz="1200" dirty="0"/>
                    </a:p>
                  </a:txBody>
                  <a:tcPr/>
                </a:tc>
                <a:tc>
                  <a:txBody>
                    <a:bodyPr/>
                    <a:lstStyle/>
                    <a:p>
                      <a:r>
                        <a:rPr lang="en-US" sz="1200" dirty="0"/>
                        <a:t>OPSDIR IETF Last Call review by Xiao Min</a:t>
                      </a:r>
                    </a:p>
                    <a:p>
                      <a:r>
                        <a:rPr lang="en-US" sz="1200" dirty="0"/>
                        <a:t>TSVART IETF Last Call review by Tommy Pauly *</a:t>
                      </a:r>
                    </a:p>
                    <a:p>
                      <a:r>
                        <a:rPr lang="en-US" sz="1200" dirty="0"/>
                        <a:t>YANGDOCTORS IETF Last Call review by Jan Lindblad *</a:t>
                      </a:r>
                    </a:p>
                    <a:p>
                      <a:r>
                        <a:rPr lang="en-US" sz="1200" dirty="0"/>
                        <a:t>OPSDIR Early review (of -03) by Xiao Min</a:t>
                      </a:r>
                    </a:p>
                    <a:p>
                      <a:r>
                        <a:rPr lang="en-US" sz="1200" dirty="0"/>
                        <a:t>YANGDOCTORS Early review (of -01) by Jan Lindblad</a:t>
                      </a:r>
                    </a:p>
                    <a:p>
                      <a:r>
                        <a:rPr lang="en-US" sz="1200" dirty="0"/>
                        <a:t>SECDIR IETF Last Call Review due 2025-10-18</a:t>
                      </a:r>
                      <a:endParaRPr lang="de-CH" sz="1200" dirty="0"/>
                    </a:p>
                  </a:txBody>
                  <a:tcPr/>
                </a:tc>
                <a:extLst>
                  <a:ext uri="{0D108BD9-81ED-4DB2-BD59-A6C34878D82A}">
                    <a16:rowId xmlns:a16="http://schemas.microsoft.com/office/drawing/2014/main" val="2744993052"/>
                  </a:ext>
                </a:extLst>
              </a:tr>
              <a:tr h="370840">
                <a:tc>
                  <a:txBody>
                    <a:bodyPr/>
                    <a:lstStyle/>
                    <a:p>
                      <a:r>
                        <a:rPr lang="de-CH" sz="1200" dirty="0"/>
                        <a:t>NMOP</a:t>
                      </a:r>
                    </a:p>
                  </a:txBody>
                  <a:tcPr/>
                </a:tc>
                <a:tc>
                  <a:txBody>
                    <a:bodyPr/>
                    <a:lstStyle/>
                    <a:p>
                      <a:r>
                        <a:rPr lang="de-CH" sz="1200" dirty="0">
                          <a:hlinkClick r:id="rId6"/>
                        </a:rPr>
                        <a:t>draft-ietf-nmop-yang-message-broker-integration-09</a:t>
                      </a:r>
                      <a:endParaRPr lang="de-CH" sz="1200" dirty="0"/>
                    </a:p>
                  </a:txBody>
                  <a:tcPr/>
                </a:tc>
                <a:tc>
                  <a:txBody>
                    <a:bodyPr/>
                    <a:lstStyle/>
                    <a:p>
                      <a:r>
                        <a:rPr lang="en-US" sz="1200" dirty="0"/>
                        <a:t>WG Document (request for working group last call at IETF 124)</a:t>
                      </a:r>
                      <a:endParaRPr lang="de-CH" sz="1200" dirty="0"/>
                    </a:p>
                  </a:txBody>
                  <a:tcPr/>
                </a:tc>
                <a:tc>
                  <a:txBody>
                    <a:bodyPr/>
                    <a:lstStyle/>
                    <a:p>
                      <a:endParaRPr lang="de-CH" sz="1200" dirty="0"/>
                    </a:p>
                  </a:txBody>
                  <a:tcPr/>
                </a:tc>
                <a:extLst>
                  <a:ext uri="{0D108BD9-81ED-4DB2-BD59-A6C34878D82A}">
                    <a16:rowId xmlns:a16="http://schemas.microsoft.com/office/drawing/2014/main" val="2665303605"/>
                  </a:ext>
                </a:extLst>
              </a:tr>
              <a:tr h="370840">
                <a:tc>
                  <a:txBody>
                    <a:bodyPr/>
                    <a:lstStyle/>
                    <a:p>
                      <a:r>
                        <a:rPr lang="de-CH" sz="1200" dirty="0"/>
                        <a:t>NMOP</a:t>
                      </a:r>
                    </a:p>
                  </a:txBody>
                  <a:tcPr/>
                </a:tc>
                <a:tc>
                  <a:txBody>
                    <a:bodyPr/>
                    <a:lstStyle/>
                    <a:p>
                      <a:r>
                        <a:rPr lang="de-CH" sz="1200" dirty="0">
                          <a:hlinkClick r:id="rId7"/>
                        </a:rPr>
                        <a:t>draft-ietf-nmop-message-broker-telemetry-message-03</a:t>
                      </a:r>
                      <a:endParaRPr lang="de-CH" sz="1200" dirty="0"/>
                    </a:p>
                  </a:txBody>
                  <a:tcPr/>
                </a:tc>
                <a:tc>
                  <a:txBody>
                    <a:bodyPr/>
                    <a:lstStyle/>
                    <a:p>
                      <a:r>
                        <a:rPr lang="en-US" sz="1200" dirty="0"/>
                        <a:t>WG Document (request for working group last call at IETF 125)</a:t>
                      </a:r>
                      <a:endParaRPr lang="de-CH" sz="1200" dirty="0"/>
                    </a:p>
                  </a:txBody>
                  <a:tcPr/>
                </a:tc>
                <a:tc>
                  <a:txBody>
                    <a:bodyPr/>
                    <a:lstStyle/>
                    <a:p>
                      <a:r>
                        <a:rPr lang="en-US" sz="1200" dirty="0"/>
                        <a:t>YANGDOCTORS Early review (of -02) by Martin Björklund</a:t>
                      </a:r>
                      <a:endParaRPr lang="de-CH" sz="1200" dirty="0"/>
                    </a:p>
                  </a:txBody>
                  <a:tcPr/>
                </a:tc>
                <a:extLst>
                  <a:ext uri="{0D108BD9-81ED-4DB2-BD59-A6C34878D82A}">
                    <a16:rowId xmlns:a16="http://schemas.microsoft.com/office/drawing/2014/main" val="157176843"/>
                  </a:ext>
                </a:extLst>
              </a:tr>
            </a:tbl>
          </a:graphicData>
        </a:graphic>
      </p:graphicFrame>
      <p:sp>
        <p:nvSpPr>
          <p:cNvPr id="11" name="Content Placeholder 2">
            <a:extLst>
              <a:ext uri="{FF2B5EF4-FFF2-40B4-BE49-F238E27FC236}">
                <a16:creationId xmlns:a16="http://schemas.microsoft.com/office/drawing/2014/main" id="{CF87792E-D2F9-941B-C564-FFA7FE8DB78D}"/>
              </a:ext>
            </a:extLst>
          </p:cNvPr>
          <p:cNvSpPr>
            <a:spLocks noGrp="1"/>
          </p:cNvSpPr>
          <p:nvPr>
            <p:ph idx="1"/>
          </p:nvPr>
        </p:nvSpPr>
        <p:spPr>
          <a:xfrm>
            <a:off x="838199" y="6310313"/>
            <a:ext cx="11008359" cy="283528"/>
          </a:xfrm>
        </p:spPr>
        <p:txBody>
          <a:bodyPr>
            <a:noAutofit/>
          </a:bodyPr>
          <a:lstStyle/>
          <a:p>
            <a:pPr marL="0" indent="0">
              <a:buNone/>
            </a:pPr>
            <a:r>
              <a:rPr lang="en-US" sz="1200" dirty="0">
                <a:latin typeface="Calibri Body"/>
              </a:rPr>
              <a:t>* = Currently Ongoing</a:t>
            </a:r>
            <a:endParaRPr lang="en-US" sz="1200" b="1" dirty="0">
              <a:solidFill>
                <a:srgbClr val="FF0000"/>
              </a:solidFill>
              <a:latin typeface="Calibri Body"/>
            </a:endParaRPr>
          </a:p>
        </p:txBody>
      </p:sp>
    </p:spTree>
    <p:extLst>
      <p:ext uri="{BB962C8B-B14F-4D97-AF65-F5344CB8AC3E}">
        <p14:creationId xmlns:p14="http://schemas.microsoft.com/office/powerpoint/2010/main" val="1877027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DB363-D8A8-5600-4493-8EBF33E93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B38BF-943B-E87B-35FF-EC15CB8E47A9}"/>
              </a:ext>
            </a:extLst>
          </p:cNvPr>
          <p:cNvSpPr>
            <a:spLocks noGrp="1"/>
          </p:cNvSpPr>
          <p:nvPr>
            <p:ph type="title"/>
          </p:nvPr>
        </p:nvSpPr>
        <p:spPr/>
        <p:txBody>
          <a:bodyPr>
            <a:normAutofit/>
          </a:bodyPr>
          <a:lstStyle/>
          <a:p>
            <a:r>
              <a:rPr lang="en-US" sz="2800" b="1" dirty="0"/>
              <a:t>An Architecture for YANG-Push to Message Broker Integration</a:t>
            </a:r>
            <a:br>
              <a:rPr lang="en-US" sz="3600" dirty="0"/>
            </a:br>
            <a:r>
              <a:rPr lang="en-US" sz="2700" dirty="0">
                <a:solidFill>
                  <a:schemeClr val="bg2">
                    <a:lumMod val="75000"/>
                  </a:schemeClr>
                </a:solidFill>
              </a:rPr>
              <a:t>Informative References, State and Reviewers</a:t>
            </a:r>
          </a:p>
        </p:txBody>
      </p:sp>
      <p:sp>
        <p:nvSpPr>
          <p:cNvPr id="8" name="Slide Number Placeholder 1">
            <a:extLst>
              <a:ext uri="{FF2B5EF4-FFF2-40B4-BE49-F238E27FC236}">
                <a16:creationId xmlns:a16="http://schemas.microsoft.com/office/drawing/2014/main" id="{2B59FCFE-20E3-BD78-B5F4-C48AB55E6255}"/>
              </a:ext>
            </a:extLst>
          </p:cNvPr>
          <p:cNvSpPr>
            <a:spLocks noGrp="1"/>
          </p:cNvSpPr>
          <p:nvPr>
            <p:ph type="sldNum" sz="quarter" idx="12"/>
          </p:nvPr>
        </p:nvSpPr>
        <p:spPr>
          <a:xfrm>
            <a:off x="11587892" y="6361637"/>
            <a:ext cx="414251" cy="365125"/>
          </a:xfrm>
        </p:spPr>
        <p:txBody>
          <a:bodyPr/>
          <a:lstStyle/>
          <a:p>
            <a:fld id="{FC4AC485-25DE-431E-B345-9C0A15BB7F8A}" type="slidenum">
              <a:rPr lang="en-US" sz="1400" smtClean="0"/>
              <a:t>12</a:t>
            </a:fld>
            <a:endParaRPr lang="en-US" sz="1400" dirty="0"/>
          </a:p>
        </p:txBody>
      </p:sp>
      <p:graphicFrame>
        <p:nvGraphicFramePr>
          <p:cNvPr id="6" name="Table 5">
            <a:extLst>
              <a:ext uri="{FF2B5EF4-FFF2-40B4-BE49-F238E27FC236}">
                <a16:creationId xmlns:a16="http://schemas.microsoft.com/office/drawing/2014/main" id="{4E7CEF41-5DBF-BE8C-3E2D-7F5D56B757D3}"/>
              </a:ext>
            </a:extLst>
          </p:cNvPr>
          <p:cNvGraphicFramePr>
            <a:graphicFrameLocks noGrp="1"/>
          </p:cNvGraphicFramePr>
          <p:nvPr>
            <p:extLst>
              <p:ext uri="{D42A27DB-BD31-4B8C-83A1-F6EECF244321}">
                <p14:modId xmlns:p14="http://schemas.microsoft.com/office/powerpoint/2010/main" val="1670984640"/>
              </p:ext>
            </p:extLst>
          </p:nvPr>
        </p:nvGraphicFramePr>
        <p:xfrm>
          <a:off x="919480" y="1601359"/>
          <a:ext cx="10927079" cy="4038600"/>
        </p:xfrm>
        <a:graphic>
          <a:graphicData uri="http://schemas.openxmlformats.org/drawingml/2006/table">
            <a:tbl>
              <a:tblPr firstRow="1" bandRow="1">
                <a:tableStyleId>{C083E6E3-FA7D-4D7B-A595-EF9225AFEA82}</a:tableStyleId>
              </a:tblPr>
              <a:tblGrid>
                <a:gridCol w="1753468">
                  <a:extLst>
                    <a:ext uri="{9D8B030D-6E8A-4147-A177-3AD203B41FA5}">
                      <a16:colId xmlns:a16="http://schemas.microsoft.com/office/drawing/2014/main" val="862637982"/>
                    </a:ext>
                  </a:extLst>
                </a:gridCol>
                <a:gridCol w="3725470">
                  <a:extLst>
                    <a:ext uri="{9D8B030D-6E8A-4147-A177-3AD203B41FA5}">
                      <a16:colId xmlns:a16="http://schemas.microsoft.com/office/drawing/2014/main" val="3802101120"/>
                    </a:ext>
                  </a:extLst>
                </a:gridCol>
                <a:gridCol w="1893954">
                  <a:extLst>
                    <a:ext uri="{9D8B030D-6E8A-4147-A177-3AD203B41FA5}">
                      <a16:colId xmlns:a16="http://schemas.microsoft.com/office/drawing/2014/main" val="2584922424"/>
                    </a:ext>
                  </a:extLst>
                </a:gridCol>
                <a:gridCol w="3554187">
                  <a:extLst>
                    <a:ext uri="{9D8B030D-6E8A-4147-A177-3AD203B41FA5}">
                      <a16:colId xmlns:a16="http://schemas.microsoft.com/office/drawing/2014/main" val="3508605202"/>
                    </a:ext>
                  </a:extLst>
                </a:gridCol>
              </a:tblGrid>
              <a:tr h="370840">
                <a:tc>
                  <a:txBody>
                    <a:bodyPr/>
                    <a:lstStyle/>
                    <a:p>
                      <a:r>
                        <a:rPr lang="de-CH" dirty="0"/>
                        <a:t>Working Group</a:t>
                      </a:r>
                    </a:p>
                  </a:txBody>
                  <a:tcPr/>
                </a:tc>
                <a:tc>
                  <a:txBody>
                    <a:bodyPr/>
                    <a:lstStyle/>
                    <a:p>
                      <a:r>
                        <a:rPr lang="de-CH" dirty="0" err="1"/>
                        <a:t>Document</a:t>
                      </a:r>
                      <a:r>
                        <a:rPr lang="de-CH" dirty="0"/>
                        <a:t> Name</a:t>
                      </a:r>
                    </a:p>
                  </a:txBody>
                  <a:tcPr/>
                </a:tc>
                <a:tc>
                  <a:txBody>
                    <a:bodyPr/>
                    <a:lstStyle/>
                    <a:p>
                      <a:r>
                        <a:rPr lang="de-CH" dirty="0" err="1"/>
                        <a:t>Document</a:t>
                      </a:r>
                      <a:r>
                        <a:rPr lang="de-CH" dirty="0"/>
                        <a:t> State</a:t>
                      </a:r>
                    </a:p>
                  </a:txBody>
                  <a:tcPr/>
                </a:tc>
                <a:tc>
                  <a:txBody>
                    <a:bodyPr/>
                    <a:lstStyle/>
                    <a:p>
                      <a:r>
                        <a:rPr lang="de-CH" dirty="0"/>
                        <a:t>Reviews</a:t>
                      </a:r>
                    </a:p>
                  </a:txBody>
                  <a:tcPr/>
                </a:tc>
                <a:extLst>
                  <a:ext uri="{0D108BD9-81ED-4DB2-BD59-A6C34878D82A}">
                    <a16:rowId xmlns:a16="http://schemas.microsoft.com/office/drawing/2014/main" val="4040162611"/>
                  </a:ext>
                </a:extLst>
              </a:tr>
              <a:tr h="370840">
                <a:tc>
                  <a:txBody>
                    <a:bodyPr/>
                    <a:lstStyle/>
                    <a:p>
                      <a:r>
                        <a:rPr lang="de-CH" sz="1200" dirty="0"/>
                        <a:t>NETCONF</a:t>
                      </a:r>
                    </a:p>
                  </a:txBody>
                  <a:tcPr/>
                </a:tc>
                <a:tc>
                  <a:txBody>
                    <a:bodyPr/>
                    <a:lstStyle/>
                    <a:p>
                      <a:r>
                        <a:rPr lang="de-CH" sz="1200" dirty="0">
                          <a:hlinkClick r:id="rId2"/>
                        </a:rPr>
                        <a:t>draft-ietf-netconf-udp-notif-23</a:t>
                      </a:r>
                      <a:endParaRPr lang="de-CH" sz="1200" dirty="0"/>
                    </a:p>
                  </a:txBody>
                  <a:tcPr/>
                </a:tc>
                <a:tc>
                  <a:txBody>
                    <a:bodyPr/>
                    <a:lstStyle/>
                    <a:p>
                      <a:r>
                        <a:rPr lang="en-US" sz="1200" dirty="0"/>
                        <a:t>WG Consensus: Waiting for Write-Up</a:t>
                      </a:r>
                      <a:endParaRPr lang="de-CH" sz="1200" dirty="0"/>
                    </a:p>
                  </a:txBody>
                  <a:tcPr/>
                </a:tc>
                <a:tc>
                  <a:txBody>
                    <a:bodyPr/>
                    <a:lstStyle/>
                    <a:p>
                      <a:r>
                        <a:rPr lang="en-US" sz="1200" dirty="0"/>
                        <a:t>OPSDIR Early review (of -21) by Tina Tsou</a:t>
                      </a:r>
                    </a:p>
                    <a:p>
                      <a:r>
                        <a:rPr lang="en-US" sz="1200" dirty="0"/>
                        <a:t>YANGDOCTORS Early review (of -20) by Jürgen Schönwälder</a:t>
                      </a:r>
                    </a:p>
                    <a:p>
                      <a:r>
                        <a:rPr lang="en-US" sz="1200" dirty="0"/>
                        <a:t>TSVART Early review (of -11) by Michael </a:t>
                      </a:r>
                      <a:r>
                        <a:rPr lang="en-US" sz="1200" dirty="0" err="1"/>
                        <a:t>Tüxen</a:t>
                      </a:r>
                      <a:endParaRPr lang="en-US" sz="1200" dirty="0"/>
                    </a:p>
                    <a:p>
                      <a:r>
                        <a:rPr lang="en-US" sz="1200" dirty="0"/>
                        <a:t>TSVART Early Review due 2025-10-23 *</a:t>
                      </a:r>
                    </a:p>
                  </a:txBody>
                  <a:tcPr/>
                </a:tc>
                <a:extLst>
                  <a:ext uri="{0D108BD9-81ED-4DB2-BD59-A6C34878D82A}">
                    <a16:rowId xmlns:a16="http://schemas.microsoft.com/office/drawing/2014/main" val="8811646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NETCONF</a:t>
                      </a:r>
                    </a:p>
                    <a:p>
                      <a:endParaRPr lang="de-CH" sz="1200" dirty="0"/>
                    </a:p>
                  </a:txBody>
                  <a:tcPr/>
                </a:tc>
                <a:tc>
                  <a:txBody>
                    <a:bodyPr/>
                    <a:lstStyle/>
                    <a:p>
                      <a:r>
                        <a:rPr lang="de-CH" sz="1200" dirty="0">
                          <a:hlinkClick r:id="rId3"/>
                        </a:rPr>
                        <a:t>draft-ietf-netconf-udp-client-server-08</a:t>
                      </a:r>
                      <a:endParaRPr lang="de-CH" sz="1200" dirty="0"/>
                    </a:p>
                  </a:txBody>
                  <a:tcPr/>
                </a:tc>
                <a:tc>
                  <a:txBody>
                    <a:bodyPr/>
                    <a:lstStyle/>
                    <a:p>
                      <a:r>
                        <a:rPr lang="en-US" sz="1200" dirty="0"/>
                        <a:t>Publication Requested </a:t>
                      </a:r>
                      <a:endParaRPr lang="de-CH" sz="1200" dirty="0"/>
                    </a:p>
                  </a:txBody>
                  <a:tcPr/>
                </a:tc>
                <a:tc>
                  <a:txBody>
                    <a:bodyPr/>
                    <a:lstStyle/>
                    <a:p>
                      <a:r>
                        <a:rPr lang="en-US" sz="1200" dirty="0"/>
                        <a:t>OPSDIR Early review (of -07) by Ran Chen</a:t>
                      </a:r>
                    </a:p>
                    <a:p>
                      <a:r>
                        <a:rPr lang="en-US" sz="1200" dirty="0"/>
                        <a:t>TSVART Early review (of -06) by Joerg Ott </a:t>
                      </a:r>
                    </a:p>
                    <a:p>
                      <a:r>
                        <a:rPr lang="en-US" sz="1200" dirty="0"/>
                        <a:t>YANGDOCTORS Early review (of -06) by Jürgen Schönwälder</a:t>
                      </a:r>
                    </a:p>
                  </a:txBody>
                  <a:tcPr/>
                </a:tc>
                <a:extLst>
                  <a:ext uri="{0D108BD9-81ED-4DB2-BD59-A6C34878D82A}">
                    <a16:rowId xmlns:a16="http://schemas.microsoft.com/office/drawing/2014/main" val="36226791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NETCONF</a:t>
                      </a:r>
                    </a:p>
                    <a:p>
                      <a:endParaRPr lang="de-CH" sz="1200" dirty="0"/>
                    </a:p>
                  </a:txBody>
                  <a:tcPr/>
                </a:tc>
                <a:tc>
                  <a:txBody>
                    <a:bodyPr/>
                    <a:lstStyle/>
                    <a:p>
                      <a:r>
                        <a:rPr lang="de-CH" sz="1200" dirty="0">
                          <a:hlinkClick r:id="rId4"/>
                        </a:rPr>
                        <a:t>draft-ietf-netconf-distributed-notif-16</a:t>
                      </a:r>
                      <a:endParaRPr lang="de-CH" sz="1200" dirty="0"/>
                    </a:p>
                  </a:txBody>
                  <a:tcPr/>
                </a:tc>
                <a:tc>
                  <a:txBody>
                    <a:bodyPr/>
                    <a:lstStyle/>
                    <a:p>
                      <a:r>
                        <a:rPr lang="en-US" sz="1200" dirty="0"/>
                        <a:t>Waiting for WG Chair Go-Ahead </a:t>
                      </a:r>
                      <a:endParaRPr lang="de-CH" sz="1200" dirty="0"/>
                    </a:p>
                  </a:txBody>
                  <a:tcPr/>
                </a:tc>
                <a:tc>
                  <a:txBody>
                    <a:bodyPr/>
                    <a:lstStyle/>
                    <a:p>
                      <a:r>
                        <a:rPr lang="en-US" sz="1200" dirty="0"/>
                        <a:t>OPSDIR Early review (of -14) by Jürgen Schönwälder</a:t>
                      </a:r>
                    </a:p>
                    <a:p>
                      <a:r>
                        <a:rPr lang="en-US" sz="1200" dirty="0"/>
                        <a:t>YANGDOCTORS Early review (of -13) by Martin Björklund </a:t>
                      </a:r>
                      <a:endParaRPr lang="de-CH" sz="1200" dirty="0"/>
                    </a:p>
                  </a:txBody>
                  <a:tcPr/>
                </a:tc>
                <a:extLst>
                  <a:ext uri="{0D108BD9-81ED-4DB2-BD59-A6C34878D82A}">
                    <a16:rowId xmlns:a16="http://schemas.microsoft.com/office/drawing/2014/main" val="26980555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CH" sz="1200" dirty="0"/>
                        <a:t>NETMOD</a:t>
                      </a:r>
                    </a:p>
                    <a:p>
                      <a:endParaRPr lang="de-CH" sz="1200" dirty="0"/>
                    </a:p>
                  </a:txBody>
                  <a:tcPr/>
                </a:tc>
                <a:tc>
                  <a:txBody>
                    <a:bodyPr/>
                    <a:lstStyle/>
                    <a:p>
                      <a:r>
                        <a:rPr lang="de-CH" sz="1200" dirty="0">
                          <a:hlinkClick r:id="rId5"/>
                        </a:rPr>
                        <a:t>draft-netana-nmop-yang-anydata-validation-01</a:t>
                      </a:r>
                      <a:endParaRPr lang="de-CH" sz="1200" dirty="0"/>
                    </a:p>
                  </a:txBody>
                  <a:tcPr/>
                </a:tc>
                <a:tc>
                  <a:txBody>
                    <a:bodyPr/>
                    <a:lstStyle/>
                    <a:p>
                      <a:r>
                        <a:rPr lang="en-US" sz="1200" dirty="0"/>
                        <a:t>Individual Document</a:t>
                      </a:r>
                      <a:endParaRPr lang="de-CH" sz="1200" dirty="0"/>
                    </a:p>
                  </a:txBody>
                  <a:tcPr/>
                </a:tc>
                <a:tc>
                  <a:txBody>
                    <a:bodyPr/>
                    <a:lstStyle/>
                    <a:p>
                      <a:endParaRPr lang="de-CH" sz="1200" dirty="0"/>
                    </a:p>
                  </a:txBody>
                  <a:tcPr/>
                </a:tc>
                <a:extLst>
                  <a:ext uri="{0D108BD9-81ED-4DB2-BD59-A6C34878D82A}">
                    <a16:rowId xmlns:a16="http://schemas.microsoft.com/office/drawing/2014/main" val="2744993052"/>
                  </a:ext>
                </a:extLst>
              </a:tr>
              <a:tr h="370840">
                <a:tc>
                  <a:txBody>
                    <a:bodyPr/>
                    <a:lstStyle/>
                    <a:p>
                      <a:endParaRPr lang="de-CH" sz="1200" dirty="0"/>
                    </a:p>
                  </a:txBody>
                  <a:tcPr/>
                </a:tc>
                <a:tc>
                  <a:txBody>
                    <a:bodyPr/>
                    <a:lstStyle/>
                    <a:p>
                      <a:endParaRPr lang="de-CH" sz="1200" dirty="0"/>
                    </a:p>
                  </a:txBody>
                  <a:tcPr/>
                </a:tc>
                <a:tc>
                  <a:txBody>
                    <a:bodyPr/>
                    <a:lstStyle/>
                    <a:p>
                      <a:endParaRPr lang="de-CH" sz="1200" dirty="0"/>
                    </a:p>
                  </a:txBody>
                  <a:tcPr/>
                </a:tc>
                <a:tc>
                  <a:txBody>
                    <a:bodyPr/>
                    <a:lstStyle/>
                    <a:p>
                      <a:endParaRPr lang="de-CH" sz="1200" dirty="0"/>
                    </a:p>
                  </a:txBody>
                  <a:tcPr/>
                </a:tc>
                <a:extLst>
                  <a:ext uri="{0D108BD9-81ED-4DB2-BD59-A6C34878D82A}">
                    <a16:rowId xmlns:a16="http://schemas.microsoft.com/office/drawing/2014/main" val="2665303605"/>
                  </a:ext>
                </a:extLst>
              </a:tr>
              <a:tr h="370840">
                <a:tc>
                  <a:txBody>
                    <a:bodyPr/>
                    <a:lstStyle/>
                    <a:p>
                      <a:endParaRPr lang="de-CH" sz="1200" dirty="0"/>
                    </a:p>
                  </a:txBody>
                  <a:tcPr/>
                </a:tc>
                <a:tc>
                  <a:txBody>
                    <a:bodyPr/>
                    <a:lstStyle/>
                    <a:p>
                      <a:endParaRPr lang="de-CH" sz="1200" dirty="0"/>
                    </a:p>
                  </a:txBody>
                  <a:tcPr/>
                </a:tc>
                <a:tc>
                  <a:txBody>
                    <a:bodyPr/>
                    <a:lstStyle/>
                    <a:p>
                      <a:endParaRPr lang="de-CH" sz="1200" dirty="0"/>
                    </a:p>
                  </a:txBody>
                  <a:tcPr/>
                </a:tc>
                <a:tc>
                  <a:txBody>
                    <a:bodyPr/>
                    <a:lstStyle/>
                    <a:p>
                      <a:endParaRPr lang="de-CH" sz="1200" dirty="0"/>
                    </a:p>
                  </a:txBody>
                  <a:tcPr/>
                </a:tc>
                <a:extLst>
                  <a:ext uri="{0D108BD9-81ED-4DB2-BD59-A6C34878D82A}">
                    <a16:rowId xmlns:a16="http://schemas.microsoft.com/office/drawing/2014/main" val="157176843"/>
                  </a:ext>
                </a:extLst>
              </a:tr>
            </a:tbl>
          </a:graphicData>
        </a:graphic>
      </p:graphicFrame>
      <p:sp>
        <p:nvSpPr>
          <p:cNvPr id="11" name="Content Placeholder 2">
            <a:extLst>
              <a:ext uri="{FF2B5EF4-FFF2-40B4-BE49-F238E27FC236}">
                <a16:creationId xmlns:a16="http://schemas.microsoft.com/office/drawing/2014/main" id="{5214FD9D-0CC4-FBBB-E1C6-B862B51697A9}"/>
              </a:ext>
            </a:extLst>
          </p:cNvPr>
          <p:cNvSpPr>
            <a:spLocks noGrp="1"/>
          </p:cNvSpPr>
          <p:nvPr>
            <p:ph idx="1"/>
          </p:nvPr>
        </p:nvSpPr>
        <p:spPr>
          <a:xfrm>
            <a:off x="838199" y="6310313"/>
            <a:ext cx="11008359" cy="283528"/>
          </a:xfrm>
        </p:spPr>
        <p:txBody>
          <a:bodyPr>
            <a:noAutofit/>
          </a:bodyPr>
          <a:lstStyle/>
          <a:p>
            <a:pPr marL="0" indent="0">
              <a:buNone/>
            </a:pPr>
            <a:r>
              <a:rPr lang="en-US" sz="1200" dirty="0">
                <a:latin typeface="Calibri Body"/>
              </a:rPr>
              <a:t>* = Currently Ongoing</a:t>
            </a:r>
            <a:endParaRPr lang="en-US" sz="1200" b="1" dirty="0">
              <a:solidFill>
                <a:srgbClr val="FF0000"/>
              </a:solidFill>
              <a:latin typeface="Calibri Body"/>
            </a:endParaRPr>
          </a:p>
        </p:txBody>
      </p:sp>
    </p:spTree>
    <p:extLst>
      <p:ext uri="{BB962C8B-B14F-4D97-AF65-F5344CB8AC3E}">
        <p14:creationId xmlns:p14="http://schemas.microsoft.com/office/powerpoint/2010/main" val="4476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emplate/>
  <TotalTime>0</TotalTime>
  <Words>1908</Words>
  <Application>Microsoft Office PowerPoint</Application>
  <PresentationFormat>Widescreen</PresentationFormat>
  <Paragraphs>220</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 Body</vt:lpstr>
      <vt:lpstr>Arial</vt:lpstr>
      <vt:lpstr>Calibri</vt:lpstr>
      <vt:lpstr>Calibri Light</vt:lpstr>
      <vt:lpstr>Courier New</vt:lpstr>
      <vt:lpstr>Wingdings</vt:lpstr>
      <vt:lpstr>Office Theme</vt:lpstr>
      <vt:lpstr>PowerPoint Presentation</vt:lpstr>
      <vt:lpstr>An Architecture for YANG-Push to Message Broker Integration Status and Summary from -08</vt:lpstr>
      <vt:lpstr>An Architecture for YANG-Push to Message Broker Integration Status and Summary from -09</vt:lpstr>
      <vt:lpstr>An Architecture for YANG-Push to Message Broker Integration Next Steps</vt:lpstr>
      <vt:lpstr>PowerPoint Presentation</vt:lpstr>
      <vt:lpstr>Extensible YANG Model for Network Telemetry Messages YANG Schema Trees</vt:lpstr>
      <vt:lpstr>Extensible YANG Model for Network Telemetry Messages Status and Summary from -02</vt:lpstr>
      <vt:lpstr>Extensible YANG Model for Network Telemetry Messages Status and Summary from -03</vt:lpstr>
      <vt:lpstr>Extensible YANG Model for Network Telemetry Messages Next steps at IETF 124 and 125</vt:lpstr>
      <vt:lpstr>PowerPoint Presentation</vt:lpstr>
      <vt:lpstr>An Architecture for YANG-Push to Message Broker Integration Normative References, State and Reviewers</vt:lpstr>
      <vt:lpstr>An Architecture for YANG-Push to Message Broker Integration Informative References, State and Reviewers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 der  Präsentation</dc:title>
  <dc:creator>Graf Thomas, INI-ONE-WSN-DCF</dc:creator>
  <cp:lastModifiedBy>Graf Thomas, SCS-INI-NET-VNC-E2E</cp:lastModifiedBy>
  <cp:revision>263</cp:revision>
  <dcterms:created xsi:type="dcterms:W3CDTF">2019-11-29T14:22:02Z</dcterms:created>
  <dcterms:modified xsi:type="dcterms:W3CDTF">2025-11-01T21:57:00Z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e1fccfb-80ca-4fe1-a574-1516544edb53_Enabled">
    <vt:lpwstr>true</vt:lpwstr>
  </property>
  <property fmtid="{D5CDD505-2E9C-101B-9397-08002B2CF9AE}" pid="3" name="MSIP_Label_2e1fccfb-80ca-4fe1-a574-1516544edb53_SetDate">
    <vt:lpwstr>2023-03-20T10:46:29Z</vt:lpwstr>
  </property>
  <property fmtid="{D5CDD505-2E9C-101B-9397-08002B2CF9AE}" pid="4" name="MSIP_Label_2e1fccfb-80ca-4fe1-a574-1516544edb53_Method">
    <vt:lpwstr>Standard</vt:lpwstr>
  </property>
  <property fmtid="{D5CDD505-2E9C-101B-9397-08002B2CF9AE}" pid="5" name="MSIP_Label_2e1fccfb-80ca-4fe1-a574-1516544edb53_Name">
    <vt:lpwstr>C2 Internal</vt:lpwstr>
  </property>
  <property fmtid="{D5CDD505-2E9C-101B-9397-08002B2CF9AE}" pid="6" name="MSIP_Label_2e1fccfb-80ca-4fe1-a574-1516544edb53_SiteId">
    <vt:lpwstr>364e5b87-c1c7-420d-9bee-c35d19b557a1</vt:lpwstr>
  </property>
  <property fmtid="{D5CDD505-2E9C-101B-9397-08002B2CF9AE}" pid="7" name="MSIP_Label_2e1fccfb-80ca-4fe1-a574-1516544edb53_ActionId">
    <vt:lpwstr>f20e7325-fc30-45a7-a02f-991797c0d813</vt:lpwstr>
  </property>
  <property fmtid="{D5CDD505-2E9C-101B-9397-08002B2CF9AE}" pid="8" name="MSIP_Label_2e1fccfb-80ca-4fe1-a574-1516544edb53_ContentBits">
    <vt:lpwstr>0</vt:lpwstr>
  </property>
  <property fmtid="{D5CDD505-2E9C-101B-9397-08002B2CF9AE}" pid="9" name="Sensitivity">
    <vt:lpwstr>C2 General</vt:lpwstr>
  </property>
</Properties>
</file>