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1041" r:id="rId2"/>
    <p:sldId id="2145706242" r:id="rId3"/>
    <p:sldId id="2145706243" r:id="rId4"/>
    <p:sldId id="2145706244" r:id="rId5"/>
    <p:sldId id="2145706247" r:id="rId6"/>
    <p:sldId id="2145706245" r:id="rId7"/>
    <p:sldId id="2145706246"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AA70E-921F-47F1-8CE8-3DD05F71A227}" v="71" dt="2025-10-28T09:10:21.2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53" autoAdjust="0"/>
    <p:restoredTop sz="91695" autoAdjust="0"/>
  </p:normalViewPr>
  <p:slideViewPr>
    <p:cSldViewPr snapToGrid="0">
      <p:cViewPr varScale="1">
        <p:scale>
          <a:sx n="94" d="100"/>
          <a:sy n="94" d="100"/>
        </p:scale>
        <p:origin x="1032" y="8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8T09:11:28.538" v="3274" actId="478"/>
      <pc:docMkLst>
        <pc:docMk/>
      </pc:docMkLst>
      <pc:sldChg chg="modSp mod">
        <pc:chgData name="Graf Thomas, SCS-INI-NET-VNC-E2E" userId="487bc3e3-9ce7-4cdd-b7b4-8899ea88d289" providerId="ADAL" clId="{1BAAA70E-921F-47F1-8CE8-3DD05F71A227}" dt="2025-10-26T12:53:11.272" v="2849" actId="20577"/>
        <pc:sldMkLst>
          <pc:docMk/>
          <pc:sldMk cId="3578665336" sldId="1041"/>
        </pc:sldMkLst>
        <pc:spChg chg="mod">
          <ac:chgData name="Graf Thomas, SCS-INI-NET-VNC-E2E" userId="487bc3e3-9ce7-4cdd-b7b4-8899ea88d289" providerId="ADAL" clId="{1BAAA70E-921F-47F1-8CE8-3DD05F71A227}" dt="2025-10-25T06:54:06.307" v="0" actId="20577"/>
          <ac:spMkLst>
            <pc:docMk/>
            <pc:sldMk cId="3578665336" sldId="1041"/>
            <ac:spMk id="5" creationId="{C26208B2-0D10-4C23-B2DE-372A62E98644}"/>
          </ac:spMkLst>
        </pc:spChg>
        <pc:spChg chg="mod">
          <ac:chgData name="Graf Thomas, SCS-INI-NET-VNC-E2E" userId="487bc3e3-9ce7-4cdd-b7b4-8899ea88d289" providerId="ADAL" clId="{1BAAA70E-921F-47F1-8CE8-3DD05F71A227}" dt="2025-10-26T12:53:11.272" v="2849" actId="20577"/>
          <ac:spMkLst>
            <pc:docMk/>
            <pc:sldMk cId="3578665336" sldId="1041"/>
            <ac:spMk id="6" creationId="{6CAA0765-1318-4A03-8F91-D3ECC43D8FA7}"/>
          </ac:spMkLst>
        </pc:spChg>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pChg chg="mod">
          <ac:chgData name="Graf Thomas, SCS-INI-NET-VNC-E2E" userId="487bc3e3-9ce7-4cdd-b7b4-8899ea88d289" providerId="ADAL" clId="{1BAAA70E-921F-47F1-8CE8-3DD05F71A227}" dt="2025-10-25T08:13:07.288" v="1691" actId="113"/>
          <ac:spMkLst>
            <pc:docMk/>
            <pc:sldMk cId="2617504443" sldId="2145706242"/>
            <ac:spMk id="2" creationId="{FF20F271-6F0D-4AC0-BB1D-F5C338165C13}"/>
          </ac:spMkLst>
        </pc:spChg>
        <pc:spChg chg="mod">
          <ac:chgData name="Graf Thomas, SCS-INI-NET-VNC-E2E" userId="487bc3e3-9ce7-4cdd-b7b4-8899ea88d289" providerId="ADAL" clId="{1BAAA70E-921F-47F1-8CE8-3DD05F71A227}" dt="2025-10-26T12:36:52.161" v="1823" actId="20577"/>
          <ac:spMkLst>
            <pc:docMk/>
            <pc:sldMk cId="2617504443" sldId="2145706242"/>
            <ac:spMk id="3" creationId="{29C0DFD4-432D-4B0C-93DF-790441DCF5B9}"/>
          </ac:spMkLst>
        </pc:spChg>
      </pc:sldChg>
      <pc:sldChg chg="modSp add mod">
        <pc:chgData name="Graf Thomas, SCS-INI-NET-VNC-E2E" userId="487bc3e3-9ce7-4cdd-b7b4-8899ea88d289" providerId="ADAL" clId="{1BAAA70E-921F-47F1-8CE8-3DD05F71A227}" dt="2025-10-26T13:40:53.571" v="2960" actId="20577"/>
        <pc:sldMkLst>
          <pc:docMk/>
          <pc:sldMk cId="2750719351" sldId="2145706243"/>
        </pc:sldMkLst>
        <pc:spChg chg="mod">
          <ac:chgData name="Graf Thomas, SCS-INI-NET-VNC-E2E" userId="487bc3e3-9ce7-4cdd-b7b4-8899ea88d289" providerId="ADAL" clId="{1BAAA70E-921F-47F1-8CE8-3DD05F71A227}" dt="2025-10-26T12:38:22.344" v="1832" actId="20577"/>
          <ac:spMkLst>
            <pc:docMk/>
            <pc:sldMk cId="2750719351" sldId="2145706243"/>
            <ac:spMk id="2" creationId="{925D8FC1-6AD2-4FDB-0618-87CF7F39767C}"/>
          </ac:spMkLst>
        </pc:spChg>
        <pc:spChg chg="mod">
          <ac:chgData name="Graf Thomas, SCS-INI-NET-VNC-E2E" userId="487bc3e3-9ce7-4cdd-b7b4-8899ea88d289" providerId="ADAL" clId="{1BAAA70E-921F-47F1-8CE8-3DD05F71A227}" dt="2025-10-26T13:40:53.571" v="2960" actId="20577"/>
          <ac:spMkLst>
            <pc:docMk/>
            <pc:sldMk cId="2750719351" sldId="2145706243"/>
            <ac:spMk id="3" creationId="{E1C8AC62-B5C5-ADE4-1957-88D3A14E964A}"/>
          </ac:spMkLst>
        </pc:spChg>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ldChg>
      <pc:sldChg chg="addSp delSp modSp add mod">
        <pc:chgData name="Graf Thomas, SCS-INI-NET-VNC-E2E" userId="487bc3e3-9ce7-4cdd-b7b4-8899ea88d289" providerId="ADAL" clId="{1BAAA70E-921F-47F1-8CE8-3DD05F71A227}" dt="2025-10-26T13:02:30.235" v="2959" actId="21"/>
        <pc:sldMkLst>
          <pc:docMk/>
          <pc:sldMk cId="388497335" sldId="2145706244"/>
        </pc:sldMkLst>
        <pc:spChg chg="mod">
          <ac:chgData name="Graf Thomas, SCS-INI-NET-VNC-E2E" userId="487bc3e3-9ce7-4cdd-b7b4-8899ea88d289" providerId="ADAL" clId="{1BAAA70E-921F-47F1-8CE8-3DD05F71A227}" dt="2025-10-26T12:38:29.130" v="1836" actId="20577"/>
          <ac:spMkLst>
            <pc:docMk/>
            <pc:sldMk cId="388497335" sldId="2145706244"/>
            <ac:spMk id="2" creationId="{623503D3-1A0C-80A8-0BCF-4B81D8325DA7}"/>
          </ac:spMkLst>
        </pc:spChg>
        <pc:spChg chg="mod">
          <ac:chgData name="Graf Thomas, SCS-INI-NET-VNC-E2E" userId="487bc3e3-9ce7-4cdd-b7b4-8899ea88d289" providerId="ADAL" clId="{1BAAA70E-921F-47F1-8CE8-3DD05F71A227}" dt="2025-10-26T13:02:30.235" v="2959" actId="21"/>
          <ac:spMkLst>
            <pc:docMk/>
            <pc:sldMk cId="388497335" sldId="2145706244"/>
            <ac:spMk id="3" creationId="{9C0498A2-E3FA-3E2D-2B34-142A2DCB1578}"/>
          </ac:spMkLst>
        </pc:spChg>
        <pc:spChg chg="add mod">
          <ac:chgData name="Graf Thomas, SCS-INI-NET-VNC-E2E" userId="487bc3e3-9ce7-4cdd-b7b4-8899ea88d289" providerId="ADAL" clId="{1BAAA70E-921F-47F1-8CE8-3DD05F71A227}" dt="2025-10-26T12:51:47.348" v="2793" actId="20577"/>
          <ac:spMkLst>
            <pc:docMk/>
            <pc:sldMk cId="388497335" sldId="2145706244"/>
            <ac:spMk id="4" creationId="{0E301C0F-66CA-73F9-A0FD-EA9585884704}"/>
          </ac:spMkLst>
        </pc:spChg>
      </pc:sldChg>
      <pc:sldChg chg="addSp delSp modSp add mod">
        <pc:chgData name="Graf Thomas, SCS-INI-NET-VNC-E2E" userId="487bc3e3-9ce7-4cdd-b7b4-8899ea88d289" providerId="ADAL" clId="{1BAAA70E-921F-47F1-8CE8-3DD05F71A227}" dt="2025-10-28T09:06:20.352" v="3260" actId="790"/>
        <pc:sldMkLst>
          <pc:docMk/>
          <pc:sldMk cId="1877027452" sldId="2145706245"/>
        </pc:sldMkLst>
        <pc:spChg chg="mod">
          <ac:chgData name="Graf Thomas, SCS-INI-NET-VNC-E2E" userId="487bc3e3-9ce7-4cdd-b7b4-8899ea88d289" providerId="ADAL" clId="{1BAAA70E-921F-47F1-8CE8-3DD05F71A227}" dt="2025-10-28T09:06:20.352" v="3260" actId="790"/>
          <ac:spMkLst>
            <pc:docMk/>
            <pc:sldMk cId="1877027452" sldId="2145706245"/>
            <ac:spMk id="2" creationId="{AF363DE5-D7A4-3591-E3FF-650F77756614}"/>
          </ac:spMkLst>
        </pc:spChg>
        <pc:spChg chg="del mod">
          <ac:chgData name="Graf Thomas, SCS-INI-NET-VNC-E2E" userId="487bc3e3-9ce7-4cdd-b7b4-8899ea88d289" providerId="ADAL" clId="{1BAAA70E-921F-47F1-8CE8-3DD05F71A227}" dt="2025-10-28T08:57:01.461" v="3100" actId="478"/>
          <ac:spMkLst>
            <pc:docMk/>
            <pc:sldMk cId="1877027452" sldId="2145706245"/>
            <ac:spMk id="3" creationId="{61809A2F-6983-85BB-F5B3-C494F5706379}"/>
          </ac:spMkLst>
        </pc:spChg>
        <pc:spChg chg="del">
          <ac:chgData name="Graf Thomas, SCS-INI-NET-VNC-E2E" userId="487bc3e3-9ce7-4cdd-b7b4-8899ea88d289" providerId="ADAL" clId="{1BAAA70E-921F-47F1-8CE8-3DD05F71A227}" dt="2025-10-28T08:53:29.096" v="3000" actId="478"/>
          <ac:spMkLst>
            <pc:docMk/>
            <pc:sldMk cId="1877027452" sldId="2145706245"/>
            <ac:spMk id="4" creationId="{DBC866BC-7EB5-8A97-E4AB-ABBE74A4935E}"/>
          </ac:spMkLst>
        </pc:spChg>
        <pc:spChg chg="mod">
          <ac:chgData name="Graf Thomas, SCS-INI-NET-VNC-E2E" userId="487bc3e3-9ce7-4cdd-b7b4-8899ea88d289" providerId="ADAL" clId="{1BAAA70E-921F-47F1-8CE8-3DD05F71A227}" dt="2025-10-28T09:06:20.352" v="3260" actId="790"/>
          <ac:spMkLst>
            <pc:docMk/>
            <pc:sldMk cId="1877027452" sldId="2145706245"/>
            <ac:spMk id="8" creationId="{12350B8A-B723-6442-A68D-9157CC58CFAC}"/>
          </ac:spMkLst>
        </pc:spChg>
        <pc:spChg chg="add del mod">
          <ac:chgData name="Graf Thomas, SCS-INI-NET-VNC-E2E" userId="487bc3e3-9ce7-4cdd-b7b4-8899ea88d289" providerId="ADAL" clId="{1BAAA70E-921F-47F1-8CE8-3DD05F71A227}" dt="2025-10-28T08:57:21.819" v="3104" actId="478"/>
          <ac:spMkLst>
            <pc:docMk/>
            <pc:sldMk cId="1877027452" sldId="2145706245"/>
            <ac:spMk id="9" creationId="{E4525D69-8E72-188D-55DD-70DDE86AA576}"/>
          </ac:spMkLst>
        </pc:spChg>
        <pc:spChg chg="add del">
          <ac:chgData name="Graf Thomas, SCS-INI-NET-VNC-E2E" userId="487bc3e3-9ce7-4cdd-b7b4-8899ea88d289" providerId="ADAL" clId="{1BAAA70E-921F-47F1-8CE8-3DD05F71A227}" dt="2025-10-28T09:02:07.658" v="3192" actId="478"/>
          <ac:spMkLst>
            <pc:docMk/>
            <pc:sldMk cId="1877027452" sldId="2145706245"/>
            <ac:spMk id="10" creationId="{29FD1254-06FB-8490-13D9-2566A8CB9D5C}"/>
          </ac:spMkLst>
        </pc:spChg>
        <pc:spChg chg="add mod">
          <ac:chgData name="Graf Thomas, SCS-INI-NET-VNC-E2E" userId="487bc3e3-9ce7-4cdd-b7b4-8899ea88d289" providerId="ADAL" clId="{1BAAA70E-921F-47F1-8CE8-3DD05F71A227}" dt="2025-10-28T09:06:20.352" v="3260" actId="790"/>
          <ac:spMkLst>
            <pc:docMk/>
            <pc:sldMk cId="1877027452" sldId="2145706245"/>
            <ac:spMk id="11" creationId="{CF87792E-D2F9-941B-C564-FFA7FE8DB78D}"/>
          </ac:spMkLst>
        </pc:spChg>
        <pc:graphicFrameChg chg="add del mod modGraphic">
          <ac:chgData name="Graf Thomas, SCS-INI-NET-VNC-E2E" userId="487bc3e3-9ce7-4cdd-b7b4-8899ea88d289" providerId="ADAL" clId="{1BAAA70E-921F-47F1-8CE8-3DD05F71A227}" dt="2025-10-28T08:55:12.190" v="3045" actId="478"/>
          <ac:graphicFrameMkLst>
            <pc:docMk/>
            <pc:sldMk cId="1877027452" sldId="2145706245"/>
            <ac:graphicFrameMk id="5" creationId="{B80F9C3A-9A0E-6138-4525-24222C2EEA1F}"/>
          </ac:graphicFrameMkLst>
        </pc:graphicFrameChg>
        <pc:graphicFrameChg chg="add mod modGraphic">
          <ac:chgData name="Graf Thomas, SCS-INI-NET-VNC-E2E" userId="487bc3e3-9ce7-4cdd-b7b4-8899ea88d289" providerId="ADAL" clId="{1BAAA70E-921F-47F1-8CE8-3DD05F71A227}" dt="2025-10-28T09:03:17.945" v="3225" actId="20577"/>
          <ac:graphicFrameMkLst>
            <pc:docMk/>
            <pc:sldMk cId="1877027452" sldId="2145706245"/>
            <ac:graphicFrameMk id="6" creationId="{86837E2C-7DD9-62B8-E009-509CDFF94BF9}"/>
          </ac:graphicFrameMkLst>
        </pc:graphicFrameChg>
      </pc:sldChg>
      <pc:sldChg chg="modSp add mod">
        <pc:chgData name="Graf Thomas, SCS-INI-NET-VNC-E2E" userId="487bc3e3-9ce7-4cdd-b7b4-8899ea88d289" providerId="ADAL" clId="{1BAAA70E-921F-47F1-8CE8-3DD05F71A227}" dt="2025-10-28T09:06:12.054" v="3259" actId="790"/>
        <pc:sldMkLst>
          <pc:docMk/>
          <pc:sldMk cId="4476213" sldId="2145706246"/>
        </pc:sldMkLst>
        <pc:spChg chg="mod">
          <ac:chgData name="Graf Thomas, SCS-INI-NET-VNC-E2E" userId="487bc3e3-9ce7-4cdd-b7b4-8899ea88d289" providerId="ADAL" clId="{1BAAA70E-921F-47F1-8CE8-3DD05F71A227}" dt="2025-10-28T09:06:12.054" v="3259" actId="790"/>
          <ac:spMkLst>
            <pc:docMk/>
            <pc:sldMk cId="4476213" sldId="2145706246"/>
            <ac:spMk id="2" creationId="{237B38BF-943B-E87B-35FF-EC15CB8E47A9}"/>
          </ac:spMkLst>
        </pc:spChg>
        <pc:spChg chg="mod">
          <ac:chgData name="Graf Thomas, SCS-INI-NET-VNC-E2E" userId="487bc3e3-9ce7-4cdd-b7b4-8899ea88d289" providerId="ADAL" clId="{1BAAA70E-921F-47F1-8CE8-3DD05F71A227}" dt="2025-10-28T09:06:12.054" v="3259" actId="790"/>
          <ac:spMkLst>
            <pc:docMk/>
            <pc:sldMk cId="4476213" sldId="2145706246"/>
            <ac:spMk id="8" creationId="{2B59FCFE-20E3-BD78-B5F4-C48AB55E6255}"/>
          </ac:spMkLst>
        </pc:spChg>
        <pc:spChg chg="mod">
          <ac:chgData name="Graf Thomas, SCS-INI-NET-VNC-E2E" userId="487bc3e3-9ce7-4cdd-b7b4-8899ea88d289" providerId="ADAL" clId="{1BAAA70E-921F-47F1-8CE8-3DD05F71A227}" dt="2025-10-28T09:06:12.054" v="3259" actId="790"/>
          <ac:spMkLst>
            <pc:docMk/>
            <pc:sldMk cId="4476213" sldId="2145706246"/>
            <ac:spMk id="11" creationId="{5214FD9D-0CC4-FBBB-E1C6-B862B51697A9}"/>
          </ac:spMkLst>
        </pc:spChg>
        <pc:graphicFrameChg chg="mod modGraphic">
          <ac:chgData name="Graf Thomas, SCS-INI-NET-VNC-E2E" userId="487bc3e3-9ce7-4cdd-b7b4-8899ea88d289" providerId="ADAL" clId="{1BAAA70E-921F-47F1-8CE8-3DD05F71A227}" dt="2025-10-28T09:05:56.772" v="3258" actId="20577"/>
          <ac:graphicFrameMkLst>
            <pc:docMk/>
            <pc:sldMk cId="4476213" sldId="2145706246"/>
            <ac:graphicFrameMk id="6" creationId="{4E7CEF41-5DBF-BE8C-3E2D-7F5D56B757D3}"/>
          </ac:graphicFrameMkLst>
        </pc:graphicFrameChg>
      </pc:sldChg>
      <pc:sldChg chg="addSp delSp modSp add mod">
        <pc:chgData name="Graf Thomas, SCS-INI-NET-VNC-E2E" userId="487bc3e3-9ce7-4cdd-b7b4-8899ea88d289" providerId="ADAL" clId="{1BAAA70E-921F-47F1-8CE8-3DD05F71A227}" dt="2025-10-28T09:11:28.538" v="3274" actId="478"/>
        <pc:sldMkLst>
          <pc:docMk/>
          <pc:sldMk cId="1911218804" sldId="2145706247"/>
        </pc:sldMkLst>
        <pc:spChg chg="del">
          <ac:chgData name="Graf Thomas, SCS-INI-NET-VNC-E2E" userId="487bc3e3-9ce7-4cdd-b7b4-8899ea88d289" providerId="ADAL" clId="{1BAAA70E-921F-47F1-8CE8-3DD05F71A227}" dt="2025-10-28T09:11:25.662" v="3273" actId="478"/>
          <ac:spMkLst>
            <pc:docMk/>
            <pc:sldMk cId="1911218804" sldId="2145706247"/>
            <ac:spMk id="2" creationId="{4947FD74-42FE-3086-5158-C0D959905D82}"/>
          </ac:spMkLst>
        </pc:spChg>
        <pc:spChg chg="mod">
          <ac:chgData name="Graf Thomas, SCS-INI-NET-VNC-E2E" userId="487bc3e3-9ce7-4cdd-b7b4-8899ea88d289" providerId="ADAL" clId="{1BAAA70E-921F-47F1-8CE8-3DD05F71A227}" dt="2025-10-28T09:11:22.831" v="3272" actId="14100"/>
          <ac:spMkLst>
            <pc:docMk/>
            <pc:sldMk cId="1911218804" sldId="2145706247"/>
            <ac:spMk id="3" creationId="{63523839-2C3F-C4EE-4589-82ED2EE031BF}"/>
          </ac:spMkLst>
        </pc:spChg>
        <pc:spChg chg="del">
          <ac:chgData name="Graf Thomas, SCS-INI-NET-VNC-E2E" userId="487bc3e3-9ce7-4cdd-b7b4-8899ea88d289" providerId="ADAL" clId="{1BAAA70E-921F-47F1-8CE8-3DD05F71A227}" dt="2025-10-28T09:10:53.102" v="3262" actId="478"/>
          <ac:spMkLst>
            <pc:docMk/>
            <pc:sldMk cId="1911218804" sldId="2145706247"/>
            <ac:spMk id="4" creationId="{F53CEE2B-0A8D-E419-8200-E6C450480C17}"/>
          </ac:spMkLst>
        </pc:spChg>
        <pc:spChg chg="add del mod">
          <ac:chgData name="Graf Thomas, SCS-INI-NET-VNC-E2E" userId="487bc3e3-9ce7-4cdd-b7b4-8899ea88d289" providerId="ADAL" clId="{1BAAA70E-921F-47F1-8CE8-3DD05F71A227}" dt="2025-10-28T09:11:28.538" v="3274" actId="478"/>
          <ac:spMkLst>
            <pc:docMk/>
            <pc:sldMk cId="1911218804" sldId="2145706247"/>
            <ac:spMk id="6" creationId="{0D9A503E-12B0-B519-7B37-33E23665D8C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28.10.2025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arxiv.org/html/2302.01713v4" TargetMode="External"/><Relationship Id="rId2" Type="http://schemas.openxmlformats.org/officeDocument/2006/relationships/hyperlink" Target="https://mailarchive.ietf.org/arch/msg/nmop/dc8w2524j2RoV3ZduR7t8T0Rt7o/" TargetMode="External"/><Relationship Id="rId1" Type="http://schemas.openxmlformats.org/officeDocument/2006/relationships/slideLayout" Target="../slideLayouts/slideLayout2.xml"/><Relationship Id="rId4" Type="http://schemas.openxmlformats.org/officeDocument/2006/relationships/hyperlink" Target="https://arxiv.org/html/2402.06511v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notif-envelope"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datatracker.ietf.org/doc/html/draft-netana-nmop-yang-message-broker-message-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atatracker.ietf.org/doc/draft-ietf-netconf-yang-library-augmentedby/" TargetMode="External"/><Relationship Id="rId7" Type="http://schemas.openxmlformats.org/officeDocument/2006/relationships/hyperlink" Target="https://datatracker.ietf.org/doc/draft-ietf-nmop-message-broker-telemetry-message/" TargetMode="External"/><Relationship Id="rId2" Type="http://schemas.openxmlformats.org/officeDocument/2006/relationships/hyperlink" Target="https://datatracker.ietf.org/doc/draft-ietf-netconf-notif-envelope/" TargetMode="External"/><Relationship Id="rId1" Type="http://schemas.openxmlformats.org/officeDocument/2006/relationships/slideLayout" Target="../slideLayouts/slideLayout2.xml"/><Relationship Id="rId6" Type="http://schemas.openxmlformats.org/officeDocument/2006/relationships/hyperlink" Target="https://datatracker.ietf.org/doc/draft-ietf-nmop-yang-message-broker-integration/" TargetMode="External"/><Relationship Id="rId5" Type="http://schemas.openxmlformats.org/officeDocument/2006/relationships/hyperlink" Target="https://datatracker.ietf.org/doc/draft-ietf-netconf-yp-transport-capabilities/" TargetMode="External"/><Relationship Id="rId4" Type="http://schemas.openxmlformats.org/officeDocument/2006/relationships/hyperlink" Target="https://datatracker.ietf.org/doc/draft-ietf-netconf-yang-notifications-versioning/"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doc/draft-ietf-netconf-udp-client-server/" TargetMode="External"/><Relationship Id="rId2" Type="http://schemas.openxmlformats.org/officeDocument/2006/relationships/hyperlink" Target="https://datatracker.ietf.org/doc/draft-ietf-netconf-udp-notif/" TargetMode="External"/><Relationship Id="rId1" Type="http://schemas.openxmlformats.org/officeDocument/2006/relationships/slideLayout" Target="../slideLayouts/slideLayout2.xml"/><Relationship Id="rId5" Type="http://schemas.openxmlformats.org/officeDocument/2006/relationships/hyperlink" Target="https://datatracker.ietf.org/doc/draft-netana-nmop-yang-anydata-validation/" TargetMode="External"/><Relationship Id="rId4" Type="http://schemas.openxmlformats.org/officeDocument/2006/relationships/hyperlink" Target="https://datatracker.ietf.org/doc/draft-ietf-netconf-distributed-noti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draft-ietf-nmop-yang-message-broker-integration-09</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26.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-08</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772816"/>
            <a:ext cx="10601528" cy="4404148"/>
          </a:xfrm>
        </p:spPr>
        <p:txBody>
          <a:bodyPr>
            <a:noAutofit/>
          </a:bodyPr>
          <a:lstStyle/>
          <a:p>
            <a:r>
              <a:rPr lang="en-US" sz="1800" dirty="0">
                <a:latin typeface="Calibri Body"/>
              </a:rPr>
              <a:t>Addressed comments from Paul </a:t>
            </a:r>
            <a:r>
              <a:rPr lang="en-US" sz="1800" dirty="0" err="1">
                <a:latin typeface="Calibri Body"/>
              </a:rPr>
              <a:t>Aitke</a:t>
            </a:r>
            <a:r>
              <a:rPr lang="en-US" sz="1800" dirty="0">
                <a:latin typeface="Calibri Body"/>
              </a:rPr>
              <a:t>. Many thanks for the review! (</a:t>
            </a:r>
            <a:r>
              <a:rPr lang="en-US" sz="1800" dirty="0">
                <a:latin typeface="Calibri Body"/>
                <a:hlinkClick r:id="rId2"/>
              </a:rPr>
              <a:t>https://mailarchive.ietf.org/arch/msg/nmop/dc8w2524j2RoV3ZduR7t8T0Rt7o/</a:t>
            </a:r>
            <a:r>
              <a:rPr lang="en-US" sz="1800" dirty="0">
                <a:latin typeface="Calibri Body"/>
              </a:rPr>
              <a:t>). </a:t>
            </a:r>
          </a:p>
          <a:p>
            <a:r>
              <a:rPr lang="en-US" sz="1800" dirty="0">
                <a:latin typeface="Calibri Body"/>
              </a:rPr>
              <a:t>Paul raised a valid point on YANG and Data Mesh industry adoption claims. </a:t>
            </a:r>
            <a:br>
              <a:rPr lang="en-US" sz="1800" dirty="0">
                <a:latin typeface="Calibri Body"/>
              </a:rPr>
            </a:br>
            <a:br>
              <a:rPr lang="en-US" sz="1800" dirty="0">
                <a:latin typeface="Calibri Body"/>
              </a:rPr>
            </a:br>
            <a:r>
              <a:rPr lang="en-US" sz="1800" dirty="0">
                <a:latin typeface="Calibri Body"/>
              </a:rPr>
              <a:t>That external references for this claims would help to undermine that this not just the authors opinion. </a:t>
            </a:r>
            <a:br>
              <a:rPr lang="en-US" sz="1800" dirty="0">
                <a:latin typeface="Calibri Body"/>
              </a:rPr>
            </a:br>
            <a:endParaRPr lang="en-US" sz="1800" dirty="0">
              <a:latin typeface="Calibri Body"/>
            </a:endParaRP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references to the following documents would help or other if you have other proposals.</a:t>
            </a:r>
            <a:br>
              <a:rPr lang="en-US" sz="1800" dirty="0">
                <a:latin typeface="Calibri Body"/>
              </a:rPr>
            </a:br>
            <a:endParaRPr lang="en-US" sz="1800" dirty="0">
              <a:latin typeface="Calibri Body"/>
            </a:endParaRPr>
          </a:p>
          <a:p>
            <a:pPr lvl="1">
              <a:spcBef>
                <a:spcPts val="1000"/>
              </a:spcBef>
            </a:pPr>
            <a:r>
              <a:rPr lang="en-US" sz="1800" dirty="0">
                <a:latin typeface="Calibri Body"/>
              </a:rPr>
              <a:t>Towards Avoiding the Data Mess: Industry Insights from Data Mesh Implementations: </a:t>
            </a:r>
            <a:r>
              <a:rPr lang="en-US" sz="1800" dirty="0">
                <a:latin typeface="Calibri Body"/>
                <a:hlinkClick r:id="rId3"/>
              </a:rPr>
              <a:t>https://arxiv.org/html/2302.01713v4</a:t>
            </a:r>
            <a:endParaRPr lang="en-US" sz="1800" dirty="0">
              <a:latin typeface="Calibri Body"/>
            </a:endParaRPr>
          </a:p>
          <a:p>
            <a:pPr lvl="1">
              <a:spcBef>
                <a:spcPts val="1000"/>
              </a:spcBef>
            </a:pPr>
            <a:r>
              <a:rPr lang="en-US" sz="1800" dirty="0">
                <a:latin typeface="Calibri Body"/>
              </a:rPr>
              <a:t>Toward Building a Semantic Network Inventory for Model-Driven Telemetry: </a:t>
            </a:r>
            <a:r>
              <a:rPr lang="en-US" sz="1800" dirty="0">
                <a:latin typeface="Calibri Body"/>
                <a:hlinkClick r:id="rId4"/>
              </a:rPr>
              <a:t>https://arxiv.org/html/2402.06511v1</a:t>
            </a:r>
            <a:endParaRPr lang="en-US" sz="1800" dirty="0">
              <a:latin typeface="Calibri Body"/>
            </a:endParaRP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617504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-09</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89468" cy="4404148"/>
          </a:xfrm>
        </p:spPr>
        <p:txBody>
          <a:bodyPr>
            <a:noAutofit/>
          </a:bodyPr>
          <a:lstStyle/>
          <a:p>
            <a:r>
              <a:rPr lang="en-US" sz="1800" dirty="0">
                <a:latin typeface="Calibri Body"/>
              </a:rPr>
              <a:t>Section 4.5, "Stream Catalog" was added. The term "Stream Catalog" was previously already defined. That semantics are exported to "Stream Catalog" and that end users interact with the "Streaming Catalog" is now clearly defined in the document. All other functional aspects of a "Stream Catalog" is out of document scope.</a:t>
            </a:r>
          </a:p>
          <a:p>
            <a:r>
              <a:rPr lang="en-US" sz="1800" dirty="0">
                <a:latin typeface="Calibri Body"/>
              </a:rPr>
              <a:t>Nacho mentioned in during IETF 123 that "Data Catalog" would be a better term than "Stream Catalog". The authors believe that "Stream Catalog" is a more commonly used term in context of Message Brokers. </a:t>
            </a:r>
            <a:r>
              <a:rPr lang="en-US" sz="1800" b="1" dirty="0">
                <a:solidFill>
                  <a:srgbClr val="FF0000"/>
                </a:solidFill>
                <a:latin typeface="Calibri Body"/>
              </a:rPr>
              <a:t>What is the working group opinion?</a:t>
            </a:r>
          </a:p>
          <a:p>
            <a:r>
              <a:rPr lang="en-US" sz="1800" dirty="0">
                <a:latin typeface="Calibri Body"/>
                <a:ea typeface="Times New Roman" panose="02020603050405020304" pitchFamily="18" charset="0"/>
              </a:rPr>
              <a:t>Changed from "</a:t>
            </a:r>
            <a:r>
              <a:rPr lang="en-US" sz="1800" dirty="0" err="1">
                <a:latin typeface="Calibri Body"/>
                <a:ea typeface="Times New Roman" panose="02020603050405020304" pitchFamily="18" charset="0"/>
              </a:rPr>
              <a:t>sysName</a:t>
            </a:r>
            <a:r>
              <a:rPr lang="en-US" sz="1800" dirty="0">
                <a:latin typeface="Calibri Body"/>
                <a:ea typeface="Times New Roman" panose="02020603050405020304" pitchFamily="18" charset="0"/>
              </a:rPr>
              <a:t>" to "hostname" to adapt to changes in </a:t>
            </a:r>
            <a:r>
              <a:rPr lang="en-US" sz="1800" dirty="0">
                <a:latin typeface="Calibri Body"/>
                <a:ea typeface="Times New Roman" panose="02020603050405020304" pitchFamily="18" charset="0"/>
                <a:hlinkClick r:id="rId3"/>
              </a:rPr>
              <a:t>draft-</a:t>
            </a:r>
            <a:r>
              <a:rPr lang="en-US" sz="1800" dirty="0" err="1">
                <a:latin typeface="Calibri Body"/>
                <a:ea typeface="Times New Roman" panose="02020603050405020304" pitchFamily="18" charset="0"/>
                <a:hlinkClick r:id="rId3"/>
              </a:rPr>
              <a:t>ietf</a:t>
            </a:r>
            <a:r>
              <a:rPr lang="en-US" sz="1800" dirty="0">
                <a:latin typeface="Calibri Body"/>
                <a:ea typeface="Times New Roman" panose="02020603050405020304" pitchFamily="18" charset="0"/>
                <a:hlinkClick r:id="rId3"/>
              </a:rPr>
              <a:t>-netconf-</a:t>
            </a:r>
            <a:r>
              <a:rPr lang="en-US" sz="1800" dirty="0" err="1">
                <a:latin typeface="Calibri Body"/>
                <a:ea typeface="Times New Roman" panose="02020603050405020304" pitchFamily="18" charset="0"/>
                <a:hlinkClick r:id="rId3"/>
              </a:rPr>
              <a:t>notif</a:t>
            </a:r>
            <a:r>
              <a:rPr lang="en-US" sz="1800" dirty="0">
                <a:latin typeface="Calibri Body"/>
                <a:ea typeface="Times New Roman" panose="02020603050405020304" pitchFamily="18" charset="0"/>
                <a:hlinkClick r:id="rId3"/>
              </a:rPr>
              <a:t>-envelope</a:t>
            </a:r>
            <a:r>
              <a:rPr lang="en-US" sz="1800" dirty="0">
                <a:latin typeface="Calibri Body"/>
                <a:ea typeface="Times New Roman" panose="02020603050405020304" pitchFamily="18" charset="0"/>
              </a:rPr>
              <a:t>.</a:t>
            </a:r>
          </a:p>
          <a:p>
            <a:r>
              <a:rPr lang="en-US" sz="1800" dirty="0">
                <a:effectLst/>
                <a:latin typeface="Calibri Body"/>
                <a:ea typeface="Times New Roman" panose="02020603050405020304" pitchFamily="18" charset="0"/>
              </a:rPr>
              <a:t>Changed </a:t>
            </a:r>
            <a:r>
              <a:rPr lang="en-US" sz="1800" dirty="0">
                <a:latin typeface="Calibri Body"/>
                <a:ea typeface="Times New Roman" panose="02020603050405020304" pitchFamily="18" charset="0"/>
              </a:rPr>
              <a:t>message broker examples from RabbitMQ to Apache Pulsar since Apache Pulsar also supports </a:t>
            </a:r>
            <a:r>
              <a:rPr lang="en-US" sz="1800" dirty="0">
                <a:latin typeface="Calibri Body"/>
                <a:ea typeface="Times New Roman" panose="02020603050405020304" pitchFamily="18" charset="0"/>
                <a:hlinkClick r:id="rId4"/>
              </a:rPr>
              <a:t>draft-</a:t>
            </a:r>
            <a:r>
              <a:rPr lang="en-US" sz="1800" dirty="0" err="1">
                <a:latin typeface="Calibri Body"/>
                <a:ea typeface="Times New Roman" panose="02020603050405020304" pitchFamily="18" charset="0"/>
                <a:hlinkClick r:id="rId4"/>
              </a:rPr>
              <a:t>netana</a:t>
            </a:r>
            <a:r>
              <a:rPr lang="en-US" sz="1800" dirty="0">
                <a:latin typeface="Calibri Body"/>
                <a:ea typeface="Times New Roman" panose="02020603050405020304" pitchFamily="18" charset="0"/>
                <a:hlinkClick r:id="rId4"/>
              </a:rPr>
              <a:t>-</a:t>
            </a:r>
            <a:r>
              <a:rPr lang="en-US" sz="1800" dirty="0" err="1">
                <a:latin typeface="Calibri Body"/>
                <a:ea typeface="Times New Roman" panose="02020603050405020304" pitchFamily="18" charset="0"/>
                <a:hlinkClick r:id="rId4"/>
              </a:rPr>
              <a:t>nmop</a:t>
            </a:r>
            <a:r>
              <a:rPr lang="en-US" sz="1800" dirty="0">
                <a:latin typeface="Calibri Body"/>
                <a:ea typeface="Times New Roman" panose="02020603050405020304" pitchFamily="18" charset="0"/>
                <a:hlinkClick r:id="rId4"/>
              </a:rPr>
              <a:t>-yang-message-broker-message-key</a:t>
            </a:r>
            <a:r>
              <a:rPr lang="en-US" sz="1800" dirty="0">
                <a:latin typeface="Calibri Body"/>
                <a:ea typeface="Times New Roman" panose="02020603050405020304" pitchFamily="18" charset="0"/>
              </a:rPr>
              <a:t> </a:t>
            </a:r>
            <a:r>
              <a:rPr lang="en-US" sz="1800">
                <a:latin typeface="Calibri Body"/>
                <a:ea typeface="Times New Roman" panose="02020603050405020304" pitchFamily="18" charset="0"/>
              </a:rPr>
              <a:t>aspects.</a:t>
            </a:r>
            <a:endParaRPr lang="en-US" sz="1800" dirty="0">
              <a:latin typeface="Calibri Body"/>
              <a:ea typeface="Times New Roman" panose="02020603050405020304" pitchFamily="18" charset="0"/>
            </a:endParaRP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Oval 4">
            <a:extLst>
              <a:ext uri="{FF2B5EF4-FFF2-40B4-BE49-F238E27FC236}">
                <a16:creationId xmlns:a16="http://schemas.microsoft.com/office/drawing/2014/main" id="{8C23250E-A19C-6C6E-E1FC-F12B08950F9A}"/>
              </a:ext>
            </a:extLst>
          </p:cNvPr>
          <p:cNvSpPr/>
          <p:nvPr/>
        </p:nvSpPr>
        <p:spPr>
          <a:xfrm>
            <a:off x="8141919" y="5153464"/>
            <a:ext cx="678730" cy="65045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5027-5F9C-B1E6-0B7E-B85D1FD63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503D3-1A0C-80A8-0BCF-4B81D8325DA7}"/>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Next 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9C0498A2-E3FA-3E2D-2B34-142A2DCB1578}"/>
              </a:ext>
            </a:extLst>
          </p:cNvPr>
          <p:cNvSpPr>
            <a:spLocks noGrp="1"/>
          </p:cNvSpPr>
          <p:nvPr>
            <p:ph idx="1"/>
          </p:nvPr>
        </p:nvSpPr>
        <p:spPr>
          <a:xfrm>
            <a:off x="838200" y="1772816"/>
            <a:ext cx="10886440" cy="4404148"/>
          </a:xfrm>
        </p:spPr>
        <p:txBody>
          <a:bodyPr>
            <a:noAutofit/>
          </a:bodyPr>
          <a:lstStyle/>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The milestones in the NMOP charter aims September 2025 for "Submit Architecture for YANG-Push to Message Broker Integration to the IESG"</a:t>
            </a:r>
          </a:p>
          <a:p>
            <a:pPr>
              <a:buFont typeface="Wingdings" panose="05000000000000000000" pitchFamily="2" charset="2"/>
              <a:buChar char="Ø"/>
            </a:pPr>
            <a:r>
              <a:rPr lang="en-US" sz="1800" dirty="0">
                <a:latin typeface="Calibri Body"/>
              </a:rPr>
              <a:t>The document went through several iterations and has multiple implementations. The last remaining normative referenced documents which did not pass working group last call yet are:</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-netconf-yang-notifications-versioning (requested working group last call at IETF 124)</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a:t>
            </a:r>
            <a:r>
              <a:rPr lang="en-US" sz="1800" dirty="0" err="1">
                <a:latin typeface="Calibri Body"/>
              </a:rPr>
              <a:t>nmop</a:t>
            </a:r>
            <a:r>
              <a:rPr lang="en-US" sz="1800" dirty="0">
                <a:latin typeface="Calibri Body"/>
              </a:rPr>
              <a:t>-message-broker-telemetry-message (second implementation at IETF 124, intend to request working group at IETF 125)</a:t>
            </a:r>
          </a:p>
          <a:p>
            <a:pPr>
              <a:buFont typeface="Wingdings" panose="05000000000000000000" pitchFamily="2" charset="2"/>
              <a:buChar char="Ø"/>
            </a:pPr>
            <a:r>
              <a:rPr lang="en-US" sz="1800" b="1" dirty="0">
                <a:solidFill>
                  <a:srgbClr val="FF0000"/>
                </a:solidFill>
                <a:latin typeface="Calibri Body"/>
              </a:rPr>
              <a:t>The authors suggest to trigger an early OPS directorate review to gauge wherever we have missed anything from an operations or management perspective.</a:t>
            </a:r>
          </a:p>
          <a:p>
            <a:pPr>
              <a:buFont typeface="Wingdings" panose="05000000000000000000" pitchFamily="2" charset="2"/>
              <a:buChar char="Ø"/>
            </a:pPr>
            <a:r>
              <a:rPr lang="en-US" sz="1800" b="1" dirty="0">
                <a:solidFill>
                  <a:srgbClr val="FF0000"/>
                </a:solidFill>
                <a:latin typeface="Calibri Body"/>
              </a:rPr>
              <a:t>The authors believe that the document is stable and ready for working group last call and be submitted together with draft-</a:t>
            </a:r>
            <a:r>
              <a:rPr lang="en-US" sz="1800" b="1" dirty="0" err="1">
                <a:solidFill>
                  <a:srgbClr val="FF0000"/>
                </a:solidFill>
                <a:latin typeface="Calibri Body"/>
              </a:rPr>
              <a:t>ietf</a:t>
            </a:r>
            <a:r>
              <a:rPr lang="en-US" sz="1800" b="1" dirty="0">
                <a:solidFill>
                  <a:srgbClr val="FF0000"/>
                </a:solidFill>
                <a:latin typeface="Calibri Body"/>
              </a:rPr>
              <a:t>-</a:t>
            </a:r>
            <a:r>
              <a:rPr lang="en-US" sz="1800" b="1" dirty="0" err="1">
                <a:solidFill>
                  <a:srgbClr val="FF0000"/>
                </a:solidFill>
                <a:latin typeface="Calibri Body"/>
              </a:rPr>
              <a:t>nmop</a:t>
            </a:r>
            <a:r>
              <a:rPr lang="en-US" sz="1800" b="1" dirty="0">
                <a:solidFill>
                  <a:srgbClr val="FF0000"/>
                </a:solidFill>
                <a:latin typeface="Calibri Body"/>
              </a:rPr>
              <a:t>-message-broker-telemetry-message to IESG at IETF 125.</a:t>
            </a:r>
          </a:p>
        </p:txBody>
      </p:sp>
      <p:sp>
        <p:nvSpPr>
          <p:cNvPr id="8" name="Slide Number Placeholder 1">
            <a:extLst>
              <a:ext uri="{FF2B5EF4-FFF2-40B4-BE49-F238E27FC236}">
                <a16:creationId xmlns:a16="http://schemas.microsoft.com/office/drawing/2014/main" id="{01C66484-AF25-6578-8718-28343413573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4</a:t>
            </a:fld>
            <a:endParaRPr lang="de-CH" sz="1400" dirty="0"/>
          </a:p>
        </p:txBody>
      </p:sp>
      <p:sp>
        <p:nvSpPr>
          <p:cNvPr id="4" name="Subtitle 4">
            <a:extLst>
              <a:ext uri="{FF2B5EF4-FFF2-40B4-BE49-F238E27FC236}">
                <a16:creationId xmlns:a16="http://schemas.microsoft.com/office/drawing/2014/main" id="{0E301C0F-66CA-73F9-A0FD-EA9585884704}"/>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26.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88497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4093C-DC3C-6F06-B43A-DA49375F215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523839-2C3F-C4EE-4589-82ED2EE031BF}"/>
              </a:ext>
            </a:extLst>
          </p:cNvPr>
          <p:cNvSpPr>
            <a:spLocks noGrp="1"/>
          </p:cNvSpPr>
          <p:nvPr>
            <p:ph idx="1"/>
          </p:nvPr>
        </p:nvSpPr>
        <p:spPr>
          <a:xfrm>
            <a:off x="838200" y="2570480"/>
            <a:ext cx="10886440" cy="3606484"/>
          </a:xfrm>
        </p:spPr>
        <p:txBody>
          <a:bodyPr>
            <a:noAutofit/>
          </a:bodyPr>
          <a:lstStyle/>
          <a:p>
            <a:pPr marL="0" indent="0" algn="ctr">
              <a:buNone/>
            </a:pPr>
            <a:r>
              <a:rPr lang="en-US" sz="7200" dirty="0">
                <a:latin typeface="Calibri Body"/>
              </a:rPr>
              <a:t>Backup</a:t>
            </a:r>
            <a:endParaRPr lang="en-US" sz="7200" dirty="0">
              <a:solidFill>
                <a:srgbClr val="FF0000"/>
              </a:solidFill>
              <a:latin typeface="Calibri Body"/>
            </a:endParaRPr>
          </a:p>
        </p:txBody>
      </p:sp>
      <p:sp>
        <p:nvSpPr>
          <p:cNvPr id="8" name="Slide Number Placeholder 1">
            <a:extLst>
              <a:ext uri="{FF2B5EF4-FFF2-40B4-BE49-F238E27FC236}">
                <a16:creationId xmlns:a16="http://schemas.microsoft.com/office/drawing/2014/main" id="{D039C72B-B5FE-3699-647F-08CDE22C48B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5</a:t>
            </a:fld>
            <a:endParaRPr lang="de-CH" sz="1400" dirty="0"/>
          </a:p>
        </p:txBody>
      </p:sp>
    </p:spTree>
    <p:extLst>
      <p:ext uri="{BB962C8B-B14F-4D97-AF65-F5344CB8AC3E}">
        <p14:creationId xmlns:p14="http://schemas.microsoft.com/office/powerpoint/2010/main" val="1911218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B90EF-8FB5-5112-4E13-96584E18D2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63DE5-D7A4-3591-E3FF-650F77756614}"/>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Normative References, State and Reviewers</a:t>
            </a:r>
          </a:p>
        </p:txBody>
      </p:sp>
      <p:sp>
        <p:nvSpPr>
          <p:cNvPr id="8" name="Slide Number Placeholder 1">
            <a:extLst>
              <a:ext uri="{FF2B5EF4-FFF2-40B4-BE49-F238E27FC236}">
                <a16:creationId xmlns:a16="http://schemas.microsoft.com/office/drawing/2014/main" id="{12350B8A-B723-6442-A68D-9157CC58CFAC}"/>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6</a:t>
            </a:fld>
            <a:endParaRPr lang="en-US" sz="1400" dirty="0"/>
          </a:p>
        </p:txBody>
      </p:sp>
      <p:graphicFrame>
        <p:nvGraphicFramePr>
          <p:cNvPr id="6" name="Table 5">
            <a:extLst>
              <a:ext uri="{FF2B5EF4-FFF2-40B4-BE49-F238E27FC236}">
                <a16:creationId xmlns:a16="http://schemas.microsoft.com/office/drawing/2014/main" id="{86837E2C-7DD9-62B8-E009-509CDFF94BF9}"/>
              </a:ext>
            </a:extLst>
          </p:cNvPr>
          <p:cNvGraphicFramePr>
            <a:graphicFrameLocks noGrp="1"/>
          </p:cNvGraphicFramePr>
          <p:nvPr>
            <p:extLst>
              <p:ext uri="{D42A27DB-BD31-4B8C-83A1-F6EECF244321}">
                <p14:modId xmlns:p14="http://schemas.microsoft.com/office/powerpoint/2010/main" val="1661814293"/>
              </p:ext>
            </p:extLst>
          </p:nvPr>
        </p:nvGraphicFramePr>
        <p:xfrm>
          <a:off x="919480" y="1601359"/>
          <a:ext cx="10927079" cy="457708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draft-ietf-netconf-notif-envelope-03</a:t>
                      </a:r>
                      <a:endParaRPr lang="de-CH" sz="1200" dirty="0"/>
                    </a:p>
                  </a:txBody>
                  <a:tcPr/>
                </a:tc>
                <a:tc>
                  <a:txBody>
                    <a:bodyPr/>
                    <a:lstStyle/>
                    <a:p>
                      <a:r>
                        <a:rPr lang="en-US" sz="1200" dirty="0"/>
                        <a:t>WG Document (passed working group last call)</a:t>
                      </a:r>
                      <a:endParaRPr lang="de-CH" sz="1200" dirty="0"/>
                    </a:p>
                  </a:txBody>
                  <a:tcPr/>
                </a:tc>
                <a:tc>
                  <a:txBody>
                    <a:bodyPr/>
                    <a:lstStyle/>
                    <a:p>
                      <a:r>
                        <a:rPr lang="en-US" sz="1200" dirty="0"/>
                        <a:t>OPSDIR Early review by Joe Clarke *</a:t>
                      </a:r>
                    </a:p>
                    <a:p>
                      <a:r>
                        <a:rPr lang="en-US" sz="1200" dirty="0"/>
                        <a:t>YANGDOCTORS Early review (of -02) by Jürgen Schönwälder</a:t>
                      </a:r>
                      <a:endParaRPr lang="de-CH" sz="1200" dirty="0"/>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draft-ietf-netconf-yang-library-augmentedby-12</a:t>
                      </a:r>
                      <a:endParaRPr lang="de-CH" sz="1200" dirty="0"/>
                    </a:p>
                  </a:txBody>
                  <a:tcPr/>
                </a:tc>
                <a:tc>
                  <a:txBody>
                    <a:bodyPr/>
                    <a:lstStyle/>
                    <a:p>
                      <a:r>
                        <a:rPr lang="en-US" sz="1200" dirty="0"/>
                        <a:t>Submitted to IESG for Publication</a:t>
                      </a:r>
                      <a:endParaRPr lang="de-CH" sz="1200" dirty="0"/>
                    </a:p>
                  </a:txBody>
                  <a:tcPr/>
                </a:tc>
                <a:tc>
                  <a:txBody>
                    <a:bodyPr/>
                    <a:lstStyle/>
                    <a:p>
                      <a:r>
                        <a:rPr lang="en-US" sz="1200" dirty="0"/>
                        <a:t>OPSDIR Early review (of -08) by Sheng Jiang</a:t>
                      </a:r>
                    </a:p>
                    <a:p>
                      <a:r>
                        <a:rPr lang="en-US" sz="1200" dirty="0"/>
                        <a:t>YANGDOCTORS Early review (of -07) by Andy Bierman</a:t>
                      </a:r>
                      <a:endParaRPr lang="de-CH" sz="1200" dirty="0"/>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draft-ietf-netconf-yang-notifications-versioning-09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r>
                        <a:rPr lang="en-US" sz="1200" dirty="0"/>
                        <a:t>YANGDOCTORS Early Review due 2025-10-29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5"/>
                        </a:rPr>
                        <a:t>draft-ietf-netconf-yp-transport-capabilities-05</a:t>
                      </a:r>
                      <a:endParaRPr lang="de-CH" sz="1200" dirty="0"/>
                    </a:p>
                  </a:txBody>
                  <a:tcPr/>
                </a:tc>
                <a:tc>
                  <a:txBody>
                    <a:bodyPr/>
                    <a:lstStyle/>
                    <a:p>
                      <a:r>
                        <a:rPr lang="en-US" sz="1200" dirty="0"/>
                        <a:t>Submitted to IESG for Publication </a:t>
                      </a:r>
                      <a:endParaRPr lang="de-CH" sz="1200" dirty="0"/>
                    </a:p>
                  </a:txBody>
                  <a:tcPr/>
                </a:tc>
                <a:tc>
                  <a:txBody>
                    <a:bodyPr/>
                    <a:lstStyle/>
                    <a:p>
                      <a:r>
                        <a:rPr lang="en-US" sz="1200" dirty="0"/>
                        <a:t>OPSDIR IETF Last Call review by Xiao Min</a:t>
                      </a:r>
                    </a:p>
                    <a:p>
                      <a:r>
                        <a:rPr lang="en-US" sz="1200" dirty="0"/>
                        <a:t>TSVART IETF Last Call review by Tommy Pauly *</a:t>
                      </a:r>
                    </a:p>
                    <a:p>
                      <a:r>
                        <a:rPr lang="en-US" sz="1200" dirty="0"/>
                        <a:t>YANGDOCTORS IETF Last Call review by Jan Lindblad *</a:t>
                      </a:r>
                    </a:p>
                    <a:p>
                      <a:r>
                        <a:rPr lang="en-US" sz="1200" dirty="0"/>
                        <a:t>OPSDIR Early review (of -03) by Xiao Min</a:t>
                      </a:r>
                    </a:p>
                    <a:p>
                      <a:r>
                        <a:rPr lang="en-US" sz="1200" dirty="0"/>
                        <a:t>YANGDOCTORS Early review (of -01) by Jan Lindblad</a:t>
                      </a:r>
                    </a:p>
                    <a:p>
                      <a:r>
                        <a:rPr lang="en-US" sz="1200" dirty="0"/>
                        <a:t>SECDIR IETF Last Call Review due 2025-10-18</a:t>
                      </a:r>
                      <a:endParaRPr lang="de-CH" sz="1200" dirty="0"/>
                    </a:p>
                  </a:txBody>
                  <a:tcPr/>
                </a:tc>
                <a:extLst>
                  <a:ext uri="{0D108BD9-81ED-4DB2-BD59-A6C34878D82A}">
                    <a16:rowId xmlns:a16="http://schemas.microsoft.com/office/drawing/2014/main" val="2744993052"/>
                  </a:ext>
                </a:extLst>
              </a:tr>
              <a:tr h="370840">
                <a:tc>
                  <a:txBody>
                    <a:bodyPr/>
                    <a:lstStyle/>
                    <a:p>
                      <a:r>
                        <a:rPr lang="de-CH" sz="1200" dirty="0"/>
                        <a:t>NMOP</a:t>
                      </a:r>
                    </a:p>
                  </a:txBody>
                  <a:tcPr/>
                </a:tc>
                <a:tc>
                  <a:txBody>
                    <a:bodyPr/>
                    <a:lstStyle/>
                    <a:p>
                      <a:r>
                        <a:rPr lang="de-CH" sz="1200" dirty="0">
                          <a:hlinkClick r:id="rId6"/>
                        </a:rPr>
                        <a:t>draft-ietf-nmop-yang-message-broker-integration-09</a:t>
                      </a:r>
                      <a:endParaRPr lang="de-CH" sz="1200" dirty="0"/>
                    </a:p>
                  </a:txBody>
                  <a:tcPr/>
                </a:tc>
                <a:tc>
                  <a:txBody>
                    <a:bodyPr/>
                    <a:lstStyle/>
                    <a:p>
                      <a:r>
                        <a:rPr lang="en-US" sz="1200" dirty="0"/>
                        <a:t>WG Document (request for working group last call at IETF 124)</a:t>
                      </a:r>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r>
                        <a:rPr lang="de-CH" sz="1200" dirty="0"/>
                        <a:t>NMOP</a:t>
                      </a:r>
                    </a:p>
                  </a:txBody>
                  <a:tcPr/>
                </a:tc>
                <a:tc>
                  <a:txBody>
                    <a:bodyPr/>
                    <a:lstStyle/>
                    <a:p>
                      <a:r>
                        <a:rPr lang="de-CH" sz="1200" dirty="0">
                          <a:hlinkClick r:id="rId7"/>
                        </a:rPr>
                        <a:t>draft-ietf-nmop-message-broker-telemetry-message-03</a:t>
                      </a:r>
                      <a:endParaRPr lang="de-CH" sz="1200" dirty="0"/>
                    </a:p>
                  </a:txBody>
                  <a:tcPr/>
                </a:tc>
                <a:tc>
                  <a:txBody>
                    <a:bodyPr/>
                    <a:lstStyle/>
                    <a:p>
                      <a:r>
                        <a:rPr lang="en-US" sz="1200" dirty="0"/>
                        <a:t>WG Document (request for working group last call at IETF 125)</a:t>
                      </a:r>
                      <a:endParaRPr lang="de-CH" sz="1200" dirty="0"/>
                    </a:p>
                  </a:txBody>
                  <a:tcPr/>
                </a:tc>
                <a:tc>
                  <a:txBody>
                    <a:bodyPr/>
                    <a:lstStyle/>
                    <a:p>
                      <a:r>
                        <a:rPr lang="en-US" sz="1200" dirty="0"/>
                        <a:t>YANGDOCTORS Early review (of -02) by Martin Björklund</a:t>
                      </a:r>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CF87792E-D2F9-941B-C564-FFA7FE8DB78D}"/>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1877027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DB363-D8A8-5600-4493-8EBF33E93F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B38BF-943B-E87B-35FF-EC15CB8E47A9}"/>
              </a:ext>
            </a:extLst>
          </p:cNvPr>
          <p:cNvSpPr>
            <a:spLocks noGrp="1"/>
          </p:cNvSpPr>
          <p:nvPr>
            <p:ph type="title"/>
          </p:nvPr>
        </p:nvSpPr>
        <p:spPr/>
        <p:txBody>
          <a:bodyPr>
            <a:normAutofit/>
          </a:bodyPr>
          <a:lstStyle/>
          <a:p>
            <a:r>
              <a:rPr lang="en-US" sz="2800" b="1" dirty="0"/>
              <a:t>An Architecture for YANG-Push to Message Broker Integration</a:t>
            </a:r>
            <a:br>
              <a:rPr lang="en-US" sz="3600" dirty="0"/>
            </a:br>
            <a:r>
              <a:rPr lang="en-US" sz="2700" dirty="0">
                <a:solidFill>
                  <a:schemeClr val="bg2">
                    <a:lumMod val="75000"/>
                  </a:schemeClr>
                </a:solidFill>
              </a:rPr>
              <a:t>Informative References, State and Reviewers</a:t>
            </a:r>
          </a:p>
        </p:txBody>
      </p:sp>
      <p:sp>
        <p:nvSpPr>
          <p:cNvPr id="8" name="Slide Number Placeholder 1">
            <a:extLst>
              <a:ext uri="{FF2B5EF4-FFF2-40B4-BE49-F238E27FC236}">
                <a16:creationId xmlns:a16="http://schemas.microsoft.com/office/drawing/2014/main" id="{2B59FCFE-20E3-BD78-B5F4-C48AB55E6255}"/>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7</a:t>
            </a:fld>
            <a:endParaRPr lang="en-US" sz="1400" dirty="0"/>
          </a:p>
        </p:txBody>
      </p:sp>
      <p:graphicFrame>
        <p:nvGraphicFramePr>
          <p:cNvPr id="6" name="Table 5">
            <a:extLst>
              <a:ext uri="{FF2B5EF4-FFF2-40B4-BE49-F238E27FC236}">
                <a16:creationId xmlns:a16="http://schemas.microsoft.com/office/drawing/2014/main" id="{4E7CEF41-5DBF-BE8C-3E2D-7F5D56B757D3}"/>
              </a:ext>
            </a:extLst>
          </p:cNvPr>
          <p:cNvGraphicFramePr>
            <a:graphicFrameLocks noGrp="1"/>
          </p:cNvGraphicFramePr>
          <p:nvPr>
            <p:extLst>
              <p:ext uri="{D42A27DB-BD31-4B8C-83A1-F6EECF244321}">
                <p14:modId xmlns:p14="http://schemas.microsoft.com/office/powerpoint/2010/main" val="1670984640"/>
              </p:ext>
            </p:extLst>
          </p:nvPr>
        </p:nvGraphicFramePr>
        <p:xfrm>
          <a:off x="919480" y="1601359"/>
          <a:ext cx="10927079" cy="4038600"/>
        </p:xfrm>
        <a:graphic>
          <a:graphicData uri="http://schemas.openxmlformats.org/drawingml/2006/table">
            <a:tbl>
              <a:tblPr firstRow="1" bandRow="1">
                <a:tableStyleId>{C083E6E3-FA7D-4D7B-A595-EF9225AFEA82}</a:tableStyleId>
              </a:tblPr>
              <a:tblGrid>
                <a:gridCol w="1753468">
                  <a:extLst>
                    <a:ext uri="{9D8B030D-6E8A-4147-A177-3AD203B41FA5}">
                      <a16:colId xmlns:a16="http://schemas.microsoft.com/office/drawing/2014/main" val="862637982"/>
                    </a:ext>
                  </a:extLst>
                </a:gridCol>
                <a:gridCol w="3725470">
                  <a:extLst>
                    <a:ext uri="{9D8B030D-6E8A-4147-A177-3AD203B41FA5}">
                      <a16:colId xmlns:a16="http://schemas.microsoft.com/office/drawing/2014/main" val="3802101120"/>
                    </a:ext>
                  </a:extLst>
                </a:gridCol>
                <a:gridCol w="1893954">
                  <a:extLst>
                    <a:ext uri="{9D8B030D-6E8A-4147-A177-3AD203B41FA5}">
                      <a16:colId xmlns:a16="http://schemas.microsoft.com/office/drawing/2014/main" val="2584922424"/>
                    </a:ext>
                  </a:extLst>
                </a:gridCol>
                <a:gridCol w="3554187">
                  <a:extLst>
                    <a:ext uri="{9D8B030D-6E8A-4147-A177-3AD203B41FA5}">
                      <a16:colId xmlns:a16="http://schemas.microsoft.com/office/drawing/2014/main" val="3508605202"/>
                    </a:ext>
                  </a:extLst>
                </a:gridCol>
              </a:tblGrid>
              <a:tr h="370840">
                <a:tc>
                  <a:txBody>
                    <a:bodyPr/>
                    <a:lstStyle/>
                    <a:p>
                      <a:r>
                        <a:rPr lang="de-CH" dirty="0"/>
                        <a:t>Working Group</a:t>
                      </a:r>
                    </a:p>
                  </a:txBody>
                  <a:tcPr/>
                </a:tc>
                <a:tc>
                  <a:txBody>
                    <a:bodyPr/>
                    <a:lstStyle/>
                    <a:p>
                      <a:r>
                        <a:rPr lang="de-CH" dirty="0" err="1"/>
                        <a:t>Document</a:t>
                      </a:r>
                      <a:r>
                        <a:rPr lang="de-CH" dirty="0"/>
                        <a:t> Name</a:t>
                      </a:r>
                    </a:p>
                  </a:txBody>
                  <a:tcPr/>
                </a:tc>
                <a:tc>
                  <a:txBody>
                    <a:bodyPr/>
                    <a:lstStyle/>
                    <a:p>
                      <a:r>
                        <a:rPr lang="de-CH" dirty="0" err="1"/>
                        <a:t>Document</a:t>
                      </a:r>
                      <a:r>
                        <a:rPr lang="de-CH" dirty="0"/>
                        <a:t> State</a:t>
                      </a:r>
                    </a:p>
                  </a:txBody>
                  <a:tcPr/>
                </a:tc>
                <a:tc>
                  <a:txBody>
                    <a:bodyPr/>
                    <a:lstStyle/>
                    <a:p>
                      <a:r>
                        <a:rPr lang="de-CH" dirty="0"/>
                        <a:t>Reviews</a:t>
                      </a:r>
                    </a:p>
                  </a:txBody>
                  <a:tcPr/>
                </a:tc>
                <a:extLst>
                  <a:ext uri="{0D108BD9-81ED-4DB2-BD59-A6C34878D82A}">
                    <a16:rowId xmlns:a16="http://schemas.microsoft.com/office/drawing/2014/main" val="4040162611"/>
                  </a:ext>
                </a:extLst>
              </a:tr>
              <a:tr h="370840">
                <a:tc>
                  <a:txBody>
                    <a:bodyPr/>
                    <a:lstStyle/>
                    <a:p>
                      <a:r>
                        <a:rPr lang="de-CH" sz="1200" dirty="0"/>
                        <a:t>NETCONF</a:t>
                      </a:r>
                    </a:p>
                  </a:txBody>
                  <a:tcPr/>
                </a:tc>
                <a:tc>
                  <a:txBody>
                    <a:bodyPr/>
                    <a:lstStyle/>
                    <a:p>
                      <a:r>
                        <a:rPr lang="de-CH" sz="1200" dirty="0">
                          <a:hlinkClick r:id="rId2"/>
                        </a:rPr>
                        <a:t>draft-ietf-netconf-udp-notif-23</a:t>
                      </a:r>
                      <a:endParaRPr lang="de-CH" sz="1200" dirty="0"/>
                    </a:p>
                  </a:txBody>
                  <a:tcPr/>
                </a:tc>
                <a:tc>
                  <a:txBody>
                    <a:bodyPr/>
                    <a:lstStyle/>
                    <a:p>
                      <a:r>
                        <a:rPr lang="en-US" sz="1200" dirty="0"/>
                        <a:t>WG Consensus: Waiting for Write-Up</a:t>
                      </a:r>
                      <a:endParaRPr lang="de-CH" sz="1200" dirty="0"/>
                    </a:p>
                  </a:txBody>
                  <a:tcPr/>
                </a:tc>
                <a:tc>
                  <a:txBody>
                    <a:bodyPr/>
                    <a:lstStyle/>
                    <a:p>
                      <a:r>
                        <a:rPr lang="en-US" sz="1200" dirty="0"/>
                        <a:t>OPSDIR Early review (of -21) by Tina Tsou</a:t>
                      </a:r>
                    </a:p>
                    <a:p>
                      <a:r>
                        <a:rPr lang="en-US" sz="1200" dirty="0"/>
                        <a:t>YANGDOCTORS Early review (of -20) by Jürgen Schönwälder</a:t>
                      </a:r>
                    </a:p>
                    <a:p>
                      <a:r>
                        <a:rPr lang="en-US" sz="1200" dirty="0"/>
                        <a:t>TSVART Early review (of -11) by Michael </a:t>
                      </a:r>
                      <a:r>
                        <a:rPr lang="en-US" sz="1200" dirty="0" err="1"/>
                        <a:t>Tüxen</a:t>
                      </a:r>
                      <a:endParaRPr lang="en-US" sz="1200" dirty="0"/>
                    </a:p>
                    <a:p>
                      <a:r>
                        <a:rPr lang="en-US" sz="1200" dirty="0"/>
                        <a:t>TSVART Early Review due 2025-10-23 *</a:t>
                      </a:r>
                    </a:p>
                  </a:txBody>
                  <a:tcPr/>
                </a:tc>
                <a:extLst>
                  <a:ext uri="{0D108BD9-81ED-4DB2-BD59-A6C34878D82A}">
                    <a16:rowId xmlns:a16="http://schemas.microsoft.com/office/drawing/2014/main" val="8811646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3"/>
                        </a:rPr>
                        <a:t>draft-ietf-netconf-udp-client-server-08</a:t>
                      </a:r>
                      <a:endParaRPr lang="de-CH" sz="1200" dirty="0"/>
                    </a:p>
                  </a:txBody>
                  <a:tcPr/>
                </a:tc>
                <a:tc>
                  <a:txBody>
                    <a:bodyPr/>
                    <a:lstStyle/>
                    <a:p>
                      <a:r>
                        <a:rPr lang="en-US" sz="1200" dirty="0"/>
                        <a:t>Publication Requested </a:t>
                      </a:r>
                      <a:endParaRPr lang="de-CH" sz="1200" dirty="0"/>
                    </a:p>
                  </a:txBody>
                  <a:tcPr/>
                </a:tc>
                <a:tc>
                  <a:txBody>
                    <a:bodyPr/>
                    <a:lstStyle/>
                    <a:p>
                      <a:r>
                        <a:rPr lang="en-US" sz="1200" dirty="0"/>
                        <a:t>OPSDIR Early review (of -07) by Ran Chen</a:t>
                      </a:r>
                    </a:p>
                    <a:p>
                      <a:r>
                        <a:rPr lang="en-US" sz="1200" dirty="0"/>
                        <a:t>TSVART Early review (of -06) by Joerg Ott </a:t>
                      </a:r>
                    </a:p>
                    <a:p>
                      <a:r>
                        <a:rPr lang="en-US" sz="1200" dirty="0"/>
                        <a:t>YANGDOCTORS Early review (of -06) by Jürgen Schönwälder</a:t>
                      </a:r>
                    </a:p>
                  </a:txBody>
                  <a:tcPr/>
                </a:tc>
                <a:extLst>
                  <a:ext uri="{0D108BD9-81ED-4DB2-BD59-A6C34878D82A}">
                    <a16:rowId xmlns:a16="http://schemas.microsoft.com/office/drawing/2014/main" val="362267918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NETCONF</a:t>
                      </a:r>
                    </a:p>
                    <a:p>
                      <a:endParaRPr lang="de-CH" sz="1200" dirty="0"/>
                    </a:p>
                  </a:txBody>
                  <a:tcPr/>
                </a:tc>
                <a:tc>
                  <a:txBody>
                    <a:bodyPr/>
                    <a:lstStyle/>
                    <a:p>
                      <a:r>
                        <a:rPr lang="de-CH" sz="1200" dirty="0">
                          <a:hlinkClick r:id="rId4"/>
                        </a:rPr>
                        <a:t>draft-ietf-netconf-distributed-notif-16</a:t>
                      </a:r>
                      <a:endParaRPr lang="de-CH" sz="1200" dirty="0"/>
                    </a:p>
                  </a:txBody>
                  <a:tcPr/>
                </a:tc>
                <a:tc>
                  <a:txBody>
                    <a:bodyPr/>
                    <a:lstStyle/>
                    <a:p>
                      <a:r>
                        <a:rPr lang="en-US" sz="1200" dirty="0"/>
                        <a:t>Waiting for WG Chair Go-Ahead </a:t>
                      </a:r>
                      <a:endParaRPr lang="de-CH" sz="1200" dirty="0"/>
                    </a:p>
                  </a:txBody>
                  <a:tcPr/>
                </a:tc>
                <a:tc>
                  <a:txBody>
                    <a:bodyPr/>
                    <a:lstStyle/>
                    <a:p>
                      <a:r>
                        <a:rPr lang="en-US" sz="1200" dirty="0"/>
                        <a:t>OPSDIR Early review (of -14) by Jürgen Schönwälder</a:t>
                      </a:r>
                    </a:p>
                    <a:p>
                      <a:r>
                        <a:rPr lang="en-US" sz="1200" dirty="0"/>
                        <a:t>YANGDOCTORS Early review (of -13) by Martin Björklund </a:t>
                      </a:r>
                      <a:endParaRPr lang="de-CH" sz="1200" dirty="0"/>
                    </a:p>
                  </a:txBody>
                  <a:tcPr/>
                </a:tc>
                <a:extLst>
                  <a:ext uri="{0D108BD9-81ED-4DB2-BD59-A6C34878D82A}">
                    <a16:rowId xmlns:a16="http://schemas.microsoft.com/office/drawing/2014/main" val="269805555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1200" dirty="0"/>
                        <a:t>NETMOD</a:t>
                      </a:r>
                    </a:p>
                    <a:p>
                      <a:endParaRPr lang="de-CH" sz="1200" dirty="0"/>
                    </a:p>
                  </a:txBody>
                  <a:tcPr/>
                </a:tc>
                <a:tc>
                  <a:txBody>
                    <a:bodyPr/>
                    <a:lstStyle/>
                    <a:p>
                      <a:r>
                        <a:rPr lang="de-CH" sz="1200" dirty="0">
                          <a:hlinkClick r:id="rId5"/>
                        </a:rPr>
                        <a:t>draft-netana-nmop-yang-anydata-validation-01</a:t>
                      </a:r>
                      <a:endParaRPr lang="de-CH" sz="1200" dirty="0"/>
                    </a:p>
                  </a:txBody>
                  <a:tcPr/>
                </a:tc>
                <a:tc>
                  <a:txBody>
                    <a:bodyPr/>
                    <a:lstStyle/>
                    <a:p>
                      <a:r>
                        <a:rPr lang="en-US" sz="1200" dirty="0"/>
                        <a:t>Individual Document</a:t>
                      </a:r>
                      <a:endParaRPr lang="de-CH" sz="1200" dirty="0"/>
                    </a:p>
                  </a:txBody>
                  <a:tcPr/>
                </a:tc>
                <a:tc>
                  <a:txBody>
                    <a:bodyPr/>
                    <a:lstStyle/>
                    <a:p>
                      <a:endParaRPr lang="de-CH" sz="1200" dirty="0"/>
                    </a:p>
                  </a:txBody>
                  <a:tcPr/>
                </a:tc>
                <a:extLst>
                  <a:ext uri="{0D108BD9-81ED-4DB2-BD59-A6C34878D82A}">
                    <a16:rowId xmlns:a16="http://schemas.microsoft.com/office/drawing/2014/main" val="2744993052"/>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2665303605"/>
                  </a:ext>
                </a:extLst>
              </a:tr>
              <a:tr h="370840">
                <a:tc>
                  <a:txBody>
                    <a:bodyPr/>
                    <a:lstStyle/>
                    <a:p>
                      <a:endParaRPr lang="de-CH" sz="1200" dirty="0"/>
                    </a:p>
                  </a:txBody>
                  <a:tcPr/>
                </a:tc>
                <a:tc>
                  <a:txBody>
                    <a:bodyPr/>
                    <a:lstStyle/>
                    <a:p>
                      <a:endParaRPr lang="de-CH" sz="1200" dirty="0"/>
                    </a:p>
                  </a:txBody>
                  <a:tcPr/>
                </a:tc>
                <a:tc>
                  <a:txBody>
                    <a:bodyPr/>
                    <a:lstStyle/>
                    <a:p>
                      <a:endParaRPr lang="de-CH" sz="1200" dirty="0"/>
                    </a:p>
                  </a:txBody>
                  <a:tcPr/>
                </a:tc>
                <a:tc>
                  <a:txBody>
                    <a:bodyPr/>
                    <a:lstStyle/>
                    <a:p>
                      <a:endParaRPr lang="de-CH" sz="1200" dirty="0"/>
                    </a:p>
                  </a:txBody>
                  <a:tcPr/>
                </a:tc>
                <a:extLst>
                  <a:ext uri="{0D108BD9-81ED-4DB2-BD59-A6C34878D82A}">
                    <a16:rowId xmlns:a16="http://schemas.microsoft.com/office/drawing/2014/main" val="157176843"/>
                  </a:ext>
                </a:extLst>
              </a:tr>
            </a:tbl>
          </a:graphicData>
        </a:graphic>
      </p:graphicFrame>
      <p:sp>
        <p:nvSpPr>
          <p:cNvPr id="11" name="Content Placeholder 2">
            <a:extLst>
              <a:ext uri="{FF2B5EF4-FFF2-40B4-BE49-F238E27FC236}">
                <a16:creationId xmlns:a16="http://schemas.microsoft.com/office/drawing/2014/main" id="{5214FD9D-0CC4-FBBB-E1C6-B862B51697A9}"/>
              </a:ext>
            </a:extLst>
          </p:cNvPr>
          <p:cNvSpPr>
            <a:spLocks noGrp="1"/>
          </p:cNvSpPr>
          <p:nvPr>
            <p:ph idx="1"/>
          </p:nvPr>
        </p:nvSpPr>
        <p:spPr>
          <a:xfrm>
            <a:off x="838199" y="6310313"/>
            <a:ext cx="11008359" cy="283528"/>
          </a:xfrm>
        </p:spPr>
        <p:txBody>
          <a:bodyPr>
            <a:noAutofit/>
          </a:bodyPr>
          <a:lstStyle/>
          <a:p>
            <a:pPr marL="0" indent="0">
              <a:buNone/>
            </a:pPr>
            <a:r>
              <a:rPr lang="en-US" sz="1200" dirty="0">
                <a:latin typeface="Calibri Body"/>
              </a:rPr>
              <a:t>* = Currently Ongoing</a:t>
            </a:r>
            <a:endParaRPr lang="en-US" sz="1200" b="1" dirty="0">
              <a:solidFill>
                <a:srgbClr val="FF0000"/>
              </a:solidFill>
              <a:latin typeface="Calibri Body"/>
            </a:endParaRPr>
          </a:p>
        </p:txBody>
      </p:sp>
    </p:spTree>
    <p:extLst>
      <p:ext uri="{BB962C8B-B14F-4D97-AF65-F5344CB8AC3E}">
        <p14:creationId xmlns:p14="http://schemas.microsoft.com/office/powerpoint/2010/main" val="4476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878</Words>
  <Application>Microsoft Office PowerPoint</Application>
  <PresentationFormat>Widescreen</PresentationFormat>
  <Paragraphs>101</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 Body</vt:lpstr>
      <vt:lpstr>Arial</vt:lpstr>
      <vt:lpstr>Calibri</vt:lpstr>
      <vt:lpstr>Calibri Light</vt:lpstr>
      <vt:lpstr>Wingdings</vt:lpstr>
      <vt:lpstr>Office Theme</vt:lpstr>
      <vt:lpstr>PowerPoint Presentation</vt:lpstr>
      <vt:lpstr>An Architecture for YANG-Push to Message Broker Integration Status and Summary from -08</vt:lpstr>
      <vt:lpstr>An Architecture for YANG-Push to Message Broker Integration Status and Summary from -09</vt:lpstr>
      <vt:lpstr>An Architecture for YANG-Push to Message Broker Integration Next Steps</vt:lpstr>
      <vt:lpstr>PowerPoint Presentation</vt:lpstr>
      <vt:lpstr>An Architecture for YANG-Push to Message Broker Integration Normative References, State and Reviewers</vt:lpstr>
      <vt:lpstr>An Architecture for YANG-Push to Message Broker Integration Informative References, State and Reviewers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262</cp:revision>
  <dcterms:created xsi:type="dcterms:W3CDTF">2019-11-29T14:22:02Z</dcterms:created>
  <dcterms:modified xsi:type="dcterms:W3CDTF">2025-10-28T09:11:35Z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