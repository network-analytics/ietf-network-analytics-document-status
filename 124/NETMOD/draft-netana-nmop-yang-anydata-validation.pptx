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1041" r:id="rId2"/>
    <p:sldId id="2145706247" r:id="rId3"/>
    <p:sldId id="2145706245" r:id="rId4"/>
    <p:sldId id="2145706255" r:id="rId5"/>
    <p:sldId id="2145706249" r:id="rId6"/>
    <p:sldId id="2145706248" r:id="rId7"/>
    <p:sldId id="2145706253" r:id="rId8"/>
    <p:sldId id="2145706252" r:id="rId9"/>
    <p:sldId id="2145706246" r:id="rId10"/>
    <p:sldId id="2145706254" r:id="rId11"/>
    <p:sldId id="2145706250" r:id="rId12"/>
    <p:sldId id="2145706251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95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188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705E9-673F-4AC4-B29E-A7B26F3B8523}" type="datetimeFigureOut">
              <a:rPr lang="de-CH" smtClean="0"/>
              <a:t>04.11.2025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BC52A0-2F3F-497F-8536-39D60282E9C2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673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4512-1D3B-4B73-B042-476E6184E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168D7F-8149-41A1-BACA-3AE93B5EB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1F274-2081-4043-A760-EBE78731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E0FFF-3D64-AE4C-B21E-8164A14ED676}" type="datetime1">
              <a:rPr lang="en-US" smtClean="0"/>
              <a:t>11/4/2025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4A492-DE76-49D9-B2D6-119D939A6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59CCC-4F98-451F-BD3B-E72AFDCA6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8582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BBDF6-FBD2-40AF-9486-BB4A908B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C614F-9AF2-40AF-A811-367A6AFA5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87B81-7873-4625-90C6-65B7D39F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B2DFF-1DD4-0B47-83CE-B302059571AE}" type="datetime1">
              <a:rPr lang="en-US" smtClean="0"/>
              <a:t>11/4/2025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62558-7E3E-4F68-94CA-8F448DCC8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E61FB-1357-46F5-903C-1994E98B2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9938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D0C7-725B-4BFF-9522-83239C8F8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7E1048-3DC5-4B9C-899F-DED6314AE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5DBFD-FBBF-4914-87A2-F3A61F56D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18A41-07E7-2046-8C75-182C42941864}" type="datetime1">
              <a:rPr lang="en-US" smtClean="0"/>
              <a:t>11/4/2025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571A4-73D2-444B-9013-7EFE083B1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CFB92-7142-4854-ACC6-4129F01E7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037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36279-2318-4AD6-A5F8-75FAC2F47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0583D-F808-46BC-A112-FEA6430F47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E9A202-30E0-43D7-8764-65A6F84FDD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791E6B-307F-487A-ACE7-95C6B653C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401093-94A1-2B42-8616-46ED1CD9B3F1}" type="datetime1">
              <a:rPr lang="en-US" smtClean="0"/>
              <a:t>11/4/2025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1F60B-CB79-4100-B5DF-1E9EA55C1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93C06A-1F3A-41DA-8ED0-F1B05343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735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37BF-12E0-4609-8885-BA3B61207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6F202-5F12-4652-B24C-DE18E1A33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BF7499-BB9D-474C-80E4-FBDD9AF94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E8ABCD-03D9-487D-A401-5C46542B96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90E7B8-775C-4651-8505-06EEF69C7C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E55546-7C7E-4AE1-B224-70E058A04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8B73F-753B-2546-A37E-DCDE4E92DC19}" type="datetime1">
              <a:rPr lang="en-US" smtClean="0"/>
              <a:t>11/4/2025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87DA8F-0A89-45FF-A3CC-8973287CF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2A632D-9625-4B76-A006-24C009E1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005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2A4D9-592C-47DB-A38B-6773D38A3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F8F040-BDDF-4877-8526-169F2DA14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9C66E-AEC8-C14B-A773-D61AA392B46C}" type="datetime1">
              <a:rPr lang="en-US" smtClean="0"/>
              <a:t>11/4/2025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90B3BB-C496-4AF5-8EB6-7559F47A6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E77DB-3A65-40BB-95CE-131D701F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49343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86202C-9526-41D5-A80B-2DF289677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F3686-E283-7E46-BE67-D9085BAE03C1}" type="datetime1">
              <a:rPr lang="en-US" smtClean="0"/>
              <a:t>11/4/2025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3DB588-08C7-4A6C-AB92-AA66E93D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035E7-88C8-4D96-B785-776340A7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58112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C2E0B-BAAE-488E-8A9B-5E2F97281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C22BD-ADB1-4F08-B9D6-E993F811F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29BCF-9547-4664-BC89-023CF460C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B46FE1-476B-4893-8CD9-264AC97F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642F2-9B96-C84D-B0BE-743BC9EDDE8F}" type="datetime1">
              <a:rPr lang="en-US" smtClean="0"/>
              <a:t>11/4/2025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5B88A-2D78-46C2-BBA5-A7E4B6C77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BCD13-0D0A-4531-9C78-280B19232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489552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2F91-0DE7-463A-B320-CFD88985B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8FAE06-08B0-40A8-8F3E-C20E2667A7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DC7CF-A958-437D-97CD-D3E81DB923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C2DCF7-E5CF-40ED-9C23-5F54FB7C5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B93E5-7C4A-3E47-9794-DC50B46CE2E0}" type="datetime1">
              <a:rPr lang="en-US" smtClean="0"/>
              <a:t>11/4/2025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B598A1-F516-4BF3-A1DB-EFB3FD805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CE8FE-0171-448F-8772-43B1E4122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0261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7D866-2D41-48BC-9DC3-7FEE77BA7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477519-4E02-40D8-8B6A-3A512977D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31AF6-5DD6-4C3B-B500-F46F75D54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46E496-7A7F-AB44-BE3A-2E5AF6A316DE}" type="datetime1">
              <a:rPr lang="en-US" smtClean="0"/>
              <a:t>11/4/2025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992F3-29F5-4955-B2D5-391EC52DB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B107A-54F3-441F-911A-3CD57FDE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4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349AB2-2AB2-43A7-8656-1622691F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3361E9-F971-441C-8CE6-36B5044224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F5765-AAA1-4EBA-9889-B58751F15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378CF-EEE1-8547-A8B5-123A82612740}" type="datetime1">
              <a:rPr lang="en-US" smtClean="0"/>
              <a:t>11/4/2025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360DF-246C-4E18-B36B-092273368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95E4A-A865-4DAD-8AEC-EE7D584D6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5912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CDFDE9-18F4-48C4-A401-3E984B39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7C9F2-47EC-46EF-9DAA-721B9E5EF3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B2DCEB-FFB0-4E16-B62A-C5FBA3476A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62BDD9-8F0A-C04D-9FCE-7BA02685E4FE}" type="datetime1">
              <a:rPr lang="en-US" smtClean="0"/>
              <a:t>11/4/2025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C72CA-B967-43BF-81A8-8AE258386D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67793-ADCE-4178-B0C6-9992EC74B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75956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homas.graf@swisscom.com" TargetMode="External"/><Relationship Id="rId2" Type="http://schemas.openxmlformats.org/officeDocument/2006/relationships/hyperlink" Target="mailto:ahmed.elhassany@swisscom.com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rfc9144" TargetMode="External"/><Relationship Id="rId7" Type="http://schemas.openxmlformats.org/officeDocument/2006/relationships/hyperlink" Target="https://datatracker.ietf.org/doc/html/rfc8040" TargetMode="External"/><Relationship Id="rId2" Type="http://schemas.openxmlformats.org/officeDocument/2006/relationships/hyperlink" Target="https://datatracker.ietf.org/doc/html/rfc8526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atatracker.ietf.org/doc/html/rfc8639" TargetMode="External"/><Relationship Id="rId5" Type="http://schemas.openxmlformats.org/officeDocument/2006/relationships/hyperlink" Target="https://datatracker.ietf.org/doc/html/rfc8072" TargetMode="External"/><Relationship Id="rId4" Type="http://schemas.openxmlformats.org/officeDocument/2006/relationships/hyperlink" Target="https://datatracker.ietf.org/doc/html/rfc8641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tracker.ietf.org/doc/html/draft-ietf-nmop-yang-message-broker-integration-09#section-4.7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SNET/libyang" TargetMode="External"/><Relationship Id="rId2" Type="http://schemas.openxmlformats.org/officeDocument/2006/relationships/hyperlink" Target="https://datatracker.ietf.org/doc/html/rfc7950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atatracker.ietf.org/meeting/124/materials/slides-124-hackathon-sessd-validate-network-telemetry-messages-implementations-00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datatracker.ietf.org/doc/html/rfc8641" TargetMode="External"/><Relationship Id="rId3" Type="http://schemas.openxmlformats.org/officeDocument/2006/relationships/hyperlink" Target="https://datatracker.ietf.org/doc/html/rfc9144" TargetMode="External"/><Relationship Id="rId7" Type="http://schemas.openxmlformats.org/officeDocument/2006/relationships/hyperlink" Target="https://datatracker.ietf.org/doc/html/rfc8072" TargetMode="External"/><Relationship Id="rId2" Type="http://schemas.openxmlformats.org/officeDocument/2006/relationships/hyperlink" Target="https://datatracker.ietf.org/doc/html/rfc8342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atatracker.ietf.org/doc/html/rfc9195" TargetMode="External"/><Relationship Id="rId5" Type="http://schemas.openxmlformats.org/officeDocument/2006/relationships/hyperlink" Target="https://datatracker.ietf.org/doc/html/rfc8639" TargetMode="External"/><Relationship Id="rId10" Type="http://schemas.openxmlformats.org/officeDocument/2006/relationships/hyperlink" Target="https://datatracker.ietf.org/doc/html/rfc8791" TargetMode="External"/><Relationship Id="rId4" Type="http://schemas.openxmlformats.org/officeDocument/2006/relationships/hyperlink" Target="https://datatracker.ietf.org/doc/html/rfc8040" TargetMode="External"/><Relationship Id="rId9" Type="http://schemas.openxmlformats.org/officeDocument/2006/relationships/hyperlink" Target="https://datatracker.ietf.org/doc/html/rfc8532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tracker.ietf.org/doc/html/rfc7950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1">
            <a:extLst>
              <a:ext uri="{FF2B5EF4-FFF2-40B4-BE49-F238E27FC236}">
                <a16:creationId xmlns:a16="http://schemas.microsoft.com/office/drawing/2014/main" id="{C26208B2-0D10-4C23-B2DE-372A62E98644}"/>
              </a:ext>
            </a:extLst>
          </p:cNvPr>
          <p:cNvSpPr txBox="1">
            <a:spLocks/>
          </p:cNvSpPr>
          <p:nvPr/>
        </p:nvSpPr>
        <p:spPr>
          <a:xfrm>
            <a:off x="606830" y="1365772"/>
            <a:ext cx="11395314" cy="32390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400" b="1" dirty="0"/>
              <a:t>Validate </a:t>
            </a:r>
            <a:r>
              <a:rPr lang="en-US" sz="3400" b="1" dirty="0" err="1"/>
              <a:t>anydata</a:t>
            </a:r>
            <a:r>
              <a:rPr lang="en-US" sz="3400" b="1" dirty="0"/>
              <a:t> with YANG Library context</a:t>
            </a:r>
            <a:endParaRPr lang="en-US" sz="2800" dirty="0"/>
          </a:p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</a:rPr>
              <a:t>	draft-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</a:rPr>
              <a:t>netana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</a:rPr>
              <a:t>-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</a:rPr>
              <a:t>nmop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</a:rPr>
              <a:t>-yang-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</a:rPr>
              <a:t>anydata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</a:rPr>
              <a:t>-validation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23057C-339A-4254-8994-8EB77B8B4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de-CH" sz="2200" smtClean="0"/>
              <a:t>1</a:t>
            </a:fld>
            <a:endParaRPr lang="de-CH" sz="2200" dirty="0"/>
          </a:p>
        </p:txBody>
      </p:sp>
      <p:sp>
        <p:nvSpPr>
          <p:cNvPr id="6" name="Subtitle 4">
            <a:extLst>
              <a:ext uri="{FF2B5EF4-FFF2-40B4-BE49-F238E27FC236}">
                <a16:creationId xmlns:a16="http://schemas.microsoft.com/office/drawing/2014/main" id="{6CAA0765-1318-4A03-8F91-D3ECC43D8FA7}"/>
              </a:ext>
            </a:extLst>
          </p:cNvPr>
          <p:cNvSpPr txBox="1">
            <a:spLocks/>
          </p:cNvSpPr>
          <p:nvPr/>
        </p:nvSpPr>
        <p:spPr>
          <a:xfrm>
            <a:off x="838200" y="5145579"/>
            <a:ext cx="11163943" cy="1216058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spcBef>
                <a:spcPts val="300"/>
              </a:spcBef>
              <a:buNone/>
              <a:defRPr sz="1782"/>
            </a:pPr>
            <a:r>
              <a:rPr lang="de-CH" sz="4000" dirty="0">
                <a:latin typeface="+mj-lt"/>
                <a:hlinkClick r:id="rId2"/>
              </a:rPr>
              <a:t>ahmed.elhassany@swisscom.com</a:t>
            </a:r>
            <a:endParaRPr lang="de-CH" sz="4000" dirty="0">
              <a:latin typeface="+mj-lt"/>
            </a:endParaRPr>
          </a:p>
          <a:p>
            <a:pPr marL="0" indent="0" algn="r">
              <a:spcBef>
                <a:spcPts val="300"/>
              </a:spcBef>
              <a:buNone/>
              <a:defRPr sz="1782"/>
            </a:pPr>
            <a:r>
              <a:rPr lang="de-CH" sz="4000" dirty="0">
                <a:latin typeface="+mj-lt"/>
                <a:hlinkClick r:id="rId3"/>
              </a:rPr>
              <a:t>thomas.graf@swisscom.com</a:t>
            </a:r>
            <a:endParaRPr lang="de-CH" sz="4000" dirty="0">
              <a:latin typeface="+mj-lt"/>
            </a:endParaRPr>
          </a:p>
          <a:p>
            <a:pPr marL="0" indent="0" algn="r">
              <a:spcBef>
                <a:spcPts val="300"/>
              </a:spcBef>
              <a:buNone/>
            </a:pPr>
            <a:endParaRPr lang="de-CH" sz="3800" dirty="0">
              <a:latin typeface="+mj-lt"/>
            </a:endParaRPr>
          </a:p>
          <a:p>
            <a:pPr marL="0" indent="0" algn="r">
              <a:spcBef>
                <a:spcPts val="300"/>
              </a:spcBef>
              <a:buNone/>
            </a:pPr>
            <a:r>
              <a:rPr lang="de-CH" sz="3800" dirty="0">
                <a:latin typeface="+mj-lt"/>
              </a:rPr>
              <a:t>07. </a:t>
            </a:r>
            <a:r>
              <a:rPr lang="de-CH" sz="3800" dirty="0">
                <a:latin typeface="+mj-lt"/>
                <a:ea typeface="+mj-ea"/>
                <a:cs typeface="+mj-cs"/>
              </a:rPr>
              <a:t>Nov. 2025</a:t>
            </a:r>
            <a:endParaRPr lang="de-CH" sz="3800" dirty="0">
              <a:latin typeface="+mj-lt"/>
            </a:endParaRPr>
          </a:p>
          <a:p>
            <a:pPr algn="r"/>
            <a:endParaRPr lang="de-CH" sz="2200" dirty="0"/>
          </a:p>
        </p:txBody>
      </p:sp>
    </p:spTree>
    <p:extLst>
      <p:ext uri="{BB962C8B-B14F-4D97-AF65-F5344CB8AC3E}">
        <p14:creationId xmlns:p14="http://schemas.microsoft.com/office/powerpoint/2010/main" val="3578665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32457-A747-2175-1ED7-932213C7D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400A0-9B11-68F1-E192-C39E9EF18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39226" cy="3636712"/>
          </a:xfrm>
        </p:spPr>
        <p:txBody>
          <a:bodyPr>
            <a:normAutofit lnSpcReduction="10000"/>
          </a:bodyPr>
          <a:lstStyle/>
          <a:p>
            <a:r>
              <a:rPr lang="en-US" sz="2200" dirty="0"/>
              <a:t>Today, YANG data semantics under </a:t>
            </a:r>
            <a:r>
              <a:rPr lang="en-US" sz="2200" i="1" dirty="0" err="1"/>
              <a:t>anydata</a:t>
            </a:r>
            <a:r>
              <a:rPr lang="en-US" sz="2200" dirty="0"/>
              <a:t> subtree cannot be validated to assure data integrity.</a:t>
            </a:r>
          </a:p>
          <a:p>
            <a:r>
              <a:rPr lang="en-US" sz="2200" dirty="0"/>
              <a:t>As example on the right, a network node publishing notifications in YANG-Push with a negative value for a counter type.</a:t>
            </a:r>
          </a:p>
          <a:p>
            <a:r>
              <a:rPr lang="en-US" sz="2200" dirty="0"/>
              <a:t>Since </a:t>
            </a:r>
            <a:r>
              <a:rPr lang="en-US" sz="2200" dirty="0" err="1"/>
              <a:t>anydata</a:t>
            </a:r>
            <a:r>
              <a:rPr lang="en-US" sz="2200" dirty="0"/>
              <a:t> is used for publishing YANG data in notifications, subscribed YANG data can't be validated, and therefore YANG data processing chain can't be fully automated. This impacts YANG industry adoption.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BC2F7C-C714-0A8E-29FC-6591664417A7}"/>
              </a:ext>
            </a:extLst>
          </p:cNvPr>
          <p:cNvSpPr txBox="1"/>
          <p:nvPr/>
        </p:nvSpPr>
        <p:spPr>
          <a:xfrm>
            <a:off x="6532880" y="2641600"/>
            <a:ext cx="5181600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  "</a:t>
            </a:r>
            <a:r>
              <a:rPr lang="en-US" sz="1600" dirty="0" err="1">
                <a:solidFill>
                  <a:srgbClr val="0451A5"/>
                </a:solidFill>
                <a:latin typeface="Menlo" panose="020B0609030804020204" pitchFamily="49" charset="0"/>
              </a:rPr>
              <a:t>ietf-yang-push:push-update</a:t>
            </a:r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": {</a:t>
            </a:r>
          </a:p>
          <a:p>
            <a:r>
              <a:rPr lang="en-US" sz="16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"id"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89</a:t>
            </a:r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,</a:t>
            </a:r>
            <a:endParaRPr lang="en-US" sz="16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   "datastore-contents": {</a:t>
            </a:r>
          </a:p>
          <a:p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    "</a:t>
            </a:r>
            <a:r>
              <a:rPr lang="en-US" sz="1600" dirty="0" err="1">
                <a:solidFill>
                  <a:srgbClr val="0451A5"/>
                </a:solidFill>
                <a:latin typeface="Menlo" panose="020B0609030804020204" pitchFamily="49" charset="0"/>
              </a:rPr>
              <a:t>ietf-interfaces:interfaces</a:t>
            </a:r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": {</a:t>
            </a:r>
          </a:p>
          <a:p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    "interface": [</a:t>
            </a:r>
          </a:p>
          <a:p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      {</a:t>
            </a:r>
          </a:p>
          <a:p>
            <a:r>
              <a:rPr lang="en-US" sz="16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  "name"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eth0</a:t>
            </a:r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",</a:t>
            </a:r>
          </a:p>
          <a:p>
            <a:r>
              <a:rPr lang="en-US" sz="16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US" sz="1600" b="0" dirty="0">
                <a:solidFill>
                  <a:schemeClr val="accent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"statistics": </a:t>
            </a:r>
            <a:r>
              <a:rPr lang="en-US" sz="1600" b="0" dirty="0">
                <a:effectLst/>
                <a:highlight>
                  <a:srgbClr val="FF0000"/>
                </a:highlight>
                <a:latin typeface="Menlo" panose="020B0609030804020204" pitchFamily="49" charset="0"/>
              </a:rPr>
              <a:t>{</a:t>
            </a:r>
            <a:r>
              <a:rPr lang="en-US" sz="1600" dirty="0">
                <a:highlight>
                  <a:srgbClr val="FF0000"/>
                </a:highlight>
                <a:latin typeface="Menlo" panose="020B0609030804020204" pitchFamily="49" charset="0"/>
              </a:rPr>
              <a:t>"in-octets": -10}</a:t>
            </a:r>
            <a:endParaRPr lang="en-US" sz="1600" b="0" dirty="0">
              <a:effectLst/>
              <a:highlight>
                <a:srgbClr val="FF0000"/>
              </a:highlight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      }]</a:t>
            </a:r>
          </a:p>
          <a:p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    }}</a:t>
            </a:r>
          </a:p>
          <a:p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  }</a:t>
            </a:r>
          </a:p>
          <a:p>
            <a:r>
              <a:rPr lang="en-US" sz="1600" dirty="0">
                <a:solidFill>
                  <a:srgbClr val="0451A5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CC4DF-C318-6BBB-BA53-10A5D9176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2</a:t>
            </a:fld>
            <a:endParaRPr lang="de-C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8D788D-D13B-CEF7-CA21-E435E02F9637}"/>
              </a:ext>
            </a:extLst>
          </p:cNvPr>
          <p:cNvSpPr txBox="1"/>
          <p:nvPr/>
        </p:nvSpPr>
        <p:spPr>
          <a:xfrm>
            <a:off x="6783233" y="5950081"/>
            <a:ext cx="5046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Router is sending negative value for yang:counter64</a:t>
            </a:r>
          </a:p>
        </p:txBody>
      </p:sp>
    </p:spTree>
    <p:extLst>
      <p:ext uri="{BB962C8B-B14F-4D97-AF65-F5344CB8AC3E}">
        <p14:creationId xmlns:p14="http://schemas.microsoft.com/office/powerpoint/2010/main" val="29409655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C9737-6AB4-C20A-5303-4A1954E11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Survey of existing use of “</a:t>
            </a:r>
            <a:r>
              <a:rPr lang="en-US" b="1" i="1" dirty="0" err="1"/>
              <a:t>anydata</a:t>
            </a:r>
            <a:r>
              <a:rPr lang="en-US" b="1" dirty="0"/>
              <a:t>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39CAC-AD37-E803-B212-EA599ADCC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/>
              <a:t>Operations on a YANG datastore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/>
              <a:t>A NETCONF subtree filter to select a subtree on an instantiated YANG data tree; </a:t>
            </a:r>
            <a:r>
              <a:rPr lang="en-US" sz="2200" dirty="0">
                <a:hlinkClick r:id="rId2"/>
              </a:rPr>
              <a:t>RFC 8526</a:t>
            </a:r>
            <a:r>
              <a:rPr lang="en-US" sz="2200" dirty="0"/>
              <a:t>, </a:t>
            </a:r>
            <a:r>
              <a:rPr lang="en-US" sz="2200" dirty="0">
                <a:hlinkClick r:id="rId3"/>
              </a:rPr>
              <a:t>RFC 9144</a:t>
            </a:r>
            <a:r>
              <a:rPr lang="en-US" sz="2200" dirty="0"/>
              <a:t>, and </a:t>
            </a:r>
            <a:r>
              <a:rPr lang="en-US" sz="2200" dirty="0">
                <a:hlinkClick r:id="rId4"/>
              </a:rPr>
              <a:t>RFC 8641</a:t>
            </a:r>
            <a:r>
              <a:rPr lang="en-US" sz="2200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/>
              <a:t>The output of a subtree filter or XPATH; </a:t>
            </a:r>
            <a:r>
              <a:rPr lang="en-US" sz="2200" dirty="0">
                <a:hlinkClick r:id="rId2"/>
              </a:rPr>
              <a:t>RFC 8526</a:t>
            </a:r>
            <a:r>
              <a:rPr lang="en-US" sz="2200" dirty="0"/>
              <a:t>, </a:t>
            </a:r>
            <a:r>
              <a:rPr lang="en-US" sz="2200" dirty="0">
                <a:hlinkClick r:id="rId3"/>
              </a:rPr>
              <a:t>RFC 9144</a:t>
            </a:r>
            <a:r>
              <a:rPr lang="en-US" sz="2200" dirty="0"/>
              <a:t>, and </a:t>
            </a:r>
            <a:r>
              <a:rPr lang="en-US" sz="2200" dirty="0">
                <a:hlinkClick r:id="rId4"/>
              </a:rPr>
              <a:t>RFC 8641</a:t>
            </a:r>
            <a:r>
              <a:rPr lang="en-US" sz="2200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/>
              <a:t>To represent edit operations on YANG data tree with YANG Patch; </a:t>
            </a:r>
            <a:r>
              <a:rPr lang="en-US" sz="2200" dirty="0">
                <a:hlinkClick r:id="rId5"/>
              </a:rPr>
              <a:t>RFC 8072</a:t>
            </a:r>
            <a:r>
              <a:rPr lang="en-US" sz="2200" dirty="0"/>
              <a:t>.</a:t>
            </a:r>
          </a:p>
          <a:p>
            <a:r>
              <a:rPr lang="en-US" sz="2200" dirty="0"/>
              <a:t>Represent a YANG-like data tree (RFCs were not very clear)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/>
              <a:t>Subscribed notifications in </a:t>
            </a:r>
            <a:r>
              <a:rPr lang="en-US" sz="2200" dirty="0">
                <a:hlinkClick r:id="rId6"/>
              </a:rPr>
              <a:t>RFC 8639</a:t>
            </a:r>
            <a:r>
              <a:rPr lang="en-US" sz="2200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/>
              <a:t>Error information in RESTCONF </a:t>
            </a:r>
            <a:r>
              <a:rPr lang="en-US" sz="2200" dirty="0">
                <a:hlinkClick r:id="rId7"/>
              </a:rPr>
              <a:t>RFC 8040</a:t>
            </a:r>
            <a:r>
              <a:rPr lang="en-US" sz="22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1ACDF-7CEC-9292-1BF9-677CBAE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7539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BD4A7-CCB3-633E-4578-11E5C2F09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391FB-F8E7-1D72-0126-4792BE6FD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goals of this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785D3-B70C-AA27-E20D-55228F44B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/>
              <a:t>Enable automatic YANG data processing at scale. </a:t>
            </a:r>
          </a:p>
          <a:p>
            <a:r>
              <a:rPr lang="en-US" sz="2200" dirty="0"/>
              <a:t>Provide an optional way to validate subscribed and published YANG data in notifications.</a:t>
            </a:r>
          </a:p>
          <a:p>
            <a:r>
              <a:rPr lang="en-US" sz="2200" dirty="0"/>
              <a:t>YANG data consumers as in </a:t>
            </a:r>
            <a:r>
              <a:rPr lang="en-US" sz="2200" dirty="0">
                <a:hlinkClick r:id="rId2"/>
              </a:rPr>
              <a:t>Section 4.7 of draft-</a:t>
            </a:r>
            <a:r>
              <a:rPr lang="en-US" sz="2200" dirty="0" err="1">
                <a:hlinkClick r:id="rId2"/>
              </a:rPr>
              <a:t>ietf</a:t>
            </a:r>
            <a:r>
              <a:rPr lang="en-US" sz="2200" dirty="0">
                <a:hlinkClick r:id="rId2"/>
              </a:rPr>
              <a:t>-</a:t>
            </a:r>
            <a:r>
              <a:rPr lang="en-US" sz="2200" dirty="0" err="1">
                <a:hlinkClick r:id="rId2"/>
              </a:rPr>
              <a:t>nmop</a:t>
            </a:r>
            <a:r>
              <a:rPr lang="en-US" sz="2200" dirty="0">
                <a:hlinkClick r:id="rId2"/>
              </a:rPr>
              <a:t>-yang-message-broker-integration </a:t>
            </a:r>
            <a:r>
              <a:rPr lang="en-US" sz="2200" dirty="0"/>
              <a:t>can choose to enable or disable stricter validation in </a:t>
            </a:r>
            <a:r>
              <a:rPr lang="en-US" sz="2200" dirty="0" err="1"/>
              <a:t>anydata</a:t>
            </a:r>
            <a:r>
              <a:rPr lang="en-US" sz="2200" dirty="0"/>
              <a:t> subtrees.</a:t>
            </a:r>
          </a:p>
          <a:p>
            <a:r>
              <a:rPr lang="en-US" sz="2200" dirty="0"/>
              <a:t>Data marked as invalid can be processed by a different data processing pipeline (e.g., logging for further analysis) and therefore not impacting the main business logic with misbehaving YANG data.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pPr marL="457200" lvl="1" indent="0">
              <a:buNone/>
            </a:pPr>
            <a:endParaRPr lang="en-US" sz="2200" dirty="0"/>
          </a:p>
          <a:p>
            <a:pPr marL="457200" lvl="1" indent="0">
              <a:buNone/>
            </a:pP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FE1C46-0A0E-0AEC-2F99-BBB3C9F26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0324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B6604-31EA-E422-08FF-CBE94AC1B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YANG Library look 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D573A-5BCE-783A-C1A4-2F3826F88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5</a:t>
            </a:fld>
            <a:endParaRPr lang="de-CH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8B957C-A2A1-5D2F-0276-1FEA133C5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3608851" cy="4351338"/>
          </a:xfrm>
        </p:spPr>
        <p:txBody>
          <a:bodyPr>
            <a:noAutofit/>
          </a:bodyPr>
          <a:lstStyle/>
          <a:p>
            <a:r>
              <a:rPr lang="en-US" sz="2200" dirty="0"/>
              <a:t>The namespace of the encoded data nodes under </a:t>
            </a:r>
            <a:r>
              <a:rPr lang="en-US" sz="2200" i="1" dirty="0" err="1"/>
              <a:t>anydata</a:t>
            </a:r>
            <a:r>
              <a:rPr lang="en-US" sz="2200" dirty="0"/>
              <a:t> can be looked up in a YANG Library context.</a:t>
            </a:r>
          </a:p>
          <a:p>
            <a:r>
              <a:rPr lang="en-US" sz="2200" dirty="0"/>
              <a:t>This approach </a:t>
            </a:r>
            <a:r>
              <a:rPr lang="en-US" sz="2200" b="1" dirty="0"/>
              <a:t>DOES NOT </a:t>
            </a:r>
            <a:r>
              <a:rPr lang="en-US" sz="2200" dirty="0"/>
              <a:t>restrict what a producer can put under </a:t>
            </a:r>
            <a:r>
              <a:rPr lang="en-US" sz="2200" i="1" dirty="0" err="1"/>
              <a:t>anydata</a:t>
            </a:r>
            <a:r>
              <a:rPr lang="en-US" sz="2200" dirty="0"/>
              <a:t> subtree.</a:t>
            </a:r>
          </a:p>
          <a:p>
            <a:r>
              <a:rPr lang="en-US" sz="2200" dirty="0"/>
              <a:t>It only checks whatever subtree under the </a:t>
            </a:r>
            <a:r>
              <a:rPr lang="en-US" sz="2200" i="1" dirty="0" err="1"/>
              <a:t>anydata</a:t>
            </a:r>
            <a:r>
              <a:rPr lang="en-US" sz="2200" dirty="0"/>
              <a:t> have a corresponding schema and it is valid according to 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A3138-7E07-9E3C-D2D3-1CC74A55A0AC}"/>
              </a:ext>
            </a:extLst>
          </p:cNvPr>
          <p:cNvSpPr txBox="1"/>
          <p:nvPr/>
        </p:nvSpPr>
        <p:spPr>
          <a:xfrm>
            <a:off x="4744277" y="1690688"/>
            <a:ext cx="8314794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sz="1400" b="0" dirty="0" err="1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ietf-yang-library:yang-library</a:t>
            </a:r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{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"module-set"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[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{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"name"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"complete"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"module"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[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</a:t>
            </a:r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"name"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"yang"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</a:t>
            </a:r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"revision"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"2022-06-16"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        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451A5"/>
                </a:solidFill>
                <a:effectLst/>
                <a:uLnTx/>
                <a:uFillTx/>
                <a:latin typeface="Menlo" panose="020B0609030804020204" pitchFamily="49" charset="0"/>
                <a:ea typeface="+mn-ea"/>
                <a:cs typeface="+mn-cs"/>
              </a:rPr>
              <a:t>"</a:t>
            </a:r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namespace"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"urn:ietf:params:xml:ns:yang:1"</a:t>
            </a:r>
            <a:endParaRPr lang="en-US" sz="14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{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   </a:t>
            </a:r>
            <a:r>
              <a:rPr lang="en-US" sz="1400" b="0" dirty="0">
                <a:solidFill>
                  <a:srgbClr val="0451A5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"name"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: </a:t>
            </a:r>
            <a:r>
              <a:rPr lang="en-US" sz="1400" b="0" dirty="0">
                <a:solidFill>
                  <a:srgbClr val="A31515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ietf</a:t>
            </a:r>
            <a:r>
              <a:rPr lang="en-US" sz="1400" b="0" dirty="0">
                <a:solidFill>
                  <a:srgbClr val="A31515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-interfaces"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   "revision"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"2018-02-20"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   </a:t>
            </a:r>
            <a:r>
              <a:rPr lang="en-US" sz="1400" b="0" dirty="0">
                <a:solidFill>
                  <a:srgbClr val="0451A5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"namespace"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: </a:t>
            </a:r>
            <a:r>
              <a:rPr lang="en-US" sz="1400" b="0" dirty="0">
                <a:solidFill>
                  <a:srgbClr val="A31515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urn:ietf:params:xml:ns:yang:ietf-interfaces</a:t>
            </a:r>
            <a:r>
              <a:rPr lang="en-US" sz="1400" b="0" dirty="0">
                <a:solidFill>
                  <a:srgbClr val="A31515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   "location"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[</a:t>
            </a:r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"file://ietf-interfaces@2018-02-20.yang"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],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   "feature"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[</a:t>
            </a:r>
          </a:p>
          <a:p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           "arbitrary-names"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           "pre-provisioning"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           "if-mib"</a:t>
            </a:r>
            <a:endParaRPr lang="en-US" sz="14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] 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},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   …</a:t>
            </a:r>
            <a:endParaRPr lang="en-US" sz="14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4975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853C5-22E4-EE06-022A-30E3A512A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Changes since IETF 123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9A7D2-4B5A-C400-0506-00A6A8140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200" dirty="0"/>
              <a:t>Clarify the problem statement and the impact of having unvalidated </a:t>
            </a:r>
            <a:r>
              <a:rPr lang="en-US" sz="2200" i="1" dirty="0" err="1"/>
              <a:t>anydata</a:t>
            </a:r>
            <a:r>
              <a:rPr lang="en-US" sz="2200" dirty="0"/>
              <a:t> subtrees.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200" dirty="0"/>
              <a:t>A survey of existing usage of </a:t>
            </a:r>
            <a:r>
              <a:rPr lang="en-US" sz="2200" i="1" dirty="0" err="1"/>
              <a:t>anydata</a:t>
            </a:r>
            <a:r>
              <a:rPr lang="en-US" sz="2200" dirty="0"/>
              <a:t> within IETF documents.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5C7D24-E6EE-095C-F27A-33CF6EC22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08411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C7C5E-D041-8EA2-3522-62657B507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F9A991-4662-2C8E-C0D6-8E45735A3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Current </a:t>
            </a:r>
            <a:r>
              <a:rPr lang="en-US" dirty="0">
                <a:hlinkClick r:id="rId2"/>
              </a:rPr>
              <a:t>libyang </a:t>
            </a:r>
            <a:r>
              <a:rPr lang="en-US" dirty="0"/>
              <a:t>implementation disables strict parsing in </a:t>
            </a:r>
            <a:r>
              <a:rPr lang="en-US" dirty="0" err="1"/>
              <a:t>anydata</a:t>
            </a:r>
            <a:r>
              <a:rPr lang="en-US" dirty="0"/>
              <a:t> subtree. Implementing this document would require to change this behavior with an optional flag and use strict validation always.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AF65B-E954-D669-5A4E-74461FFA5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7</a:t>
            </a:fld>
            <a:endParaRPr lang="de-C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D53310-D029-63B0-1B45-CB61DF9A4B87}"/>
              </a:ext>
            </a:extLst>
          </p:cNvPr>
          <p:cNvSpPr txBox="1"/>
          <p:nvPr/>
        </p:nvSpPr>
        <p:spPr>
          <a:xfrm>
            <a:off x="1106556" y="3373557"/>
            <a:ext cx="9978887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diff --git a/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src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parser_xml.c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b/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src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parser_xml.c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index 5d97c8e49..6938d3712 100644</a:t>
            </a:r>
          </a:p>
          <a:p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--- a/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src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parser_xml.c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+++ b/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src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parser_xml.c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@@ -931,7 +931,7 @@ 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lydxml_subtree_any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(struct 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lyd_xml_ctx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*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lydctx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const struct 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lysc_node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*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snode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co</a:t>
            </a:r>
          </a:p>
          <a:p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LY_CHECK_ERR_GOTO(r, 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rc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r, cleanup);</a:t>
            </a:r>
          </a:p>
          <a:p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/* update options so that generic data can be parsed */</a:t>
            </a:r>
          </a:p>
          <a:p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        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lydctx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-&gt;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parse_opts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&amp;= ~LYD_PARSE_STRICT;</a:t>
            </a:r>
          </a:p>
          <a:p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+        //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lydctx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-&gt;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parse_opts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&amp;= ~LYD_PARSE_STRICT;</a:t>
            </a:r>
          </a:p>
          <a:p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lydctx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-&gt;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parse_opts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|= LYD_PARSE_OPAQ | (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ext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? LYD_PARSE_ONLY : 0);</a:t>
            </a:r>
          </a:p>
          <a:p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lydctx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-&gt;</a:t>
            </a:r>
            <a:r>
              <a:rPr lang="en-US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int_opts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|= LYD_INTOPT_ANY | LYD_INTOPT_WITH_SIBLINGS;</a:t>
            </a:r>
          </a:p>
        </p:txBody>
      </p:sp>
    </p:spTree>
    <p:extLst>
      <p:ext uri="{BB962C8B-B14F-4D97-AF65-F5344CB8AC3E}">
        <p14:creationId xmlns:p14="http://schemas.microsoft.com/office/powerpoint/2010/main" val="561503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4BB0C-D0A2-EA7A-0176-44C7ECAB6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and next steps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954DF-7793-236C-7442-ECF777AA7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clarified with NMOP, NETMOD chairs and Mahesh as OPS Area AD which working group would apply. Since the document proposes an update to </a:t>
            </a:r>
            <a:r>
              <a:rPr lang="en-US" dirty="0">
                <a:hlinkClick r:id="rId2"/>
              </a:rPr>
              <a:t>RFC 7950</a:t>
            </a:r>
            <a:r>
              <a:rPr lang="en-US" dirty="0"/>
              <a:t>, NETMOD would be the target working group according to Mahesh. 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-&gt; Therefore, we request NETMOD working group adoption</a:t>
            </a:r>
          </a:p>
          <a:p>
            <a:r>
              <a:rPr lang="en-US" dirty="0"/>
              <a:t>Extend the</a:t>
            </a:r>
            <a:r>
              <a:rPr lang="en-US" dirty="0">
                <a:hlinkClick r:id="rId3"/>
              </a:rPr>
              <a:t> libyang </a:t>
            </a:r>
            <a:r>
              <a:rPr lang="en-US" dirty="0"/>
              <a:t>implementation to support complete validation and test in upcoming IETF 125 hackathon (See: </a:t>
            </a:r>
            <a:r>
              <a:rPr lang="en-US" dirty="0">
                <a:hlinkClick r:id="rId4"/>
              </a:rPr>
              <a:t>Validate Network Telemetry Messages Implementations at IETF 124 hackathon</a:t>
            </a:r>
            <a:r>
              <a:rPr lang="en-US" dirty="0"/>
              <a:t>).</a:t>
            </a:r>
          </a:p>
          <a:p>
            <a:r>
              <a:rPr lang="en-US" dirty="0"/>
              <a:t>Push changes to </a:t>
            </a:r>
            <a:r>
              <a:rPr lang="en-US" dirty="0">
                <a:hlinkClick r:id="rId3"/>
              </a:rPr>
              <a:t>libyang</a:t>
            </a:r>
            <a:r>
              <a:rPr lang="en-US" dirty="0"/>
              <a:t> and make them accessible via </a:t>
            </a:r>
            <a:r>
              <a:rPr lang="en-US" dirty="0" err="1"/>
              <a:t>yanglint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9BDC7-C2AB-D199-D275-CB8F7AA27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85470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C9737-6AB4-C20A-5303-4A1954E11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Where </a:t>
            </a:r>
            <a:r>
              <a:rPr lang="en-US" sz="4400" dirty="0" err="1"/>
              <a:t>anydata</a:t>
            </a:r>
            <a:r>
              <a:rPr lang="en-US" sz="4400" dirty="0"/>
              <a:t> is currently used?</a:t>
            </a:r>
            <a:br>
              <a:rPr lang="en-US" sz="4400" dirty="0"/>
            </a:br>
            <a:r>
              <a:rPr lang="en-US" sz="3300" dirty="0">
                <a:solidFill>
                  <a:schemeClr val="bg2">
                    <a:lumMod val="75000"/>
                  </a:schemeClr>
                </a:solidFill>
              </a:rPr>
              <a:t>incomplete list</a:t>
            </a:r>
            <a:endParaRPr lang="en-US" sz="33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39CAC-AD37-E803-B212-EA599ADCC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  <a:hlinkClick r:id="rId2"/>
              </a:rPr>
              <a:t>RFC 8342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ietf-netconf-nmda</a:t>
            </a:r>
            <a:endParaRPr lang="en-US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lvl="1"/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  <a:hlinkClick r:id="rId3"/>
              </a:rPr>
              <a:t>RFC 9144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ietf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nmda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-compare</a:t>
            </a:r>
          </a:p>
          <a:p>
            <a:pPr lvl="1"/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  <a:hlinkClick r:id="rId4"/>
              </a:rPr>
              <a:t>RFC 8040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ietf-restconf</a:t>
            </a:r>
            <a:endParaRPr lang="en-US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lvl="1"/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  <a:hlinkClick r:id="rId5"/>
              </a:rPr>
              <a:t>RFC 8639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 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ietf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-subscribed-notifications</a:t>
            </a:r>
          </a:p>
          <a:p>
            <a:pPr lvl="1"/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  <a:hlinkClick r:id="rId6"/>
              </a:rPr>
              <a:t>RFC 9195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 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ietf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-yang-instance-data</a:t>
            </a:r>
          </a:p>
          <a:p>
            <a:pPr lvl="1"/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  <a:hlinkClick r:id="rId7"/>
              </a:rPr>
              <a:t>RFC 8072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ietf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-yang-patch</a:t>
            </a:r>
          </a:p>
          <a:p>
            <a:pPr lvl="1"/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  <a:hlinkClick r:id="rId8"/>
              </a:rPr>
              <a:t>RFC 8641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: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ietf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-yang-push</a:t>
            </a:r>
          </a:p>
          <a:p>
            <a:pPr lvl="1"/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  <a:hlinkClick r:id="rId9"/>
              </a:rPr>
              <a:t>RFC 8532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ietf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-connectionless-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oam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(uses yang mount)</a:t>
            </a: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pPr lvl="1"/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  <a:hlinkClick r:id="rId10"/>
              </a:rPr>
              <a:t>RFC 8791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any YANG data structure is encoded the same way as 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anydata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node.</a:t>
            </a:r>
          </a:p>
          <a:p>
            <a:pPr marL="457200" lvl="1" indent="0">
              <a:buNone/>
            </a:pPr>
            <a:endParaRPr lang="en-US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56BAB0-07B6-E1DA-EC5B-C7722692C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41574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FA69D-35F5-934D-59EE-1274069EF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AF8A5-1793-CFB0-F2B8-471335733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6E1766-B7B9-ACD1-2629-7F800AD99E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RFC 7950</a:t>
            </a:r>
            <a:r>
              <a:rPr lang="en-US" dirty="0"/>
              <a:t>: The YANG 1.1 Data Modeling Language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The "</a:t>
            </a:r>
            <a:r>
              <a:rPr lang="en-US" dirty="0" err="1"/>
              <a:t>anydata</a:t>
            </a:r>
            <a:r>
              <a:rPr lang="en-US" dirty="0"/>
              <a:t>" statement is used to represent an unknown set of nodes that can be modeled with YANG, except </a:t>
            </a:r>
            <a:r>
              <a:rPr lang="en-US" dirty="0" err="1"/>
              <a:t>anyxml</a:t>
            </a:r>
            <a:r>
              <a:rPr lang="en-US" dirty="0"/>
              <a:t>, but for which </a:t>
            </a:r>
            <a:r>
              <a:rPr lang="en-US" dirty="0">
                <a:solidFill>
                  <a:srgbClr val="FF0000"/>
                </a:solidFill>
              </a:rPr>
              <a:t>the data model is not known at module design time</a:t>
            </a:r>
            <a:r>
              <a:rPr lang="en-US" dirty="0"/>
              <a:t>. It is possible for the data model, though not required, for </a:t>
            </a:r>
            <a:r>
              <a:rPr lang="en-US" dirty="0" err="1"/>
              <a:t>anydata</a:t>
            </a:r>
            <a:r>
              <a:rPr lang="en-US" dirty="0"/>
              <a:t> content to become </a:t>
            </a:r>
            <a:r>
              <a:rPr lang="en-US" dirty="0">
                <a:solidFill>
                  <a:srgbClr val="FF0000"/>
                </a:solidFill>
              </a:rPr>
              <a:t>known through protocol signaling or other means that are outside the scope of this document</a:t>
            </a:r>
            <a:r>
              <a:rPr lang="en-US" dirty="0"/>
              <a:t>.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AA763-010B-C831-E7C4-D56D84F23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080153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C9737-6AB4-C20A-5303-4A1954E11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RFC 8525 YANG Library</a:t>
            </a:r>
            <a:endParaRPr lang="en-US" sz="33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39CAC-AD37-E803-B212-EA599ADCC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US" dirty="0"/>
              <a:t>YANG Library provides information about the YANG modules, datastores, and datastore schemas used by a network management server.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765F7F-014D-1DED-D3EC-88B6FB888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11</a:t>
            </a:fld>
            <a:endParaRPr lang="de-C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CC53CD-E9E5-6AFF-7547-C2C5CB7AC522}"/>
              </a:ext>
            </a:extLst>
          </p:cNvPr>
          <p:cNvSpPr txBox="1"/>
          <p:nvPr/>
        </p:nvSpPr>
        <p:spPr>
          <a:xfrm>
            <a:off x="2061661" y="2649521"/>
            <a:ext cx="858172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sz="1400" b="0" dirty="0" err="1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ietf-yang-library:yang-library</a:t>
            </a:r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{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"module-set"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[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{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"name"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"complete"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"module"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[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{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   "name"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ietf</a:t>
            </a:r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-interfaces"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   "revision"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"2018-02-20"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   "namespace"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urn:ietf:params:xml:ns:yang:ietf-interfaces</a:t>
            </a:r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   "location"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[</a:t>
            </a:r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"file://ietf-interfaces@2018-02-20.yang"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],</a:t>
            </a:r>
          </a:p>
          <a:p>
            <a:r>
              <a:rPr lang="en-US" sz="14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   "feature"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[</a:t>
            </a:r>
          </a:p>
          <a:p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           "arbitrary-names"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           "pre-provisioning"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           "if-mib"</a:t>
            </a:r>
            <a:endParaRPr lang="en-US" sz="14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 ] 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},</a:t>
            </a:r>
          </a:p>
          <a:p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</a:rPr>
              <a:t>    …</a:t>
            </a:r>
            <a:endParaRPr lang="en-US" sz="14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6640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853C5-22E4-EE06-022A-30E3A512A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YANG Data encodings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5C7D24-E6EE-095C-F27A-33CF6EC22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12</a:t>
            </a:fld>
            <a:endParaRPr lang="de-C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17F107-6DEB-7423-0A82-B52FEF90118D}"/>
              </a:ext>
            </a:extLst>
          </p:cNvPr>
          <p:cNvSpPr txBox="1"/>
          <p:nvPr/>
        </p:nvSpPr>
        <p:spPr>
          <a:xfrm>
            <a:off x="7368414" y="1027159"/>
            <a:ext cx="4709996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"</a:t>
            </a:r>
            <a:r>
              <a:rPr lang="en-US" sz="1600" b="0" dirty="0" err="1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ietf-yang-push:push-update</a:t>
            </a:r>
            <a:r>
              <a:rPr lang="en-US" sz="16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{</a:t>
            </a:r>
          </a:p>
          <a:p>
            <a:r>
              <a:rPr lang="en-US" sz="16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"id"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89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US" sz="16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"datastore-contents"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{</a:t>
            </a:r>
          </a:p>
          <a:p>
            <a:r>
              <a:rPr lang="en-US" sz="16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"</a:t>
            </a:r>
            <a:r>
              <a:rPr lang="en-US" sz="1600" b="0" dirty="0" err="1">
                <a:solidFill>
                  <a:srgbClr val="0451A5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ietf-interfaces:interfaces</a:t>
            </a:r>
            <a:r>
              <a:rPr lang="en-US" sz="16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{</a:t>
            </a:r>
          </a:p>
          <a:p>
            <a:r>
              <a:rPr lang="en-US" sz="16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"interface"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[</a:t>
            </a:r>
          </a:p>
          <a:p>
            <a:r>
              <a:rPr lang="en-US" sz="16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  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    "name"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"eth0"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r>
              <a:rPr lang="en-US" sz="16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          "</a:t>
            </a:r>
            <a:r>
              <a:rPr lang="en-US" sz="1600" b="0" dirty="0" err="1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oper</a:t>
            </a:r>
            <a:r>
              <a:rPr lang="en-US" sz="1600" b="0" dirty="0">
                <a:solidFill>
                  <a:srgbClr val="0451A5"/>
                </a:solidFill>
                <a:effectLst/>
                <a:latin typeface="Menlo" panose="020B0609030804020204" pitchFamily="49" charset="0"/>
              </a:rPr>
              <a:t>-status"</a:t>
            </a:r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"down"</a:t>
            </a:r>
            <a:endParaRPr lang="en-US" sz="16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}]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}}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0DCE5C-95B1-FC46-6855-7A4F1FBB0802}"/>
              </a:ext>
            </a:extLst>
          </p:cNvPr>
          <p:cNvSpPr txBox="1"/>
          <p:nvPr/>
        </p:nvSpPr>
        <p:spPr>
          <a:xfrm>
            <a:off x="398008" y="4107253"/>
            <a:ext cx="841083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&lt;push-update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xmlns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urn:ietf:params:xml:ns:yang:ietf-yang-push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"&gt;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&lt;id&gt;89&lt;/id&gt;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&lt;datastore-contents&gt;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&lt;interfaces 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xmlns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="</a:t>
            </a:r>
            <a:r>
              <a:rPr lang="en-US" sz="1400" b="0" dirty="0" err="1">
                <a:solidFill>
                  <a:srgbClr val="000000"/>
                </a:solidFill>
                <a:effectLst/>
                <a:highlight>
                  <a:srgbClr val="00FF00"/>
                </a:highlight>
                <a:latin typeface="Menlo" panose="020B0609030804020204" pitchFamily="49" charset="0"/>
              </a:rPr>
              <a:t>urn:ietf:params:xml:ns:yang:ietf-interfaces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"&gt;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&lt;interface&gt;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&lt;name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xmlns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urn:ietf:params:xml:ns:yang:ietf-interfaces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"&gt;eth0&lt;/name&gt;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&lt;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oper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-status&gt;down&lt;/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oper</a:t>
            </a:r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-status&gt;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&lt;/interface&gt;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&lt;/interfaces&gt;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&lt;/datastore-contents&gt;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&lt;/push-update&gt;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B0E221-5B1A-F83D-CEF4-09DC642300FE}"/>
              </a:ext>
            </a:extLst>
          </p:cNvPr>
          <p:cNvSpPr txBox="1"/>
          <p:nvPr/>
        </p:nvSpPr>
        <p:spPr>
          <a:xfrm>
            <a:off x="985867" y="2027433"/>
            <a:ext cx="6039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YANG Data JSON &amp; XML encodings always contain full namespace information to identify the relevant </a:t>
            </a:r>
            <a:r>
              <a:rPr lang="en-US" dirty="0">
                <a:highlight>
                  <a:srgbClr val="FF00FF"/>
                </a:highlight>
              </a:rPr>
              <a:t>YANG module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3817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1322</Words>
  <Application>Microsoft Office PowerPoint</Application>
  <PresentationFormat>Widescreen</PresentationFormat>
  <Paragraphs>161</Paragraphs>
  <Slides>12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Menlo</vt:lpstr>
      <vt:lpstr>Arial</vt:lpstr>
      <vt:lpstr>Calibri</vt:lpstr>
      <vt:lpstr>Calibri Light</vt:lpstr>
      <vt:lpstr>Office Theme</vt:lpstr>
      <vt:lpstr>PowerPoint Presentation</vt:lpstr>
      <vt:lpstr>Problem statement</vt:lpstr>
      <vt:lpstr>Survey of existing use of “anydata”</vt:lpstr>
      <vt:lpstr>The goals of this document</vt:lpstr>
      <vt:lpstr>YANG Library look up</vt:lpstr>
      <vt:lpstr>Changes since IETF 123</vt:lpstr>
      <vt:lpstr>Implementation</vt:lpstr>
      <vt:lpstr>Question and next steps </vt:lpstr>
      <vt:lpstr>Where anydata is currently used? incomplete list</vt:lpstr>
      <vt:lpstr>Context</vt:lpstr>
      <vt:lpstr>RFC 8525 YANG Library</vt:lpstr>
      <vt:lpstr>YANG Data encodings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 Präsentation</dc:title>
  <dc:creator>Graf Thomas, INI-ONE-WSN-DCF</dc:creator>
  <cp:lastModifiedBy>Graf Thomas, SCS-INI-NET-VNC-E2E</cp:lastModifiedBy>
  <cp:revision>197</cp:revision>
  <dcterms:created xsi:type="dcterms:W3CDTF">2019-11-29T14:22:02Z</dcterms:created>
  <dcterms:modified xsi:type="dcterms:W3CDTF">2025-11-04T16:19:15Z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e1fccfb-80ca-4fe1-a574-1516544edb53_Enabled">
    <vt:lpwstr>true</vt:lpwstr>
  </property>
  <property fmtid="{D5CDD505-2E9C-101B-9397-08002B2CF9AE}" pid="3" name="MSIP_Label_2e1fccfb-80ca-4fe1-a574-1516544edb53_SetDate">
    <vt:lpwstr>2023-03-20T10:46:29Z</vt:lpwstr>
  </property>
  <property fmtid="{D5CDD505-2E9C-101B-9397-08002B2CF9AE}" pid="4" name="MSIP_Label_2e1fccfb-80ca-4fe1-a574-1516544edb53_Method">
    <vt:lpwstr>Standard</vt:lpwstr>
  </property>
  <property fmtid="{D5CDD505-2E9C-101B-9397-08002B2CF9AE}" pid="5" name="MSIP_Label_2e1fccfb-80ca-4fe1-a574-1516544edb53_Name">
    <vt:lpwstr>C2 Internal</vt:lpwstr>
  </property>
  <property fmtid="{D5CDD505-2E9C-101B-9397-08002B2CF9AE}" pid="6" name="MSIP_Label_2e1fccfb-80ca-4fe1-a574-1516544edb53_SiteId">
    <vt:lpwstr>364e5b87-c1c7-420d-9bee-c35d19b557a1</vt:lpwstr>
  </property>
  <property fmtid="{D5CDD505-2E9C-101B-9397-08002B2CF9AE}" pid="7" name="MSIP_Label_2e1fccfb-80ca-4fe1-a574-1516544edb53_ActionId">
    <vt:lpwstr>f20e7325-fc30-45a7-a02f-991797c0d813</vt:lpwstr>
  </property>
  <property fmtid="{D5CDD505-2E9C-101B-9397-08002B2CF9AE}" pid="8" name="MSIP_Label_2e1fccfb-80ca-4fe1-a574-1516544edb53_ContentBits">
    <vt:lpwstr>0</vt:lpwstr>
  </property>
  <property fmtid="{D5CDD505-2E9C-101B-9397-08002B2CF9AE}" pid="9" name="Sensitivity">
    <vt:lpwstr>C2 General</vt:lpwstr>
  </property>
</Properties>
</file>