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145706285" r:id="rId5"/>
    <p:sldId id="2145706270" r:id="rId6"/>
    <p:sldId id="2145706271" r:id="rId7"/>
    <p:sldId id="2145706282" r:id="rId8"/>
    <p:sldId id="2145706283" r:id="rId9"/>
    <p:sldId id="275" r:id="rId10"/>
    <p:sldId id="276" r:id="rId11"/>
    <p:sldId id="277" r:id="rId12"/>
    <p:sldId id="2145706277" r:id="rId13"/>
    <p:sldId id="2145706268" r:id="rId14"/>
    <p:sldId id="2145706284" r:id="rId15"/>
    <p:sldId id="272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B30"/>
    <a:srgbClr val="AC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6EA96E-12FA-4BFB-B7CD-5C0A29B0728E}" v="34" dt="2026-07-28T10:32:51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1695" autoAdjust="0"/>
  </p:normalViewPr>
  <p:slideViewPr>
    <p:cSldViewPr snapToGrid="0">
      <p:cViewPr>
        <p:scale>
          <a:sx n="125" d="100"/>
          <a:sy n="125" d="100"/>
        </p:scale>
        <p:origin x="72" y="-167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ADEEF08A-D719-4B50-A383-4105EDA2C206}"/>
    <pc:docChg chg="undo custSel addSld delSld modSld">
      <pc:chgData name="Graf Thomas, SCS-INI-NET-VNC-E2E" userId="487bc3e3-9ce7-4cdd-b7b4-8899ea88d289" providerId="ADAL" clId="{ADEEF08A-D719-4B50-A383-4105EDA2C206}" dt="2026-07-28T10:33:13.271" v="323" actId="20577"/>
      <pc:docMkLst>
        <pc:docMk/>
      </pc:docMkLst>
      <pc:sldChg chg="modSp mod">
        <pc:chgData name="Graf Thomas, SCS-INI-NET-VNC-E2E" userId="487bc3e3-9ce7-4cdd-b7b4-8899ea88d289" providerId="ADAL" clId="{ADEEF08A-D719-4B50-A383-4105EDA2C206}" dt="2026-07-28T10:33:13.271" v="323" actId="20577"/>
        <pc:sldMkLst>
          <pc:docMk/>
          <pc:sldMk cId="0" sldId="257"/>
        </pc:sldMkLst>
        <pc:spChg chg="mod">
          <ac:chgData name="Graf Thomas, SCS-INI-NET-VNC-E2E" userId="487bc3e3-9ce7-4cdd-b7b4-8899ea88d289" providerId="ADAL" clId="{ADEEF08A-D719-4B50-A383-4105EDA2C206}" dt="2026-07-28T10:33:13.271" v="323" actId="20577"/>
          <ac:spMkLst>
            <pc:docMk/>
            <pc:sldMk cId="0" sldId="257"/>
            <ac:spMk id="1515" creationId="{00000000-0000-0000-0000-000000000000}"/>
          </ac:spMkLst>
        </pc:spChg>
      </pc:sldChg>
      <pc:sldChg chg="addSp modSp mod">
        <pc:chgData name="Graf Thomas, SCS-INI-NET-VNC-E2E" userId="487bc3e3-9ce7-4cdd-b7b4-8899ea88d289" providerId="ADAL" clId="{ADEEF08A-D719-4B50-A383-4105EDA2C206}" dt="2026-07-19T10:19:46.928" v="292" actId="1076"/>
        <pc:sldMkLst>
          <pc:docMk/>
          <pc:sldMk cId="0" sldId="272"/>
        </pc:sldMkLst>
        <pc:spChg chg="mod">
          <ac:chgData name="Graf Thomas, SCS-INI-NET-VNC-E2E" userId="487bc3e3-9ce7-4cdd-b7b4-8899ea88d289" providerId="ADAL" clId="{ADEEF08A-D719-4B50-A383-4105EDA2C206}" dt="2026-07-19T08:45:54.580" v="249" actId="255"/>
          <ac:spMkLst>
            <pc:docMk/>
            <pc:sldMk cId="0" sldId="272"/>
            <ac:spMk id="1652" creationId="{00000000-0000-0000-0000-000000000000}"/>
          </ac:spMkLst>
        </pc:spChg>
        <pc:picChg chg="add mod">
          <ac:chgData name="Graf Thomas, SCS-INI-NET-VNC-E2E" userId="487bc3e3-9ce7-4cdd-b7b4-8899ea88d289" providerId="ADAL" clId="{ADEEF08A-D719-4B50-A383-4105EDA2C206}" dt="2026-07-19T10:19:46.928" v="292" actId="1076"/>
          <ac:picMkLst>
            <pc:docMk/>
            <pc:sldMk cId="0" sldId="272"/>
            <ac:picMk id="1026" creationId="{F44D3FD7-425F-A768-C1F5-B087C3CA36A1}"/>
          </ac:picMkLst>
        </pc:picChg>
      </pc:sldChg>
      <pc:sldChg chg="del">
        <pc:chgData name="Graf Thomas, SCS-INI-NET-VNC-E2E" userId="487bc3e3-9ce7-4cdd-b7b4-8899ea88d289" providerId="ADAL" clId="{ADEEF08A-D719-4B50-A383-4105EDA2C206}" dt="2026-07-20T05:03:58.248" v="297" actId="47"/>
        <pc:sldMkLst>
          <pc:docMk/>
          <pc:sldMk cId="3616314567" sldId="274"/>
        </pc:sldMkLst>
      </pc:sldChg>
      <pc:sldChg chg="modSp mod">
        <pc:chgData name="Graf Thomas, SCS-INI-NET-VNC-E2E" userId="487bc3e3-9ce7-4cdd-b7b4-8899ea88d289" providerId="ADAL" clId="{ADEEF08A-D719-4B50-A383-4105EDA2C206}" dt="2026-07-19T11:40:18.652" v="293" actId="20577"/>
        <pc:sldMkLst>
          <pc:docMk/>
          <pc:sldMk cId="984283064" sldId="275"/>
        </pc:sldMkLst>
        <pc:spChg chg="mod">
          <ac:chgData name="Graf Thomas, SCS-INI-NET-VNC-E2E" userId="487bc3e3-9ce7-4cdd-b7b4-8899ea88d289" providerId="ADAL" clId="{ADEEF08A-D719-4B50-A383-4105EDA2C206}" dt="2026-07-19T11:40:18.652" v="293" actId="20577"/>
          <ac:spMkLst>
            <pc:docMk/>
            <pc:sldMk cId="984283064" sldId="275"/>
            <ac:spMk id="18" creationId="{A350FCEA-6E80-6AEA-E88A-9B2A5E449AD1}"/>
          </ac:spMkLst>
        </pc:spChg>
        <pc:graphicFrameChg chg="mod modGraphic">
          <ac:chgData name="Graf Thomas, SCS-INI-NET-VNC-E2E" userId="487bc3e3-9ce7-4cdd-b7b4-8899ea88d289" providerId="ADAL" clId="{ADEEF08A-D719-4B50-A383-4105EDA2C206}" dt="2026-07-19T09:07:02.267" v="251" actId="20577"/>
          <ac:graphicFrameMkLst>
            <pc:docMk/>
            <pc:sldMk cId="984283064" sldId="275"/>
            <ac:graphicFrameMk id="17" creationId="{5ECCBFC6-73D0-E6BC-CB73-B40DF9A7AED2}"/>
          </ac:graphicFrameMkLst>
        </pc:graphicFrameChg>
      </pc:sldChg>
      <pc:sldChg chg="modSp mod">
        <pc:chgData name="Graf Thomas, SCS-INI-NET-VNC-E2E" userId="487bc3e3-9ce7-4cdd-b7b4-8899ea88d289" providerId="ADAL" clId="{ADEEF08A-D719-4B50-A383-4105EDA2C206}" dt="2026-07-28T10:32:30.482" v="311"/>
        <pc:sldMkLst>
          <pc:docMk/>
          <pc:sldMk cId="2655069398" sldId="277"/>
        </pc:sldMkLst>
        <pc:graphicFrameChg chg="mod modGraphic">
          <ac:chgData name="Graf Thomas, SCS-INI-NET-VNC-E2E" userId="487bc3e3-9ce7-4cdd-b7b4-8899ea88d289" providerId="ADAL" clId="{ADEEF08A-D719-4B50-A383-4105EDA2C206}" dt="2026-07-28T10:32:30.482" v="311"/>
          <ac:graphicFrameMkLst>
            <pc:docMk/>
            <pc:sldMk cId="2655069398" sldId="277"/>
            <ac:graphicFrameMk id="3" creationId="{20D70089-A937-8B76-C6A7-4F44AECC93BB}"/>
          </ac:graphicFrameMkLst>
        </pc:graphicFrameChg>
      </pc:sldChg>
      <pc:sldChg chg="del">
        <pc:chgData name="Graf Thomas, SCS-INI-NET-VNC-E2E" userId="487bc3e3-9ce7-4cdd-b7b4-8899ea88d289" providerId="ADAL" clId="{ADEEF08A-D719-4B50-A383-4105EDA2C206}" dt="2026-07-19T08:29:59.315" v="0" actId="47"/>
        <pc:sldMkLst>
          <pc:docMk/>
          <pc:sldMk cId="3578665336" sldId="1041"/>
        </pc:sldMkLst>
      </pc:sldChg>
      <pc:sldChg chg="del">
        <pc:chgData name="Graf Thomas, SCS-INI-NET-VNC-E2E" userId="487bc3e3-9ce7-4cdd-b7b4-8899ea88d289" providerId="ADAL" clId="{ADEEF08A-D719-4B50-A383-4105EDA2C206}" dt="2026-07-19T08:29:59.315" v="0" actId="47"/>
        <pc:sldMkLst>
          <pc:docMk/>
          <pc:sldMk cId="2750719351" sldId="2145706243"/>
        </pc:sldMkLst>
      </pc:sldChg>
      <pc:sldChg chg="del">
        <pc:chgData name="Graf Thomas, SCS-INI-NET-VNC-E2E" userId="487bc3e3-9ce7-4cdd-b7b4-8899ea88d289" providerId="ADAL" clId="{ADEEF08A-D719-4B50-A383-4105EDA2C206}" dt="2026-07-19T08:29:59.315" v="0" actId="47"/>
        <pc:sldMkLst>
          <pc:docMk/>
          <pc:sldMk cId="3739912885" sldId="2145706245"/>
        </pc:sldMkLst>
      </pc:sldChg>
      <pc:sldChg chg="del">
        <pc:chgData name="Graf Thomas, SCS-INI-NET-VNC-E2E" userId="487bc3e3-9ce7-4cdd-b7b4-8899ea88d289" providerId="ADAL" clId="{ADEEF08A-D719-4B50-A383-4105EDA2C206}" dt="2026-07-19T08:29:59.315" v="0" actId="47"/>
        <pc:sldMkLst>
          <pc:docMk/>
          <pc:sldMk cId="2881421618" sldId="2145706246"/>
        </pc:sldMkLst>
      </pc:sldChg>
      <pc:sldChg chg="del">
        <pc:chgData name="Graf Thomas, SCS-INI-NET-VNC-E2E" userId="487bc3e3-9ce7-4cdd-b7b4-8899ea88d289" providerId="ADAL" clId="{ADEEF08A-D719-4B50-A383-4105EDA2C206}" dt="2026-07-20T05:03:26.976" v="295" actId="47"/>
        <pc:sldMkLst>
          <pc:docMk/>
          <pc:sldMk cId="2993795036" sldId="2145706269"/>
        </pc:sldMkLst>
      </pc:sldChg>
      <pc:sldChg chg="del">
        <pc:chgData name="Graf Thomas, SCS-INI-NET-VNC-E2E" userId="487bc3e3-9ce7-4cdd-b7b4-8899ea88d289" providerId="ADAL" clId="{ADEEF08A-D719-4B50-A383-4105EDA2C206}" dt="2026-07-19T08:29:59.315" v="0" actId="47"/>
        <pc:sldMkLst>
          <pc:docMk/>
          <pc:sldMk cId="1488938283" sldId="2145706280"/>
        </pc:sldMkLst>
      </pc:sldChg>
      <pc:sldChg chg="del">
        <pc:chgData name="Graf Thomas, SCS-INI-NET-VNC-E2E" userId="487bc3e3-9ce7-4cdd-b7b4-8899ea88d289" providerId="ADAL" clId="{ADEEF08A-D719-4B50-A383-4105EDA2C206}" dt="2026-07-19T08:40:52.717" v="247" actId="47"/>
        <pc:sldMkLst>
          <pc:docMk/>
          <pc:sldMk cId="978591108" sldId="2145706281"/>
        </pc:sldMkLst>
      </pc:sldChg>
      <pc:sldChg chg="addSp delSp modSp add mod">
        <pc:chgData name="Graf Thomas, SCS-INI-NET-VNC-E2E" userId="487bc3e3-9ce7-4cdd-b7b4-8899ea88d289" providerId="ADAL" clId="{ADEEF08A-D719-4B50-A383-4105EDA2C206}" dt="2026-07-19T09:07:50.334" v="277" actId="20577"/>
        <pc:sldMkLst>
          <pc:docMk/>
          <pc:sldMk cId="1975838871" sldId="2145706282"/>
        </pc:sldMkLst>
        <pc:spChg chg="add mod">
          <ac:chgData name="Graf Thomas, SCS-INI-NET-VNC-E2E" userId="487bc3e3-9ce7-4cdd-b7b4-8899ea88d289" providerId="ADAL" clId="{ADEEF08A-D719-4B50-A383-4105EDA2C206}" dt="2026-07-19T09:07:50.334" v="277" actId="20577"/>
          <ac:spMkLst>
            <pc:docMk/>
            <pc:sldMk cId="1975838871" sldId="2145706282"/>
            <ac:spMk id="13" creationId="{294199AF-DE49-CEF5-3B42-4C0ED64CB7E4}"/>
          </ac:spMkLst>
        </pc:spChg>
        <pc:spChg chg="mod">
          <ac:chgData name="Graf Thomas, SCS-INI-NET-VNC-E2E" userId="487bc3e3-9ce7-4cdd-b7b4-8899ea88d289" providerId="ADAL" clId="{ADEEF08A-D719-4B50-A383-4105EDA2C206}" dt="2026-07-19T08:35:37.290" v="45" actId="20577"/>
          <ac:spMkLst>
            <pc:docMk/>
            <pc:sldMk cId="1975838871" sldId="2145706282"/>
            <ac:spMk id="1521" creationId="{F8866217-59C3-9562-4230-3580E12F9BE8}"/>
          </ac:spMkLst>
        </pc:spChg>
        <pc:picChg chg="add mod">
          <ac:chgData name="Graf Thomas, SCS-INI-NET-VNC-E2E" userId="487bc3e3-9ce7-4cdd-b7b4-8899ea88d289" providerId="ADAL" clId="{ADEEF08A-D719-4B50-A383-4105EDA2C206}" dt="2026-07-19T08:36:09.899" v="53" actId="1076"/>
          <ac:picMkLst>
            <pc:docMk/>
            <pc:sldMk cId="1975838871" sldId="2145706282"/>
            <ac:picMk id="9" creationId="{75605D30-1CC0-030C-82E1-9C055A7BB88A}"/>
          </ac:picMkLst>
        </pc:picChg>
        <pc:picChg chg="add mod">
          <ac:chgData name="Graf Thomas, SCS-INI-NET-VNC-E2E" userId="487bc3e3-9ce7-4cdd-b7b4-8899ea88d289" providerId="ADAL" clId="{ADEEF08A-D719-4B50-A383-4105EDA2C206}" dt="2026-07-19T08:36:09.899" v="53" actId="1076"/>
          <ac:picMkLst>
            <pc:docMk/>
            <pc:sldMk cId="1975838871" sldId="2145706282"/>
            <ac:picMk id="12" creationId="{7FBF8E69-25C2-F773-DBE5-1317A3E69E4D}"/>
          </ac:picMkLst>
        </pc:picChg>
      </pc:sldChg>
      <pc:sldChg chg="add">
        <pc:chgData name="Graf Thomas, SCS-INI-NET-VNC-E2E" userId="487bc3e3-9ce7-4cdd-b7b4-8899ea88d289" providerId="ADAL" clId="{ADEEF08A-D719-4B50-A383-4105EDA2C206}" dt="2026-07-19T08:40:50.810" v="246"/>
        <pc:sldMkLst>
          <pc:docMk/>
          <pc:sldMk cId="3660315973" sldId="2145706283"/>
        </pc:sldMkLst>
      </pc:sldChg>
      <pc:sldChg chg="add">
        <pc:chgData name="Graf Thomas, SCS-INI-NET-VNC-E2E" userId="487bc3e3-9ce7-4cdd-b7b4-8899ea88d289" providerId="ADAL" clId="{ADEEF08A-D719-4B50-A383-4105EDA2C206}" dt="2026-07-20T05:03:25.180" v="294"/>
        <pc:sldMkLst>
          <pc:docMk/>
          <pc:sldMk cId="4020447506" sldId="2145706284"/>
        </pc:sldMkLst>
      </pc:sldChg>
      <pc:sldChg chg="add">
        <pc:chgData name="Graf Thomas, SCS-INI-NET-VNC-E2E" userId="487bc3e3-9ce7-4cdd-b7b4-8899ea88d289" providerId="ADAL" clId="{ADEEF08A-D719-4B50-A383-4105EDA2C206}" dt="2026-07-20T05:03:56.566" v="296"/>
        <pc:sldMkLst>
          <pc:docMk/>
          <pc:sldMk cId="1774859522" sldId="2145706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705E9-673F-4AC4-B29E-A7B26F3B8523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C52A0-2F3F-497F-8536-39D60282E9C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67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d538e9c0b5_2_1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3" name="Google Shape;1503;g2d538e9c0b5_2_13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g2d538e9c0b5_2_136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d538e9c0b5_2_13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g2d538e9c0b5_2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4980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4BF26A0C-F6EE-2A46-71FE-E39D297B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F1ECFC07-02B3-5255-262B-F8D05DCE3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08012975-8E03-C8A4-42B5-0DCDA72FE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855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76B8C02C-3772-F0AE-9FE9-CCFA40189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E1261614-5B1B-4787-1A3B-295D99CC9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4F06D914-6447-4628-BF3F-34A405DFA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0743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B2F03925-E165-3AA5-14EB-68EE34EFA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20B4B339-73E1-DD83-F9E0-16B0D0FD1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0A9EE5C6-195B-75AE-6167-337BD9F35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7358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934EEF7E-55C3-E20A-E4DD-EDE9FD75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7B3D807D-1832-14E8-7206-CE6CF55908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7C9BB9CD-B3DC-4B60-CE95-CAF404C2F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05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FD365696-6FD7-8D01-8245-1F6B9D3B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5E016976-46C9-B7AF-7AF2-4C55BBD3E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7DE42BFF-F297-A1C8-D4A5-2777CCDCF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832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D511E151-ABB2-8EAB-F655-3816AC03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A1EC2C73-9DB5-D03A-FC49-E5A4DA112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9F3C4E54-AB15-D076-0876-BA5D5866F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1968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497B1BEE-5147-0E38-FD91-CF015192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9545E538-871F-0816-F01E-6EA56F883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484F2E50-E1B8-31ED-56CD-A34B9FF3E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0038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D2A15609-0547-E26A-147C-409BBF58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DB408533-64D4-270A-461D-7830D6583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856CF441-556B-2841-8C27-BC97D535CF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1068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d538e9c0b5_2_15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9" name="Google Shape;1649;g2d538e9c0b5_2_1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512-1D3B-4B73-B042-476E6184E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68D7F-8149-41A1-BACA-3AE93B5EB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1F274-2081-4043-A760-EBE78731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4A492-DE76-49D9-B2D6-119D939A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9CCC-4F98-451F-BD3B-E72AFDCA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582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BDF6-FBD2-40AF-9486-BB4A908B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C614F-9AF2-40AF-A811-367A6AFA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B81-7873-4625-90C6-65B7D39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62558-7E3E-4F68-94CA-8F448DC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61FB-1357-46F5-903C-1994E98B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93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D0C7-725B-4BFF-9522-83239C8F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E1048-3DC5-4B9C-899F-DED6314AE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BFD-FBBF-4914-87A2-F3A61F56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1A4-73D2-444B-9013-7EFE083B1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FB92-7142-4854-ACC6-4129F01E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03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6279-2318-4AD6-A5F8-75FAC2F4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583D-F808-46BC-A112-FEA6430F4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A202-30E0-43D7-8764-65A6F84F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1E6B-307F-487A-ACE7-95C6B65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F60B-CB79-4100-B5DF-1E9EA55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3C06A-1F3A-41DA-8ED0-F1B05343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37BF-12E0-4609-8885-BA3B6120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F202-5F12-4652-B24C-DE18E1A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7499-BB9D-474C-80E4-FBDD9AF9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8ABCD-03D9-487D-A401-5C46542B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0E7B8-775C-4651-8505-06EEF69C7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55546-7C7E-4AE1-B224-70E058A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DA8F-0A89-45FF-A3CC-8973287C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632D-9625-4B76-A006-24C009E1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0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A4D9-592C-47DB-A38B-6773D38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8F040-BDDF-4877-8526-169F2DA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B3BB-C496-4AF5-8EB6-7559F47A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E77DB-3A65-40BB-95CE-131D701F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93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6202C-9526-41D5-A80B-2DF289677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DB588-08C7-4A6C-AB92-AA66E93D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35E7-88C8-4D96-B785-776340A7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811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2E0B-BAAE-488E-8A9B-5E2F9728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22BD-ADB1-4F08-B9D6-E993F811F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29BCF-9547-4664-BC89-023CF460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46FE1-476B-4893-8CD9-264AC9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5B88A-2D78-46C2-BBA5-A7E4B6C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BCD13-0D0A-4531-9C78-280B1923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895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2F91-0DE7-463A-B320-CFD88985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FAE06-08B0-40A8-8F3E-C20E266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C7CF-A958-437D-97CD-D3E81DB9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DCF7-E5CF-40ED-9C23-5F54FB7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98A1-F516-4BF3-A1DB-EFB3FD80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CE8FE-0171-448F-8772-43B1E412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2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866-2D41-48BC-9DC3-7FEE77BA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7519-4E02-40D8-8B6A-3A512977D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31AF6-5DD6-4C3B-B500-F46F75D5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92F3-29F5-4955-B2D5-391EC52DB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107A-54F3-441F-911A-3CD57FD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349AB2-2AB2-43A7-8656-1622691F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61E9-F971-441C-8CE6-36B504422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F5765-AAA1-4EBA-9889-B58751F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60DF-246C-4E18-B36B-09227336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5E4A-A865-4DAD-8AEC-EE7D584D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912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 type="tx">
  <p:cSld name="1_Title and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11230425" y="6369657"/>
            <a:ext cx="35197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600"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2734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DFDE9-18F4-48C4-A401-3E984B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7C9F2-47EC-46EF-9DAA-721B9E5E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DCEB-FFB0-4E16-B62A-C5FBA3476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B238C-2335-4007-98C9-471C02CC43B6}" type="datetimeFigureOut">
              <a:rPr lang="de-CH" smtClean="0"/>
              <a:t>28.07.2026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72CA-B967-43BF-81A8-8AE258386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7793-ADCE-4178-B0C6-9992EC74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AC485-25DE-431E-B345-9C0A15BB7F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twork-analytics/udp-notif-dissector" TargetMode="External"/><Relationship Id="rId3" Type="http://schemas.openxmlformats.org/officeDocument/2006/relationships/hyperlink" Target="https://github.com/NetGauze/NetGauze" TargetMode="External"/><Relationship Id="rId7" Type="http://schemas.openxmlformats.org/officeDocument/2006/relationships/hyperlink" Target="https://github.com/yang-central/yangki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CESNET/libyang/releases/tag/v5.4.9" TargetMode="External"/><Relationship Id="rId5" Type="http://schemas.openxmlformats.org/officeDocument/2006/relationships/hyperlink" Target="https://github.com/network-analytics/yang-kafka-integration" TargetMode="External"/><Relationship Id="rId10" Type="http://schemas.openxmlformats.org/officeDocument/2006/relationships/hyperlink" Target="https://www.network-analytics.org/yp/how-to-deploy.html" TargetMode="External"/><Relationship Id="rId4" Type="http://schemas.openxmlformats.org/officeDocument/2006/relationships/hyperlink" Target="https://github.com/pmacct/pmacct" TargetMode="Externa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twork-analytics/ietf-network-analytics-document-status/tree/main/126/Hackatho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etconf-yang-notifications-versioning" TargetMode="External"/><Relationship Id="rId13" Type="http://schemas.openxmlformats.org/officeDocument/2006/relationships/hyperlink" Target="https://datatracker.ietf.org/doc/html/draft-netana-nmop-yang-anydata-validation" TargetMode="External"/><Relationship Id="rId3" Type="http://schemas.openxmlformats.org/officeDocument/2006/relationships/hyperlink" Target="https://datatracker.ietf.org/doc/html/rfc8639" TargetMode="External"/><Relationship Id="rId7" Type="http://schemas.openxmlformats.org/officeDocument/2006/relationships/hyperlink" Target="https://datatracker.ietf.org/doc/html/draft-ietf-netconf-notif-envelope" TargetMode="External"/><Relationship Id="rId12" Type="http://schemas.openxmlformats.org/officeDocument/2006/relationships/hyperlink" Target="https://datatracker.ietf.org/doc/html/draft-ietf-netconf-yang-library-augment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tatracker.ietf.org/doc/html/draft-ietf-netconf-distributed-notif" TargetMode="External"/><Relationship Id="rId11" Type="http://schemas.openxmlformats.org/officeDocument/2006/relationships/hyperlink" Target="https://datatracker.ietf.org/doc/html/rfc8525" TargetMode="External"/><Relationship Id="rId5" Type="http://schemas.openxmlformats.org/officeDocument/2006/relationships/hyperlink" Target="https://datatracker.ietf.org/doc/html/draft-ietf-netconf-udp-notif" TargetMode="External"/><Relationship Id="rId10" Type="http://schemas.openxmlformats.org/officeDocument/2006/relationships/hyperlink" Target="https://datatracker.ietf.org/doc/html/draft-ietf-netconf-yp-transport-capabilities" TargetMode="External"/><Relationship Id="rId4" Type="http://schemas.openxmlformats.org/officeDocument/2006/relationships/hyperlink" Target="https://datatracker.ietf.org/doc/html/rfc8641" TargetMode="External"/><Relationship Id="rId9" Type="http://schemas.openxmlformats.org/officeDocument/2006/relationships/hyperlink" Target="https://datatracker.ietf.org/doc/html/rfc9196" TargetMode="External"/><Relationship Id="rId14" Type="http://schemas.openxmlformats.org/officeDocument/2006/relationships/hyperlink" Target="https://datatracker.ietf.org/doc/html/rfc925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tatracker.ietf.org/doc/html/draft-ietf-netconf-udp-notif#section-6" TargetMode="External"/><Relationship Id="rId5" Type="http://schemas.openxmlformats.org/officeDocument/2006/relationships/hyperlink" Target="https://datatracker.ietf.org/doc/html/rfc9254#section-3.3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919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hyperlink" Target="https://datatracker.ietf.org/doc/html/draft-ietf-netconf-yang-library-augmentedby" TargetMode="External"/><Relationship Id="rId4" Type="http://schemas.openxmlformats.org/officeDocument/2006/relationships/hyperlink" Target="https://datatracker.ietf.org/doc/html/rfc8525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network-analytics/yang_tests/blob/master/report_v2.pdf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hassany/yang-push-key" TargetMode="External"/><Relationship Id="rId3" Type="http://schemas.openxmlformats.org/officeDocument/2006/relationships/hyperlink" Target="https://github.com/yang-central/yangkit" TargetMode="External"/><Relationship Id="rId7" Type="http://schemas.openxmlformats.org/officeDocument/2006/relationships/hyperlink" Target="https://github.com/NetGauze/NetGauze/issues/456" TargetMode="External"/><Relationship Id="rId2" Type="http://schemas.openxmlformats.org/officeDocument/2006/relationships/hyperlink" Target="https://github.com/CESNET/libyang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NetGauze/NetGauze/issues/457" TargetMode="External"/><Relationship Id="rId5" Type="http://schemas.openxmlformats.org/officeDocument/2006/relationships/hyperlink" Target="https://github.com/NetGauze/NetGauze/issues/449" TargetMode="External"/><Relationship Id="rId4" Type="http://schemas.openxmlformats.org/officeDocument/2006/relationships/hyperlink" Target="https://github.com/opendaylight/yangtools/" TargetMode="External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netana-nmop-yang-anydata-validation" TargetMode="External"/><Relationship Id="rId2" Type="http://schemas.openxmlformats.org/officeDocument/2006/relationships/hyperlink" Target="https://github.com/network-analytics/yang-kafka-integration/pull/11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atatracker.ietf.org/doc/html/draft-ietf-nmop-yang-message-broker-message-key#section-4.1" TargetMode="External"/><Relationship Id="rId4" Type="http://schemas.openxmlformats.org/officeDocument/2006/relationships/hyperlink" Target="https://datatracker.ietf.org/doc/html/draft-ietf-nmop-yang-message-broker-message-key#section-3.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7D17A-A259-8B8A-20E0-474E61FF5DB6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506" name="Google Shape;1506;p43"/>
          <p:cNvSpPr txBox="1">
            <a:spLocks noGrp="1"/>
          </p:cNvSpPr>
          <p:nvPr>
            <p:ph type="ctrTitle" idx="4294967295"/>
          </p:nvPr>
        </p:nvSpPr>
        <p:spPr>
          <a:xfrm>
            <a:off x="615481" y="374074"/>
            <a:ext cx="7726919" cy="19827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>
              <a:buClr>
                <a:srgbClr val="888888"/>
              </a:buClr>
              <a:buSzPts val="2500"/>
            </a:pPr>
            <a:r>
              <a:rPr lang="en-US" sz="3733" b="1" dirty="0"/>
              <a:t>Validate YANG-Push to Message Broker End-To-End Data Processing Chain</a:t>
            </a:r>
            <a:br>
              <a:rPr lang="en" sz="5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33" dirty="0">
                <a:solidFill>
                  <a:srgbClr val="888888"/>
                </a:solidFill>
              </a:rPr>
              <a:t>IETF 126 Hackathon, July 18/19</a:t>
            </a:r>
            <a:r>
              <a:rPr lang="en-US" sz="3733" baseline="30000" dirty="0">
                <a:solidFill>
                  <a:srgbClr val="888888"/>
                </a:solidFill>
              </a:rPr>
              <a:t>th</a:t>
            </a:r>
            <a:r>
              <a:rPr lang="en-US" sz="3733" dirty="0">
                <a:solidFill>
                  <a:srgbClr val="888888"/>
                </a:solidFill>
              </a:rPr>
              <a:t> 2026</a:t>
            </a:r>
            <a:endParaRPr sz="3733" dirty="0">
              <a:solidFill>
                <a:srgbClr val="88888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4A158-30A9-C387-5FFD-6AEF58492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08" y="166365"/>
            <a:ext cx="3617520" cy="6691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9727B-B192-98C3-96AF-57104AF0EAA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2" name="Google Shape;1523;p45">
            <a:extLst>
              <a:ext uri="{FF2B5EF4-FFF2-40B4-BE49-F238E27FC236}">
                <a16:creationId xmlns:a16="http://schemas.microsoft.com/office/drawing/2014/main" id="{BCB98076-6DA6-6B8C-F53E-DB5902062E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83759"/>
            <a:ext cx="245415" cy="3077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pPr>
              <a:buClr>
                <a:srgbClr val="888888"/>
              </a:buClr>
              <a:buSzPts val="1200"/>
            </a:pPr>
            <a:fld id="{00000000-1234-1234-1234-123412341234}" type="slidenum">
              <a:rPr lang="en"/>
              <a:pPr>
                <a:buClr>
                  <a:srgbClr val="888888"/>
                </a:buClr>
                <a:buSzPts val="1200"/>
              </a:pPr>
              <a:t>1</a:t>
            </a:fld>
            <a:endParaRPr dirty="0"/>
          </a:p>
        </p:txBody>
      </p:sp>
      <p:pic>
        <p:nvPicPr>
          <p:cNvPr id="3" name="Picture 2" descr="IETF | Suggested IETF 126 Sessions for Getting Familiar with New Topics">
            <a:extLst>
              <a:ext uri="{FF2B5EF4-FFF2-40B4-BE49-F238E27FC236}">
                <a16:creationId xmlns:a16="http://schemas.microsoft.com/office/drawing/2014/main" id="{5F561052-D90B-7443-52F5-24F846E0E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831" y="2356855"/>
            <a:ext cx="5579872" cy="402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44"/>
          <p:cNvSpPr txBox="1">
            <a:spLocks noGrp="1"/>
          </p:cNvSpPr>
          <p:nvPr>
            <p:ph type="title"/>
          </p:nvPr>
        </p:nvSpPr>
        <p:spPr>
          <a:xfrm>
            <a:off x="728132" y="274638"/>
            <a:ext cx="10292595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-US" sz="5067" dirty="0"/>
              <a:t>Hackathon Plan, Software and Website</a:t>
            </a:r>
          </a:p>
        </p:txBody>
      </p:sp>
      <p:sp>
        <p:nvSpPr>
          <p:cNvPr id="1515" name="Google Shape;1515;p44"/>
          <p:cNvSpPr txBox="1">
            <a:spLocks noGrp="1"/>
          </p:cNvSpPr>
          <p:nvPr>
            <p:ph type="body" idx="1"/>
          </p:nvPr>
        </p:nvSpPr>
        <p:spPr>
          <a:xfrm>
            <a:off x="728133" y="1219200"/>
            <a:ext cx="10662924" cy="27779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2177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-US" sz="1867" b="1" dirty="0">
                <a:latin typeface="Calibri"/>
                <a:ea typeface="Calibri"/>
                <a:cs typeface="Calibri"/>
                <a:sym typeface="Calibri"/>
              </a:rPr>
              <a:t>Test Plan</a:t>
            </a:r>
            <a:endParaRPr lang="en-US" noProof="0" dirty="0"/>
          </a:p>
          <a:p>
            <a:pPr marL="21771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en-US" sz="1600" dirty="0"/>
              <a:t>Validate and verify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5 YANG-Push Publishers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2 YANG-Push Receivers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2 YANG-Push Network Telemetry Message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1 YANG Message Broker Producer and Schema Registry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3 YANG Message Broker Consumers</a:t>
            </a:r>
          </a:p>
          <a:p>
            <a:pPr marL="21771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400"/>
              <a:buNone/>
            </a:pPr>
            <a:r>
              <a:rPr lang="en-US" sz="1600" dirty="0"/>
              <a:t>implementation in YANG data integration automation. Subscribe to YANG</a:t>
            </a:r>
            <a:br>
              <a:rPr lang="en-US" sz="1600" dirty="0"/>
            </a:br>
            <a:r>
              <a:rPr lang="en-US" sz="1600" dirty="0"/>
              <a:t>data on YANG-Publisher, obtain and register all YANG modules necessary</a:t>
            </a:r>
            <a:br>
              <a:rPr lang="en-US" sz="1600" dirty="0"/>
            </a:br>
            <a:r>
              <a:rPr lang="en-US" sz="1600" dirty="0"/>
              <a:t>to build YANG schema tree, register YANG schemas to Schema  Registry</a:t>
            </a:r>
            <a:br>
              <a:rPr lang="en-US" sz="1600" dirty="0"/>
            </a:br>
            <a:r>
              <a:rPr lang="en-US" sz="1600" dirty="0"/>
              <a:t>and verify YANG notifications against scheme trees and produce and</a:t>
            </a:r>
            <a:br>
              <a:rPr lang="en-US" sz="1600" dirty="0"/>
            </a:br>
            <a:r>
              <a:rPr lang="en-US" sz="1600" dirty="0"/>
              <a:t>consume from Message Broker.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21771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SzPts val="1400"/>
              <a:buNone/>
            </a:pPr>
            <a:r>
              <a:rPr lang="en-US" sz="1867" b="1" dirty="0"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lang="en-US" noProof="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YANG-Push Publisher - Cisco IOS XR, 6WIND VSR, Huawei NE (Router),MA (OLT), </a:t>
            </a:r>
            <a:r>
              <a:rPr lang="en-US" sz="1600" dirty="0" err="1"/>
              <a:t>Arrcus</a:t>
            </a:r>
            <a:r>
              <a:rPr lang="en-US" sz="1600" dirty="0"/>
              <a:t> Arcos and Ductus DMAP</a:t>
            </a: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YANG-Push Receiver –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de-CH" sz="1600">
                <a:hlinkClick r:id="rId3"/>
              </a:rPr>
              <a:t>®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600" dirty="0" err="1">
                <a:hlinkClick r:id="rId4"/>
              </a:rPr>
              <a:t>Pmacct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 Message Broker Producer </a:t>
            </a:r>
            <a:r>
              <a:rPr lang="en-US" sz="1600" dirty="0"/>
              <a:t>– </a:t>
            </a:r>
            <a:r>
              <a:rPr lang="en-US" sz="1600" dirty="0"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de-CH" sz="1600" dirty="0">
                <a:hlinkClick r:id="rId3"/>
              </a:rPr>
              <a:t>®</a:t>
            </a:r>
            <a:r>
              <a:rPr lang="en-US" sz="1600" dirty="0">
                <a:ea typeface="Calibri"/>
                <a:cs typeface="Calibri"/>
                <a:sym typeface="Calibri"/>
                <a:hlinkClick r:id="rId3"/>
              </a:rPr>
              <a:t> </a:t>
            </a:r>
            <a:endParaRPr lang="en-US" sz="1600" dirty="0"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 Message Broker Consumer – </a:t>
            </a:r>
            <a:r>
              <a:rPr lang="en-US" sz="1600" dirty="0"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de-CH" sz="1600" dirty="0">
                <a:hlinkClick r:id="rId3"/>
              </a:rPr>
              <a:t>®</a:t>
            </a:r>
            <a:r>
              <a:rPr lang="en-US" sz="1600" dirty="0"/>
              <a:t>, Ciena Blue Planet UAA Workflow Engine, Cisco </a:t>
            </a:r>
            <a:r>
              <a:rPr lang="en-US" sz="1600" dirty="0" err="1"/>
              <a:t>Crosswork</a:t>
            </a:r>
            <a:r>
              <a:rPr lang="en-US" sz="1600" dirty="0"/>
              <a:t> Ingestion Service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YANG Schema Registry –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5"/>
              </a:rPr>
              <a:t>Apache Kafka YANG Plugin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/>
              <a:t>Libyang - </a:t>
            </a:r>
            <a:r>
              <a:rPr lang="en-US" sz="1600" dirty="0">
                <a:hlinkClick r:id="rId6"/>
              </a:rPr>
              <a:t>https://github.com/CESNET/libyang/releases/tag/v5.4.9</a:t>
            </a:r>
            <a:endParaRPr lang="en-US" sz="160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 err="1"/>
              <a:t>Yangkit</a:t>
            </a:r>
            <a:r>
              <a:rPr lang="en-US" sz="1600" dirty="0"/>
              <a:t> - </a:t>
            </a:r>
            <a:r>
              <a:rPr lang="en-US" sz="1600" dirty="0">
                <a:hlinkClick r:id="rId7"/>
              </a:rPr>
              <a:t>https://github.com/yang-central/yangkit/</a:t>
            </a:r>
            <a:endParaRPr lang="en-US" sz="1600" dirty="0"/>
          </a:p>
          <a:p>
            <a:pPr marL="326564" indent="-304792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Wireshark -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  <a:hlinkClick r:id="rId8"/>
              </a:rPr>
              <a:t>udp-notif dissector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DC4F4D-B33D-1118-BAC0-63500FDC96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7217" y="1431355"/>
            <a:ext cx="3236607" cy="3016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639EC6-CFEC-5C52-B9C7-BC997E33CB5C}"/>
              </a:ext>
            </a:extLst>
          </p:cNvPr>
          <p:cNvSpPr txBox="1"/>
          <p:nvPr/>
        </p:nvSpPr>
        <p:spPr>
          <a:xfrm>
            <a:off x="6034643" y="4547971"/>
            <a:ext cx="5371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10"/>
              </a:rPr>
              <a:t>https://www.network-analytics.org/yp/how-to-deploy.html</a:t>
            </a: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48DDB2-AD4A-DEAE-D5A3-D3BC5389479D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CC267-4141-8946-2B25-FD5BC687F09A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6" name="Google Shape;1523;p45">
            <a:extLst>
              <a:ext uri="{FF2B5EF4-FFF2-40B4-BE49-F238E27FC236}">
                <a16:creationId xmlns:a16="http://schemas.microsoft.com/office/drawing/2014/main" id="{8BF5BFF0-D54E-9B49-7B24-4B838033AC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Hackathon – Repositories</a:t>
            </a:r>
            <a:endParaRPr sz="4533" dirty="0"/>
          </a:p>
        </p:txBody>
      </p:sp>
      <p:sp>
        <p:nvSpPr>
          <p:cNvPr id="1522" name="Google Shape;1522;p45"/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4671964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21771" indent="0">
              <a:lnSpc>
                <a:spcPct val="90000"/>
              </a:lnSpc>
              <a:spcBef>
                <a:spcPts val="0"/>
              </a:spcBef>
              <a:buSzPts val="1400"/>
              <a:buNone/>
            </a:pPr>
            <a:r>
              <a:rPr lang="de-CH" sz="1867" b="1" dirty="0">
                <a:latin typeface="Calibri"/>
                <a:ea typeface="Calibri"/>
                <a:cs typeface="Calibri"/>
              </a:rPr>
              <a:t>The 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results</a:t>
            </a:r>
            <a:r>
              <a:rPr lang="de-CH" sz="1867" b="1" dirty="0">
                <a:latin typeface="Calibri"/>
                <a:ea typeface="Calibri"/>
                <a:cs typeface="Calibri"/>
              </a:rPr>
              <a:t> of 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the</a:t>
            </a:r>
            <a:r>
              <a:rPr lang="de-CH" sz="1867" b="1" dirty="0">
                <a:latin typeface="Calibri"/>
                <a:ea typeface="Calibri"/>
                <a:cs typeface="Calibri"/>
              </a:rPr>
              <a:t> end-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to</a:t>
            </a:r>
            <a:r>
              <a:rPr lang="de-CH" sz="1867" b="1" dirty="0">
                <a:latin typeface="Calibri"/>
                <a:ea typeface="Calibri"/>
                <a:cs typeface="Calibri"/>
              </a:rPr>
              <a:t>-end </a:t>
            </a:r>
            <a:r>
              <a:rPr lang="de-CH" sz="1867" b="1" dirty="0" err="1">
                <a:latin typeface="Calibri"/>
                <a:ea typeface="Calibri"/>
                <a:cs typeface="Calibri"/>
              </a:rPr>
              <a:t>tests</a:t>
            </a:r>
            <a:br>
              <a:rPr lang="de-CH" sz="1867" b="1" dirty="0">
                <a:latin typeface="Calibri"/>
                <a:ea typeface="Calibri"/>
                <a:cs typeface="Calibri"/>
                <a:sym typeface="Calibri"/>
              </a:rPr>
            </a:br>
            <a:endParaRPr lang="de-CH" sz="1600" u="sng" dirty="0">
              <a:solidFill>
                <a:schemeClr val="hlink"/>
              </a:solidFill>
            </a:endParaRP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RPCs and YANG-Push JSON and CBOR encoded notifications with wire captures from receiver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YANG-Push Receiver cache content generation with YANG library context, YANG modules, metadata and notification schema validation logs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/>
              <a:t>YANG Message Broker Producer serialization logs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/>
              <a:t>YANG Schema Registry schema examples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 Message Broker Consumer, serialization logs, </a:t>
            </a:r>
            <a:r>
              <a:rPr lang="en" sz="1600" dirty="0"/>
              <a:t>YANG library context, YANG modules and message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schema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2D983028-030F-7FAC-361F-2F3CEBD4DF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DEF4D-758D-BDC4-17FB-86FA77F8BD87}"/>
              </a:ext>
            </a:extLst>
          </p:cNvPr>
          <p:cNvSpPr txBox="1"/>
          <p:nvPr/>
        </p:nvSpPr>
        <p:spPr>
          <a:xfrm>
            <a:off x="737164" y="6160374"/>
            <a:ext cx="103797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sz="1600" dirty="0">
                <a:solidFill>
                  <a:srgbClr val="00B0F0"/>
                </a:solidFill>
                <a:hlinkClick r:id="rId3"/>
              </a:rPr>
              <a:t>https://github.com/network-analytics/ietf-network-analytics-document-status/tree/main/126/Hackathon/</a:t>
            </a:r>
            <a:endParaRPr lang="de-CH" sz="1600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97AD8-22B5-E27A-E2F6-9342B03BB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547" y="1891145"/>
            <a:ext cx="5793421" cy="27671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9" name="Google Shape;1529;p46">
            <a:extLst>
              <a:ext uri="{FF2B5EF4-FFF2-40B4-BE49-F238E27FC236}">
                <a16:creationId xmlns:a16="http://schemas.microsoft.com/office/drawing/2014/main" id="{A24BD4EE-319E-99D8-8524-268A6B1E7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868583"/>
            <a:ext cx="5257800" cy="39565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YANG Notifications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3"/>
              </a:rPr>
              <a:t>RFC 8639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YANG Notifications for Datastore Updates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4"/>
              </a:rPr>
              <a:t>RFC 8641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UDP-based Transport for Configured Subscriptions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5"/>
              </a:rPr>
              <a:t>draft-ietf-netconf-udp-notif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Subscription to Distributed Notifications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6"/>
              </a:rPr>
              <a:t>draft-ietf-netconf-distributed-notif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Extensible YANG Model for YANG-Push Notifications</a:t>
            </a:r>
            <a:br>
              <a:rPr lang="en" sz="1333" dirty="0"/>
            </a:br>
            <a:r>
              <a:rPr lang="de-CH" sz="1333" u="sng" dirty="0">
                <a:solidFill>
                  <a:schemeClr val="hlink"/>
                </a:solidFill>
                <a:hlinkClick r:id="rId7"/>
              </a:rPr>
              <a:t>draft-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ietf</a:t>
            </a:r>
            <a:r>
              <a:rPr lang="de-CH" sz="1333" u="sng" dirty="0">
                <a:solidFill>
                  <a:schemeClr val="hlink"/>
                </a:solidFill>
                <a:hlinkClick r:id="rId7"/>
              </a:rPr>
              <a:t>-netconf-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notif</a:t>
            </a:r>
            <a:r>
              <a:rPr lang="de-CH" sz="1333" u="sng" dirty="0">
                <a:solidFill>
                  <a:schemeClr val="hlink"/>
                </a:solidFill>
                <a:hlinkClick r:id="rId7"/>
              </a:rPr>
              <a:t>-</a:t>
            </a:r>
            <a:r>
              <a:rPr lang="de-CH" sz="1333" u="sng" dirty="0" err="1">
                <a:solidFill>
                  <a:schemeClr val="hlink"/>
                </a:solidFill>
                <a:hlinkClick r:id="rId7"/>
              </a:rPr>
              <a:t>envelope</a:t>
            </a:r>
            <a:endParaRPr lang="de-CH" sz="1333" u="sng" dirty="0">
              <a:solidFill>
                <a:schemeClr val="hlink"/>
              </a:solidFill>
            </a:endParaRPr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Support of Versioning in YANG Notifications Subscription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8"/>
              </a:rPr>
              <a:t>draft-ietf-netconf-yang-notifications-versioning</a:t>
            </a:r>
            <a:endParaRPr lang="de-CH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YANG Modules Describing Capabilities for Systems and </a:t>
            </a:r>
            <a:br>
              <a:rPr lang="en-US" sz="1333" dirty="0"/>
            </a:br>
            <a:r>
              <a:rPr lang="en-US" sz="1333" dirty="0"/>
              <a:t>Datastore Update Notifications</a:t>
            </a:r>
            <a:br>
              <a:rPr lang="en-US" sz="1333" dirty="0"/>
            </a:br>
            <a:r>
              <a:rPr lang="en-US" sz="1333" dirty="0">
                <a:hlinkClick r:id="rId9"/>
              </a:rPr>
              <a:t>RFC 9196</a:t>
            </a:r>
            <a:endParaRPr lang="en-US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-US" sz="1333" dirty="0"/>
              <a:t>YANG Notification Transport Capabilities</a:t>
            </a:r>
            <a:br>
              <a:rPr lang="en-US" sz="1333" dirty="0"/>
            </a:br>
            <a:r>
              <a:rPr lang="en-US" sz="1333" dirty="0">
                <a:hlinkClick r:id="rId10"/>
              </a:rPr>
              <a:t>draft-</a:t>
            </a:r>
            <a:r>
              <a:rPr lang="en-US" sz="1333" dirty="0" err="1">
                <a:hlinkClick r:id="rId10"/>
              </a:rPr>
              <a:t>ietf</a:t>
            </a:r>
            <a:r>
              <a:rPr lang="en-US" sz="1333" dirty="0">
                <a:hlinkClick r:id="rId10"/>
              </a:rPr>
              <a:t>-netconf-</a:t>
            </a:r>
            <a:r>
              <a:rPr lang="en-US" sz="1333" dirty="0" err="1">
                <a:hlinkClick r:id="rId10"/>
              </a:rPr>
              <a:t>yp</a:t>
            </a:r>
            <a:r>
              <a:rPr lang="en-US" sz="1333" dirty="0">
                <a:hlinkClick r:id="rId10"/>
              </a:rPr>
              <a:t>-transport-capabilities</a:t>
            </a:r>
            <a:endParaRPr lang="en-US"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YANG Library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11"/>
              </a:rPr>
              <a:t>RFC 8525</a:t>
            </a:r>
            <a:endParaRPr sz="1333" dirty="0"/>
          </a:p>
          <a:p>
            <a:pPr marL="228594" indent="-228594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200"/>
            </a:pPr>
            <a:r>
              <a:rPr lang="en" sz="1333" dirty="0"/>
              <a:t>Augmented-by Addition into the IETF-YANG-Library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  <a:hlinkClick r:id="rId12"/>
              </a:rPr>
              <a:t>draft-ietf-netconf-yang-library-augmentation</a:t>
            </a:r>
            <a:endParaRPr lang="en" sz="1333" u="sng" dirty="0">
              <a:solidFill>
                <a:schemeClr val="hlink"/>
              </a:solidFill>
            </a:endParaRPr>
          </a:p>
          <a:p>
            <a:pPr marL="228594" indent="-228594">
              <a:spcBef>
                <a:spcPts val="0"/>
              </a:spcBef>
              <a:buSzPts val="1200"/>
            </a:pPr>
            <a:r>
              <a:rPr lang="en-US" sz="1333" dirty="0"/>
              <a:t>Validating </a:t>
            </a:r>
            <a:r>
              <a:rPr lang="en-US" sz="1333" dirty="0" err="1"/>
              <a:t>anydata</a:t>
            </a:r>
            <a:r>
              <a:rPr lang="en-US" sz="1333" dirty="0"/>
              <a:t> in YANG Library context</a:t>
            </a:r>
            <a:br>
              <a:rPr lang="en-US" sz="1333" dirty="0"/>
            </a:br>
            <a:r>
              <a:rPr lang="en-US" sz="1333" dirty="0">
                <a:hlinkClick r:id="rId13"/>
              </a:rPr>
              <a:t>draft-</a:t>
            </a:r>
            <a:r>
              <a:rPr lang="en-US" sz="1333" dirty="0" err="1">
                <a:hlinkClick r:id="rId13"/>
              </a:rPr>
              <a:t>netana</a:t>
            </a:r>
            <a:r>
              <a:rPr lang="en-US" sz="1333" dirty="0">
                <a:hlinkClick r:id="rId13"/>
              </a:rPr>
              <a:t>-</a:t>
            </a:r>
            <a:r>
              <a:rPr lang="en-US" sz="1333" dirty="0" err="1">
                <a:hlinkClick r:id="rId13"/>
              </a:rPr>
              <a:t>nmop</a:t>
            </a:r>
            <a:r>
              <a:rPr lang="en-US" sz="1333" dirty="0">
                <a:hlinkClick r:id="rId13"/>
              </a:rPr>
              <a:t>-yang-</a:t>
            </a:r>
            <a:r>
              <a:rPr lang="en-US" sz="1333" dirty="0" err="1">
                <a:hlinkClick r:id="rId13"/>
              </a:rPr>
              <a:t>anydata</a:t>
            </a:r>
            <a:r>
              <a:rPr lang="en-US" sz="1333" dirty="0">
                <a:hlinkClick r:id="rId13"/>
              </a:rPr>
              <a:t>-validation</a:t>
            </a:r>
            <a:endParaRPr lang="en-US" sz="1333" dirty="0"/>
          </a:p>
          <a:p>
            <a:pPr marL="228594" indent="-228594">
              <a:spcBef>
                <a:spcPts val="0"/>
              </a:spcBef>
              <a:buSzPts val="1200"/>
            </a:pPr>
            <a:r>
              <a:rPr lang="en-US" sz="1333" dirty="0"/>
              <a:t>Encoding of Data Modeled with YANG in the CBOR</a:t>
            </a:r>
            <a:br>
              <a:rPr lang="en" sz="1333" dirty="0"/>
            </a:br>
            <a:r>
              <a:rPr lang="en" sz="1333" u="sng" dirty="0">
                <a:solidFill>
                  <a:schemeClr val="hlink"/>
                </a:solidFill>
              </a:rPr>
              <a:t>RFC </a:t>
            </a:r>
            <a:r>
              <a:rPr lang="en" sz="1333" u="sng" dirty="0">
                <a:solidFill>
                  <a:schemeClr val="hlink"/>
                </a:solidFill>
                <a:hlinkClick r:id="rId14"/>
              </a:rPr>
              <a:t>9254</a:t>
            </a:r>
            <a:endParaRPr lang="en" sz="1333" u="sng" dirty="0">
              <a:solidFill>
                <a:schemeClr val="hlink"/>
              </a:solidFill>
            </a:endParaRPr>
          </a:p>
        </p:txBody>
      </p:sp>
      <p:sp>
        <p:nvSpPr>
          <p:cNvPr id="10" name="Google Shape;1531;p46">
            <a:extLst>
              <a:ext uri="{FF2B5EF4-FFF2-40B4-BE49-F238E27FC236}">
                <a16:creationId xmlns:a16="http://schemas.microsoft.com/office/drawing/2014/main" id="{64A11574-7DDA-89DF-5BD5-1D5AFE7CCC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6124977" cy="15034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fontScale="90000"/>
          </a:bodyPr>
          <a:lstStyle/>
          <a:p>
            <a:pPr lvl="0" algn="l">
              <a:lnSpc>
                <a:spcPct val="90000"/>
              </a:lnSpc>
              <a:buClr>
                <a:schemeClr val="dk1"/>
              </a:buClr>
              <a:buSzPts val="2100"/>
            </a:pPr>
            <a:r>
              <a:rPr lang="en" sz="2933" b="1" dirty="0"/>
              <a:t>An Architecture for YANG-Push </a:t>
            </a:r>
            <a:br>
              <a:rPr lang="en" sz="2933" b="1" dirty="0"/>
            </a:br>
            <a:r>
              <a:rPr lang="en" sz="2933" b="1" dirty="0"/>
              <a:t>to Message Broker Integration </a:t>
            </a:r>
            <a:br>
              <a:rPr lang="en" sz="3600" dirty="0"/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ietf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yang</a:t>
            </a:r>
            <a:r>
              <a:rPr lang="de-CH" sz="1733" dirty="0">
                <a:solidFill>
                  <a:srgbClr val="AEABAB"/>
                </a:solidFill>
              </a:rPr>
              <a:t>-message-broker-integration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ietf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-message-broker-</a:t>
            </a:r>
            <a:r>
              <a:rPr lang="de-CH" sz="1733" dirty="0" err="1">
                <a:solidFill>
                  <a:srgbClr val="AEABAB"/>
                </a:solidFill>
              </a:rPr>
              <a:t>telemetry</a:t>
            </a:r>
            <a:r>
              <a:rPr lang="de-CH" sz="1733" dirty="0">
                <a:solidFill>
                  <a:srgbClr val="AEABAB"/>
                </a:solidFill>
              </a:rPr>
              <a:t>-message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ietf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yang</a:t>
            </a:r>
            <a:r>
              <a:rPr lang="de-CH" sz="1733" dirty="0">
                <a:solidFill>
                  <a:srgbClr val="AEABAB"/>
                </a:solidFill>
              </a:rPr>
              <a:t>-message-broker-message-</a:t>
            </a:r>
            <a:r>
              <a:rPr lang="de-CH" sz="1733" dirty="0" err="1">
                <a:solidFill>
                  <a:srgbClr val="AEABAB"/>
                </a:solidFill>
              </a:rPr>
              <a:t>key</a:t>
            </a:r>
            <a:br>
              <a:rPr lang="de-CH" sz="1733" dirty="0">
                <a:solidFill>
                  <a:srgbClr val="AEABAB"/>
                </a:solidFill>
              </a:rPr>
            </a:br>
            <a:r>
              <a:rPr lang="de-CH" sz="1733" dirty="0">
                <a:solidFill>
                  <a:srgbClr val="AEABAB"/>
                </a:solidFill>
              </a:rPr>
              <a:t>draft-</a:t>
            </a:r>
            <a:r>
              <a:rPr lang="de-CH" sz="1733" dirty="0" err="1">
                <a:solidFill>
                  <a:srgbClr val="AEABAB"/>
                </a:solidFill>
              </a:rPr>
              <a:t>netana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nmop</a:t>
            </a:r>
            <a:r>
              <a:rPr lang="de-CH" sz="1733" dirty="0">
                <a:solidFill>
                  <a:srgbClr val="AEABAB"/>
                </a:solidFill>
              </a:rPr>
              <a:t>-message-broker-</a:t>
            </a:r>
            <a:r>
              <a:rPr lang="de-CH" sz="1733" dirty="0" err="1">
                <a:solidFill>
                  <a:srgbClr val="AEABAB"/>
                </a:solidFill>
              </a:rPr>
              <a:t>bmp</a:t>
            </a:r>
            <a:r>
              <a:rPr lang="de-CH" sz="1733" dirty="0">
                <a:solidFill>
                  <a:srgbClr val="AEABAB"/>
                </a:solidFill>
              </a:rPr>
              <a:t>-</a:t>
            </a:r>
            <a:r>
              <a:rPr lang="de-CH" sz="1733" dirty="0" err="1">
                <a:solidFill>
                  <a:srgbClr val="AEABAB"/>
                </a:solidFill>
              </a:rPr>
              <a:t>telemetry</a:t>
            </a:r>
            <a:r>
              <a:rPr lang="de-CH" sz="1733" dirty="0">
                <a:solidFill>
                  <a:srgbClr val="AEABAB"/>
                </a:solidFill>
              </a:rPr>
              <a:t>-message</a:t>
            </a:r>
            <a:br>
              <a:rPr lang="de-CH" sz="1733" dirty="0">
                <a:solidFill>
                  <a:srgbClr val="AEABAB"/>
                </a:solidFill>
              </a:rPr>
            </a:br>
            <a:endParaRPr sz="1733" dirty="0"/>
          </a:p>
        </p:txBody>
      </p:sp>
      <p:sp>
        <p:nvSpPr>
          <p:cNvPr id="11" name="Google Shape;1532;p46">
            <a:extLst>
              <a:ext uri="{FF2B5EF4-FFF2-40B4-BE49-F238E27FC236}">
                <a16:creationId xmlns:a16="http://schemas.microsoft.com/office/drawing/2014/main" id="{575B41E3-AAFA-DCEA-6665-0E3C0B3CA4D6}"/>
              </a:ext>
            </a:extLst>
          </p:cNvPr>
          <p:cNvSpPr txBox="1"/>
          <p:nvPr/>
        </p:nvSpPr>
        <p:spPr>
          <a:xfrm>
            <a:off x="5955950" y="216267"/>
            <a:ext cx="5450527" cy="642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Storage 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(12)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Ingest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Data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According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Consumer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^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(10)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                                | (9)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Schema |  |            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Serialized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Schema on Consumer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Message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Broker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(8)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Serialize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(11)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| YANG-Push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|      Schema                    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annotated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v  |                  (6) Post         | ID on Producer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Schema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 YANG         | &lt;--------------- |  Data Collection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Schema Registry   | ---------------&gt; | YANG-Push Receiver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(7)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Schema ID        |  ^ (3)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Receive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                 |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v                         (4) Discover |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 Schema |  | Start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Stream        |     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Dependencies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  Catalog       |            and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Obtain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|  |   | (5) Publish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Schemas |  | 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endParaRPr lang="de-CH" sz="933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(1) Discover          |  |   | Subscriber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Notification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v  |   | ID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Capabilities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Manage YANG-Push  | ---------------&gt; |   Network Node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|   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| ---------------&gt; | YANG-Push Publisher|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  +--------------------+ (2) </a:t>
            </a:r>
            <a:r>
              <a:rPr lang="de-CH" sz="933" dirty="0" err="1">
                <a:latin typeface="Courier New"/>
                <a:ea typeface="Courier New"/>
                <a:cs typeface="Courier New"/>
                <a:sym typeface="Courier New"/>
              </a:rPr>
              <a:t>Subscribe</a:t>
            </a:r>
            <a:r>
              <a:rPr lang="de-CH" sz="933" dirty="0">
                <a:latin typeface="Courier New"/>
                <a:ea typeface="Courier New"/>
                <a:cs typeface="Courier New"/>
                <a:sym typeface="Courier New"/>
              </a:rPr>
              <a:t>    +--------------------+</a:t>
            </a:r>
            <a:endParaRPr sz="933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FBABCE45-8F6B-3984-B0EF-B4C86A7D51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4859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33FA7E77-C99D-444D-C5DB-0056DFE3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9DDC19D8-D4BA-AA5E-61E1-B0A4525A6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Publisher - Subscription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01FF5-7F7B-3666-7E0C-79E25D32BE46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23EA9-CB88-A3CF-8EA6-F7AACC2B0B97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B03EBD5C-5FD5-F8CB-6932-FF33457BA1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146658-3377-44D0-D254-CD664F57F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651" y="1434476"/>
            <a:ext cx="5582413" cy="5148886"/>
          </a:xfrm>
          <a:prstGeom prst="rect">
            <a:avLst/>
          </a:prstGeom>
        </p:spPr>
      </p:pic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9B8E9BE6-DD0F-99BA-5FF0-AD176F68E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3834837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RPC calls to create, delete and obtain YANG-Push subscriptions and receiver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385306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2012EE96-0018-6996-C41B-B7C58E31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53AAD7B6-A6B5-89DF-3082-CF9E15BC3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Publisher - Notifications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F3AB96-8CC1-4183-B953-FF51D710E242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12F44-20F3-CBF9-494C-95EF44DEAC40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653C64F2-63B1-4B12-29C8-F42780F83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 dirty="0"/>
          </a:p>
        </p:txBody>
      </p:sp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56F76BE1-A152-FF58-4794-2D4959E1E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3834837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Subscription state change notifications as JSON and PCAP.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Push update and change-update notifications as JSON and PCAP.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FBEB9-3CD2-E356-4FCC-35FD36EBC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811" y="1417639"/>
            <a:ext cx="5755669" cy="517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2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E48BD2AB-ED3A-E464-175F-E88670C9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F8866217-59C3-9562-4230-3580E12F9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UDP-Notif – DTLS and CBOR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1AFAF7-57B2-7987-99D5-B5484D625EA8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B97EA-30FD-F962-1487-48021726A3E0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E64C87A1-6890-5958-929C-2F26234DE0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605D30-1CC0-030C-82E1-9C055A7B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50" y="2440420"/>
            <a:ext cx="5071015" cy="3719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BF8E69-25C2-F773-DBE5-1317A3E69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132" y="2440420"/>
            <a:ext cx="5781378" cy="3719015"/>
          </a:xfrm>
          <a:prstGeom prst="rect">
            <a:avLst/>
          </a:prstGeom>
        </p:spPr>
      </p:pic>
      <p:sp>
        <p:nvSpPr>
          <p:cNvPr id="13" name="Google Shape;1522;p45">
            <a:extLst>
              <a:ext uri="{FF2B5EF4-FFF2-40B4-BE49-F238E27FC236}">
                <a16:creationId xmlns:a16="http://schemas.microsoft.com/office/drawing/2014/main" id="{294199AF-DE49-CEF5-3B42-4C0ED64CB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7381" y="1417639"/>
            <a:ext cx="10418937" cy="8493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With Cisco IOS XR, 6Wind VSR and Arrcus Arcos we have now three implementations support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  <a:hlinkClick r:id="rId5"/>
              </a:rPr>
              <a:t>CBOR Name Identifiers </a:t>
            </a:r>
            <a:endParaRPr lang="en" sz="1600" dirty="0">
              <a:latin typeface="Calibri"/>
              <a:ea typeface="Calibri"/>
              <a:cs typeface="Calibri"/>
              <a:sym typeface="Calibri"/>
            </a:endParaRP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ea typeface="Calibri"/>
                <a:cs typeface="Calibri"/>
                <a:sym typeface="Calibri"/>
              </a:rPr>
              <a:t>With Cisco IOS XR we have the first implementation support </a:t>
            </a:r>
            <a:r>
              <a:rPr lang="en" sz="1600" dirty="0">
                <a:ea typeface="Calibri"/>
                <a:cs typeface="Calibri"/>
                <a:sym typeface="Calibri"/>
                <a:hlinkClick r:id="rId6"/>
              </a:rPr>
              <a:t>DTLS 1.2 in UDP-Notif</a:t>
            </a:r>
            <a:r>
              <a:rPr lang="en" sz="1600" dirty="0">
                <a:ea typeface="Calibri"/>
                <a:cs typeface="Calibri"/>
                <a:sym typeface="Calibri"/>
              </a:rPr>
              <a:t>.</a:t>
            </a:r>
            <a:endParaRPr lang="en" sz="16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5838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BBCD6CB7-1F92-3E93-79DF-00615991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3D996E3F-3C50-B6F1-48E1-B0BA03B6F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YANG-Push Capabilities &amp; YANG Lib</a:t>
            </a:r>
            <a:r>
              <a:rPr lang="de-CH" sz="4533" dirty="0"/>
              <a:t>r</a:t>
            </a:r>
            <a:r>
              <a:rPr lang="en" sz="4533" dirty="0"/>
              <a:t>ary - RPC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289D24-3570-B0F2-DD7C-21179905022C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75B5C-3C14-DCE6-34D6-2E3C6875A055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55DD11AD-51A0-3455-0F61-CBDE2353B0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 dirty="0"/>
          </a:p>
        </p:txBody>
      </p:sp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EA234121-DE88-D68E-0FD9-976CDBB2D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8396446" cy="21897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XML encoded reply for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  <a:hlinkClick r:id="rId3"/>
              </a:rPr>
              <a:t>RFC 9196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YANG-Push capabilities.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Netconf XML encoded reply  for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  <a:hlinkClick r:id="rId4"/>
              </a:rPr>
              <a:t>RFC 8525 </a:t>
            </a: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de-CH" sz="1600" dirty="0">
                <a:ea typeface="Calibri"/>
                <a:cs typeface="Calibri"/>
                <a:sym typeface="Calibri"/>
                <a:hlinkClick r:id="rId5"/>
              </a:rPr>
              <a:t>draft-</a:t>
            </a:r>
            <a:r>
              <a:rPr lang="de-CH" sz="1600" dirty="0" err="1">
                <a:ea typeface="Calibri"/>
                <a:cs typeface="Calibri"/>
                <a:sym typeface="Calibri"/>
                <a:hlinkClick r:id="rId5"/>
              </a:rPr>
              <a:t>ietf</a:t>
            </a:r>
            <a:r>
              <a:rPr lang="de-CH" sz="1600" dirty="0">
                <a:ea typeface="Calibri"/>
                <a:cs typeface="Calibri"/>
                <a:sym typeface="Calibri"/>
                <a:hlinkClick r:id="rId5"/>
              </a:rPr>
              <a:t>-netconf-</a:t>
            </a:r>
            <a:r>
              <a:rPr lang="de-CH" sz="1600" dirty="0" err="1">
                <a:ea typeface="Calibri"/>
                <a:cs typeface="Calibri"/>
                <a:sym typeface="Calibri"/>
                <a:hlinkClick r:id="rId5"/>
              </a:rPr>
              <a:t>yang</a:t>
            </a:r>
            <a:r>
              <a:rPr lang="de-CH" sz="1600" dirty="0">
                <a:ea typeface="Calibri"/>
                <a:cs typeface="Calibri"/>
                <a:sym typeface="Calibri"/>
                <a:hlinkClick r:id="rId5"/>
              </a:rPr>
              <a:t>-</a:t>
            </a:r>
            <a:r>
              <a:rPr lang="de-CH" sz="1600" dirty="0" err="1">
                <a:ea typeface="Calibri"/>
                <a:cs typeface="Calibri"/>
                <a:sym typeface="Calibri"/>
                <a:hlinkClick r:id="rId5"/>
              </a:rPr>
              <a:t>library-augmentedby</a:t>
            </a:r>
            <a:r>
              <a:rPr lang="de-CH" sz="1600" dirty="0">
                <a:ea typeface="Calibri"/>
                <a:cs typeface="Calibri"/>
                <a:sym typeface="Calibri"/>
              </a:rPr>
              <a:t>.</a:t>
            </a:r>
            <a:endParaRPr lang="en" sz="16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18685-B89C-880C-44A0-31CBD603A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63" y="3188888"/>
            <a:ext cx="926911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1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7A1754DF-BFD9-6CEE-E187-3DBD4CC7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755E8-EC21-6A3B-4AEA-55AE3AF2094E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4C505-90AC-FBB6-6CD8-D72DCB65D929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E3507CCC-E28A-A9EF-7C54-FE287DD592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FFFE766-17F6-D669-4B6B-5FC7ED4069D7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kern="0" dirty="0">
                <a:solidFill>
                  <a:srgbClr val="000000"/>
                </a:solidFill>
              </a:rPr>
              <a:t>YANG-Push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kern="0" dirty="0">
                <a:solidFill>
                  <a:srgbClr val="AEABAB"/>
                </a:solidFill>
              </a:rPr>
              <a:t>IETF </a:t>
            </a:r>
            <a:r>
              <a:rPr lang="de-CH" sz="2667" dirty="0">
                <a:solidFill>
                  <a:srgbClr val="AEABAB"/>
                </a:solidFill>
              </a:rPr>
              <a:t>126 Publisher Implementation </a:t>
            </a:r>
            <a:r>
              <a:rPr lang="de-CH" sz="2667" kern="0" dirty="0">
                <a:solidFill>
                  <a:srgbClr val="AEABAB"/>
                </a:solidFill>
              </a:rPr>
              <a:t>Status</a:t>
            </a:r>
          </a:p>
        </p:txBody>
      </p:sp>
      <p:graphicFrame>
        <p:nvGraphicFramePr>
          <p:cNvPr id="17" name="Google Shape;1617;p55">
            <a:extLst>
              <a:ext uri="{FF2B5EF4-FFF2-40B4-BE49-F238E27FC236}">
                <a16:creationId xmlns:a16="http://schemas.microsoft.com/office/drawing/2014/main" id="{5ECCBFC6-73D0-E6BC-CB73-B40DF9A7A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14294"/>
              </p:ext>
            </p:extLst>
          </p:nvPr>
        </p:nvGraphicFramePr>
        <p:xfrm>
          <a:off x="815424" y="1370031"/>
          <a:ext cx="9648220" cy="496685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174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573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75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108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  <a:gridCol w="746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036">
                  <a:extLst>
                    <a:ext uri="{9D8B030D-6E8A-4147-A177-3AD203B41FA5}">
                      <a16:colId xmlns:a16="http://schemas.microsoft.com/office/drawing/2014/main" val="3525373323"/>
                    </a:ext>
                  </a:extLst>
                </a:gridCol>
              </a:tblGrid>
              <a:tr h="577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</a:t>
                      </a:r>
                      <a:endParaRPr sz="14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dirty="0"/>
                        <a:t>Ductus DMAP</a:t>
                      </a:r>
                      <a:endParaRPr sz="1400" b="1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8639 YANG-Push Subscription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8641 YANG-Push Notification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draft-ietf-netconf-udp-notif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draft-ietf-netconf-udp-notif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DTLS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043927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envelope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de-CH" sz="1600" b="0" i="0" u="none" strike="noStrike" cap="none" dirty="0">
                          <a:solidFill>
                            <a:schemeClr val="accent6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de-CH" sz="1600" b="0" i="0" u="none" strike="noStrike" cap="none" dirty="0">
                        <a:solidFill>
                          <a:schemeClr val="accent6"/>
                        </a:solidFill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notifications-versioning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8525 YANG Library</a:t>
                      </a:r>
                      <a:endParaRPr sz="16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draft-ietf-netconf-yang-library-augmentation</a:t>
                      </a:r>
                      <a:endParaRPr sz="160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9196 System and Notification Capabilities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de-CH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draft-netana-netconf-yp-transport-capabilities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9254 CBOR Named Identifiers</a:t>
                      </a:r>
                      <a:endParaRPr lang="en-US" sz="1600" u="none" strike="noStrike" kern="1200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796846"/>
                  </a:ext>
                </a:extLst>
              </a:tr>
            </a:tbl>
          </a:graphicData>
        </a:graphic>
      </p:graphicFrame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A350FCEA-6E80-6AEA-E88A-9B2A5E449AD1}"/>
              </a:ext>
            </a:extLst>
          </p:cNvPr>
          <p:cNvSpPr txBox="1"/>
          <p:nvPr/>
        </p:nvSpPr>
        <p:spPr>
          <a:xfrm>
            <a:off x="815424" y="6352981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126.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5A9D6B90-0053-C962-54DC-C5C0EDD4D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47403" y="136820"/>
            <a:ext cx="1722118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283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529A6BF7-D5ED-B109-4A34-CA3A3637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14971D-785A-BB4F-8B14-17C1A5D4CE45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5CE53-3265-1DD9-3C79-EEBD0A194FC1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3B879DA6-564A-7051-69F5-49C48C8B4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AB3B5A3-BA47-369D-3D2B-5283DC573BC2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dirty="0">
                <a:solidFill>
                  <a:srgbClr val="000000"/>
                </a:solidFill>
              </a:rPr>
              <a:t>Operational IETF/IEEE YANG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dirty="0">
                <a:solidFill>
                  <a:srgbClr val="AEABAB"/>
                </a:solidFill>
              </a:rPr>
              <a:t>IETF 126 Module Implementation Status</a:t>
            </a:r>
            <a:endParaRPr lang="de-CH" sz="2667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9B870C59-13A4-06EE-06E8-D7BBE5C3B479}"/>
              </a:ext>
            </a:extLst>
          </p:cNvPr>
          <p:cNvSpPr txBox="1"/>
          <p:nvPr/>
        </p:nvSpPr>
        <p:spPr>
          <a:xfrm>
            <a:off x="815425" y="6155149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126.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D3895974-3045-C97E-ABDB-DB5597C97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47403" y="136820"/>
            <a:ext cx="1722118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A107FAE6-D7B4-1153-52E9-1B1F1A1D3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0173676"/>
              </p:ext>
            </p:extLst>
          </p:nvPr>
        </p:nvGraphicFramePr>
        <p:xfrm>
          <a:off x="818716" y="1575375"/>
          <a:ext cx="8666205" cy="38627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39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570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ietf-interfaces.yang</a:t>
                      </a: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ietf-hardware.yang</a:t>
                      </a:r>
                      <a:r>
                        <a:rPr lang="en-US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ietf-alarms.yang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ieee802-dot1ab-lldp.yang (inventory and state)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ieee802-dot1ax.yang (inventory, state and statistic)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ietf-bfd-ip-sh.yang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ietf-bfd-ip-mh.yang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ietf-bfd-lag.yang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dirty="0"/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ietf-isis.yang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681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13786091-A017-6FC9-0F48-AAC28526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C01454-EB1E-A0B2-7D91-DF1EF096CBF5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87497-A9EA-7211-01D3-2DDA431A6915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035FA214-16B0-2899-B357-0D4BDF2D0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501A433C-2098-C817-EE16-847A004F8D61}"/>
              </a:ext>
            </a:extLst>
          </p:cNvPr>
          <p:cNvSpPr txBox="1">
            <a:spLocks/>
          </p:cNvSpPr>
          <p:nvPr/>
        </p:nvSpPr>
        <p:spPr>
          <a:xfrm>
            <a:off x="690880" y="1"/>
            <a:ext cx="6563360" cy="115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667" b="1" dirty="0">
                <a:solidFill>
                  <a:srgbClr val="000000"/>
                </a:solidFill>
              </a:rPr>
              <a:t>YANG Message Broker</a:t>
            </a:r>
            <a:br>
              <a:rPr lang="de-CH" sz="5333" kern="0" dirty="0">
                <a:solidFill>
                  <a:srgbClr val="000000"/>
                </a:solidFill>
              </a:rPr>
            </a:br>
            <a:r>
              <a:rPr lang="de-CH" sz="2667" dirty="0">
                <a:solidFill>
                  <a:srgbClr val="AEABAB"/>
                </a:solidFill>
              </a:rPr>
              <a:t>IETF 126 Implementation Status</a:t>
            </a:r>
            <a:endParaRPr lang="de-CH" sz="2667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5A963854-3EC6-087D-C527-92986F221A3B}"/>
              </a:ext>
            </a:extLst>
          </p:cNvPr>
          <p:cNvSpPr txBox="1"/>
          <p:nvPr/>
        </p:nvSpPr>
        <p:spPr>
          <a:xfrm>
            <a:off x="815425" y="6127323"/>
            <a:ext cx="9019823" cy="41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81244" rIns="162533" bIns="81244" anchor="t" anchorCtr="0">
            <a:spAutoFit/>
          </a:bodyPr>
          <a:lstStyle/>
          <a:p>
            <a:pPr defTabSz="1625519">
              <a:buClr>
                <a:srgbClr val="92D050"/>
              </a:buClr>
              <a:buSzPts val="1200"/>
              <a:defRPr/>
            </a:pPr>
            <a:r>
              <a:rPr lang="en" sz="16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126. </a:t>
            </a:r>
            <a:r>
              <a:rPr lang="en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7699E31-B0AD-E40F-C5F9-5ABC071A8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47604" y="136820"/>
            <a:ext cx="1721717" cy="115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20D70089-A937-8B76-C6A7-4F44AECC9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071113"/>
              </p:ext>
            </p:extLst>
          </p:nvPr>
        </p:nvGraphicFramePr>
        <p:xfrm>
          <a:off x="815425" y="1534627"/>
          <a:ext cx="8743060" cy="384001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637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989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4637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548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NetGauze®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Pmacct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Apache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Kafka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Ciena</a:t>
                      </a:r>
                      <a:b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4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Blueplanet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de-CH" sz="14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4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Crosswork</a:t>
                      </a:r>
                      <a:endParaRPr sz="14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nmop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-message-broker-</a:t>
                      </a:r>
                      <a:r>
                        <a:rPr lang="de-CH" sz="16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telemetry</a:t>
                      </a: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57491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YANG-Push Receiver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Retrieval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356685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Producer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Registry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Consumer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Telemetry Message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against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YANG Schema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72739"/>
                  </a:ext>
                </a:extLst>
              </a:tr>
              <a:tr h="3657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netmod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anydata</a:t>
                      </a: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-validation</a:t>
                      </a: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6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6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</a:t>
                      </a:r>
                      <a:r>
                        <a:rPr lang="de-CH" sz="16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Comparison</a:t>
                      </a:r>
                      <a:endParaRPr lang="de-CH" sz="16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6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6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6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12711" marR="12711" marT="12711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7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069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A8C7286C-A9A1-4E76-AD48-2673C611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>
            <a:extLst>
              <a:ext uri="{FF2B5EF4-FFF2-40B4-BE49-F238E27FC236}">
                <a16:creationId xmlns:a16="http://schemas.microsoft.com/office/drawing/2014/main" id="{49DB6F02-E0BB-A29E-F028-DC4EA2F8FB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3800"/>
            </a:pPr>
            <a:r>
              <a:rPr lang="en" sz="4533" dirty="0"/>
              <a:t>YANG Library Feature Comparison </a:t>
            </a:r>
            <a:endParaRPr sz="4533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749560-2E17-BB63-D897-E5D4D83B263A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0CF7E-CB8B-5FB6-4B51-0A55BFBD8670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3733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99BE356F-6A9B-1323-FA07-2648D2B983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76531" y="6352981"/>
            <a:ext cx="24541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 dirty="0"/>
          </a:p>
        </p:txBody>
      </p:sp>
      <p:sp>
        <p:nvSpPr>
          <p:cNvPr id="11" name="Google Shape;1522;p45">
            <a:extLst>
              <a:ext uri="{FF2B5EF4-FFF2-40B4-BE49-F238E27FC236}">
                <a16:creationId xmlns:a16="http://schemas.microsoft.com/office/drawing/2014/main" id="{BB8D74FA-BFBD-F2E9-6933-639CEAC7E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7163" y="1697611"/>
            <a:ext cx="3834837" cy="12949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ea typeface="Calibri"/>
                <a:cs typeface="Calibri"/>
                <a:sym typeface="Calibri"/>
              </a:rPr>
              <a:t>An extensive YANG feature comparison between the different YANG library open-source implementations.</a:t>
            </a:r>
          </a:p>
          <a:p>
            <a:pPr marL="435417" indent="-435417">
              <a:lnSpc>
                <a:spcPct val="90000"/>
              </a:lnSpc>
              <a:spcBef>
                <a:spcPts val="8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600" dirty="0">
                <a:ea typeface="Calibri"/>
                <a:cs typeface="Calibri"/>
                <a:sym typeface="Calibri"/>
              </a:rPr>
              <a:t>Focuses on YANG features needed to validate YANG instance data against YANG schema and performing YANG to YANG transformations.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75D2F-D3C6-1E3E-7B32-A3EF56A03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121" y="1551389"/>
            <a:ext cx="6224183" cy="3580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3BE3A-39F6-0022-F166-599CCA1463B8}"/>
              </a:ext>
            </a:extLst>
          </p:cNvPr>
          <p:cNvSpPr txBox="1"/>
          <p:nvPr/>
        </p:nvSpPr>
        <p:spPr>
          <a:xfrm>
            <a:off x="3470564" y="5706650"/>
            <a:ext cx="7652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sz="1600" dirty="0">
                <a:hlinkClick r:id="rId4"/>
              </a:rPr>
              <a:t>https://github.com/network-analytics/yang_tests/blob/master/report_v2.pdf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2755856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8F82-5D2F-BC90-43F9-81651D86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7DDB-21B5-67D8-ADB5-503A3599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SzPts val="3800"/>
            </a:pPr>
            <a:r>
              <a:rPr lang="en-US" sz="4533" dirty="0"/>
              <a:t>Next Steps from IETF 125 Hackathon…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C2B84D-0952-8FD4-2C86-DD67CE4D80B5}"/>
              </a:ext>
            </a:extLst>
          </p:cNvPr>
          <p:cNvSpPr txBox="1">
            <a:spLocks/>
          </p:cNvSpPr>
          <p:nvPr/>
        </p:nvSpPr>
        <p:spPr>
          <a:xfrm>
            <a:off x="720000" y="1825625"/>
            <a:ext cx="9761480" cy="329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Re-do YANG Message Broker Consumer tests on updated testbed with Ciena Blue Planet UAA Workflow Engine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Complete IETF YANG module subscription tests with 6Wind VSR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Compare YANG feature coverage between </a:t>
            </a:r>
            <a:r>
              <a:rPr lang="en-US" sz="2267" dirty="0" err="1">
                <a:hlinkClick r:id="rId2"/>
              </a:rPr>
              <a:t>libyang</a:t>
            </a:r>
            <a:r>
              <a:rPr lang="en-US" sz="2267" dirty="0"/>
              <a:t>, </a:t>
            </a:r>
            <a:r>
              <a:rPr lang="en-US" sz="2267" dirty="0" err="1">
                <a:hlinkClick r:id="rId3"/>
              </a:rPr>
              <a:t>yangkit</a:t>
            </a:r>
            <a:r>
              <a:rPr lang="en-US" sz="2267" dirty="0"/>
              <a:t> and </a:t>
            </a:r>
            <a:r>
              <a:rPr lang="en-US" sz="2267" dirty="0" err="1">
                <a:hlinkClick r:id="rId4"/>
              </a:rPr>
              <a:t>yangtools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Revert </a:t>
            </a:r>
            <a:r>
              <a:rPr lang="en-US" sz="2267" dirty="0">
                <a:hlinkClick r:id="rId5"/>
              </a:rPr>
              <a:t>import only modules for augmented-by </a:t>
            </a:r>
            <a:r>
              <a:rPr lang="en-US" sz="2267" dirty="0"/>
              <a:t>workaround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>
                <a:hlinkClick r:id="rId6"/>
              </a:rPr>
              <a:t>Preserve cached YANG-Push subscription state across receiver reload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>
                <a:hlinkClick r:id="rId7"/>
              </a:rPr>
              <a:t>Obtain YANG-Push subscription state from publisher if missing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Netconf session queuing for schema retrieval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</a:t>
            </a:r>
            <a:r>
              <a:rPr lang="en-US" sz="2267" dirty="0" err="1"/>
              <a:t>libyang</a:t>
            </a:r>
            <a:r>
              <a:rPr lang="en-US" sz="2267" dirty="0"/>
              <a:t> 5.4.9 in YANG-Push Receiver and Message Broker Consumer</a:t>
            </a:r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>
                <a:hlinkClick r:id="rId8"/>
              </a:rPr>
              <a:t>Message Key and Topic Name proof of concept</a:t>
            </a:r>
            <a:endParaRPr lang="en-US" sz="226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06BA-8C31-6027-6A59-19A61A4E92F4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1C530-AF29-FCB1-1AC4-4CF6DC96BEA2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9" name="Google Shape;1523;p45">
            <a:extLst>
              <a:ext uri="{FF2B5EF4-FFF2-40B4-BE49-F238E27FC236}">
                <a16:creationId xmlns:a16="http://schemas.microsoft.com/office/drawing/2014/main" id="{4278CCB4-5174-944F-86E2-7562992D4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2401" y="6352981"/>
            <a:ext cx="33954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14E3782D-487C-5895-C400-7CFF02FE9C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9705" y="1802044"/>
            <a:ext cx="548203" cy="548203"/>
          </a:xfrm>
          <a:prstGeom prst="rect">
            <a:avLst/>
          </a:prstGeom>
        </p:spPr>
      </p:pic>
      <p:pic>
        <p:nvPicPr>
          <p:cNvPr id="5" name="Picture 4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7627A04-5ACB-2493-F722-488169BA1A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4901" y="2307028"/>
            <a:ext cx="548203" cy="548203"/>
          </a:xfrm>
          <a:prstGeom prst="rect">
            <a:avLst/>
          </a:prstGeom>
        </p:spPr>
      </p:pic>
      <p:pic>
        <p:nvPicPr>
          <p:cNvPr id="8" name="Picture 7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B9EAFCCD-78F9-ED7E-C5F6-4CDC0A9111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2810655"/>
            <a:ext cx="548203" cy="548203"/>
          </a:xfrm>
          <a:prstGeom prst="rect">
            <a:avLst/>
          </a:prstGeom>
        </p:spPr>
      </p:pic>
      <p:pic>
        <p:nvPicPr>
          <p:cNvPr id="10" name="Picture 9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44EEFF8-28EB-AABD-B98B-022445B5DE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3348625"/>
            <a:ext cx="548203" cy="548203"/>
          </a:xfrm>
          <a:prstGeom prst="rect">
            <a:avLst/>
          </a:prstGeom>
        </p:spPr>
      </p:pic>
      <p:pic>
        <p:nvPicPr>
          <p:cNvPr id="11" name="Picture 10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8E9142F-731D-24E6-01FD-F7E525BD84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3962396"/>
            <a:ext cx="548203" cy="548203"/>
          </a:xfrm>
          <a:prstGeom prst="rect">
            <a:avLst/>
          </a:prstGeom>
        </p:spPr>
      </p:pic>
      <p:pic>
        <p:nvPicPr>
          <p:cNvPr id="12" name="Picture 11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78661CE5-AB28-C054-5975-391B82CC0D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1480" y="4434799"/>
            <a:ext cx="548203" cy="548203"/>
          </a:xfrm>
          <a:prstGeom prst="rect">
            <a:avLst/>
          </a:prstGeom>
        </p:spPr>
      </p:pic>
      <p:pic>
        <p:nvPicPr>
          <p:cNvPr id="13" name="Picture 12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5FDC4080-7DA9-34E9-74B9-93D13734B4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5584" y="4915835"/>
            <a:ext cx="548203" cy="548203"/>
          </a:xfrm>
          <a:prstGeom prst="rect">
            <a:avLst/>
          </a:prstGeom>
        </p:spPr>
      </p:pic>
      <p:pic>
        <p:nvPicPr>
          <p:cNvPr id="14" name="Picture 13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6AEFD3DE-2F2A-33DA-E787-B482BC94EC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5583" y="5365949"/>
            <a:ext cx="548203" cy="54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13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D01D8-A137-56E2-7F33-BDDF3DF7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9892-8D71-893A-C801-A1A88154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SzPts val="3800"/>
            </a:pPr>
            <a:r>
              <a:rPr lang="en-US" sz="4533" dirty="0"/>
              <a:t>Next Steps for IETF 127 Hackathon…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414349-C8F0-A8B2-1397-DF24059FF38F}"/>
              </a:ext>
            </a:extLst>
          </p:cNvPr>
          <p:cNvSpPr txBox="1">
            <a:spLocks/>
          </p:cNvSpPr>
          <p:nvPr/>
        </p:nvSpPr>
        <p:spPr>
          <a:xfrm>
            <a:off x="720000" y="1825625"/>
            <a:ext cx="9761480" cy="329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building </a:t>
            </a:r>
            <a:r>
              <a:rPr lang="en-US" sz="2267" dirty="0">
                <a:hlinkClick r:id="rId2"/>
              </a:rPr>
              <a:t>RFC 8525 YANG Library in Java Message Broker Consumer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draft-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netana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nmop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yang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</a:t>
            </a:r>
            <a:r>
              <a:rPr lang="de-CH" sz="2400" dirty="0" err="1">
                <a:solidFill>
                  <a:schemeClr val="dk1"/>
                </a:solidFill>
                <a:hlinkClick r:id="rId3"/>
              </a:rPr>
              <a:t>anydata</a:t>
            </a:r>
            <a:r>
              <a:rPr lang="de-CH" sz="2400" dirty="0">
                <a:solidFill>
                  <a:schemeClr val="dk1"/>
                </a:solidFill>
                <a:hlinkClick r:id="rId3"/>
              </a:rPr>
              <a:t>-validation</a:t>
            </a:r>
            <a:r>
              <a:rPr lang="de-CH" sz="2400" dirty="0">
                <a:solidFill>
                  <a:schemeClr val="dk1"/>
                </a:solidFill>
              </a:rPr>
              <a:t> and RFC 8525 YANG </a:t>
            </a:r>
            <a:r>
              <a:rPr lang="de-CH" sz="2400" dirty="0" err="1">
                <a:solidFill>
                  <a:schemeClr val="dk1"/>
                </a:solidFill>
              </a:rPr>
              <a:t>library</a:t>
            </a:r>
            <a:r>
              <a:rPr lang="de-CH" sz="2400" dirty="0">
                <a:solidFill>
                  <a:schemeClr val="dk1"/>
                </a:solidFill>
              </a:rPr>
              <a:t> in </a:t>
            </a:r>
            <a:r>
              <a:rPr lang="de-CH" sz="2400" dirty="0" err="1">
                <a:solidFill>
                  <a:schemeClr val="dk1"/>
                </a:solidFill>
              </a:rPr>
              <a:t>yangkit</a:t>
            </a:r>
            <a:endParaRPr lang="en-US" sz="2267" dirty="0"/>
          </a:p>
          <a:p>
            <a:pPr marL="380990" indent="-38099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67" dirty="0"/>
              <a:t>Support </a:t>
            </a:r>
            <a:r>
              <a:rPr lang="en-US" sz="2267" dirty="0">
                <a:hlinkClick r:id="rId4"/>
              </a:rPr>
              <a:t>YANG-Push Message Broker Topic Naming</a:t>
            </a:r>
            <a:r>
              <a:rPr lang="en-US" sz="2267" dirty="0"/>
              <a:t> with </a:t>
            </a:r>
            <a:r>
              <a:rPr lang="en-US" sz="2267" dirty="0">
                <a:hlinkClick r:id="rId5"/>
              </a:rPr>
              <a:t>dynamic Apache Kafka topic creation API</a:t>
            </a:r>
            <a:endParaRPr lang="en-US" sz="226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CAD4D-8FC5-C49E-F033-C474E654B659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DFAF-1252-2FB9-75AD-DB4EA57D699F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9" name="Google Shape;1523;p45">
            <a:extLst>
              <a:ext uri="{FF2B5EF4-FFF2-40B4-BE49-F238E27FC236}">
                <a16:creationId xmlns:a16="http://schemas.microsoft.com/office/drawing/2014/main" id="{8AE562E4-22AE-A59B-0126-FD13715431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2401" y="6352981"/>
            <a:ext cx="33954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47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5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normAutofit/>
          </a:bodyPr>
          <a:lstStyle/>
          <a:p>
            <a:pPr algn="l">
              <a:buSzPts val="4400"/>
            </a:pPr>
            <a:r>
              <a:rPr lang="en-US" dirty="0"/>
              <a:t>Thanks to…</a:t>
            </a:r>
          </a:p>
        </p:txBody>
      </p:sp>
      <p:sp>
        <p:nvSpPr>
          <p:cNvPr id="1652" name="Google Shape;1652;p59"/>
          <p:cNvSpPr txBox="1">
            <a:spLocks noGrp="1"/>
          </p:cNvSpPr>
          <p:nvPr>
            <p:ph type="body" idx="1"/>
          </p:nvPr>
        </p:nvSpPr>
        <p:spPr>
          <a:xfrm>
            <a:off x="719434" y="1417640"/>
            <a:ext cx="4939687" cy="53007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t" anchorCtr="0">
            <a:noAutofit/>
          </a:bodyPr>
          <a:lstStyle/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Jiaxin PAN – Huawei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 err="1"/>
              <a:t>Zhengliang</a:t>
            </a:r>
            <a:r>
              <a:rPr lang="de-CH" sz="1800" dirty="0"/>
              <a:t> Li – Huawei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/>
              <a:t>Xiao Chen - Huawei</a:t>
            </a:r>
            <a:endParaRPr lang="en-US" sz="1800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Rob Wilton – Cisco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Dan Voyer – Cisco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/>
              <a:t>Muthumayan Madhayyan </a:t>
            </a:r>
            <a:r>
              <a:rPr lang="en-US" sz="1800" dirty="0"/>
              <a:t>- Cisco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Jérémie Leska – 6Wind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Per Anderson - Ductus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Deepya Mandadi – Ciena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Sivakumar Sundaravadivel – Ciena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/>
              <a:t>IJsbrand Wijnands – </a:t>
            </a:r>
            <a:r>
              <a:rPr lang="de-CH" sz="1800" dirty="0" err="1"/>
              <a:t>Arrcus</a:t>
            </a:r>
            <a:endParaRPr lang="de-CH" sz="1800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/>
              <a:t>Irfan Mohammad – </a:t>
            </a:r>
            <a:r>
              <a:rPr lang="de-CH" sz="1800" dirty="0" err="1"/>
              <a:t>Arrcus</a:t>
            </a:r>
            <a:endParaRPr lang="de-CH" sz="1800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Benoit Claise - Everything OPS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Paolo Lucente – </a:t>
            </a:r>
            <a:r>
              <a:rPr lang="en-US" sz="1800" dirty="0" err="1"/>
              <a:t>Pmacct</a:t>
            </a:r>
            <a:endParaRPr lang="en-US" sz="1800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/>
              <a:t>Vivekananda Boudia – INSA Lyon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/>
              <a:t>Alex Huang Feng – INSA Lyon/T-Systems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Maxence Younsi – INSA Lyon/Swisscom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800" dirty="0"/>
              <a:t>Ashvanth Kumar Selvakumaran - Telus</a:t>
            </a:r>
            <a:endParaRPr lang="en-US" sz="1800" dirty="0"/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Leonardo Rodoni - Swisscom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Ahmed Elhassany – Swisscom</a:t>
            </a:r>
          </a:p>
          <a:p>
            <a:pPr marL="304792" indent="-304792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800" dirty="0"/>
              <a:t>Thomas Graf – Swisscom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85942-4EFE-2A7C-6BC7-685C09AA3452}"/>
              </a:ext>
            </a:extLst>
          </p:cNvPr>
          <p:cNvSpPr/>
          <p:nvPr/>
        </p:nvSpPr>
        <p:spPr>
          <a:xfrm>
            <a:off x="11450426" y="0"/>
            <a:ext cx="741575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" name="Google Shape;1523;p45">
            <a:extLst>
              <a:ext uri="{FF2B5EF4-FFF2-40B4-BE49-F238E27FC236}">
                <a16:creationId xmlns:a16="http://schemas.microsoft.com/office/drawing/2014/main" id="{57606C87-9C1E-6457-318F-CEFD173CD5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82401" y="6352982"/>
            <a:ext cx="339545" cy="3692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0933" tIns="60933" rIns="60933" bIns="60933" rtlCol="0" anchor="ctr" anchorCtr="0">
            <a:spAutoFit/>
          </a:bodyPr>
          <a:lstStyle/>
          <a:p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130D3-D5E4-140D-AC74-7554E8B5290B}"/>
              </a:ext>
            </a:extLst>
          </p:cNvPr>
          <p:cNvSpPr txBox="1"/>
          <p:nvPr/>
        </p:nvSpPr>
        <p:spPr>
          <a:xfrm rot="5400000">
            <a:off x="8751239" y="2855495"/>
            <a:ext cx="6096000" cy="66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733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3733" dirty="0">
              <a:solidFill>
                <a:schemeClr val="bg1"/>
              </a:solidFill>
            </a:endParaRPr>
          </a:p>
        </p:txBody>
      </p:sp>
      <p:sp>
        <p:nvSpPr>
          <p:cNvPr id="5" name="Google Shape;1652;p59">
            <a:extLst>
              <a:ext uri="{FF2B5EF4-FFF2-40B4-BE49-F238E27FC236}">
                <a16:creationId xmlns:a16="http://schemas.microsoft.com/office/drawing/2014/main" id="{7AC0F6D0-09C7-5DA3-2396-EC6BDBBAFEDC}"/>
              </a:ext>
            </a:extLst>
          </p:cNvPr>
          <p:cNvSpPr txBox="1">
            <a:spLocks/>
          </p:cNvSpPr>
          <p:nvPr/>
        </p:nvSpPr>
        <p:spPr>
          <a:xfrm>
            <a:off x="5247760" y="4707082"/>
            <a:ext cx="5789512" cy="183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SzPts val="1300"/>
              <a:buNone/>
            </a:pPr>
            <a:r>
              <a:rPr lang="en-US" sz="2667" b="1" dirty="0">
                <a:solidFill>
                  <a:schemeClr val="tx1"/>
                </a:solidFill>
              </a:rPr>
              <a:t>Want to know more then join us at…</a:t>
            </a:r>
            <a:br>
              <a:rPr lang="en-US" sz="2667" b="1" dirty="0">
                <a:solidFill>
                  <a:schemeClr val="tx1"/>
                </a:solidFill>
              </a:rPr>
            </a:br>
            <a:r>
              <a:rPr lang="en-US" sz="1733" dirty="0"/>
              <a:t> </a:t>
            </a:r>
          </a:p>
          <a:p>
            <a:pPr marL="380990" indent="-380990">
              <a:lnSpc>
                <a:spcPct val="90000"/>
              </a:lnSpc>
              <a:spcBef>
                <a:spcPts val="0"/>
              </a:spcBef>
              <a:buSzPts val="1300"/>
            </a:pPr>
            <a:r>
              <a:rPr lang="en-US" sz="1733" dirty="0"/>
              <a:t>NMOP on </a:t>
            </a:r>
            <a:r>
              <a:rPr lang="en-US" sz="1733" b="1" dirty="0"/>
              <a:t>Monday 09:00 – 11:00</a:t>
            </a:r>
            <a:r>
              <a:rPr lang="en-US" sz="1733" dirty="0"/>
              <a:t> at the Grand Klimt Hall 2 for Message Broker, Message Key, BMP Telemetry Message document updates and hackathon related details.</a:t>
            </a:r>
          </a:p>
          <a:p>
            <a:pPr marL="380990" indent="-380990">
              <a:lnSpc>
                <a:spcPct val="90000"/>
              </a:lnSpc>
              <a:spcBef>
                <a:spcPts val="0"/>
              </a:spcBef>
              <a:buSzPts val="1300"/>
            </a:pPr>
            <a:r>
              <a:rPr lang="en-US" sz="1733" dirty="0"/>
              <a:t>NETMOD on </a:t>
            </a:r>
            <a:r>
              <a:rPr lang="en-US" sz="1733" b="1" dirty="0"/>
              <a:t>Thursday 09:00 – 11:00</a:t>
            </a:r>
            <a:r>
              <a:rPr lang="en-US" sz="1733" dirty="0"/>
              <a:t> at the Grand Klimt Hall 1 for YANG Library feature comparison related details.</a:t>
            </a:r>
          </a:p>
        </p:txBody>
      </p:sp>
      <p:pic>
        <p:nvPicPr>
          <p:cNvPr id="1026" name="4CD1093B-8C30-41C2-B696-A1EDA3707D17" descr="IMG_6121.JPG">
            <a:extLst>
              <a:ext uri="{FF2B5EF4-FFF2-40B4-BE49-F238E27FC236}">
                <a16:creationId xmlns:a16="http://schemas.microsoft.com/office/drawing/2014/main" id="{F44D3FD7-425F-A768-C1F5-B087C3CA36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5" t="25786" r="9350" b="23175"/>
          <a:stretch>
            <a:fillRect/>
          </a:stretch>
        </p:blipFill>
        <p:spPr bwMode="auto">
          <a:xfrm>
            <a:off x="4666150" y="1417639"/>
            <a:ext cx="6249464" cy="287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1561</Words>
  <Application>Microsoft Office PowerPoint</Application>
  <PresentationFormat>Widescreen</PresentationFormat>
  <Paragraphs>310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Noto Sans Symbols</vt:lpstr>
      <vt:lpstr>Office Theme</vt:lpstr>
      <vt:lpstr>Validate YANG-Push to Message Broker End-To-End Data Processing Chain IETF 126 Hackathon, July 18/19th 2026</vt:lpstr>
      <vt:lpstr>Hackathon Plan, Software and Website</vt:lpstr>
      <vt:lpstr>Hackathon – Repositories</vt:lpstr>
      <vt:lpstr>An Architecture for YANG-Push  to Message Broker Integration  draft-ietf-nmop-yang-message-broker-integration draft-ietf-nmop-message-broker-telemetry-message draft-ietf-nmop-yang-message-broker-message-key draft-netana-nmop-message-broker-bmp-telemetry-message </vt:lpstr>
      <vt:lpstr>YANG-Push Publisher - Subscription</vt:lpstr>
      <vt:lpstr>YANG-Push Publisher - Notifications</vt:lpstr>
      <vt:lpstr>YANG-Push UDP-Notif – DTLS and CBOR</vt:lpstr>
      <vt:lpstr>YANG-Push Capabilities &amp; YANG Library - RPC</vt:lpstr>
      <vt:lpstr>PowerPoint Presentation</vt:lpstr>
      <vt:lpstr>PowerPoint Presentation</vt:lpstr>
      <vt:lpstr>PowerPoint Presentation</vt:lpstr>
      <vt:lpstr>YANG Library Feature Comparison </vt:lpstr>
      <vt:lpstr>Next Steps from IETF 125 Hackathon…</vt:lpstr>
      <vt:lpstr>Next Steps for IETF 127 Hackathon…</vt:lpstr>
      <vt:lpstr>Thanks to…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</dc:title>
  <dc:creator>Graf Thomas, INI-ONE-WSN-DCF</dc:creator>
  <cp:lastModifiedBy>Graf Thomas, SCS-INI-NET-VNC-E2E</cp:lastModifiedBy>
  <cp:revision>264</cp:revision>
  <dcterms:created xsi:type="dcterms:W3CDTF">2019-11-29T14:22:02Z</dcterms:created>
  <dcterms:modified xsi:type="dcterms:W3CDTF">2026-07-28T10:33:15Z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1fccfb-80ca-4fe1-a574-1516544edb53_Enabled">
    <vt:lpwstr>true</vt:lpwstr>
  </property>
  <property fmtid="{D5CDD505-2E9C-101B-9397-08002B2CF9AE}" pid="3" name="MSIP_Label_2e1fccfb-80ca-4fe1-a574-1516544edb53_SetDate">
    <vt:lpwstr>2023-03-20T10:46:29Z</vt:lpwstr>
  </property>
  <property fmtid="{D5CDD505-2E9C-101B-9397-08002B2CF9AE}" pid="4" name="MSIP_Label_2e1fccfb-80ca-4fe1-a574-1516544edb53_Method">
    <vt:lpwstr>Standard</vt:lpwstr>
  </property>
  <property fmtid="{D5CDD505-2E9C-101B-9397-08002B2CF9AE}" pid="5" name="MSIP_Label_2e1fccfb-80ca-4fe1-a574-1516544edb53_Name">
    <vt:lpwstr>C2 Internal</vt:lpwstr>
  </property>
  <property fmtid="{D5CDD505-2E9C-101B-9397-08002B2CF9AE}" pid="6" name="MSIP_Label_2e1fccfb-80ca-4fe1-a574-1516544edb53_SiteId">
    <vt:lpwstr>364e5b87-c1c7-420d-9bee-c35d19b557a1</vt:lpwstr>
  </property>
  <property fmtid="{D5CDD505-2E9C-101B-9397-08002B2CF9AE}" pid="7" name="MSIP_Label_2e1fccfb-80ca-4fe1-a574-1516544edb53_ActionId">
    <vt:lpwstr>f20e7325-fc30-45a7-a02f-991797c0d813</vt:lpwstr>
  </property>
  <property fmtid="{D5CDD505-2E9C-101B-9397-08002B2CF9AE}" pid="8" name="MSIP_Label_2e1fccfb-80ca-4fe1-a574-1516544edb53_ContentBits">
    <vt:lpwstr>0</vt:lpwstr>
  </property>
  <property fmtid="{D5CDD505-2E9C-101B-9397-08002B2CF9AE}" pid="9" name="Sensitivity">
    <vt:lpwstr>C2 General</vt:lpwstr>
  </property>
</Properties>
</file>