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1041" r:id="rId2"/>
    <p:sldId id="2145706280" r:id="rId3"/>
    <p:sldId id="2145706243" r:id="rId4"/>
    <p:sldId id="2145706245" r:id="rId5"/>
    <p:sldId id="2145706246" r:id="rId6"/>
    <p:sldId id="256" r:id="rId7"/>
    <p:sldId id="257" r:id="rId8"/>
    <p:sldId id="258" r:id="rId9"/>
    <p:sldId id="274" r:id="rId10"/>
    <p:sldId id="2145706270" r:id="rId11"/>
    <p:sldId id="2145706271" r:id="rId12"/>
    <p:sldId id="2145706282" r:id="rId13"/>
    <p:sldId id="2145706281" r:id="rId14"/>
    <p:sldId id="2145706285" r:id="rId15"/>
    <p:sldId id="276" r:id="rId16"/>
    <p:sldId id="277" r:id="rId17"/>
    <p:sldId id="2145706277" r:id="rId18"/>
    <p:sldId id="2145706268" r:id="rId19"/>
    <p:sldId id="2145706269" r:id="rId20"/>
    <p:sldId id="272" r:id="rId21"/>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72B30"/>
    <a:srgbClr val="ACABA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6102" autoAdjust="0"/>
    <p:restoredTop sz="91695" autoAdjust="0"/>
  </p:normalViewPr>
  <p:slideViewPr>
    <p:cSldViewPr snapToGrid="0">
      <p:cViewPr varScale="1">
        <p:scale>
          <a:sx n="74" d="100"/>
          <a:sy n="74" d="100"/>
        </p:scale>
        <p:origin x="72" y="365"/>
      </p:cViewPr>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C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E705E9-673F-4AC4-B29E-A7B26F3B8523}" type="datetimeFigureOut">
              <a:rPr lang="de-CH" smtClean="0"/>
              <a:t>01.11.2026</a:t>
            </a:fld>
            <a:endParaRPr lang="de-C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C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C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BBC52A0-2F3F-497F-8536-39D60282E9C2}" type="slidenum">
              <a:rPr lang="de-CH" smtClean="0"/>
              <a:t>‹#›</a:t>
            </a:fld>
            <a:endParaRPr lang="de-CH"/>
          </a:p>
        </p:txBody>
      </p:sp>
    </p:spTree>
    <p:extLst>
      <p:ext uri="{BB962C8B-B14F-4D97-AF65-F5344CB8AC3E}">
        <p14:creationId xmlns:p14="http://schemas.microsoft.com/office/powerpoint/2010/main" val="2316730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1"/>
        <p:cNvGrpSpPr/>
        <p:nvPr/>
      </p:nvGrpSpPr>
      <p:grpSpPr>
        <a:xfrm>
          <a:off x="0" y="0"/>
          <a:ext cx="0" cy="0"/>
          <a:chOff x="0" y="0"/>
          <a:chExt cx="0" cy="0"/>
        </a:xfrm>
      </p:grpSpPr>
      <p:sp>
        <p:nvSpPr>
          <p:cNvPr id="1502" name="Google Shape;1502;g2d538e9c0b5_2_13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03" name="Google Shape;1503;g2d538e9c0b5_2_136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04" name="Google Shape;1504;g2d538e9c0b5_2_136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fld id="{00000000-1234-1234-1234-123412341234}" type="slidenum">
              <a:rPr lang="en" sz="1800" b="0" i="0" u="none" strike="noStrike" cap="none">
                <a:solidFill>
                  <a:srgbClr val="000000"/>
                </a:solidFill>
                <a:latin typeface="Calibri"/>
                <a:ea typeface="Calibri"/>
                <a:cs typeface="Calibri"/>
                <a:sym typeface="Calibri"/>
              </a:rPr>
              <a:t>6</a:t>
            </a:fld>
            <a:endParaRPr sz="18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0"/>
        <p:cNvGrpSpPr/>
        <p:nvPr/>
      </p:nvGrpSpPr>
      <p:grpSpPr>
        <a:xfrm>
          <a:off x="0" y="0"/>
          <a:ext cx="0" cy="0"/>
          <a:chOff x="0" y="0"/>
          <a:chExt cx="0" cy="0"/>
        </a:xfrm>
      </p:grpSpPr>
      <p:sp>
        <p:nvSpPr>
          <p:cNvPr id="1511" name="Google Shape;1511;g2d538e9c0b5_2_1373: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12" name="Google Shape;1512;g2d538e9c0b5_2_13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7"/>
        <p:cNvGrpSpPr/>
        <p:nvPr/>
      </p:nvGrpSpPr>
      <p:grpSpPr>
        <a:xfrm>
          <a:off x="0" y="0"/>
          <a:ext cx="0" cy="0"/>
          <a:chOff x="0" y="0"/>
          <a:chExt cx="0" cy="0"/>
        </a:xfrm>
      </p:grpSpPr>
      <p:sp>
        <p:nvSpPr>
          <p:cNvPr id="1518" name="Google Shape;1518;g2d538e9c0b5_2_1379: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19" name="Google Shape;1519;g2d538e9c0b5_2_13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7"/>
        <p:cNvGrpSpPr/>
        <p:nvPr/>
      </p:nvGrpSpPr>
      <p:grpSpPr>
        <a:xfrm>
          <a:off x="0" y="0"/>
          <a:ext cx="0" cy="0"/>
          <a:chOff x="0" y="0"/>
          <a:chExt cx="0" cy="0"/>
        </a:xfrm>
      </p:grpSpPr>
      <p:sp>
        <p:nvSpPr>
          <p:cNvPr id="1518" name="Google Shape;1518;g2d538e9c0b5_2_1379: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519" name="Google Shape;1519;g2d538e9c0b5_2_13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249809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7">
          <a:extLst>
            <a:ext uri="{FF2B5EF4-FFF2-40B4-BE49-F238E27FC236}">
              <a16:creationId xmlns:a16="http://schemas.microsoft.com/office/drawing/2014/main" id="{4BF26A0C-F6EE-2A46-71FE-E39D297B7FE0}"/>
            </a:ext>
          </a:extLst>
        </p:cNvPr>
        <p:cNvGrpSpPr/>
        <p:nvPr/>
      </p:nvGrpSpPr>
      <p:grpSpPr>
        <a:xfrm>
          <a:off x="0" y="0"/>
          <a:ext cx="0" cy="0"/>
          <a:chOff x="0" y="0"/>
          <a:chExt cx="0" cy="0"/>
        </a:xfrm>
      </p:grpSpPr>
      <p:sp>
        <p:nvSpPr>
          <p:cNvPr id="1518" name="Google Shape;1518;g2d538e9c0b5_2_1379:notes">
            <a:extLst>
              <a:ext uri="{FF2B5EF4-FFF2-40B4-BE49-F238E27FC236}">
                <a16:creationId xmlns:a16="http://schemas.microsoft.com/office/drawing/2014/main" id="{F1ECFC07-02B3-5255-262B-F8D05DCE37C1}"/>
              </a:ext>
            </a:extLst>
          </p:cNvPr>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19" name="Google Shape;1519;g2d538e9c0b5_2_1379:notes">
            <a:extLst>
              <a:ext uri="{FF2B5EF4-FFF2-40B4-BE49-F238E27FC236}">
                <a16:creationId xmlns:a16="http://schemas.microsoft.com/office/drawing/2014/main" id="{08012975-8E03-C8A4-42B5-0DCDA72FEE3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638554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7">
          <a:extLst>
            <a:ext uri="{FF2B5EF4-FFF2-40B4-BE49-F238E27FC236}">
              <a16:creationId xmlns:a16="http://schemas.microsoft.com/office/drawing/2014/main" id="{76B8C02C-3772-F0AE-9FE9-CCFA401896DA}"/>
            </a:ext>
          </a:extLst>
        </p:cNvPr>
        <p:cNvGrpSpPr/>
        <p:nvPr/>
      </p:nvGrpSpPr>
      <p:grpSpPr>
        <a:xfrm>
          <a:off x="0" y="0"/>
          <a:ext cx="0" cy="0"/>
          <a:chOff x="0" y="0"/>
          <a:chExt cx="0" cy="0"/>
        </a:xfrm>
      </p:grpSpPr>
      <p:sp>
        <p:nvSpPr>
          <p:cNvPr id="1518" name="Google Shape;1518;g2d538e9c0b5_2_1379:notes">
            <a:extLst>
              <a:ext uri="{FF2B5EF4-FFF2-40B4-BE49-F238E27FC236}">
                <a16:creationId xmlns:a16="http://schemas.microsoft.com/office/drawing/2014/main" id="{E1261614-5B1B-4787-1A3B-295D99CC9ABB}"/>
              </a:ext>
            </a:extLst>
          </p:cNvPr>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19" name="Google Shape;1519;g2d538e9c0b5_2_1379:notes">
            <a:extLst>
              <a:ext uri="{FF2B5EF4-FFF2-40B4-BE49-F238E27FC236}">
                <a16:creationId xmlns:a16="http://schemas.microsoft.com/office/drawing/2014/main" id="{4F06D914-6447-4628-BF3F-34A405DFA17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107434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7">
          <a:extLst>
            <a:ext uri="{FF2B5EF4-FFF2-40B4-BE49-F238E27FC236}">
              <a16:creationId xmlns:a16="http://schemas.microsoft.com/office/drawing/2014/main" id="{B2F03925-E165-3AA5-14EB-68EE34EFA208}"/>
            </a:ext>
          </a:extLst>
        </p:cNvPr>
        <p:cNvGrpSpPr/>
        <p:nvPr/>
      </p:nvGrpSpPr>
      <p:grpSpPr>
        <a:xfrm>
          <a:off x="0" y="0"/>
          <a:ext cx="0" cy="0"/>
          <a:chOff x="0" y="0"/>
          <a:chExt cx="0" cy="0"/>
        </a:xfrm>
      </p:grpSpPr>
      <p:sp>
        <p:nvSpPr>
          <p:cNvPr id="1518" name="Google Shape;1518;g2d538e9c0b5_2_1379:notes">
            <a:extLst>
              <a:ext uri="{FF2B5EF4-FFF2-40B4-BE49-F238E27FC236}">
                <a16:creationId xmlns:a16="http://schemas.microsoft.com/office/drawing/2014/main" id="{20B4B339-73E1-DD83-F9E0-16B0D0FD1F15}"/>
              </a:ext>
            </a:extLst>
          </p:cNvPr>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19" name="Google Shape;1519;g2d538e9c0b5_2_1379:notes">
            <a:extLst>
              <a:ext uri="{FF2B5EF4-FFF2-40B4-BE49-F238E27FC236}">
                <a16:creationId xmlns:a16="http://schemas.microsoft.com/office/drawing/2014/main" id="{0A9EE5C6-195B-75AE-6167-337BD9F3569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073583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7">
          <a:extLst>
            <a:ext uri="{FF2B5EF4-FFF2-40B4-BE49-F238E27FC236}">
              <a16:creationId xmlns:a16="http://schemas.microsoft.com/office/drawing/2014/main" id="{934EEF7E-55C3-E20A-E4DD-EDE9FD757EAE}"/>
            </a:ext>
          </a:extLst>
        </p:cNvPr>
        <p:cNvGrpSpPr/>
        <p:nvPr/>
      </p:nvGrpSpPr>
      <p:grpSpPr>
        <a:xfrm>
          <a:off x="0" y="0"/>
          <a:ext cx="0" cy="0"/>
          <a:chOff x="0" y="0"/>
          <a:chExt cx="0" cy="0"/>
        </a:xfrm>
      </p:grpSpPr>
      <p:sp>
        <p:nvSpPr>
          <p:cNvPr id="1518" name="Google Shape;1518;g2d538e9c0b5_2_1379:notes">
            <a:extLst>
              <a:ext uri="{FF2B5EF4-FFF2-40B4-BE49-F238E27FC236}">
                <a16:creationId xmlns:a16="http://schemas.microsoft.com/office/drawing/2014/main" id="{7B3D807D-1832-14E8-7206-CE6CF559089D}"/>
              </a:ext>
            </a:extLst>
          </p:cNvPr>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19" name="Google Shape;1519;g2d538e9c0b5_2_1379:notes">
            <a:extLst>
              <a:ext uri="{FF2B5EF4-FFF2-40B4-BE49-F238E27FC236}">
                <a16:creationId xmlns:a16="http://schemas.microsoft.com/office/drawing/2014/main" id="{7C9BB9CD-B3DC-4B60-CE95-CAF404C2F97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82050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7">
          <a:extLst>
            <a:ext uri="{FF2B5EF4-FFF2-40B4-BE49-F238E27FC236}">
              <a16:creationId xmlns:a16="http://schemas.microsoft.com/office/drawing/2014/main" id="{FD365696-6FD7-8D01-8245-1F6B9D3B67E5}"/>
            </a:ext>
          </a:extLst>
        </p:cNvPr>
        <p:cNvGrpSpPr/>
        <p:nvPr/>
      </p:nvGrpSpPr>
      <p:grpSpPr>
        <a:xfrm>
          <a:off x="0" y="0"/>
          <a:ext cx="0" cy="0"/>
          <a:chOff x="0" y="0"/>
          <a:chExt cx="0" cy="0"/>
        </a:xfrm>
      </p:grpSpPr>
      <p:sp>
        <p:nvSpPr>
          <p:cNvPr id="1518" name="Google Shape;1518;g2d538e9c0b5_2_1379:notes">
            <a:extLst>
              <a:ext uri="{FF2B5EF4-FFF2-40B4-BE49-F238E27FC236}">
                <a16:creationId xmlns:a16="http://schemas.microsoft.com/office/drawing/2014/main" id="{5E016976-46C9-B7AF-7AF2-4C55BBD3E19C}"/>
              </a:ext>
            </a:extLst>
          </p:cNvPr>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519" name="Google Shape;1519;g2d538e9c0b5_2_1379:notes">
            <a:extLst>
              <a:ext uri="{FF2B5EF4-FFF2-40B4-BE49-F238E27FC236}">
                <a16:creationId xmlns:a16="http://schemas.microsoft.com/office/drawing/2014/main" id="{7DE42BFF-F297-A1C8-D4A5-2777CCDCF32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528327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7">
          <a:extLst>
            <a:ext uri="{FF2B5EF4-FFF2-40B4-BE49-F238E27FC236}">
              <a16:creationId xmlns:a16="http://schemas.microsoft.com/office/drawing/2014/main" id="{D511E151-ABB2-8EAB-F655-3816AC038A0C}"/>
            </a:ext>
          </a:extLst>
        </p:cNvPr>
        <p:cNvGrpSpPr/>
        <p:nvPr/>
      </p:nvGrpSpPr>
      <p:grpSpPr>
        <a:xfrm>
          <a:off x="0" y="0"/>
          <a:ext cx="0" cy="0"/>
          <a:chOff x="0" y="0"/>
          <a:chExt cx="0" cy="0"/>
        </a:xfrm>
      </p:grpSpPr>
      <p:sp>
        <p:nvSpPr>
          <p:cNvPr id="1518" name="Google Shape;1518;g2d538e9c0b5_2_1379:notes">
            <a:extLst>
              <a:ext uri="{FF2B5EF4-FFF2-40B4-BE49-F238E27FC236}">
                <a16:creationId xmlns:a16="http://schemas.microsoft.com/office/drawing/2014/main" id="{A1EC2C73-9DB5-D03A-FC49-E5A4DA112525}"/>
              </a:ext>
            </a:extLst>
          </p:cNvPr>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519" name="Google Shape;1519;g2d538e9c0b5_2_1379:notes">
            <a:extLst>
              <a:ext uri="{FF2B5EF4-FFF2-40B4-BE49-F238E27FC236}">
                <a16:creationId xmlns:a16="http://schemas.microsoft.com/office/drawing/2014/main" id="{9F3C4E54-AB15-D076-0876-BA5D5866F2E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319685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7">
          <a:extLst>
            <a:ext uri="{FF2B5EF4-FFF2-40B4-BE49-F238E27FC236}">
              <a16:creationId xmlns:a16="http://schemas.microsoft.com/office/drawing/2014/main" id="{497B1BEE-5147-0E38-FD91-CF0151925AD3}"/>
            </a:ext>
          </a:extLst>
        </p:cNvPr>
        <p:cNvGrpSpPr/>
        <p:nvPr/>
      </p:nvGrpSpPr>
      <p:grpSpPr>
        <a:xfrm>
          <a:off x="0" y="0"/>
          <a:ext cx="0" cy="0"/>
          <a:chOff x="0" y="0"/>
          <a:chExt cx="0" cy="0"/>
        </a:xfrm>
      </p:grpSpPr>
      <p:sp>
        <p:nvSpPr>
          <p:cNvPr id="1518" name="Google Shape;1518;g2d538e9c0b5_2_1379:notes">
            <a:extLst>
              <a:ext uri="{FF2B5EF4-FFF2-40B4-BE49-F238E27FC236}">
                <a16:creationId xmlns:a16="http://schemas.microsoft.com/office/drawing/2014/main" id="{9545E538-871F-0816-F01E-6EA56F883482}"/>
              </a:ext>
            </a:extLst>
          </p:cNvPr>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519" name="Google Shape;1519;g2d538e9c0b5_2_1379:notes">
            <a:extLst>
              <a:ext uri="{FF2B5EF4-FFF2-40B4-BE49-F238E27FC236}">
                <a16:creationId xmlns:a16="http://schemas.microsoft.com/office/drawing/2014/main" id="{484F2E50-E1B8-31ED-56CD-A34B9FF3EBB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000380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7">
          <a:extLst>
            <a:ext uri="{FF2B5EF4-FFF2-40B4-BE49-F238E27FC236}">
              <a16:creationId xmlns:a16="http://schemas.microsoft.com/office/drawing/2014/main" id="{D2A15609-0547-E26A-147C-409BBF581D9F}"/>
            </a:ext>
          </a:extLst>
        </p:cNvPr>
        <p:cNvGrpSpPr/>
        <p:nvPr/>
      </p:nvGrpSpPr>
      <p:grpSpPr>
        <a:xfrm>
          <a:off x="0" y="0"/>
          <a:ext cx="0" cy="0"/>
          <a:chOff x="0" y="0"/>
          <a:chExt cx="0" cy="0"/>
        </a:xfrm>
      </p:grpSpPr>
      <p:sp>
        <p:nvSpPr>
          <p:cNvPr id="1518" name="Google Shape;1518;g2d538e9c0b5_2_1379:notes">
            <a:extLst>
              <a:ext uri="{FF2B5EF4-FFF2-40B4-BE49-F238E27FC236}">
                <a16:creationId xmlns:a16="http://schemas.microsoft.com/office/drawing/2014/main" id="{DB408533-64D4-270A-461D-7830D6583F3D}"/>
              </a:ext>
            </a:extLst>
          </p:cNvPr>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19" name="Google Shape;1519;g2d538e9c0b5_2_1379:notes">
            <a:extLst>
              <a:ext uri="{FF2B5EF4-FFF2-40B4-BE49-F238E27FC236}">
                <a16:creationId xmlns:a16="http://schemas.microsoft.com/office/drawing/2014/main" id="{856CF441-556B-2841-8C27-BC97D535CFD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110687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7"/>
        <p:cNvGrpSpPr/>
        <p:nvPr/>
      </p:nvGrpSpPr>
      <p:grpSpPr>
        <a:xfrm>
          <a:off x="0" y="0"/>
          <a:ext cx="0" cy="0"/>
          <a:chOff x="0" y="0"/>
          <a:chExt cx="0" cy="0"/>
        </a:xfrm>
      </p:grpSpPr>
      <p:sp>
        <p:nvSpPr>
          <p:cNvPr id="1648" name="Google Shape;1648;g2d538e9c0b5_2_1574: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49" name="Google Shape;1649;g2d538e9c0b5_2_15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E4512-1D3B-4B73-B042-476E6184E8F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de-CH"/>
          </a:p>
        </p:txBody>
      </p:sp>
      <p:sp>
        <p:nvSpPr>
          <p:cNvPr id="3" name="Subtitle 2">
            <a:extLst>
              <a:ext uri="{FF2B5EF4-FFF2-40B4-BE49-F238E27FC236}">
                <a16:creationId xmlns:a16="http://schemas.microsoft.com/office/drawing/2014/main" id="{14168D7F-8149-41A1-BACA-3AE93B5EBA3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de-CH"/>
          </a:p>
        </p:txBody>
      </p:sp>
      <p:sp>
        <p:nvSpPr>
          <p:cNvPr id="4" name="Date Placeholder 3">
            <a:extLst>
              <a:ext uri="{FF2B5EF4-FFF2-40B4-BE49-F238E27FC236}">
                <a16:creationId xmlns:a16="http://schemas.microsoft.com/office/drawing/2014/main" id="{2F31F274-2081-4043-A760-EBE78731B51B}"/>
              </a:ext>
            </a:extLst>
          </p:cNvPr>
          <p:cNvSpPr>
            <a:spLocks noGrp="1"/>
          </p:cNvSpPr>
          <p:nvPr>
            <p:ph type="dt" sz="half" idx="10"/>
          </p:nvPr>
        </p:nvSpPr>
        <p:spPr/>
        <p:txBody>
          <a:bodyPr/>
          <a:lstStyle/>
          <a:p>
            <a:fld id="{9E9B238C-2335-4007-98C9-471C02CC43B6}" type="datetimeFigureOut">
              <a:rPr lang="de-CH" smtClean="0"/>
              <a:t>01.11.2026</a:t>
            </a:fld>
            <a:endParaRPr lang="de-CH"/>
          </a:p>
        </p:txBody>
      </p:sp>
      <p:sp>
        <p:nvSpPr>
          <p:cNvPr id="5" name="Footer Placeholder 4">
            <a:extLst>
              <a:ext uri="{FF2B5EF4-FFF2-40B4-BE49-F238E27FC236}">
                <a16:creationId xmlns:a16="http://schemas.microsoft.com/office/drawing/2014/main" id="{06F4A492-DE76-49D9-B2D6-119D939A6403}"/>
              </a:ext>
            </a:extLst>
          </p:cNvPr>
          <p:cNvSpPr>
            <a:spLocks noGrp="1"/>
          </p:cNvSpPr>
          <p:nvPr>
            <p:ph type="ftr" sz="quarter" idx="11"/>
          </p:nvPr>
        </p:nvSpPr>
        <p:spPr/>
        <p:txBody>
          <a:bodyPr/>
          <a:lstStyle/>
          <a:p>
            <a:endParaRPr lang="de-CH"/>
          </a:p>
        </p:txBody>
      </p:sp>
      <p:sp>
        <p:nvSpPr>
          <p:cNvPr id="6" name="Slide Number Placeholder 5">
            <a:extLst>
              <a:ext uri="{FF2B5EF4-FFF2-40B4-BE49-F238E27FC236}">
                <a16:creationId xmlns:a16="http://schemas.microsoft.com/office/drawing/2014/main" id="{8F859CCC-4F98-451F-BD3B-E72AFDCA696C}"/>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17858223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BBDF6-FBD2-40AF-9486-BB4A908B2A31}"/>
              </a:ext>
            </a:extLst>
          </p:cNvPr>
          <p:cNvSpPr>
            <a:spLocks noGrp="1"/>
          </p:cNvSpPr>
          <p:nvPr>
            <p:ph type="title"/>
          </p:nvPr>
        </p:nvSpPr>
        <p:spPr/>
        <p:txBody>
          <a:bodyPr/>
          <a:lstStyle/>
          <a:p>
            <a:r>
              <a:rPr lang="en-US"/>
              <a:t>Click to edit Master title style</a:t>
            </a:r>
            <a:endParaRPr lang="de-CH"/>
          </a:p>
        </p:txBody>
      </p:sp>
      <p:sp>
        <p:nvSpPr>
          <p:cNvPr id="3" name="Content Placeholder 2">
            <a:extLst>
              <a:ext uri="{FF2B5EF4-FFF2-40B4-BE49-F238E27FC236}">
                <a16:creationId xmlns:a16="http://schemas.microsoft.com/office/drawing/2014/main" id="{6FAC614F-9AF2-40AF-A811-367A6AFA5EA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4" name="Date Placeholder 3">
            <a:extLst>
              <a:ext uri="{FF2B5EF4-FFF2-40B4-BE49-F238E27FC236}">
                <a16:creationId xmlns:a16="http://schemas.microsoft.com/office/drawing/2014/main" id="{8E787B81-7873-4625-90C6-65B7D39F68FA}"/>
              </a:ext>
            </a:extLst>
          </p:cNvPr>
          <p:cNvSpPr>
            <a:spLocks noGrp="1"/>
          </p:cNvSpPr>
          <p:nvPr>
            <p:ph type="dt" sz="half" idx="10"/>
          </p:nvPr>
        </p:nvSpPr>
        <p:spPr/>
        <p:txBody>
          <a:bodyPr/>
          <a:lstStyle/>
          <a:p>
            <a:fld id="{9E9B238C-2335-4007-98C9-471C02CC43B6}" type="datetimeFigureOut">
              <a:rPr lang="de-CH" smtClean="0"/>
              <a:t>01.11.2026</a:t>
            </a:fld>
            <a:endParaRPr lang="de-CH"/>
          </a:p>
        </p:txBody>
      </p:sp>
      <p:sp>
        <p:nvSpPr>
          <p:cNvPr id="5" name="Footer Placeholder 4">
            <a:extLst>
              <a:ext uri="{FF2B5EF4-FFF2-40B4-BE49-F238E27FC236}">
                <a16:creationId xmlns:a16="http://schemas.microsoft.com/office/drawing/2014/main" id="{7D062558-7E3E-4F68-94CA-8F448DCC8E48}"/>
              </a:ext>
            </a:extLst>
          </p:cNvPr>
          <p:cNvSpPr>
            <a:spLocks noGrp="1"/>
          </p:cNvSpPr>
          <p:nvPr>
            <p:ph type="ftr" sz="quarter" idx="11"/>
          </p:nvPr>
        </p:nvSpPr>
        <p:spPr/>
        <p:txBody>
          <a:bodyPr/>
          <a:lstStyle/>
          <a:p>
            <a:endParaRPr lang="de-CH"/>
          </a:p>
        </p:txBody>
      </p:sp>
      <p:sp>
        <p:nvSpPr>
          <p:cNvPr id="6" name="Slide Number Placeholder 5">
            <a:extLst>
              <a:ext uri="{FF2B5EF4-FFF2-40B4-BE49-F238E27FC236}">
                <a16:creationId xmlns:a16="http://schemas.microsoft.com/office/drawing/2014/main" id="{2A3E61FB-1357-46F5-903C-1994E98B264D}"/>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1099387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FD0C7-725B-4BFF-9522-83239C8F81B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de-CH"/>
          </a:p>
        </p:txBody>
      </p:sp>
      <p:sp>
        <p:nvSpPr>
          <p:cNvPr id="3" name="Text Placeholder 2">
            <a:extLst>
              <a:ext uri="{FF2B5EF4-FFF2-40B4-BE49-F238E27FC236}">
                <a16:creationId xmlns:a16="http://schemas.microsoft.com/office/drawing/2014/main" id="{C97E1048-3DC5-4B9C-899F-DED6314AE26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5B5DBFD-FBBF-4914-87A2-F3A61F56DED9}"/>
              </a:ext>
            </a:extLst>
          </p:cNvPr>
          <p:cNvSpPr>
            <a:spLocks noGrp="1"/>
          </p:cNvSpPr>
          <p:nvPr>
            <p:ph type="dt" sz="half" idx="10"/>
          </p:nvPr>
        </p:nvSpPr>
        <p:spPr/>
        <p:txBody>
          <a:bodyPr/>
          <a:lstStyle/>
          <a:p>
            <a:fld id="{9E9B238C-2335-4007-98C9-471C02CC43B6}" type="datetimeFigureOut">
              <a:rPr lang="de-CH" smtClean="0"/>
              <a:t>01.11.2026</a:t>
            </a:fld>
            <a:endParaRPr lang="de-CH"/>
          </a:p>
        </p:txBody>
      </p:sp>
      <p:sp>
        <p:nvSpPr>
          <p:cNvPr id="5" name="Footer Placeholder 4">
            <a:extLst>
              <a:ext uri="{FF2B5EF4-FFF2-40B4-BE49-F238E27FC236}">
                <a16:creationId xmlns:a16="http://schemas.microsoft.com/office/drawing/2014/main" id="{EB7571A4-73D2-444B-9013-7EFE083B18DF}"/>
              </a:ext>
            </a:extLst>
          </p:cNvPr>
          <p:cNvSpPr>
            <a:spLocks noGrp="1"/>
          </p:cNvSpPr>
          <p:nvPr>
            <p:ph type="ftr" sz="quarter" idx="11"/>
          </p:nvPr>
        </p:nvSpPr>
        <p:spPr/>
        <p:txBody>
          <a:bodyPr/>
          <a:lstStyle/>
          <a:p>
            <a:endParaRPr lang="de-CH"/>
          </a:p>
        </p:txBody>
      </p:sp>
      <p:sp>
        <p:nvSpPr>
          <p:cNvPr id="6" name="Slide Number Placeholder 5">
            <a:extLst>
              <a:ext uri="{FF2B5EF4-FFF2-40B4-BE49-F238E27FC236}">
                <a16:creationId xmlns:a16="http://schemas.microsoft.com/office/drawing/2014/main" id="{C7CCFB92-7142-4854-ACC6-4129F01E7055}"/>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33903720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36279-2318-4AD6-A5F8-75FAC2F47DDA}"/>
              </a:ext>
            </a:extLst>
          </p:cNvPr>
          <p:cNvSpPr>
            <a:spLocks noGrp="1"/>
          </p:cNvSpPr>
          <p:nvPr>
            <p:ph type="title"/>
          </p:nvPr>
        </p:nvSpPr>
        <p:spPr/>
        <p:txBody>
          <a:bodyPr/>
          <a:lstStyle/>
          <a:p>
            <a:r>
              <a:rPr lang="en-US"/>
              <a:t>Click to edit Master title style</a:t>
            </a:r>
            <a:endParaRPr lang="de-CH"/>
          </a:p>
        </p:txBody>
      </p:sp>
      <p:sp>
        <p:nvSpPr>
          <p:cNvPr id="3" name="Content Placeholder 2">
            <a:extLst>
              <a:ext uri="{FF2B5EF4-FFF2-40B4-BE49-F238E27FC236}">
                <a16:creationId xmlns:a16="http://schemas.microsoft.com/office/drawing/2014/main" id="{7AD0583D-F808-46BC-A112-FEA6430F472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4" name="Content Placeholder 3">
            <a:extLst>
              <a:ext uri="{FF2B5EF4-FFF2-40B4-BE49-F238E27FC236}">
                <a16:creationId xmlns:a16="http://schemas.microsoft.com/office/drawing/2014/main" id="{4FE9A202-30E0-43D7-8764-65A6F84FDDA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5" name="Date Placeholder 4">
            <a:extLst>
              <a:ext uri="{FF2B5EF4-FFF2-40B4-BE49-F238E27FC236}">
                <a16:creationId xmlns:a16="http://schemas.microsoft.com/office/drawing/2014/main" id="{32791E6B-307F-487A-ACE7-95C6B653CB57}"/>
              </a:ext>
            </a:extLst>
          </p:cNvPr>
          <p:cNvSpPr>
            <a:spLocks noGrp="1"/>
          </p:cNvSpPr>
          <p:nvPr>
            <p:ph type="dt" sz="half" idx="10"/>
          </p:nvPr>
        </p:nvSpPr>
        <p:spPr/>
        <p:txBody>
          <a:bodyPr/>
          <a:lstStyle/>
          <a:p>
            <a:fld id="{9E9B238C-2335-4007-98C9-471C02CC43B6}" type="datetimeFigureOut">
              <a:rPr lang="de-CH" smtClean="0"/>
              <a:t>01.11.2026</a:t>
            </a:fld>
            <a:endParaRPr lang="de-CH"/>
          </a:p>
        </p:txBody>
      </p:sp>
      <p:sp>
        <p:nvSpPr>
          <p:cNvPr id="6" name="Footer Placeholder 5">
            <a:extLst>
              <a:ext uri="{FF2B5EF4-FFF2-40B4-BE49-F238E27FC236}">
                <a16:creationId xmlns:a16="http://schemas.microsoft.com/office/drawing/2014/main" id="{2621F60B-CB79-4100-B5DF-1E9EA55C1EE4}"/>
              </a:ext>
            </a:extLst>
          </p:cNvPr>
          <p:cNvSpPr>
            <a:spLocks noGrp="1"/>
          </p:cNvSpPr>
          <p:nvPr>
            <p:ph type="ftr" sz="quarter" idx="11"/>
          </p:nvPr>
        </p:nvSpPr>
        <p:spPr/>
        <p:txBody>
          <a:bodyPr/>
          <a:lstStyle/>
          <a:p>
            <a:endParaRPr lang="de-CH"/>
          </a:p>
        </p:txBody>
      </p:sp>
      <p:sp>
        <p:nvSpPr>
          <p:cNvPr id="7" name="Slide Number Placeholder 6">
            <a:extLst>
              <a:ext uri="{FF2B5EF4-FFF2-40B4-BE49-F238E27FC236}">
                <a16:creationId xmlns:a16="http://schemas.microsoft.com/office/drawing/2014/main" id="{8193C06A-1F3A-41DA-8ED0-F1B0534320A5}"/>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3787353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837BF-12E0-4609-8885-BA3B61207024}"/>
              </a:ext>
            </a:extLst>
          </p:cNvPr>
          <p:cNvSpPr>
            <a:spLocks noGrp="1"/>
          </p:cNvSpPr>
          <p:nvPr>
            <p:ph type="title"/>
          </p:nvPr>
        </p:nvSpPr>
        <p:spPr>
          <a:xfrm>
            <a:off x="839788" y="365125"/>
            <a:ext cx="10515600" cy="1325563"/>
          </a:xfrm>
        </p:spPr>
        <p:txBody>
          <a:bodyPr/>
          <a:lstStyle/>
          <a:p>
            <a:r>
              <a:rPr lang="en-US"/>
              <a:t>Click to edit Master title style</a:t>
            </a:r>
            <a:endParaRPr lang="de-CH"/>
          </a:p>
        </p:txBody>
      </p:sp>
      <p:sp>
        <p:nvSpPr>
          <p:cNvPr id="3" name="Text Placeholder 2">
            <a:extLst>
              <a:ext uri="{FF2B5EF4-FFF2-40B4-BE49-F238E27FC236}">
                <a16:creationId xmlns:a16="http://schemas.microsoft.com/office/drawing/2014/main" id="{41D6F202-5F12-4652-B24C-DE18E1A337B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9BF7499-BB9D-474C-80E4-FBDD9AF94F7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5" name="Text Placeholder 4">
            <a:extLst>
              <a:ext uri="{FF2B5EF4-FFF2-40B4-BE49-F238E27FC236}">
                <a16:creationId xmlns:a16="http://schemas.microsoft.com/office/drawing/2014/main" id="{1FE8ABCD-03D9-487D-A401-5C46542B96B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290E7B8-775C-4651-8505-06EEF69C7C7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7" name="Date Placeholder 6">
            <a:extLst>
              <a:ext uri="{FF2B5EF4-FFF2-40B4-BE49-F238E27FC236}">
                <a16:creationId xmlns:a16="http://schemas.microsoft.com/office/drawing/2014/main" id="{5EE55546-7C7E-4AE1-B224-70E058A04CB8}"/>
              </a:ext>
            </a:extLst>
          </p:cNvPr>
          <p:cNvSpPr>
            <a:spLocks noGrp="1"/>
          </p:cNvSpPr>
          <p:nvPr>
            <p:ph type="dt" sz="half" idx="10"/>
          </p:nvPr>
        </p:nvSpPr>
        <p:spPr/>
        <p:txBody>
          <a:bodyPr/>
          <a:lstStyle/>
          <a:p>
            <a:fld id="{9E9B238C-2335-4007-98C9-471C02CC43B6}" type="datetimeFigureOut">
              <a:rPr lang="de-CH" smtClean="0"/>
              <a:t>01.11.2026</a:t>
            </a:fld>
            <a:endParaRPr lang="de-CH"/>
          </a:p>
        </p:txBody>
      </p:sp>
      <p:sp>
        <p:nvSpPr>
          <p:cNvPr id="8" name="Footer Placeholder 7">
            <a:extLst>
              <a:ext uri="{FF2B5EF4-FFF2-40B4-BE49-F238E27FC236}">
                <a16:creationId xmlns:a16="http://schemas.microsoft.com/office/drawing/2014/main" id="{0A87DA8F-0A89-45FF-A3CC-8973287CFF46}"/>
              </a:ext>
            </a:extLst>
          </p:cNvPr>
          <p:cNvSpPr>
            <a:spLocks noGrp="1"/>
          </p:cNvSpPr>
          <p:nvPr>
            <p:ph type="ftr" sz="quarter" idx="11"/>
          </p:nvPr>
        </p:nvSpPr>
        <p:spPr/>
        <p:txBody>
          <a:bodyPr/>
          <a:lstStyle/>
          <a:p>
            <a:endParaRPr lang="de-CH"/>
          </a:p>
        </p:txBody>
      </p:sp>
      <p:sp>
        <p:nvSpPr>
          <p:cNvPr id="9" name="Slide Number Placeholder 8">
            <a:extLst>
              <a:ext uri="{FF2B5EF4-FFF2-40B4-BE49-F238E27FC236}">
                <a16:creationId xmlns:a16="http://schemas.microsoft.com/office/drawing/2014/main" id="{D52A632D-9625-4B76-A006-24C009E135AD}"/>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38000530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2A4D9-592C-47DB-A38B-6773D38A3113}"/>
              </a:ext>
            </a:extLst>
          </p:cNvPr>
          <p:cNvSpPr>
            <a:spLocks noGrp="1"/>
          </p:cNvSpPr>
          <p:nvPr>
            <p:ph type="title"/>
          </p:nvPr>
        </p:nvSpPr>
        <p:spPr/>
        <p:txBody>
          <a:bodyPr/>
          <a:lstStyle/>
          <a:p>
            <a:r>
              <a:rPr lang="en-US"/>
              <a:t>Click to edit Master title style</a:t>
            </a:r>
            <a:endParaRPr lang="de-CH"/>
          </a:p>
        </p:txBody>
      </p:sp>
      <p:sp>
        <p:nvSpPr>
          <p:cNvPr id="3" name="Date Placeholder 2">
            <a:extLst>
              <a:ext uri="{FF2B5EF4-FFF2-40B4-BE49-F238E27FC236}">
                <a16:creationId xmlns:a16="http://schemas.microsoft.com/office/drawing/2014/main" id="{30F8F040-BDDF-4877-8526-169F2DA14C15}"/>
              </a:ext>
            </a:extLst>
          </p:cNvPr>
          <p:cNvSpPr>
            <a:spLocks noGrp="1"/>
          </p:cNvSpPr>
          <p:nvPr>
            <p:ph type="dt" sz="half" idx="10"/>
          </p:nvPr>
        </p:nvSpPr>
        <p:spPr/>
        <p:txBody>
          <a:bodyPr/>
          <a:lstStyle/>
          <a:p>
            <a:fld id="{9E9B238C-2335-4007-98C9-471C02CC43B6}" type="datetimeFigureOut">
              <a:rPr lang="de-CH" smtClean="0"/>
              <a:t>01.11.2026</a:t>
            </a:fld>
            <a:endParaRPr lang="de-CH"/>
          </a:p>
        </p:txBody>
      </p:sp>
      <p:sp>
        <p:nvSpPr>
          <p:cNvPr id="4" name="Footer Placeholder 3">
            <a:extLst>
              <a:ext uri="{FF2B5EF4-FFF2-40B4-BE49-F238E27FC236}">
                <a16:creationId xmlns:a16="http://schemas.microsoft.com/office/drawing/2014/main" id="{7E90B3BB-C496-4AF5-8EB6-7559F47A6841}"/>
              </a:ext>
            </a:extLst>
          </p:cNvPr>
          <p:cNvSpPr>
            <a:spLocks noGrp="1"/>
          </p:cNvSpPr>
          <p:nvPr>
            <p:ph type="ftr" sz="quarter" idx="11"/>
          </p:nvPr>
        </p:nvSpPr>
        <p:spPr/>
        <p:txBody>
          <a:bodyPr/>
          <a:lstStyle/>
          <a:p>
            <a:endParaRPr lang="de-CH"/>
          </a:p>
        </p:txBody>
      </p:sp>
      <p:sp>
        <p:nvSpPr>
          <p:cNvPr id="5" name="Slide Number Placeholder 4">
            <a:extLst>
              <a:ext uri="{FF2B5EF4-FFF2-40B4-BE49-F238E27FC236}">
                <a16:creationId xmlns:a16="http://schemas.microsoft.com/office/drawing/2014/main" id="{87FE77DB-3A65-40BB-95CE-131D701F68B3}"/>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27493433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086202C-9526-41D5-A80B-2DF289677874}"/>
              </a:ext>
            </a:extLst>
          </p:cNvPr>
          <p:cNvSpPr>
            <a:spLocks noGrp="1"/>
          </p:cNvSpPr>
          <p:nvPr>
            <p:ph type="dt" sz="half" idx="10"/>
          </p:nvPr>
        </p:nvSpPr>
        <p:spPr/>
        <p:txBody>
          <a:bodyPr/>
          <a:lstStyle/>
          <a:p>
            <a:fld id="{9E9B238C-2335-4007-98C9-471C02CC43B6}" type="datetimeFigureOut">
              <a:rPr lang="de-CH" smtClean="0"/>
              <a:t>01.11.2026</a:t>
            </a:fld>
            <a:endParaRPr lang="de-CH"/>
          </a:p>
        </p:txBody>
      </p:sp>
      <p:sp>
        <p:nvSpPr>
          <p:cNvPr id="3" name="Footer Placeholder 2">
            <a:extLst>
              <a:ext uri="{FF2B5EF4-FFF2-40B4-BE49-F238E27FC236}">
                <a16:creationId xmlns:a16="http://schemas.microsoft.com/office/drawing/2014/main" id="{1E3DB588-08C7-4A6C-AB92-AA66E93DA399}"/>
              </a:ext>
            </a:extLst>
          </p:cNvPr>
          <p:cNvSpPr>
            <a:spLocks noGrp="1"/>
          </p:cNvSpPr>
          <p:nvPr>
            <p:ph type="ftr" sz="quarter" idx="11"/>
          </p:nvPr>
        </p:nvSpPr>
        <p:spPr/>
        <p:txBody>
          <a:bodyPr/>
          <a:lstStyle/>
          <a:p>
            <a:endParaRPr lang="de-CH"/>
          </a:p>
        </p:txBody>
      </p:sp>
      <p:sp>
        <p:nvSpPr>
          <p:cNvPr id="4" name="Slide Number Placeholder 3">
            <a:extLst>
              <a:ext uri="{FF2B5EF4-FFF2-40B4-BE49-F238E27FC236}">
                <a16:creationId xmlns:a16="http://schemas.microsoft.com/office/drawing/2014/main" id="{726035E7-88C8-4D96-B785-776340A7BD1B}"/>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34581127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BC2E0B-BAAE-488E-8A9B-5E2F972818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de-CH"/>
          </a:p>
        </p:txBody>
      </p:sp>
      <p:sp>
        <p:nvSpPr>
          <p:cNvPr id="3" name="Content Placeholder 2">
            <a:extLst>
              <a:ext uri="{FF2B5EF4-FFF2-40B4-BE49-F238E27FC236}">
                <a16:creationId xmlns:a16="http://schemas.microsoft.com/office/drawing/2014/main" id="{308C22BD-ADB1-4F08-B9D6-E993F811FC6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4" name="Text Placeholder 3">
            <a:extLst>
              <a:ext uri="{FF2B5EF4-FFF2-40B4-BE49-F238E27FC236}">
                <a16:creationId xmlns:a16="http://schemas.microsoft.com/office/drawing/2014/main" id="{CB329BCF-9547-4664-BC89-023CF460CD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4B46FE1-476B-4893-8CD9-264AC97F89A0}"/>
              </a:ext>
            </a:extLst>
          </p:cNvPr>
          <p:cNvSpPr>
            <a:spLocks noGrp="1"/>
          </p:cNvSpPr>
          <p:nvPr>
            <p:ph type="dt" sz="half" idx="10"/>
          </p:nvPr>
        </p:nvSpPr>
        <p:spPr/>
        <p:txBody>
          <a:bodyPr/>
          <a:lstStyle/>
          <a:p>
            <a:fld id="{9E9B238C-2335-4007-98C9-471C02CC43B6}" type="datetimeFigureOut">
              <a:rPr lang="de-CH" smtClean="0"/>
              <a:t>01.11.2026</a:t>
            </a:fld>
            <a:endParaRPr lang="de-CH"/>
          </a:p>
        </p:txBody>
      </p:sp>
      <p:sp>
        <p:nvSpPr>
          <p:cNvPr id="6" name="Footer Placeholder 5">
            <a:extLst>
              <a:ext uri="{FF2B5EF4-FFF2-40B4-BE49-F238E27FC236}">
                <a16:creationId xmlns:a16="http://schemas.microsoft.com/office/drawing/2014/main" id="{7235B88A-2D78-46C2-BBA5-A7E4B6C778E0}"/>
              </a:ext>
            </a:extLst>
          </p:cNvPr>
          <p:cNvSpPr>
            <a:spLocks noGrp="1"/>
          </p:cNvSpPr>
          <p:nvPr>
            <p:ph type="ftr" sz="quarter" idx="11"/>
          </p:nvPr>
        </p:nvSpPr>
        <p:spPr/>
        <p:txBody>
          <a:bodyPr/>
          <a:lstStyle/>
          <a:p>
            <a:endParaRPr lang="de-CH"/>
          </a:p>
        </p:txBody>
      </p:sp>
      <p:sp>
        <p:nvSpPr>
          <p:cNvPr id="7" name="Slide Number Placeholder 6">
            <a:extLst>
              <a:ext uri="{FF2B5EF4-FFF2-40B4-BE49-F238E27FC236}">
                <a16:creationId xmlns:a16="http://schemas.microsoft.com/office/drawing/2014/main" id="{1CFBCD13-0D0A-4531-9C78-280B19232CD6}"/>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18489552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82F91-0DE7-463A-B320-CFD88985B96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de-CH"/>
          </a:p>
        </p:txBody>
      </p:sp>
      <p:sp>
        <p:nvSpPr>
          <p:cNvPr id="3" name="Picture Placeholder 2">
            <a:extLst>
              <a:ext uri="{FF2B5EF4-FFF2-40B4-BE49-F238E27FC236}">
                <a16:creationId xmlns:a16="http://schemas.microsoft.com/office/drawing/2014/main" id="{DA8FAE06-08B0-40A8-8F3E-C20E2667A7C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CH"/>
          </a:p>
        </p:txBody>
      </p:sp>
      <p:sp>
        <p:nvSpPr>
          <p:cNvPr id="4" name="Text Placeholder 3">
            <a:extLst>
              <a:ext uri="{FF2B5EF4-FFF2-40B4-BE49-F238E27FC236}">
                <a16:creationId xmlns:a16="http://schemas.microsoft.com/office/drawing/2014/main" id="{F52DC7CF-A958-437D-97CD-D3E81DB923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C2DCF7-E5CF-40ED-9C23-5F54FB7C501D}"/>
              </a:ext>
            </a:extLst>
          </p:cNvPr>
          <p:cNvSpPr>
            <a:spLocks noGrp="1"/>
          </p:cNvSpPr>
          <p:nvPr>
            <p:ph type="dt" sz="half" idx="10"/>
          </p:nvPr>
        </p:nvSpPr>
        <p:spPr/>
        <p:txBody>
          <a:bodyPr/>
          <a:lstStyle/>
          <a:p>
            <a:fld id="{9E9B238C-2335-4007-98C9-471C02CC43B6}" type="datetimeFigureOut">
              <a:rPr lang="de-CH" smtClean="0"/>
              <a:t>01.11.2026</a:t>
            </a:fld>
            <a:endParaRPr lang="de-CH"/>
          </a:p>
        </p:txBody>
      </p:sp>
      <p:sp>
        <p:nvSpPr>
          <p:cNvPr id="6" name="Footer Placeholder 5">
            <a:extLst>
              <a:ext uri="{FF2B5EF4-FFF2-40B4-BE49-F238E27FC236}">
                <a16:creationId xmlns:a16="http://schemas.microsoft.com/office/drawing/2014/main" id="{46B598A1-F516-4BF3-A1DB-EFB3FD805F93}"/>
              </a:ext>
            </a:extLst>
          </p:cNvPr>
          <p:cNvSpPr>
            <a:spLocks noGrp="1"/>
          </p:cNvSpPr>
          <p:nvPr>
            <p:ph type="ftr" sz="quarter" idx="11"/>
          </p:nvPr>
        </p:nvSpPr>
        <p:spPr/>
        <p:txBody>
          <a:bodyPr/>
          <a:lstStyle/>
          <a:p>
            <a:endParaRPr lang="de-CH"/>
          </a:p>
        </p:txBody>
      </p:sp>
      <p:sp>
        <p:nvSpPr>
          <p:cNvPr id="7" name="Slide Number Placeholder 6">
            <a:extLst>
              <a:ext uri="{FF2B5EF4-FFF2-40B4-BE49-F238E27FC236}">
                <a16:creationId xmlns:a16="http://schemas.microsoft.com/office/drawing/2014/main" id="{24DCE8FE-0171-448F-8772-43B1E4122EF1}"/>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35402618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7D866-2D41-48BC-9DC3-7FEE77BA7CD7}"/>
              </a:ext>
            </a:extLst>
          </p:cNvPr>
          <p:cNvSpPr>
            <a:spLocks noGrp="1"/>
          </p:cNvSpPr>
          <p:nvPr>
            <p:ph type="title"/>
          </p:nvPr>
        </p:nvSpPr>
        <p:spPr/>
        <p:txBody>
          <a:bodyPr/>
          <a:lstStyle/>
          <a:p>
            <a:r>
              <a:rPr lang="en-US"/>
              <a:t>Click to edit Master title style</a:t>
            </a:r>
            <a:endParaRPr lang="de-CH"/>
          </a:p>
        </p:txBody>
      </p:sp>
      <p:sp>
        <p:nvSpPr>
          <p:cNvPr id="3" name="Vertical Text Placeholder 2">
            <a:extLst>
              <a:ext uri="{FF2B5EF4-FFF2-40B4-BE49-F238E27FC236}">
                <a16:creationId xmlns:a16="http://schemas.microsoft.com/office/drawing/2014/main" id="{07477519-4E02-40D8-8B6A-3A512977D4F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4" name="Date Placeholder 3">
            <a:extLst>
              <a:ext uri="{FF2B5EF4-FFF2-40B4-BE49-F238E27FC236}">
                <a16:creationId xmlns:a16="http://schemas.microsoft.com/office/drawing/2014/main" id="{56831AF6-5DD6-4C3B-B500-F46F75D54246}"/>
              </a:ext>
            </a:extLst>
          </p:cNvPr>
          <p:cNvSpPr>
            <a:spLocks noGrp="1"/>
          </p:cNvSpPr>
          <p:nvPr>
            <p:ph type="dt" sz="half" idx="10"/>
          </p:nvPr>
        </p:nvSpPr>
        <p:spPr/>
        <p:txBody>
          <a:bodyPr/>
          <a:lstStyle/>
          <a:p>
            <a:fld id="{9E9B238C-2335-4007-98C9-471C02CC43B6}" type="datetimeFigureOut">
              <a:rPr lang="de-CH" smtClean="0"/>
              <a:t>01.11.2026</a:t>
            </a:fld>
            <a:endParaRPr lang="de-CH"/>
          </a:p>
        </p:txBody>
      </p:sp>
      <p:sp>
        <p:nvSpPr>
          <p:cNvPr id="5" name="Footer Placeholder 4">
            <a:extLst>
              <a:ext uri="{FF2B5EF4-FFF2-40B4-BE49-F238E27FC236}">
                <a16:creationId xmlns:a16="http://schemas.microsoft.com/office/drawing/2014/main" id="{A75992F3-29F5-4955-B2D5-391EC52DB763}"/>
              </a:ext>
            </a:extLst>
          </p:cNvPr>
          <p:cNvSpPr>
            <a:spLocks noGrp="1"/>
          </p:cNvSpPr>
          <p:nvPr>
            <p:ph type="ftr" sz="quarter" idx="11"/>
          </p:nvPr>
        </p:nvSpPr>
        <p:spPr/>
        <p:txBody>
          <a:bodyPr/>
          <a:lstStyle/>
          <a:p>
            <a:endParaRPr lang="de-CH"/>
          </a:p>
        </p:txBody>
      </p:sp>
      <p:sp>
        <p:nvSpPr>
          <p:cNvPr id="6" name="Slide Number Placeholder 5">
            <a:extLst>
              <a:ext uri="{FF2B5EF4-FFF2-40B4-BE49-F238E27FC236}">
                <a16:creationId xmlns:a16="http://schemas.microsoft.com/office/drawing/2014/main" id="{DBDB107A-54F3-441F-911A-3CD57FDE6E72}"/>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3941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4349AB2-2AB2-43A7-8656-1622691F72C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de-CH"/>
          </a:p>
        </p:txBody>
      </p:sp>
      <p:sp>
        <p:nvSpPr>
          <p:cNvPr id="3" name="Vertical Text Placeholder 2">
            <a:extLst>
              <a:ext uri="{FF2B5EF4-FFF2-40B4-BE49-F238E27FC236}">
                <a16:creationId xmlns:a16="http://schemas.microsoft.com/office/drawing/2014/main" id="{0E3361E9-F971-441C-8CE6-36B5044224C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4" name="Date Placeholder 3">
            <a:extLst>
              <a:ext uri="{FF2B5EF4-FFF2-40B4-BE49-F238E27FC236}">
                <a16:creationId xmlns:a16="http://schemas.microsoft.com/office/drawing/2014/main" id="{18CF5765-AAA1-4EBA-9889-B58751F154F4}"/>
              </a:ext>
            </a:extLst>
          </p:cNvPr>
          <p:cNvSpPr>
            <a:spLocks noGrp="1"/>
          </p:cNvSpPr>
          <p:nvPr>
            <p:ph type="dt" sz="half" idx="10"/>
          </p:nvPr>
        </p:nvSpPr>
        <p:spPr/>
        <p:txBody>
          <a:bodyPr/>
          <a:lstStyle/>
          <a:p>
            <a:fld id="{9E9B238C-2335-4007-98C9-471C02CC43B6}" type="datetimeFigureOut">
              <a:rPr lang="de-CH" smtClean="0"/>
              <a:t>01.11.2026</a:t>
            </a:fld>
            <a:endParaRPr lang="de-CH"/>
          </a:p>
        </p:txBody>
      </p:sp>
      <p:sp>
        <p:nvSpPr>
          <p:cNvPr id="5" name="Footer Placeholder 4">
            <a:extLst>
              <a:ext uri="{FF2B5EF4-FFF2-40B4-BE49-F238E27FC236}">
                <a16:creationId xmlns:a16="http://schemas.microsoft.com/office/drawing/2014/main" id="{71F360DF-246C-4E18-B36B-0922733683DC}"/>
              </a:ext>
            </a:extLst>
          </p:cNvPr>
          <p:cNvSpPr>
            <a:spLocks noGrp="1"/>
          </p:cNvSpPr>
          <p:nvPr>
            <p:ph type="ftr" sz="quarter" idx="11"/>
          </p:nvPr>
        </p:nvSpPr>
        <p:spPr/>
        <p:txBody>
          <a:bodyPr/>
          <a:lstStyle/>
          <a:p>
            <a:endParaRPr lang="de-CH"/>
          </a:p>
        </p:txBody>
      </p:sp>
      <p:sp>
        <p:nvSpPr>
          <p:cNvPr id="6" name="Slide Number Placeholder 5">
            <a:extLst>
              <a:ext uri="{FF2B5EF4-FFF2-40B4-BE49-F238E27FC236}">
                <a16:creationId xmlns:a16="http://schemas.microsoft.com/office/drawing/2014/main" id="{F8C95E4A-A865-4DAD-8AEC-EE7D584D640C}"/>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27559124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1_Title and Content" type="tx">
  <p:cSld name="1_Title and Content">
    <p:spTree>
      <p:nvGrpSpPr>
        <p:cNvPr id="1" name="Shape 59"/>
        <p:cNvGrpSpPr/>
        <p:nvPr/>
      </p:nvGrpSpPr>
      <p:grpSpPr>
        <a:xfrm>
          <a:off x="0" y="0"/>
          <a:ext cx="0" cy="0"/>
          <a:chOff x="0" y="0"/>
          <a:chExt cx="0" cy="0"/>
        </a:xfrm>
      </p:grpSpPr>
      <p:sp>
        <p:nvSpPr>
          <p:cNvPr id="60" name="Google Shape;60;p15"/>
          <p:cNvSpPr txBox="1">
            <a:spLocks noGrp="1"/>
          </p:cNvSpPr>
          <p:nvPr>
            <p:ph type="title"/>
          </p:nvPr>
        </p:nvSpPr>
        <p:spPr>
          <a:xfrm>
            <a:off x="609600" y="274638"/>
            <a:ext cx="10972800" cy="1143001"/>
          </a:xfrm>
          <a:prstGeom prst="rect">
            <a:avLst/>
          </a:prstGeom>
          <a:noFill/>
          <a:ln>
            <a:noFill/>
          </a:ln>
        </p:spPr>
        <p:txBody>
          <a:bodyPr spcFirstLastPara="1" wrap="square" lIns="45700" tIns="45700" rIns="45700" bIns="45700" anchor="ctr" anchorCtr="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61" name="Google Shape;61;p15"/>
          <p:cNvSpPr txBox="1">
            <a:spLocks noGrp="1"/>
          </p:cNvSpPr>
          <p:nvPr>
            <p:ph type="body" idx="1"/>
          </p:nvPr>
        </p:nvSpPr>
        <p:spPr>
          <a:xfrm>
            <a:off x="609600" y="1600201"/>
            <a:ext cx="10972800" cy="4525964"/>
          </a:xfrm>
          <a:prstGeom prst="rect">
            <a:avLst/>
          </a:prstGeom>
          <a:noFill/>
          <a:ln>
            <a:noFill/>
          </a:ln>
        </p:spPr>
        <p:txBody>
          <a:bodyPr spcFirstLastPara="1" wrap="square" lIns="45700" tIns="45700" rIns="45700" bIns="45700" anchor="t" anchorCtr="0">
            <a:normAutofit/>
          </a:bodyPr>
          <a:lstStyle>
            <a:lvl1pPr marL="609585" lvl="0" indent="-457189" algn="l">
              <a:lnSpc>
                <a:spcPct val="100000"/>
              </a:lnSpc>
              <a:spcBef>
                <a:spcPts val="933"/>
              </a:spcBef>
              <a:spcAft>
                <a:spcPts val="0"/>
              </a:spcAft>
              <a:buClr>
                <a:srgbClr val="000000"/>
              </a:buClr>
              <a:buSzPts val="1800"/>
              <a:buChar char="•"/>
              <a:defRPr/>
            </a:lvl1pPr>
            <a:lvl2pPr marL="1219170" lvl="1" indent="-457189" algn="l">
              <a:lnSpc>
                <a:spcPct val="100000"/>
              </a:lnSpc>
              <a:spcBef>
                <a:spcPts val="933"/>
              </a:spcBef>
              <a:spcAft>
                <a:spcPts val="0"/>
              </a:spcAft>
              <a:buClr>
                <a:srgbClr val="000000"/>
              </a:buClr>
              <a:buSzPts val="1800"/>
              <a:buChar char="–"/>
              <a:defRPr/>
            </a:lvl2pPr>
            <a:lvl3pPr marL="1828754" lvl="2" indent="-457189" algn="l">
              <a:lnSpc>
                <a:spcPct val="100000"/>
              </a:lnSpc>
              <a:spcBef>
                <a:spcPts val="933"/>
              </a:spcBef>
              <a:spcAft>
                <a:spcPts val="0"/>
              </a:spcAft>
              <a:buClr>
                <a:srgbClr val="000000"/>
              </a:buClr>
              <a:buSzPts val="1800"/>
              <a:buChar char="•"/>
              <a:defRPr/>
            </a:lvl3pPr>
            <a:lvl4pPr marL="2438339" lvl="3" indent="-457189" algn="l">
              <a:lnSpc>
                <a:spcPct val="100000"/>
              </a:lnSpc>
              <a:spcBef>
                <a:spcPts val="933"/>
              </a:spcBef>
              <a:spcAft>
                <a:spcPts val="0"/>
              </a:spcAft>
              <a:buClr>
                <a:srgbClr val="000000"/>
              </a:buClr>
              <a:buSzPts val="1800"/>
              <a:buChar char="–"/>
              <a:defRPr/>
            </a:lvl4pPr>
            <a:lvl5pPr marL="3047924" lvl="4" indent="-457189" algn="l">
              <a:lnSpc>
                <a:spcPct val="100000"/>
              </a:lnSpc>
              <a:spcBef>
                <a:spcPts val="933"/>
              </a:spcBef>
              <a:spcAft>
                <a:spcPts val="0"/>
              </a:spcAft>
              <a:buClr>
                <a:srgbClr val="000000"/>
              </a:buClr>
              <a:buSzPts val="1800"/>
              <a:buChar char="»"/>
              <a:defRPr/>
            </a:lvl5pPr>
            <a:lvl6pPr marL="3657509" lvl="5" indent="-457189" algn="l">
              <a:lnSpc>
                <a:spcPct val="100000"/>
              </a:lnSpc>
              <a:spcBef>
                <a:spcPts val="933"/>
              </a:spcBef>
              <a:spcAft>
                <a:spcPts val="0"/>
              </a:spcAft>
              <a:buClr>
                <a:srgbClr val="000000"/>
              </a:buClr>
              <a:buSzPts val="1800"/>
              <a:buChar char="•"/>
              <a:defRPr/>
            </a:lvl6pPr>
            <a:lvl7pPr marL="4267093" lvl="6" indent="-457189" algn="l">
              <a:lnSpc>
                <a:spcPct val="100000"/>
              </a:lnSpc>
              <a:spcBef>
                <a:spcPts val="933"/>
              </a:spcBef>
              <a:spcAft>
                <a:spcPts val="0"/>
              </a:spcAft>
              <a:buClr>
                <a:srgbClr val="000000"/>
              </a:buClr>
              <a:buSzPts val="1800"/>
              <a:buChar char="•"/>
              <a:defRPr/>
            </a:lvl7pPr>
            <a:lvl8pPr marL="4876678" lvl="7" indent="-457189" algn="l">
              <a:lnSpc>
                <a:spcPct val="100000"/>
              </a:lnSpc>
              <a:spcBef>
                <a:spcPts val="933"/>
              </a:spcBef>
              <a:spcAft>
                <a:spcPts val="0"/>
              </a:spcAft>
              <a:buClr>
                <a:srgbClr val="000000"/>
              </a:buClr>
              <a:buSzPts val="1800"/>
              <a:buChar char="•"/>
              <a:defRPr/>
            </a:lvl8pPr>
            <a:lvl9pPr marL="5486263" lvl="8" indent="-457189" algn="l">
              <a:lnSpc>
                <a:spcPct val="100000"/>
              </a:lnSpc>
              <a:spcBef>
                <a:spcPts val="933"/>
              </a:spcBef>
              <a:spcAft>
                <a:spcPts val="0"/>
              </a:spcAft>
              <a:buClr>
                <a:srgbClr val="000000"/>
              </a:buClr>
              <a:buSzPts val="1800"/>
              <a:buChar char="•"/>
              <a:defRPr/>
            </a:lvl9pPr>
          </a:lstStyle>
          <a:p>
            <a:endParaRPr/>
          </a:p>
        </p:txBody>
      </p:sp>
      <p:sp>
        <p:nvSpPr>
          <p:cNvPr id="62" name="Google Shape;62;p15"/>
          <p:cNvSpPr txBox="1">
            <a:spLocks noGrp="1"/>
          </p:cNvSpPr>
          <p:nvPr>
            <p:ph type="sldNum" idx="12"/>
          </p:nvPr>
        </p:nvSpPr>
        <p:spPr>
          <a:xfrm>
            <a:off x="11230425" y="6369657"/>
            <a:ext cx="351977" cy="338514"/>
          </a:xfrm>
          <a:prstGeom prst="rect">
            <a:avLst/>
          </a:prstGeom>
          <a:noFill/>
          <a:ln>
            <a:noFill/>
          </a:ln>
        </p:spPr>
        <p:txBody>
          <a:bodyPr spcFirstLastPara="1" wrap="square" lIns="45700" tIns="45700" rIns="45700" bIns="45700" anchor="ctr" anchorCtr="0">
            <a:spAutoFit/>
          </a:bodyPr>
          <a:lstStyle>
            <a:lvl1pPr marL="0" lvl="0" indent="0" algn="r">
              <a:lnSpc>
                <a:spcPct val="100000"/>
              </a:lnSpc>
              <a:spcBef>
                <a:spcPts val="0"/>
              </a:spcBef>
              <a:spcAft>
                <a:spcPts val="0"/>
              </a:spcAft>
              <a:buClr>
                <a:srgbClr val="888888"/>
              </a:buClr>
              <a:buSzPts val="1200"/>
              <a:buFont typeface="Calibri"/>
              <a:buNone/>
              <a:defRPr sz="1600">
                <a:solidFill>
                  <a:srgbClr val="888888"/>
                </a:solidFill>
              </a:defRPr>
            </a:lvl1pPr>
            <a:lvl2pPr marL="0" lvl="1" indent="0" algn="r">
              <a:lnSpc>
                <a:spcPct val="100000"/>
              </a:lnSpc>
              <a:spcBef>
                <a:spcPts val="0"/>
              </a:spcBef>
              <a:spcAft>
                <a:spcPts val="0"/>
              </a:spcAft>
              <a:buClr>
                <a:srgbClr val="888888"/>
              </a:buClr>
              <a:buSzPts val="1200"/>
              <a:buFont typeface="Calibri"/>
              <a:buNone/>
              <a:defRPr sz="1600">
                <a:solidFill>
                  <a:srgbClr val="888888"/>
                </a:solidFill>
              </a:defRPr>
            </a:lvl2pPr>
            <a:lvl3pPr marL="0" lvl="2" indent="0" algn="r">
              <a:lnSpc>
                <a:spcPct val="100000"/>
              </a:lnSpc>
              <a:spcBef>
                <a:spcPts val="0"/>
              </a:spcBef>
              <a:spcAft>
                <a:spcPts val="0"/>
              </a:spcAft>
              <a:buClr>
                <a:srgbClr val="888888"/>
              </a:buClr>
              <a:buSzPts val="1200"/>
              <a:buFont typeface="Calibri"/>
              <a:buNone/>
              <a:defRPr sz="1600">
                <a:solidFill>
                  <a:srgbClr val="888888"/>
                </a:solidFill>
              </a:defRPr>
            </a:lvl3pPr>
            <a:lvl4pPr marL="0" lvl="3" indent="0" algn="r">
              <a:lnSpc>
                <a:spcPct val="100000"/>
              </a:lnSpc>
              <a:spcBef>
                <a:spcPts val="0"/>
              </a:spcBef>
              <a:spcAft>
                <a:spcPts val="0"/>
              </a:spcAft>
              <a:buClr>
                <a:srgbClr val="888888"/>
              </a:buClr>
              <a:buSzPts val="1200"/>
              <a:buFont typeface="Calibri"/>
              <a:buNone/>
              <a:defRPr sz="1600">
                <a:solidFill>
                  <a:srgbClr val="888888"/>
                </a:solidFill>
              </a:defRPr>
            </a:lvl4pPr>
            <a:lvl5pPr marL="0" lvl="4" indent="0" algn="r">
              <a:lnSpc>
                <a:spcPct val="100000"/>
              </a:lnSpc>
              <a:spcBef>
                <a:spcPts val="0"/>
              </a:spcBef>
              <a:spcAft>
                <a:spcPts val="0"/>
              </a:spcAft>
              <a:buClr>
                <a:srgbClr val="888888"/>
              </a:buClr>
              <a:buSzPts val="1200"/>
              <a:buFont typeface="Calibri"/>
              <a:buNone/>
              <a:defRPr sz="1600">
                <a:solidFill>
                  <a:srgbClr val="888888"/>
                </a:solidFill>
              </a:defRPr>
            </a:lvl5pPr>
            <a:lvl6pPr marL="0" lvl="5" indent="0" algn="r">
              <a:lnSpc>
                <a:spcPct val="100000"/>
              </a:lnSpc>
              <a:spcBef>
                <a:spcPts val="0"/>
              </a:spcBef>
              <a:spcAft>
                <a:spcPts val="0"/>
              </a:spcAft>
              <a:buClr>
                <a:srgbClr val="888888"/>
              </a:buClr>
              <a:buSzPts val="1200"/>
              <a:buFont typeface="Calibri"/>
              <a:buNone/>
              <a:defRPr sz="1600">
                <a:solidFill>
                  <a:srgbClr val="888888"/>
                </a:solidFill>
              </a:defRPr>
            </a:lvl6pPr>
            <a:lvl7pPr marL="0" lvl="6" indent="0" algn="r">
              <a:lnSpc>
                <a:spcPct val="100000"/>
              </a:lnSpc>
              <a:spcBef>
                <a:spcPts val="0"/>
              </a:spcBef>
              <a:spcAft>
                <a:spcPts val="0"/>
              </a:spcAft>
              <a:buClr>
                <a:srgbClr val="888888"/>
              </a:buClr>
              <a:buSzPts val="1200"/>
              <a:buFont typeface="Calibri"/>
              <a:buNone/>
              <a:defRPr sz="1600">
                <a:solidFill>
                  <a:srgbClr val="888888"/>
                </a:solidFill>
              </a:defRPr>
            </a:lvl7pPr>
            <a:lvl8pPr marL="0" lvl="7" indent="0" algn="r">
              <a:lnSpc>
                <a:spcPct val="100000"/>
              </a:lnSpc>
              <a:spcBef>
                <a:spcPts val="0"/>
              </a:spcBef>
              <a:spcAft>
                <a:spcPts val="0"/>
              </a:spcAft>
              <a:buClr>
                <a:srgbClr val="888888"/>
              </a:buClr>
              <a:buSzPts val="1200"/>
              <a:buFont typeface="Calibri"/>
              <a:buNone/>
              <a:defRPr sz="1600">
                <a:solidFill>
                  <a:srgbClr val="888888"/>
                </a:solidFill>
              </a:defRPr>
            </a:lvl8pPr>
            <a:lvl9pPr marL="0" lvl="8" indent="0" algn="r">
              <a:lnSpc>
                <a:spcPct val="100000"/>
              </a:lnSpc>
              <a:spcBef>
                <a:spcPts val="0"/>
              </a:spcBef>
              <a:spcAft>
                <a:spcPts val="0"/>
              </a:spcAft>
              <a:buClr>
                <a:srgbClr val="888888"/>
              </a:buClr>
              <a:buSzPts val="1200"/>
              <a:buFont typeface="Calibri"/>
              <a:buNone/>
              <a:defRPr sz="1600">
                <a:solidFill>
                  <a:srgbClr val="888888"/>
                </a:solidFil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8273420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CCDFDE9-18F4-48C4-A401-3E984B3925D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de-CH"/>
          </a:p>
        </p:txBody>
      </p:sp>
      <p:sp>
        <p:nvSpPr>
          <p:cNvPr id="3" name="Text Placeholder 2">
            <a:extLst>
              <a:ext uri="{FF2B5EF4-FFF2-40B4-BE49-F238E27FC236}">
                <a16:creationId xmlns:a16="http://schemas.microsoft.com/office/drawing/2014/main" id="{E517C9F2-47EC-46EF-9DAA-721B9E5EF3D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4" name="Date Placeholder 3">
            <a:extLst>
              <a:ext uri="{FF2B5EF4-FFF2-40B4-BE49-F238E27FC236}">
                <a16:creationId xmlns:a16="http://schemas.microsoft.com/office/drawing/2014/main" id="{B3B2DCEB-FFB0-4E16-B62A-C5FBA3476AB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E9B238C-2335-4007-98C9-471C02CC43B6}" type="datetimeFigureOut">
              <a:rPr lang="de-CH" smtClean="0"/>
              <a:t>01.11.2026</a:t>
            </a:fld>
            <a:endParaRPr lang="de-CH"/>
          </a:p>
        </p:txBody>
      </p:sp>
      <p:sp>
        <p:nvSpPr>
          <p:cNvPr id="5" name="Footer Placeholder 4">
            <a:extLst>
              <a:ext uri="{FF2B5EF4-FFF2-40B4-BE49-F238E27FC236}">
                <a16:creationId xmlns:a16="http://schemas.microsoft.com/office/drawing/2014/main" id="{028C72CA-B967-43BF-81A8-8AE258386D3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CH"/>
          </a:p>
        </p:txBody>
      </p:sp>
      <p:sp>
        <p:nvSpPr>
          <p:cNvPr id="6" name="Slide Number Placeholder 5">
            <a:extLst>
              <a:ext uri="{FF2B5EF4-FFF2-40B4-BE49-F238E27FC236}">
                <a16:creationId xmlns:a16="http://schemas.microsoft.com/office/drawing/2014/main" id="{EDD67793-ADCE-4178-B0C6-9992EC74B27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C4AC485-25DE-431E-B345-9C0A15BB7F8A}" type="slidenum">
              <a:rPr lang="de-CH" smtClean="0"/>
              <a:t>‹#›</a:t>
            </a:fld>
            <a:endParaRPr lang="de-CH"/>
          </a:p>
        </p:txBody>
      </p:sp>
    </p:spTree>
    <p:extLst>
      <p:ext uri="{BB962C8B-B14F-4D97-AF65-F5344CB8AC3E}">
        <p14:creationId xmlns:p14="http://schemas.microsoft.com/office/powerpoint/2010/main" val="15759566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datatracker.ietf.org/doc/html/draft-ietf-netconf-udp-notif" TargetMode="External"/><Relationship Id="rId2" Type="http://schemas.openxmlformats.org/officeDocument/2006/relationships/hyperlink" Target="https://datatracker.ietf.org/doc/html/draft-ietf-nmop-yang-message-broker-message-key" TargetMode="Externa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hyperlink" Target="https://datatracker.ietf.org/doc/html/draft-ietf-netconf-yang-library-augmentedby" TargetMode="External"/><Relationship Id="rId7" Type="http://schemas.openxmlformats.org/officeDocument/2006/relationships/hyperlink" Target="https://datatracker.ietf.org/doc/html/draft-ietf-nmop-message-broker-telemetry-message" TargetMode="External"/><Relationship Id="rId2" Type="http://schemas.openxmlformats.org/officeDocument/2006/relationships/hyperlink" Target="https://datatracker.ietf.org/doc/draft-ietf-netconf-notif-envelope/" TargetMode="External"/><Relationship Id="rId1" Type="http://schemas.openxmlformats.org/officeDocument/2006/relationships/slideLayout" Target="../slideLayouts/slideLayout2.xml"/><Relationship Id="rId6" Type="http://schemas.openxmlformats.org/officeDocument/2006/relationships/hyperlink" Target="https://datatracker.ietf.org/doc/html/draft-ietf-nmop-yang-message-broker-integration" TargetMode="External"/><Relationship Id="rId5" Type="http://schemas.openxmlformats.org/officeDocument/2006/relationships/hyperlink" Target="https://datatracker.ietf.org/doc/draft-ietf-netconf-yp-transport-capabilities/" TargetMode="External"/><Relationship Id="rId4" Type="http://schemas.openxmlformats.org/officeDocument/2006/relationships/hyperlink" Target="https://datatracker.ietf.org/doc/html/draft-ietf-netconf-yang-notifications-versioning"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datatracker.ietf.org/doc/html/rfc9984" TargetMode="External"/><Relationship Id="rId2" Type="http://schemas.openxmlformats.org/officeDocument/2006/relationships/hyperlink" Target="https://datatracker.ietf.org/doc/html/draft-ietf-netconf-udp-notif" TargetMode="External"/><Relationship Id="rId1" Type="http://schemas.openxmlformats.org/officeDocument/2006/relationships/slideLayout" Target="../slideLayouts/slideLayout2.xml"/><Relationship Id="rId5" Type="http://schemas.openxmlformats.org/officeDocument/2006/relationships/hyperlink" Target="https://datatracker.ietf.org/doc/html/draft-netana-nmop-yang-anydata-validation" TargetMode="External"/><Relationship Id="rId4" Type="http://schemas.openxmlformats.org/officeDocument/2006/relationships/hyperlink" Target="https://datatracker.ietf.org/doc/html/draft-ietf-netconf-distributed-notif"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8" Type="http://schemas.openxmlformats.org/officeDocument/2006/relationships/hyperlink" Target="https://github.com/network-analytics/udp-notif-dissector" TargetMode="External"/><Relationship Id="rId3" Type="http://schemas.openxmlformats.org/officeDocument/2006/relationships/hyperlink" Target="https://github.com/NetGauze/NetGauze" TargetMode="External"/><Relationship Id="rId7" Type="http://schemas.openxmlformats.org/officeDocument/2006/relationships/hyperlink" Target="https://github.com/yang-central/yangkit/" TargetMode="External"/><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hyperlink" Target="https://github.com/CESNET/libyang/releases/tag/v5.4.9" TargetMode="External"/><Relationship Id="rId5" Type="http://schemas.openxmlformats.org/officeDocument/2006/relationships/hyperlink" Target="https://github.com/network-analytics/yang-kafka-integration" TargetMode="External"/><Relationship Id="rId10" Type="http://schemas.openxmlformats.org/officeDocument/2006/relationships/hyperlink" Target="https://www.network-analytics.org/yp/how-to-deploy.html" TargetMode="External"/><Relationship Id="rId4" Type="http://schemas.openxmlformats.org/officeDocument/2006/relationships/hyperlink" Target="https://github.com/pmacct/pmacct" TargetMode="External"/><Relationship Id="rId9"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network-analytics/ietf-network-analytics-document-status/tree/main/126/Hackathon/" TargetMode="External"/><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8" Type="http://schemas.openxmlformats.org/officeDocument/2006/relationships/hyperlink" Target="https://datatracker.ietf.org/doc/html/draft-ietf-netconf-yang-notifications-versioning" TargetMode="External"/><Relationship Id="rId13" Type="http://schemas.openxmlformats.org/officeDocument/2006/relationships/hyperlink" Target="https://datatracker.ietf.org/doc/html/draft-netana-nmop-yang-anydata-validation" TargetMode="External"/><Relationship Id="rId3" Type="http://schemas.openxmlformats.org/officeDocument/2006/relationships/hyperlink" Target="https://datatracker.ietf.org/doc/html/rfc8639" TargetMode="External"/><Relationship Id="rId7" Type="http://schemas.openxmlformats.org/officeDocument/2006/relationships/hyperlink" Target="https://datatracker.ietf.org/doc/html/draft-ietf-netconf-notif-envelope" TargetMode="External"/><Relationship Id="rId12" Type="http://schemas.openxmlformats.org/officeDocument/2006/relationships/hyperlink" Target="https://datatracker.ietf.org/doc/html/draft-ietf-netconf-yang-library-augmentation" TargetMode="External"/><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hyperlink" Target="https://datatracker.ietf.org/doc/html/draft-ietf-netconf-distributed-notif" TargetMode="External"/><Relationship Id="rId11" Type="http://schemas.openxmlformats.org/officeDocument/2006/relationships/hyperlink" Target="https://datatracker.ietf.org/doc/html/rfc8525" TargetMode="External"/><Relationship Id="rId5" Type="http://schemas.openxmlformats.org/officeDocument/2006/relationships/hyperlink" Target="https://datatracker.ietf.org/doc/html/draft-ietf-netconf-udp-notif" TargetMode="External"/><Relationship Id="rId10" Type="http://schemas.openxmlformats.org/officeDocument/2006/relationships/hyperlink" Target="https://datatracker.ietf.org/doc/html/draft-ietf-netconf-yp-transport-capabilities" TargetMode="External"/><Relationship Id="rId4" Type="http://schemas.openxmlformats.org/officeDocument/2006/relationships/hyperlink" Target="https://datatracker.ietf.org/doc/html/rfc8641" TargetMode="External"/><Relationship Id="rId9" Type="http://schemas.openxmlformats.org/officeDocument/2006/relationships/hyperlink" Target="https://datatracker.ietf.org/doc/html/rfc9196" TargetMode="External"/><Relationship Id="rId14" Type="http://schemas.openxmlformats.org/officeDocument/2006/relationships/hyperlink" Target="https://datatracker.ietf.org/doc/html/rfc9254"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hyperlink" Target="https://datatracker.ietf.org/doc/html/draft-ietf-netconf-udp-notif#section-6" TargetMode="External"/><Relationship Id="rId5" Type="http://schemas.openxmlformats.org/officeDocument/2006/relationships/hyperlink" Target="https://datatracker.ietf.org/doc/html/rfc9254#section-3.3" TargetMode="Externa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hyperlink" Target="https://datatracker.ietf.org/doc/html/rfc9196" TargetMode="External"/><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14.png"/><Relationship Id="rId5" Type="http://schemas.openxmlformats.org/officeDocument/2006/relationships/hyperlink" Target="https://datatracker.ietf.org/doc/html/draft-ietf-netconf-yang-library-augmentedby" TargetMode="External"/><Relationship Id="rId4" Type="http://schemas.openxmlformats.org/officeDocument/2006/relationships/hyperlink" Target="https://datatracker.ietf.org/doc/html/rfc8525"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hyperlink" Target="https://github.com/network-analytics/yang_tests/blob/master/report_v2.pdf" TargetMode="External"/></Relationships>
</file>

<file path=ppt/slides/_rels/slide18.xml.rels><?xml version="1.0" encoding="UTF-8" standalone="yes"?>
<Relationships xmlns="http://schemas.openxmlformats.org/package/2006/relationships"><Relationship Id="rId8" Type="http://schemas.openxmlformats.org/officeDocument/2006/relationships/hyperlink" Target="https://github.com/ahassany/yang-push-key" TargetMode="External"/><Relationship Id="rId3" Type="http://schemas.openxmlformats.org/officeDocument/2006/relationships/hyperlink" Target="https://github.com/yang-central/yangkit" TargetMode="External"/><Relationship Id="rId7" Type="http://schemas.openxmlformats.org/officeDocument/2006/relationships/hyperlink" Target="https://github.com/NetGauze/NetGauze/issues/456" TargetMode="External"/><Relationship Id="rId2" Type="http://schemas.openxmlformats.org/officeDocument/2006/relationships/hyperlink" Target="https://github.com/CESNET/libyang" TargetMode="External"/><Relationship Id="rId1" Type="http://schemas.openxmlformats.org/officeDocument/2006/relationships/slideLayout" Target="../slideLayouts/slideLayout12.xml"/><Relationship Id="rId6" Type="http://schemas.openxmlformats.org/officeDocument/2006/relationships/hyperlink" Target="https://github.com/NetGauze/NetGauze/issues/457" TargetMode="External"/><Relationship Id="rId5" Type="http://schemas.openxmlformats.org/officeDocument/2006/relationships/hyperlink" Target="https://github.com/NetGauze/NetGauze/issues/449" TargetMode="External"/><Relationship Id="rId4" Type="http://schemas.openxmlformats.org/officeDocument/2006/relationships/hyperlink" Target="https://github.com/opendaylight/yangtools/" TargetMode="External"/><Relationship Id="rId9" Type="http://schemas.openxmlformats.org/officeDocument/2006/relationships/image" Target="../media/image18.png"/></Relationships>
</file>

<file path=ppt/slides/_rels/slide19.xml.rels><?xml version="1.0" encoding="UTF-8" standalone="yes"?>
<Relationships xmlns="http://schemas.openxmlformats.org/package/2006/relationships"><Relationship Id="rId3" Type="http://schemas.openxmlformats.org/officeDocument/2006/relationships/hyperlink" Target="https://datatracker.ietf.org/doc/html/draft-netana-nmop-yang-anydata-validation" TargetMode="External"/><Relationship Id="rId2" Type="http://schemas.openxmlformats.org/officeDocument/2006/relationships/hyperlink" Target="https://github.com/network-analytics/yang-kafka-integration/pull/11" TargetMode="External"/><Relationship Id="rId1" Type="http://schemas.openxmlformats.org/officeDocument/2006/relationships/slideLayout" Target="../slideLayouts/slideLayout12.xml"/><Relationship Id="rId5" Type="http://schemas.openxmlformats.org/officeDocument/2006/relationships/hyperlink" Target="https://datatracker.ietf.org/doc/html/draft-ietf-nmop-yang-message-broker-message-key#section-4.1" TargetMode="External"/><Relationship Id="rId4" Type="http://schemas.openxmlformats.org/officeDocument/2006/relationships/hyperlink" Target="https://datatracker.ietf.org/doc/html/draft-ietf-nmop-yang-message-broker-message-key#section-3.2"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1">
            <a:extLst>
              <a:ext uri="{FF2B5EF4-FFF2-40B4-BE49-F238E27FC236}">
                <a16:creationId xmlns:a16="http://schemas.microsoft.com/office/drawing/2014/main" id="{C26208B2-0D10-4C23-B2DE-372A62E98644}"/>
              </a:ext>
            </a:extLst>
          </p:cNvPr>
          <p:cNvSpPr txBox="1">
            <a:spLocks/>
          </p:cNvSpPr>
          <p:nvPr/>
        </p:nvSpPr>
        <p:spPr>
          <a:xfrm>
            <a:off x="606830" y="1365772"/>
            <a:ext cx="11395314" cy="323900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400" b="1" dirty="0"/>
              <a:t>An Architecture for YANG-Push to Message Broker </a:t>
            </a:r>
            <a:r>
              <a:rPr lang="en-US" sz="3400" b="1" dirty="0">
                <a:solidFill>
                  <a:srgbClr val="FF0000"/>
                </a:solidFill>
              </a:rPr>
              <a:t>Integration</a:t>
            </a:r>
            <a:br>
              <a:rPr lang="en-US" sz="3600" b="1" dirty="0"/>
            </a:br>
            <a:r>
              <a:rPr lang="en-US" sz="2800" dirty="0"/>
              <a:t>draft-ietf-nmop-yang-message-broker-integration-13</a:t>
            </a:r>
          </a:p>
          <a:p>
            <a:endParaRPr lang="en-US" sz="2800" dirty="0"/>
          </a:p>
          <a:p>
            <a:r>
              <a:rPr lang="en-US" sz="2800" dirty="0">
                <a:solidFill>
                  <a:schemeClr val="bg2">
                    <a:lumMod val="75000"/>
                  </a:schemeClr>
                </a:solidFill>
              </a:rPr>
              <a:t>Motivation and architecture of a native</a:t>
            </a:r>
          </a:p>
          <a:p>
            <a:r>
              <a:rPr lang="en-US" sz="2800" dirty="0">
                <a:solidFill>
                  <a:schemeClr val="bg2">
                    <a:lumMod val="75000"/>
                  </a:schemeClr>
                </a:solidFill>
              </a:rPr>
              <a:t>	YANG-Push notifications and YANG Schema integration</a:t>
            </a:r>
          </a:p>
          <a:p>
            <a:r>
              <a:rPr lang="en-US" sz="2800" dirty="0">
                <a:solidFill>
                  <a:schemeClr val="bg2">
                    <a:lumMod val="75000"/>
                  </a:schemeClr>
                </a:solidFill>
              </a:rPr>
              <a:t>		into Message Broker and YANG Schema Registry</a:t>
            </a:r>
          </a:p>
        </p:txBody>
      </p:sp>
      <p:sp>
        <p:nvSpPr>
          <p:cNvPr id="2" name="Slide Number Placeholder 1">
            <a:extLst>
              <a:ext uri="{FF2B5EF4-FFF2-40B4-BE49-F238E27FC236}">
                <a16:creationId xmlns:a16="http://schemas.microsoft.com/office/drawing/2014/main" id="{AD23057C-339A-4254-8994-8EB77B8B4163}"/>
              </a:ext>
            </a:extLst>
          </p:cNvPr>
          <p:cNvSpPr>
            <a:spLocks noGrp="1"/>
          </p:cNvSpPr>
          <p:nvPr>
            <p:ph type="sldNum" sz="quarter" idx="12"/>
          </p:nvPr>
        </p:nvSpPr>
        <p:spPr>
          <a:xfrm>
            <a:off x="11587892" y="6361637"/>
            <a:ext cx="414251" cy="365125"/>
          </a:xfrm>
        </p:spPr>
        <p:txBody>
          <a:bodyPr/>
          <a:lstStyle/>
          <a:p>
            <a:fld id="{FC4AC485-25DE-431E-B345-9C0A15BB7F8A}" type="slidenum">
              <a:rPr lang="de-CH" sz="2200" smtClean="0"/>
              <a:t>1</a:t>
            </a:fld>
            <a:endParaRPr lang="de-CH" sz="2200" dirty="0"/>
          </a:p>
        </p:txBody>
      </p:sp>
      <p:sp>
        <p:nvSpPr>
          <p:cNvPr id="6" name="Subtitle 4">
            <a:extLst>
              <a:ext uri="{FF2B5EF4-FFF2-40B4-BE49-F238E27FC236}">
                <a16:creationId xmlns:a16="http://schemas.microsoft.com/office/drawing/2014/main" id="{6CAA0765-1318-4A03-8F91-D3ECC43D8FA7}"/>
              </a:ext>
            </a:extLst>
          </p:cNvPr>
          <p:cNvSpPr txBox="1">
            <a:spLocks/>
          </p:cNvSpPr>
          <p:nvPr/>
        </p:nvSpPr>
        <p:spPr>
          <a:xfrm>
            <a:off x="838200" y="5658415"/>
            <a:ext cx="11163943" cy="703221"/>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spcBef>
                <a:spcPts val="300"/>
              </a:spcBef>
              <a:buNone/>
              <a:defRPr sz="1782"/>
            </a:pPr>
            <a:r>
              <a:rPr lang="de-CH" sz="1400" b="1" dirty="0">
                <a:latin typeface="+mj-lt"/>
              </a:rPr>
              <a:t>thomas.graf@swisscom.com</a:t>
            </a:r>
            <a:br>
              <a:rPr lang="de-CH" sz="1400" b="1" dirty="0">
                <a:latin typeface="+mj-lt"/>
              </a:rPr>
            </a:br>
            <a:r>
              <a:rPr lang="de-CH" sz="1400" dirty="0">
                <a:latin typeface="+mj-lt"/>
              </a:rPr>
              <a:t>ahmed.elhassany@swisscom.com</a:t>
            </a:r>
          </a:p>
          <a:p>
            <a:pPr marL="0" indent="0" algn="r">
              <a:spcBef>
                <a:spcPts val="300"/>
              </a:spcBef>
              <a:buNone/>
              <a:defRPr sz="1782"/>
            </a:pPr>
            <a:endParaRPr lang="de-CH" sz="1400" dirty="0">
              <a:latin typeface="+mj-lt"/>
            </a:endParaRPr>
          </a:p>
          <a:p>
            <a:pPr marL="0" indent="0" algn="r">
              <a:spcBef>
                <a:spcPts val="300"/>
              </a:spcBef>
              <a:buNone/>
            </a:pPr>
            <a:r>
              <a:rPr lang="de-CH" sz="1400" dirty="0">
                <a:latin typeface="+mj-lt"/>
              </a:rPr>
              <a:t>20. </a:t>
            </a:r>
            <a:r>
              <a:rPr lang="de-CH" sz="1400" dirty="0" err="1">
                <a:latin typeface="+mj-lt"/>
              </a:rPr>
              <a:t>July</a:t>
            </a:r>
            <a:r>
              <a:rPr lang="de-CH" sz="1400" dirty="0">
                <a:latin typeface="+mj-lt"/>
              </a:rPr>
              <a:t> </a:t>
            </a:r>
            <a:r>
              <a:rPr lang="de-CH" sz="1400" dirty="0">
                <a:latin typeface="+mj-lt"/>
                <a:ea typeface="+mj-ea"/>
                <a:cs typeface="+mj-cs"/>
              </a:rPr>
              <a:t>2026</a:t>
            </a:r>
            <a:endParaRPr lang="de-CH" sz="1400" dirty="0">
              <a:latin typeface="+mj-lt"/>
            </a:endParaRPr>
          </a:p>
          <a:p>
            <a:pPr algn="r"/>
            <a:endParaRPr lang="de-CH" sz="2200" dirty="0"/>
          </a:p>
        </p:txBody>
      </p:sp>
    </p:spTree>
    <p:extLst>
      <p:ext uri="{BB962C8B-B14F-4D97-AF65-F5344CB8AC3E}">
        <p14:creationId xmlns:p14="http://schemas.microsoft.com/office/powerpoint/2010/main" val="35786653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0B5D1B-1F97-AD24-D58C-0861B66B5D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AA9B0A-A90B-9249-AA71-F9B3153B85D4}"/>
              </a:ext>
            </a:extLst>
          </p:cNvPr>
          <p:cNvSpPr>
            <a:spLocks noGrp="1"/>
          </p:cNvSpPr>
          <p:nvPr>
            <p:ph type="title"/>
          </p:nvPr>
        </p:nvSpPr>
        <p:spPr/>
        <p:txBody>
          <a:bodyPr>
            <a:normAutofit/>
          </a:bodyPr>
          <a:lstStyle/>
          <a:p>
            <a:r>
              <a:rPr lang="en-US" sz="2800" b="1" dirty="0"/>
              <a:t>An Architecture for YANG-Push to Message Broker Integration</a:t>
            </a:r>
            <a:br>
              <a:rPr lang="en-GB" sz="3600" dirty="0"/>
            </a:br>
            <a:r>
              <a:rPr lang="de-CH" sz="2700" dirty="0">
                <a:solidFill>
                  <a:schemeClr val="bg2">
                    <a:lumMod val="75000"/>
                  </a:schemeClr>
                </a:solidFill>
              </a:rPr>
              <a:t>Operational and </a:t>
            </a:r>
            <a:r>
              <a:rPr lang="de-CH" sz="2700" dirty="0" err="1">
                <a:solidFill>
                  <a:schemeClr val="bg2">
                    <a:lumMod val="75000"/>
                  </a:schemeClr>
                </a:solidFill>
              </a:rPr>
              <a:t>Considerations</a:t>
            </a:r>
            <a:r>
              <a:rPr lang="de-CH" sz="2700" dirty="0">
                <a:solidFill>
                  <a:schemeClr val="bg2">
                    <a:lumMod val="75000"/>
                  </a:schemeClr>
                </a:solidFill>
              </a:rPr>
              <a:t> </a:t>
            </a:r>
            <a:r>
              <a:rPr lang="de-CH" sz="2700" dirty="0" err="1">
                <a:solidFill>
                  <a:schemeClr val="bg2">
                    <a:lumMod val="75000"/>
                  </a:schemeClr>
                </a:solidFill>
              </a:rPr>
              <a:t>Sections</a:t>
            </a:r>
            <a:r>
              <a:rPr lang="de-CH" sz="2700" dirty="0">
                <a:solidFill>
                  <a:schemeClr val="bg2">
                    <a:lumMod val="75000"/>
                  </a:schemeClr>
                </a:solidFill>
              </a:rPr>
              <a:t> in </a:t>
            </a:r>
            <a:r>
              <a:rPr lang="de-CH" sz="2700" b="1" dirty="0">
                <a:solidFill>
                  <a:srgbClr val="FF0000"/>
                </a:solidFill>
              </a:rPr>
              <a:t>-12</a:t>
            </a:r>
            <a:endParaRPr lang="en-US" sz="2700" b="1" dirty="0">
              <a:solidFill>
                <a:srgbClr val="FF0000"/>
              </a:solidFill>
            </a:endParaRPr>
          </a:p>
        </p:txBody>
      </p:sp>
      <p:sp>
        <p:nvSpPr>
          <p:cNvPr id="8" name="Slide Number Placeholder 1">
            <a:extLst>
              <a:ext uri="{FF2B5EF4-FFF2-40B4-BE49-F238E27FC236}">
                <a16:creationId xmlns:a16="http://schemas.microsoft.com/office/drawing/2014/main" id="{EC1F4E2A-8920-F9AD-5BC9-03702AB27733}"/>
              </a:ext>
            </a:extLst>
          </p:cNvPr>
          <p:cNvSpPr>
            <a:spLocks noGrp="1"/>
          </p:cNvSpPr>
          <p:nvPr>
            <p:ph type="sldNum" sz="quarter" idx="12"/>
          </p:nvPr>
        </p:nvSpPr>
        <p:spPr>
          <a:xfrm>
            <a:off x="11587892" y="6361637"/>
            <a:ext cx="414251" cy="365125"/>
          </a:xfrm>
        </p:spPr>
        <p:txBody>
          <a:bodyPr/>
          <a:lstStyle/>
          <a:p>
            <a:fld id="{FC4AC485-25DE-431E-B345-9C0A15BB7F8A}" type="slidenum">
              <a:rPr lang="de-CH" sz="1400" smtClean="0"/>
              <a:t>2</a:t>
            </a:fld>
            <a:endParaRPr lang="de-CH" sz="1400" dirty="0"/>
          </a:p>
        </p:txBody>
      </p:sp>
      <p:pic>
        <p:nvPicPr>
          <p:cNvPr id="9" name="Picture 8">
            <a:extLst>
              <a:ext uri="{FF2B5EF4-FFF2-40B4-BE49-F238E27FC236}">
                <a16:creationId xmlns:a16="http://schemas.microsoft.com/office/drawing/2014/main" id="{63C53015-577B-B818-5128-8711F5B72977}"/>
              </a:ext>
            </a:extLst>
          </p:cNvPr>
          <p:cNvPicPr>
            <a:picLocks noChangeAspect="1"/>
          </p:cNvPicPr>
          <p:nvPr/>
        </p:nvPicPr>
        <p:blipFill>
          <a:blip r:embed="rId2"/>
          <a:stretch>
            <a:fillRect/>
          </a:stretch>
        </p:blipFill>
        <p:spPr>
          <a:xfrm>
            <a:off x="838200" y="1934607"/>
            <a:ext cx="5173864" cy="3196951"/>
          </a:xfrm>
          <a:prstGeom prst="rect">
            <a:avLst/>
          </a:prstGeom>
        </p:spPr>
      </p:pic>
      <p:pic>
        <p:nvPicPr>
          <p:cNvPr id="12" name="Picture 11">
            <a:extLst>
              <a:ext uri="{FF2B5EF4-FFF2-40B4-BE49-F238E27FC236}">
                <a16:creationId xmlns:a16="http://schemas.microsoft.com/office/drawing/2014/main" id="{5EBA5325-EC36-4314-A46B-A7664534A1CB}"/>
              </a:ext>
            </a:extLst>
          </p:cNvPr>
          <p:cNvPicPr>
            <a:picLocks noChangeAspect="1"/>
          </p:cNvPicPr>
          <p:nvPr/>
        </p:nvPicPr>
        <p:blipFill>
          <a:blip r:embed="rId3"/>
          <a:stretch>
            <a:fillRect/>
          </a:stretch>
        </p:blipFill>
        <p:spPr>
          <a:xfrm>
            <a:off x="6012064" y="1934607"/>
            <a:ext cx="5698603" cy="3782202"/>
          </a:xfrm>
          <a:prstGeom prst="rect">
            <a:avLst/>
          </a:prstGeom>
        </p:spPr>
      </p:pic>
    </p:spTree>
    <p:extLst>
      <p:ext uri="{BB962C8B-B14F-4D97-AF65-F5344CB8AC3E}">
        <p14:creationId xmlns:p14="http://schemas.microsoft.com/office/powerpoint/2010/main" val="14889382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12E10-D23C-63C1-BF5E-2E15CFD128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5D8FC1-6AD2-4FDB-0618-87CF7F39767C}"/>
              </a:ext>
            </a:extLst>
          </p:cNvPr>
          <p:cNvSpPr>
            <a:spLocks noGrp="1"/>
          </p:cNvSpPr>
          <p:nvPr>
            <p:ph type="title"/>
          </p:nvPr>
        </p:nvSpPr>
        <p:spPr/>
        <p:txBody>
          <a:bodyPr>
            <a:normAutofit/>
          </a:bodyPr>
          <a:lstStyle/>
          <a:p>
            <a:r>
              <a:rPr lang="en-US" sz="2800" b="1" dirty="0"/>
              <a:t>An Architecture for YANG-Push to Message Broker Integration</a:t>
            </a:r>
            <a:br>
              <a:rPr lang="en-GB" sz="3600" dirty="0"/>
            </a:br>
            <a:r>
              <a:rPr lang="de-CH" sz="2700" dirty="0" err="1">
                <a:solidFill>
                  <a:schemeClr val="bg2">
                    <a:lumMod val="75000"/>
                  </a:schemeClr>
                </a:solidFill>
              </a:rPr>
              <a:t>Changes</a:t>
            </a:r>
            <a:r>
              <a:rPr lang="de-CH" sz="2700" dirty="0">
                <a:solidFill>
                  <a:schemeClr val="bg2">
                    <a:lumMod val="75000"/>
                  </a:schemeClr>
                </a:solidFill>
              </a:rPr>
              <a:t> in -</a:t>
            </a:r>
            <a:r>
              <a:rPr lang="de-CH" sz="2700" b="1" dirty="0">
                <a:solidFill>
                  <a:srgbClr val="FF0000"/>
                </a:solidFill>
              </a:rPr>
              <a:t>13 </a:t>
            </a:r>
            <a:r>
              <a:rPr lang="de-CH" sz="2700" dirty="0">
                <a:solidFill>
                  <a:schemeClr val="bg2">
                    <a:lumMod val="75000"/>
                  </a:schemeClr>
                </a:solidFill>
              </a:rPr>
              <a:t>and Next </a:t>
            </a:r>
            <a:r>
              <a:rPr lang="de-CH" sz="2700" dirty="0" err="1">
                <a:solidFill>
                  <a:schemeClr val="bg2">
                    <a:lumMod val="75000"/>
                  </a:schemeClr>
                </a:solidFill>
              </a:rPr>
              <a:t>Steps</a:t>
            </a:r>
            <a:endParaRPr lang="en-US" sz="2700" dirty="0">
              <a:solidFill>
                <a:schemeClr val="bg2">
                  <a:lumMod val="75000"/>
                </a:schemeClr>
              </a:solidFill>
            </a:endParaRPr>
          </a:p>
        </p:txBody>
      </p:sp>
      <p:sp>
        <p:nvSpPr>
          <p:cNvPr id="3" name="Content Placeholder 2">
            <a:extLst>
              <a:ext uri="{FF2B5EF4-FFF2-40B4-BE49-F238E27FC236}">
                <a16:creationId xmlns:a16="http://schemas.microsoft.com/office/drawing/2014/main" id="{E1C8AC62-B5C5-ADE4-1957-88D3A14E964A}"/>
              </a:ext>
            </a:extLst>
          </p:cNvPr>
          <p:cNvSpPr>
            <a:spLocks noGrp="1"/>
          </p:cNvSpPr>
          <p:nvPr>
            <p:ph idx="1"/>
          </p:nvPr>
        </p:nvSpPr>
        <p:spPr>
          <a:xfrm>
            <a:off x="838199" y="1772816"/>
            <a:ext cx="6830291" cy="4404148"/>
          </a:xfrm>
        </p:spPr>
        <p:txBody>
          <a:bodyPr>
            <a:noAutofit/>
          </a:bodyPr>
          <a:lstStyle/>
          <a:p>
            <a:pPr marL="0" indent="0">
              <a:buNone/>
            </a:pPr>
            <a:r>
              <a:rPr lang="en-US" sz="1800" dirty="0">
                <a:latin typeface="Calibri Body"/>
              </a:rPr>
              <a:t>Many thanks to Heng Cui for contributing the operational and security consideration sections, Deepya Mandadi on sharpening the YANG deviations aspects of the document and Reshad on reviewing normative downward references.</a:t>
            </a:r>
          </a:p>
          <a:p>
            <a:pPr marL="0" indent="0">
              <a:buNone/>
            </a:pPr>
            <a:r>
              <a:rPr lang="en-US" sz="1800" b="1" dirty="0">
                <a:latin typeface="Calibri Body"/>
              </a:rPr>
              <a:t>Status</a:t>
            </a:r>
          </a:p>
          <a:p>
            <a:r>
              <a:rPr lang="en-US" sz="1800" dirty="0">
                <a:latin typeface="Calibri Body"/>
              </a:rPr>
              <a:t>Detail on how YANG deviations are handled in YANG-Push Receiver YANG library, YANG schema registry and Message Broker YANG library.</a:t>
            </a:r>
          </a:p>
          <a:p>
            <a:r>
              <a:rPr lang="en-US" sz="1800" dirty="0">
                <a:latin typeface="Calibri Body"/>
              </a:rPr>
              <a:t>Example how the message key and schema id is encoded in Message Broker header meta data. How message keys are crafted us defined in </a:t>
            </a:r>
            <a:r>
              <a:rPr lang="en-US" sz="1800" dirty="0">
                <a:latin typeface="Calibri Body"/>
                <a:hlinkClick r:id="rId2"/>
              </a:rPr>
              <a:t>draft-</a:t>
            </a:r>
            <a:r>
              <a:rPr lang="en-US" sz="1800" dirty="0" err="1">
                <a:latin typeface="Calibri Body"/>
                <a:hlinkClick r:id="rId2"/>
              </a:rPr>
              <a:t>ietf</a:t>
            </a:r>
            <a:r>
              <a:rPr lang="en-US" sz="1800" dirty="0">
                <a:latin typeface="Calibri Body"/>
                <a:hlinkClick r:id="rId2"/>
              </a:rPr>
              <a:t>-</a:t>
            </a:r>
            <a:r>
              <a:rPr lang="en-US" sz="1800" dirty="0" err="1">
                <a:latin typeface="Calibri Body"/>
                <a:hlinkClick r:id="rId2"/>
              </a:rPr>
              <a:t>nmop</a:t>
            </a:r>
            <a:r>
              <a:rPr lang="en-US" sz="1800" dirty="0">
                <a:latin typeface="Calibri Body"/>
                <a:hlinkClick r:id="rId2"/>
              </a:rPr>
              <a:t>-yang-message-broker-message-key</a:t>
            </a:r>
            <a:r>
              <a:rPr lang="en-US" sz="1800" dirty="0">
                <a:latin typeface="Calibri Body"/>
              </a:rPr>
              <a:t>.</a:t>
            </a:r>
          </a:p>
          <a:p>
            <a:r>
              <a:rPr lang="en-US" sz="1800" dirty="0">
                <a:latin typeface="Calibri Body"/>
                <a:hlinkClick r:id="rId3"/>
              </a:rPr>
              <a:t>https://datatracker.ietf.org/doc/html/draft-ietf-netconf-udp-notif</a:t>
            </a:r>
            <a:r>
              <a:rPr lang="en-US" sz="1800" dirty="0">
                <a:latin typeface="Calibri Body"/>
              </a:rPr>
              <a:t> is now a normative downward reference.</a:t>
            </a:r>
          </a:p>
          <a:p>
            <a:pPr marL="0" indent="0">
              <a:buNone/>
            </a:pPr>
            <a:r>
              <a:rPr lang="en-US" sz="1800" b="1" dirty="0">
                <a:latin typeface="Calibri Body"/>
              </a:rPr>
              <a:t>Next Steps</a:t>
            </a:r>
          </a:p>
          <a:p>
            <a:pPr>
              <a:buFont typeface="Wingdings" panose="05000000000000000000" pitchFamily="2" charset="2"/>
              <a:buChar char="Ø"/>
            </a:pPr>
            <a:r>
              <a:rPr lang="en-US" sz="1800" dirty="0">
                <a:latin typeface="Calibri Body"/>
              </a:rPr>
              <a:t>No action items pending.</a:t>
            </a:r>
          </a:p>
        </p:txBody>
      </p:sp>
      <p:sp>
        <p:nvSpPr>
          <p:cNvPr id="8" name="Slide Number Placeholder 1">
            <a:extLst>
              <a:ext uri="{FF2B5EF4-FFF2-40B4-BE49-F238E27FC236}">
                <a16:creationId xmlns:a16="http://schemas.microsoft.com/office/drawing/2014/main" id="{8BB66400-890A-2BF7-2334-5D3E2ED00552}"/>
              </a:ext>
            </a:extLst>
          </p:cNvPr>
          <p:cNvSpPr>
            <a:spLocks noGrp="1"/>
          </p:cNvSpPr>
          <p:nvPr>
            <p:ph type="sldNum" sz="quarter" idx="12"/>
          </p:nvPr>
        </p:nvSpPr>
        <p:spPr>
          <a:xfrm>
            <a:off x="11587892" y="6361637"/>
            <a:ext cx="414251" cy="365125"/>
          </a:xfrm>
        </p:spPr>
        <p:txBody>
          <a:bodyPr/>
          <a:lstStyle/>
          <a:p>
            <a:fld id="{FC4AC485-25DE-431E-B345-9C0A15BB7F8A}" type="slidenum">
              <a:rPr lang="de-CH" sz="1400" smtClean="0"/>
              <a:t>3</a:t>
            </a:fld>
            <a:endParaRPr lang="de-CH" sz="1400" dirty="0"/>
          </a:p>
        </p:txBody>
      </p:sp>
      <p:pic>
        <p:nvPicPr>
          <p:cNvPr id="7" name="Picture 6">
            <a:extLst>
              <a:ext uri="{FF2B5EF4-FFF2-40B4-BE49-F238E27FC236}">
                <a16:creationId xmlns:a16="http://schemas.microsoft.com/office/drawing/2014/main" id="{5C9437E8-A21C-8E1A-E6AD-A06A13823FB2}"/>
              </a:ext>
            </a:extLst>
          </p:cNvPr>
          <p:cNvPicPr>
            <a:picLocks noChangeAspect="1"/>
          </p:cNvPicPr>
          <p:nvPr/>
        </p:nvPicPr>
        <p:blipFill>
          <a:blip r:embed="rId4"/>
          <a:stretch>
            <a:fillRect/>
          </a:stretch>
        </p:blipFill>
        <p:spPr>
          <a:xfrm>
            <a:off x="8197041" y="1127540"/>
            <a:ext cx="3390845" cy="1161599"/>
          </a:xfrm>
          <a:prstGeom prst="rect">
            <a:avLst/>
          </a:prstGeom>
        </p:spPr>
      </p:pic>
      <p:pic>
        <p:nvPicPr>
          <p:cNvPr id="10" name="Picture 9">
            <a:extLst>
              <a:ext uri="{FF2B5EF4-FFF2-40B4-BE49-F238E27FC236}">
                <a16:creationId xmlns:a16="http://schemas.microsoft.com/office/drawing/2014/main" id="{680437B5-D861-52D3-5DBE-A273E320826D}"/>
              </a:ext>
            </a:extLst>
          </p:cNvPr>
          <p:cNvPicPr>
            <a:picLocks noChangeAspect="1"/>
          </p:cNvPicPr>
          <p:nvPr/>
        </p:nvPicPr>
        <p:blipFill>
          <a:blip r:embed="rId5"/>
          <a:stretch>
            <a:fillRect/>
          </a:stretch>
        </p:blipFill>
        <p:spPr>
          <a:xfrm>
            <a:off x="8176257" y="2965903"/>
            <a:ext cx="3644961" cy="3395733"/>
          </a:xfrm>
          <a:prstGeom prst="rect">
            <a:avLst/>
          </a:prstGeom>
        </p:spPr>
      </p:pic>
      <p:pic>
        <p:nvPicPr>
          <p:cNvPr id="20" name="Picture 19">
            <a:extLst>
              <a:ext uri="{FF2B5EF4-FFF2-40B4-BE49-F238E27FC236}">
                <a16:creationId xmlns:a16="http://schemas.microsoft.com/office/drawing/2014/main" id="{57280A76-C4E5-9DF2-48DC-DC6C726A55B7}"/>
              </a:ext>
            </a:extLst>
          </p:cNvPr>
          <p:cNvPicPr>
            <a:picLocks noChangeAspect="1"/>
          </p:cNvPicPr>
          <p:nvPr/>
        </p:nvPicPr>
        <p:blipFill>
          <a:blip r:embed="rId6"/>
          <a:stretch>
            <a:fillRect/>
          </a:stretch>
        </p:blipFill>
        <p:spPr>
          <a:xfrm>
            <a:off x="8176258" y="2289140"/>
            <a:ext cx="3560862" cy="599533"/>
          </a:xfrm>
          <a:prstGeom prst="rect">
            <a:avLst/>
          </a:prstGeom>
        </p:spPr>
      </p:pic>
    </p:spTree>
    <p:extLst>
      <p:ext uri="{BB962C8B-B14F-4D97-AF65-F5344CB8AC3E}">
        <p14:creationId xmlns:p14="http://schemas.microsoft.com/office/powerpoint/2010/main" val="27507193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2B90EF-8FB5-5112-4E13-96584E18D2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363DE5-D7A4-3591-E3FF-650F77756614}"/>
              </a:ext>
            </a:extLst>
          </p:cNvPr>
          <p:cNvSpPr>
            <a:spLocks noGrp="1"/>
          </p:cNvSpPr>
          <p:nvPr>
            <p:ph type="title"/>
          </p:nvPr>
        </p:nvSpPr>
        <p:spPr/>
        <p:txBody>
          <a:bodyPr>
            <a:normAutofit/>
          </a:bodyPr>
          <a:lstStyle/>
          <a:p>
            <a:r>
              <a:rPr lang="en-US" sz="2800" b="1" dirty="0"/>
              <a:t>An Architecture for YANG-Push to Message Broker Integration</a:t>
            </a:r>
            <a:br>
              <a:rPr lang="en-US" sz="3600" dirty="0"/>
            </a:br>
            <a:r>
              <a:rPr lang="en-US" sz="2700" dirty="0">
                <a:solidFill>
                  <a:schemeClr val="bg2">
                    <a:lumMod val="75000"/>
                  </a:schemeClr>
                </a:solidFill>
              </a:rPr>
              <a:t>Normative References, State and Reviewers</a:t>
            </a:r>
          </a:p>
        </p:txBody>
      </p:sp>
      <p:sp>
        <p:nvSpPr>
          <p:cNvPr id="8" name="Slide Number Placeholder 1">
            <a:extLst>
              <a:ext uri="{FF2B5EF4-FFF2-40B4-BE49-F238E27FC236}">
                <a16:creationId xmlns:a16="http://schemas.microsoft.com/office/drawing/2014/main" id="{12350B8A-B723-6442-A68D-9157CC58CFAC}"/>
              </a:ext>
            </a:extLst>
          </p:cNvPr>
          <p:cNvSpPr>
            <a:spLocks noGrp="1"/>
          </p:cNvSpPr>
          <p:nvPr>
            <p:ph type="sldNum" sz="quarter" idx="12"/>
          </p:nvPr>
        </p:nvSpPr>
        <p:spPr>
          <a:xfrm>
            <a:off x="11587892" y="6361637"/>
            <a:ext cx="414251" cy="365125"/>
          </a:xfrm>
        </p:spPr>
        <p:txBody>
          <a:bodyPr/>
          <a:lstStyle/>
          <a:p>
            <a:fld id="{FC4AC485-25DE-431E-B345-9C0A15BB7F8A}" type="slidenum">
              <a:rPr lang="en-US" sz="1400" smtClean="0"/>
              <a:t>4</a:t>
            </a:fld>
            <a:endParaRPr lang="en-US" sz="1400" dirty="0"/>
          </a:p>
        </p:txBody>
      </p:sp>
      <p:graphicFrame>
        <p:nvGraphicFramePr>
          <p:cNvPr id="6" name="Table 5">
            <a:extLst>
              <a:ext uri="{FF2B5EF4-FFF2-40B4-BE49-F238E27FC236}">
                <a16:creationId xmlns:a16="http://schemas.microsoft.com/office/drawing/2014/main" id="{86837E2C-7DD9-62B8-E009-509CDFF94BF9}"/>
              </a:ext>
            </a:extLst>
          </p:cNvPr>
          <p:cNvGraphicFramePr>
            <a:graphicFrameLocks noGrp="1"/>
          </p:cNvGraphicFramePr>
          <p:nvPr>
            <p:extLst>
              <p:ext uri="{D42A27DB-BD31-4B8C-83A1-F6EECF244321}">
                <p14:modId xmlns:p14="http://schemas.microsoft.com/office/powerpoint/2010/main" val="2578669934"/>
              </p:ext>
            </p:extLst>
          </p:nvPr>
        </p:nvGraphicFramePr>
        <p:xfrm>
          <a:off x="919479" y="1601042"/>
          <a:ext cx="10927079" cy="5308600"/>
        </p:xfrm>
        <a:graphic>
          <a:graphicData uri="http://schemas.openxmlformats.org/drawingml/2006/table">
            <a:tbl>
              <a:tblPr firstRow="1" bandRow="1">
                <a:tableStyleId>{C083E6E3-FA7D-4D7B-A595-EF9225AFEA82}</a:tableStyleId>
              </a:tblPr>
              <a:tblGrid>
                <a:gridCol w="1753468">
                  <a:extLst>
                    <a:ext uri="{9D8B030D-6E8A-4147-A177-3AD203B41FA5}">
                      <a16:colId xmlns:a16="http://schemas.microsoft.com/office/drawing/2014/main" val="862637982"/>
                    </a:ext>
                  </a:extLst>
                </a:gridCol>
                <a:gridCol w="3725470">
                  <a:extLst>
                    <a:ext uri="{9D8B030D-6E8A-4147-A177-3AD203B41FA5}">
                      <a16:colId xmlns:a16="http://schemas.microsoft.com/office/drawing/2014/main" val="3802101120"/>
                    </a:ext>
                  </a:extLst>
                </a:gridCol>
                <a:gridCol w="1893954">
                  <a:extLst>
                    <a:ext uri="{9D8B030D-6E8A-4147-A177-3AD203B41FA5}">
                      <a16:colId xmlns:a16="http://schemas.microsoft.com/office/drawing/2014/main" val="2584922424"/>
                    </a:ext>
                  </a:extLst>
                </a:gridCol>
                <a:gridCol w="3554187">
                  <a:extLst>
                    <a:ext uri="{9D8B030D-6E8A-4147-A177-3AD203B41FA5}">
                      <a16:colId xmlns:a16="http://schemas.microsoft.com/office/drawing/2014/main" val="3508605202"/>
                    </a:ext>
                  </a:extLst>
                </a:gridCol>
              </a:tblGrid>
              <a:tr h="370840">
                <a:tc>
                  <a:txBody>
                    <a:bodyPr/>
                    <a:lstStyle/>
                    <a:p>
                      <a:r>
                        <a:rPr lang="de-CH" dirty="0"/>
                        <a:t>Working Group</a:t>
                      </a:r>
                    </a:p>
                  </a:txBody>
                  <a:tcPr/>
                </a:tc>
                <a:tc>
                  <a:txBody>
                    <a:bodyPr/>
                    <a:lstStyle/>
                    <a:p>
                      <a:r>
                        <a:rPr lang="de-CH" dirty="0" err="1"/>
                        <a:t>Document</a:t>
                      </a:r>
                      <a:r>
                        <a:rPr lang="de-CH" dirty="0"/>
                        <a:t> Name</a:t>
                      </a:r>
                    </a:p>
                  </a:txBody>
                  <a:tcPr/>
                </a:tc>
                <a:tc>
                  <a:txBody>
                    <a:bodyPr/>
                    <a:lstStyle/>
                    <a:p>
                      <a:r>
                        <a:rPr lang="de-CH" dirty="0" err="1"/>
                        <a:t>Document</a:t>
                      </a:r>
                      <a:r>
                        <a:rPr lang="de-CH" dirty="0"/>
                        <a:t> State</a:t>
                      </a:r>
                    </a:p>
                  </a:txBody>
                  <a:tcPr/>
                </a:tc>
                <a:tc>
                  <a:txBody>
                    <a:bodyPr/>
                    <a:lstStyle/>
                    <a:p>
                      <a:r>
                        <a:rPr lang="de-CH" dirty="0"/>
                        <a:t>Reviews</a:t>
                      </a:r>
                    </a:p>
                  </a:txBody>
                  <a:tcPr/>
                </a:tc>
                <a:extLst>
                  <a:ext uri="{0D108BD9-81ED-4DB2-BD59-A6C34878D82A}">
                    <a16:rowId xmlns:a16="http://schemas.microsoft.com/office/drawing/2014/main" val="4040162611"/>
                  </a:ext>
                </a:extLst>
              </a:tr>
              <a:tr h="471598">
                <a:tc>
                  <a:txBody>
                    <a:bodyPr/>
                    <a:lstStyle/>
                    <a:p>
                      <a:r>
                        <a:rPr lang="de-CH" sz="1200" dirty="0"/>
                        <a:t>NETCONF</a:t>
                      </a:r>
                    </a:p>
                  </a:txBody>
                  <a:tcPr/>
                </a:tc>
                <a:tc>
                  <a:txBody>
                    <a:bodyPr/>
                    <a:lstStyle/>
                    <a:p>
                      <a:r>
                        <a:rPr lang="de-CH" sz="1200" dirty="0">
                          <a:hlinkClick r:id="rId2"/>
                        </a:rPr>
                        <a:t>draft-ietf-netconf-notif-envelope-05</a:t>
                      </a:r>
                      <a:endParaRPr lang="de-CH" sz="1200" dirty="0"/>
                    </a:p>
                  </a:txBody>
                  <a:tcPr/>
                </a:tc>
                <a:tc>
                  <a:txBody>
                    <a:bodyPr/>
                    <a:lstStyle/>
                    <a:p>
                      <a:r>
                        <a:rPr lang="en-US" sz="1200" dirty="0">
                          <a:highlight>
                            <a:srgbClr val="FFFF00"/>
                          </a:highlight>
                        </a:rPr>
                        <a:t>Shepherd writeup concluded. Authors are addressing YANG </a:t>
                      </a:r>
                      <a:r>
                        <a:rPr lang="en-US" sz="1200">
                          <a:highlight>
                            <a:srgbClr val="FFFF00"/>
                          </a:highlight>
                        </a:rPr>
                        <a:t>doctors review.</a:t>
                      </a:r>
                      <a:endParaRPr lang="de-CH" sz="1200" dirty="0">
                        <a:highlight>
                          <a:srgbClr val="FFFF00"/>
                        </a:highlight>
                      </a:endParaRPr>
                    </a:p>
                  </a:txBody>
                  <a:tcPr/>
                </a:tc>
                <a:tc>
                  <a:txBody>
                    <a:bodyPr/>
                    <a:lstStyle/>
                    <a:p>
                      <a:r>
                        <a:rPr lang="en-US" sz="1200" dirty="0"/>
                        <a:t>OPSDIR Early review by Joe Clarke</a:t>
                      </a:r>
                    </a:p>
                    <a:p>
                      <a:r>
                        <a:rPr lang="en-US" sz="1200" dirty="0"/>
                        <a:t>YANGDOCTORS Early review (of -02) by Jürgen Schönwälder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YANGDOCTORS Early review (of -05) by </a:t>
                      </a:r>
                      <a:r>
                        <a:rPr lang="de-CH" sz="1200" dirty="0"/>
                        <a:t>Ebben Aries</a:t>
                      </a:r>
                    </a:p>
                    <a:p>
                      <a:endParaRPr lang="de-CH" sz="1200" dirty="0"/>
                    </a:p>
                  </a:txBody>
                  <a:tcPr/>
                </a:tc>
                <a:extLst>
                  <a:ext uri="{0D108BD9-81ED-4DB2-BD59-A6C34878D82A}">
                    <a16:rowId xmlns:a16="http://schemas.microsoft.com/office/drawing/2014/main" val="88116467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CH" sz="1200" dirty="0"/>
                        <a:t>NETCONF</a:t>
                      </a:r>
                    </a:p>
                    <a:p>
                      <a:endParaRPr lang="de-CH" sz="1200" dirty="0"/>
                    </a:p>
                  </a:txBody>
                  <a:tcPr/>
                </a:tc>
                <a:tc>
                  <a:txBody>
                    <a:bodyPr/>
                    <a:lstStyle/>
                    <a:p>
                      <a:r>
                        <a:rPr lang="de-CH" sz="1200" dirty="0">
                          <a:hlinkClick r:id="rId3"/>
                        </a:rPr>
                        <a:t>draft-ietf-netconf-yang-library-augmentedby-18</a:t>
                      </a:r>
                      <a:endParaRPr lang="de-CH" sz="1200" dirty="0"/>
                    </a:p>
                  </a:txBody>
                  <a:tcPr/>
                </a:tc>
                <a:tc>
                  <a:txBody>
                    <a:bodyPr/>
                    <a:lstStyle/>
                    <a:p>
                      <a:r>
                        <a:rPr lang="en-US" sz="1200" dirty="0"/>
                        <a:t>RFC editor queue</a:t>
                      </a:r>
                      <a:endParaRPr lang="de-CH" sz="1200" dirty="0"/>
                    </a:p>
                  </a:txBody>
                  <a:tcPr/>
                </a:tc>
                <a:tc>
                  <a:txBody>
                    <a:bodyPr/>
                    <a:lstStyle/>
                    <a:p>
                      <a:r>
                        <a:rPr lang="en-US" sz="1200" dirty="0"/>
                        <a:t>OPSDIR Early review (of -08 and -14) by Sheng Jiang, Xiao Min</a:t>
                      </a:r>
                    </a:p>
                    <a:p>
                      <a:r>
                        <a:rPr lang="en-US" sz="1200" dirty="0"/>
                        <a:t>YANGDOCTORS Early review (of -07 and -13) by Andy Bierman</a:t>
                      </a:r>
                    </a:p>
                    <a:p>
                      <a:r>
                        <a:rPr lang="de-CH" sz="1200" dirty="0"/>
                        <a:t>SECDIR review (of -14 and -15) </a:t>
                      </a:r>
                      <a:r>
                        <a:rPr lang="de-CH" sz="1200" dirty="0" err="1"/>
                        <a:t>by</a:t>
                      </a:r>
                      <a:r>
                        <a:rPr lang="de-CH" sz="1200" dirty="0"/>
                        <a:t> Rich Salz</a:t>
                      </a:r>
                    </a:p>
                  </a:txBody>
                  <a:tcPr/>
                </a:tc>
                <a:extLst>
                  <a:ext uri="{0D108BD9-81ED-4DB2-BD59-A6C34878D82A}">
                    <a16:rowId xmlns:a16="http://schemas.microsoft.com/office/drawing/2014/main" val="362267918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CH" sz="1200" dirty="0"/>
                        <a:t>NETCONF</a:t>
                      </a:r>
                    </a:p>
                    <a:p>
                      <a:endParaRPr lang="de-CH" sz="1200" dirty="0"/>
                    </a:p>
                  </a:txBody>
                  <a:tcPr/>
                </a:tc>
                <a:tc>
                  <a:txBody>
                    <a:bodyPr/>
                    <a:lstStyle/>
                    <a:p>
                      <a:r>
                        <a:rPr lang="de-CH" sz="1200" dirty="0">
                          <a:hlinkClick r:id="rId4"/>
                        </a:rPr>
                        <a:t>draft-ietf-netconf-yang-notifications-versioning-14</a:t>
                      </a:r>
                      <a:endParaRPr lang="de-CH" sz="1200" dirty="0"/>
                    </a:p>
                  </a:txBody>
                  <a:tcPr/>
                </a:tc>
                <a:tc>
                  <a:txBody>
                    <a:bodyPr/>
                    <a:lstStyle/>
                    <a:p>
                      <a:r>
                        <a:rPr lang="en-US" sz="1200" dirty="0">
                          <a:highlight>
                            <a:srgbClr val="FFFF00"/>
                          </a:highlight>
                        </a:rPr>
                        <a:t>Submitted to IESG for Publication</a:t>
                      </a:r>
                      <a:endParaRPr lang="de-CH" sz="1200" dirty="0">
                        <a:highlight>
                          <a:srgbClr val="FFFF00"/>
                        </a:highlight>
                      </a:endParaRPr>
                    </a:p>
                  </a:txBody>
                  <a:tcPr/>
                </a:tc>
                <a:tc>
                  <a:txBody>
                    <a:bodyPr/>
                    <a:lstStyle/>
                    <a:p>
                      <a:r>
                        <a:rPr lang="en-US" sz="1200" dirty="0"/>
                        <a:t>YANGDOCTORS Early review (of -09) by Robert Wills</a:t>
                      </a:r>
                    </a:p>
                    <a:p>
                      <a:r>
                        <a:rPr lang="en-US" sz="1200" dirty="0"/>
                        <a:t>OPSDIR review (of -10) by Gabriele Galimberti</a:t>
                      </a:r>
                      <a:endParaRPr lang="de-CH" sz="1200" dirty="0"/>
                    </a:p>
                  </a:txBody>
                  <a:tcPr/>
                </a:tc>
                <a:extLst>
                  <a:ext uri="{0D108BD9-81ED-4DB2-BD59-A6C34878D82A}">
                    <a16:rowId xmlns:a16="http://schemas.microsoft.com/office/drawing/2014/main" val="269805555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CH" sz="1200" dirty="0"/>
                        <a:t>NETCONF</a:t>
                      </a:r>
                    </a:p>
                    <a:p>
                      <a:endParaRPr lang="de-CH" sz="1200" dirty="0"/>
                    </a:p>
                  </a:txBody>
                  <a:tcPr/>
                </a:tc>
                <a:tc>
                  <a:txBody>
                    <a:bodyPr/>
                    <a:lstStyle/>
                    <a:p>
                      <a:r>
                        <a:rPr lang="de-CH" sz="1200" dirty="0">
                          <a:hlinkClick r:id="rId5"/>
                        </a:rPr>
                        <a:t>draft-ietf-netconf-yp-transport-capabilities-06</a:t>
                      </a:r>
                      <a:endParaRPr lang="de-CH" sz="1200" dirty="0"/>
                    </a:p>
                  </a:txBody>
                  <a:tcPr/>
                </a:tc>
                <a:tc>
                  <a:txBody>
                    <a:bodyPr/>
                    <a:lstStyle/>
                    <a:p>
                      <a:r>
                        <a:rPr lang="en-US" sz="1200" dirty="0">
                          <a:highlight>
                            <a:srgbClr val="FFFF00"/>
                          </a:highlight>
                        </a:rPr>
                        <a:t>Submitted to IESG for Publication </a:t>
                      </a:r>
                      <a:endParaRPr lang="de-CH" sz="1200" dirty="0">
                        <a:highlight>
                          <a:srgbClr val="FFFF00"/>
                        </a:highlight>
                      </a:endParaRPr>
                    </a:p>
                  </a:txBody>
                  <a:tcPr/>
                </a:tc>
                <a:tc>
                  <a:txBody>
                    <a:bodyPr/>
                    <a:lstStyle/>
                    <a:p>
                      <a:r>
                        <a:rPr lang="en-US" sz="1200" dirty="0"/>
                        <a:t>OPSDIR IETF Last Call review by Xiao Min</a:t>
                      </a:r>
                    </a:p>
                    <a:p>
                      <a:r>
                        <a:rPr lang="en-US" sz="1200" dirty="0"/>
                        <a:t>TSVART IETF Last Call review by Tommy Pauly</a:t>
                      </a:r>
                    </a:p>
                    <a:p>
                      <a:r>
                        <a:rPr lang="en-US" sz="1200" dirty="0"/>
                        <a:t>YANGDOCTORS IETF Last Call review by Jan Lindblad</a:t>
                      </a:r>
                    </a:p>
                    <a:p>
                      <a:r>
                        <a:rPr lang="en-US" sz="1200" dirty="0"/>
                        <a:t>OPSDIR Early review (of -03) by Xiao Min</a:t>
                      </a:r>
                    </a:p>
                    <a:p>
                      <a:r>
                        <a:rPr lang="en-US" sz="1200" dirty="0"/>
                        <a:t>YANGDOCTORS Early review (of -01) by Jan Lindblad</a:t>
                      </a:r>
                    </a:p>
                    <a:p>
                      <a:r>
                        <a:rPr lang="en-US" sz="1200" dirty="0"/>
                        <a:t>SECDIR IETF Last Call Review due 2025-10-18</a:t>
                      </a:r>
                      <a:endParaRPr lang="de-CH" sz="1200" dirty="0"/>
                    </a:p>
                  </a:txBody>
                  <a:tcPr/>
                </a:tc>
                <a:extLst>
                  <a:ext uri="{0D108BD9-81ED-4DB2-BD59-A6C34878D82A}">
                    <a16:rowId xmlns:a16="http://schemas.microsoft.com/office/drawing/2014/main" val="2744993052"/>
                  </a:ext>
                </a:extLst>
              </a:tr>
              <a:tr h="370840">
                <a:tc>
                  <a:txBody>
                    <a:bodyPr/>
                    <a:lstStyle/>
                    <a:p>
                      <a:r>
                        <a:rPr lang="de-CH" sz="1200" dirty="0"/>
                        <a:t>NMOP</a:t>
                      </a:r>
                    </a:p>
                  </a:txBody>
                  <a:tcPr/>
                </a:tc>
                <a:tc>
                  <a:txBody>
                    <a:bodyPr/>
                    <a:lstStyle/>
                    <a:p>
                      <a:r>
                        <a:rPr lang="de-CH" sz="1200" dirty="0">
                          <a:hlinkClick r:id="rId6"/>
                        </a:rPr>
                        <a:t>draft-ietf-nmop-yang-message-broker-integration-13</a:t>
                      </a:r>
                      <a:endParaRPr lang="de-CH" sz="1200" dirty="0"/>
                    </a:p>
                  </a:txBody>
                  <a:tcPr/>
                </a:tc>
                <a:tc>
                  <a:txBody>
                    <a:bodyPr/>
                    <a:lstStyle/>
                    <a:p>
                      <a:r>
                        <a:rPr lang="en-US" sz="1200" dirty="0"/>
                        <a:t>WG Document (request for working group last call at IETF 124)</a:t>
                      </a:r>
                      <a:endParaRPr lang="de-CH" sz="1200" dirty="0"/>
                    </a:p>
                  </a:txBody>
                  <a:tcPr/>
                </a:tc>
                <a:tc>
                  <a:txBody>
                    <a:bodyPr/>
                    <a:lstStyle/>
                    <a:p>
                      <a:endParaRPr lang="de-CH" sz="1200" dirty="0"/>
                    </a:p>
                  </a:txBody>
                  <a:tcPr/>
                </a:tc>
                <a:extLst>
                  <a:ext uri="{0D108BD9-81ED-4DB2-BD59-A6C34878D82A}">
                    <a16:rowId xmlns:a16="http://schemas.microsoft.com/office/drawing/2014/main" val="2665303605"/>
                  </a:ext>
                </a:extLst>
              </a:tr>
              <a:tr h="370840">
                <a:tc>
                  <a:txBody>
                    <a:bodyPr/>
                    <a:lstStyle/>
                    <a:p>
                      <a:r>
                        <a:rPr lang="de-CH" sz="1200" dirty="0"/>
                        <a:t>NMOP</a:t>
                      </a:r>
                    </a:p>
                  </a:txBody>
                  <a:tcPr/>
                </a:tc>
                <a:tc>
                  <a:txBody>
                    <a:bodyPr/>
                    <a:lstStyle/>
                    <a:p>
                      <a:r>
                        <a:rPr lang="de-CH" sz="1200" dirty="0">
                          <a:hlinkClick r:id="rId7"/>
                        </a:rPr>
                        <a:t>draft-ietf-nmop-message-broker-telemetry-message-04</a:t>
                      </a:r>
                      <a:endParaRPr lang="de-CH" sz="1200" dirty="0"/>
                    </a:p>
                  </a:txBody>
                  <a:tcPr/>
                </a:tc>
                <a:tc>
                  <a:txBody>
                    <a:bodyPr/>
                    <a:lstStyle/>
                    <a:p>
                      <a:r>
                        <a:rPr lang="en-US" sz="1200" dirty="0"/>
                        <a:t>WG Document (request for working group last call at IETF 125)</a:t>
                      </a:r>
                      <a:endParaRPr lang="de-CH" sz="1200" dirty="0"/>
                    </a:p>
                  </a:txBody>
                  <a:tcPr/>
                </a:tc>
                <a:tc>
                  <a:txBody>
                    <a:bodyPr/>
                    <a:lstStyle/>
                    <a:p>
                      <a:r>
                        <a:rPr lang="en-US" sz="1200" dirty="0"/>
                        <a:t>YANGDOCTORS Early review (of -02) by Martin Björklund</a:t>
                      </a:r>
                      <a:endParaRPr lang="de-CH" sz="1200" dirty="0"/>
                    </a:p>
                  </a:txBody>
                  <a:tcPr/>
                </a:tc>
                <a:extLst>
                  <a:ext uri="{0D108BD9-81ED-4DB2-BD59-A6C34878D82A}">
                    <a16:rowId xmlns:a16="http://schemas.microsoft.com/office/drawing/2014/main" val="157176843"/>
                  </a:ext>
                </a:extLst>
              </a:tr>
            </a:tbl>
          </a:graphicData>
        </a:graphic>
      </p:graphicFrame>
    </p:spTree>
    <p:extLst>
      <p:ext uri="{BB962C8B-B14F-4D97-AF65-F5344CB8AC3E}">
        <p14:creationId xmlns:p14="http://schemas.microsoft.com/office/powerpoint/2010/main" val="37399128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9DB363-D8A8-5600-4493-8EBF33E93F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7B38BF-943B-E87B-35FF-EC15CB8E47A9}"/>
              </a:ext>
            </a:extLst>
          </p:cNvPr>
          <p:cNvSpPr>
            <a:spLocks noGrp="1"/>
          </p:cNvSpPr>
          <p:nvPr>
            <p:ph type="title"/>
          </p:nvPr>
        </p:nvSpPr>
        <p:spPr/>
        <p:txBody>
          <a:bodyPr>
            <a:normAutofit/>
          </a:bodyPr>
          <a:lstStyle/>
          <a:p>
            <a:r>
              <a:rPr lang="en-US" sz="2800" b="1" dirty="0"/>
              <a:t>An Architecture for YANG-Push to Message Broker Integration</a:t>
            </a:r>
            <a:br>
              <a:rPr lang="en-US" sz="3600" dirty="0"/>
            </a:br>
            <a:r>
              <a:rPr lang="en-US" sz="2700" dirty="0">
                <a:solidFill>
                  <a:schemeClr val="bg2">
                    <a:lumMod val="75000"/>
                  </a:schemeClr>
                </a:solidFill>
              </a:rPr>
              <a:t>Informative References, State and Reviewers</a:t>
            </a:r>
          </a:p>
        </p:txBody>
      </p:sp>
      <p:sp>
        <p:nvSpPr>
          <p:cNvPr id="8" name="Slide Number Placeholder 1">
            <a:extLst>
              <a:ext uri="{FF2B5EF4-FFF2-40B4-BE49-F238E27FC236}">
                <a16:creationId xmlns:a16="http://schemas.microsoft.com/office/drawing/2014/main" id="{2B59FCFE-20E3-BD78-B5F4-C48AB55E6255}"/>
              </a:ext>
            </a:extLst>
          </p:cNvPr>
          <p:cNvSpPr>
            <a:spLocks noGrp="1"/>
          </p:cNvSpPr>
          <p:nvPr>
            <p:ph type="sldNum" sz="quarter" idx="12"/>
          </p:nvPr>
        </p:nvSpPr>
        <p:spPr>
          <a:xfrm>
            <a:off x="11587892" y="6361637"/>
            <a:ext cx="414251" cy="365125"/>
          </a:xfrm>
        </p:spPr>
        <p:txBody>
          <a:bodyPr/>
          <a:lstStyle/>
          <a:p>
            <a:fld id="{FC4AC485-25DE-431E-B345-9C0A15BB7F8A}" type="slidenum">
              <a:rPr lang="en-US" sz="1400" smtClean="0"/>
              <a:t>5</a:t>
            </a:fld>
            <a:endParaRPr lang="en-US" sz="1400" dirty="0"/>
          </a:p>
        </p:txBody>
      </p:sp>
      <p:graphicFrame>
        <p:nvGraphicFramePr>
          <p:cNvPr id="6" name="Table 5">
            <a:extLst>
              <a:ext uri="{FF2B5EF4-FFF2-40B4-BE49-F238E27FC236}">
                <a16:creationId xmlns:a16="http://schemas.microsoft.com/office/drawing/2014/main" id="{4E7CEF41-5DBF-BE8C-3E2D-7F5D56B757D3}"/>
              </a:ext>
            </a:extLst>
          </p:cNvPr>
          <p:cNvGraphicFramePr>
            <a:graphicFrameLocks noGrp="1"/>
          </p:cNvGraphicFramePr>
          <p:nvPr>
            <p:extLst>
              <p:ext uri="{D42A27DB-BD31-4B8C-83A1-F6EECF244321}">
                <p14:modId xmlns:p14="http://schemas.microsoft.com/office/powerpoint/2010/main" val="3485101913"/>
              </p:ext>
            </p:extLst>
          </p:nvPr>
        </p:nvGraphicFramePr>
        <p:xfrm>
          <a:off x="919480" y="1601359"/>
          <a:ext cx="10927079" cy="4587240"/>
        </p:xfrm>
        <a:graphic>
          <a:graphicData uri="http://schemas.openxmlformats.org/drawingml/2006/table">
            <a:tbl>
              <a:tblPr firstRow="1" bandRow="1">
                <a:tableStyleId>{C083E6E3-FA7D-4D7B-A595-EF9225AFEA82}</a:tableStyleId>
              </a:tblPr>
              <a:tblGrid>
                <a:gridCol w="1753468">
                  <a:extLst>
                    <a:ext uri="{9D8B030D-6E8A-4147-A177-3AD203B41FA5}">
                      <a16:colId xmlns:a16="http://schemas.microsoft.com/office/drawing/2014/main" val="862637982"/>
                    </a:ext>
                  </a:extLst>
                </a:gridCol>
                <a:gridCol w="3725470">
                  <a:extLst>
                    <a:ext uri="{9D8B030D-6E8A-4147-A177-3AD203B41FA5}">
                      <a16:colId xmlns:a16="http://schemas.microsoft.com/office/drawing/2014/main" val="3802101120"/>
                    </a:ext>
                  </a:extLst>
                </a:gridCol>
                <a:gridCol w="1893954">
                  <a:extLst>
                    <a:ext uri="{9D8B030D-6E8A-4147-A177-3AD203B41FA5}">
                      <a16:colId xmlns:a16="http://schemas.microsoft.com/office/drawing/2014/main" val="2584922424"/>
                    </a:ext>
                  </a:extLst>
                </a:gridCol>
                <a:gridCol w="3554187">
                  <a:extLst>
                    <a:ext uri="{9D8B030D-6E8A-4147-A177-3AD203B41FA5}">
                      <a16:colId xmlns:a16="http://schemas.microsoft.com/office/drawing/2014/main" val="3508605202"/>
                    </a:ext>
                  </a:extLst>
                </a:gridCol>
              </a:tblGrid>
              <a:tr h="370840">
                <a:tc>
                  <a:txBody>
                    <a:bodyPr/>
                    <a:lstStyle/>
                    <a:p>
                      <a:r>
                        <a:rPr lang="de-CH" dirty="0"/>
                        <a:t>Working Group</a:t>
                      </a:r>
                    </a:p>
                  </a:txBody>
                  <a:tcPr/>
                </a:tc>
                <a:tc>
                  <a:txBody>
                    <a:bodyPr/>
                    <a:lstStyle/>
                    <a:p>
                      <a:r>
                        <a:rPr lang="de-CH" dirty="0" err="1"/>
                        <a:t>Document</a:t>
                      </a:r>
                      <a:r>
                        <a:rPr lang="de-CH" dirty="0"/>
                        <a:t> Name</a:t>
                      </a:r>
                    </a:p>
                  </a:txBody>
                  <a:tcPr/>
                </a:tc>
                <a:tc>
                  <a:txBody>
                    <a:bodyPr/>
                    <a:lstStyle/>
                    <a:p>
                      <a:r>
                        <a:rPr lang="de-CH" dirty="0" err="1"/>
                        <a:t>Document</a:t>
                      </a:r>
                      <a:r>
                        <a:rPr lang="de-CH" dirty="0"/>
                        <a:t> State</a:t>
                      </a:r>
                    </a:p>
                  </a:txBody>
                  <a:tcPr/>
                </a:tc>
                <a:tc>
                  <a:txBody>
                    <a:bodyPr/>
                    <a:lstStyle/>
                    <a:p>
                      <a:r>
                        <a:rPr lang="de-CH" dirty="0"/>
                        <a:t>Reviews</a:t>
                      </a:r>
                    </a:p>
                  </a:txBody>
                  <a:tcPr/>
                </a:tc>
                <a:extLst>
                  <a:ext uri="{0D108BD9-81ED-4DB2-BD59-A6C34878D82A}">
                    <a16:rowId xmlns:a16="http://schemas.microsoft.com/office/drawing/2014/main" val="4040162611"/>
                  </a:ext>
                </a:extLst>
              </a:tr>
              <a:tr h="370840">
                <a:tc>
                  <a:txBody>
                    <a:bodyPr/>
                    <a:lstStyle/>
                    <a:p>
                      <a:r>
                        <a:rPr lang="de-CH" sz="1200" dirty="0"/>
                        <a:t>NETCONF</a:t>
                      </a:r>
                    </a:p>
                  </a:txBody>
                  <a:tcPr/>
                </a:tc>
                <a:tc>
                  <a:txBody>
                    <a:bodyPr/>
                    <a:lstStyle/>
                    <a:p>
                      <a:r>
                        <a:rPr lang="de-CH" sz="1200" dirty="0">
                          <a:hlinkClick r:id="rId2"/>
                        </a:rPr>
                        <a:t>draft-ietf-netconf-udp-notif-25</a:t>
                      </a:r>
                      <a:endParaRPr lang="de-CH" sz="1200" dirty="0"/>
                    </a:p>
                  </a:txBody>
                  <a:tcPr/>
                </a:tc>
                <a:tc>
                  <a:txBody>
                    <a:bodyPr/>
                    <a:lstStyle/>
                    <a:p>
                      <a:r>
                        <a:rPr lang="en-US" sz="1200" dirty="0">
                          <a:highlight>
                            <a:srgbClr val="FFFF00"/>
                          </a:highlight>
                        </a:rPr>
                        <a:t>WIT AD review received.</a:t>
                      </a:r>
                      <a:endParaRPr lang="de-CH" sz="1200" dirty="0">
                        <a:highlight>
                          <a:srgbClr val="FFFF00"/>
                        </a:highlight>
                      </a:endParaRPr>
                    </a:p>
                  </a:txBody>
                  <a:tcPr/>
                </a:tc>
                <a:tc>
                  <a:txBody>
                    <a:bodyPr/>
                    <a:lstStyle/>
                    <a:p>
                      <a:r>
                        <a:rPr lang="en-US" sz="1200" dirty="0"/>
                        <a:t>OPSDIR Early review (of -21) by Tina Tsou</a:t>
                      </a:r>
                    </a:p>
                    <a:p>
                      <a:r>
                        <a:rPr lang="en-US" sz="1200" dirty="0"/>
                        <a:t>YANGDOCTORS Early review (of -20) by Jürgen Schönwälder</a:t>
                      </a:r>
                    </a:p>
                    <a:p>
                      <a:r>
                        <a:rPr lang="en-US" sz="1200" dirty="0"/>
                        <a:t>TSVART Early review (of -11) by Michael </a:t>
                      </a:r>
                      <a:r>
                        <a:rPr lang="en-US" sz="1200" dirty="0" err="1"/>
                        <a:t>Tüxen</a:t>
                      </a:r>
                      <a:endParaRPr lang="en-US" sz="1200" dirty="0"/>
                    </a:p>
                    <a:p>
                      <a:r>
                        <a:rPr lang="en-US" sz="1200" dirty="0"/>
                        <a:t>TSVART Early Review due 2025-10-23</a:t>
                      </a:r>
                    </a:p>
                  </a:txBody>
                  <a:tcPr/>
                </a:tc>
                <a:extLst>
                  <a:ext uri="{0D108BD9-81ED-4DB2-BD59-A6C34878D82A}">
                    <a16:rowId xmlns:a16="http://schemas.microsoft.com/office/drawing/2014/main" val="88116467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CH" sz="1200" dirty="0"/>
                        <a:t>NETCONF</a:t>
                      </a:r>
                    </a:p>
                    <a:p>
                      <a:endParaRPr lang="de-CH" sz="1200" dirty="0"/>
                    </a:p>
                  </a:txBody>
                  <a:tcPr/>
                </a:tc>
                <a:tc>
                  <a:txBody>
                    <a:bodyPr/>
                    <a:lstStyle/>
                    <a:p>
                      <a:r>
                        <a:rPr lang="de-CH" sz="1200" dirty="0">
                          <a:hlinkClick r:id="rId3"/>
                        </a:rPr>
                        <a:t>RFC 9984</a:t>
                      </a:r>
                      <a:endParaRPr lang="de-CH" sz="1200" dirty="0"/>
                    </a:p>
                    <a:p>
                      <a:endParaRPr lang="de-CH" sz="1200" dirty="0"/>
                    </a:p>
                  </a:txBody>
                  <a:tcPr/>
                </a:tc>
                <a:tc>
                  <a:txBody>
                    <a:bodyPr/>
                    <a:lstStyle/>
                    <a:p>
                      <a:r>
                        <a:rPr lang="en-US" sz="1200" dirty="0">
                          <a:highlight>
                            <a:srgbClr val="FFFF00"/>
                          </a:highlight>
                        </a:rPr>
                        <a:t>RFC</a:t>
                      </a:r>
                      <a:endParaRPr lang="de-CH" sz="1200" dirty="0">
                        <a:highlight>
                          <a:srgbClr val="FFFF00"/>
                        </a:highlight>
                      </a:endParaRPr>
                    </a:p>
                  </a:txBody>
                  <a:tcPr/>
                </a:tc>
                <a:tc>
                  <a:txBody>
                    <a:bodyPr/>
                    <a:lstStyle/>
                    <a:p>
                      <a:r>
                        <a:rPr lang="en-US" sz="1200" dirty="0"/>
                        <a:t>OPSDIR Early review (of -07) by Ran Chen</a:t>
                      </a:r>
                    </a:p>
                    <a:p>
                      <a:r>
                        <a:rPr lang="en-US" sz="1200" dirty="0"/>
                        <a:t>TSVART Early review (of -06) by Joerg Ott </a:t>
                      </a:r>
                    </a:p>
                    <a:p>
                      <a:r>
                        <a:rPr lang="en-US" sz="1200" dirty="0"/>
                        <a:t>YANGDOCTORS Early review (of -06) by Jürgen Schönwälder</a:t>
                      </a:r>
                    </a:p>
                    <a:p>
                      <a:r>
                        <a:rPr lang="en-US" sz="1200" dirty="0"/>
                        <a:t>GENART review (of -09) by Elwin Davies</a:t>
                      </a:r>
                    </a:p>
                    <a:p>
                      <a:r>
                        <a:rPr lang="en-US" sz="1200" dirty="0"/>
                        <a:t>DNSDIR review (of -09) by Peter Van Dijk</a:t>
                      </a:r>
                    </a:p>
                  </a:txBody>
                  <a:tcPr/>
                </a:tc>
                <a:extLst>
                  <a:ext uri="{0D108BD9-81ED-4DB2-BD59-A6C34878D82A}">
                    <a16:rowId xmlns:a16="http://schemas.microsoft.com/office/drawing/2014/main" val="362267918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CH" sz="1200" dirty="0"/>
                        <a:t>NETCONF</a:t>
                      </a:r>
                    </a:p>
                    <a:p>
                      <a:endParaRPr lang="de-CH" sz="1200" dirty="0"/>
                    </a:p>
                  </a:txBody>
                  <a:tcPr/>
                </a:tc>
                <a:tc>
                  <a:txBody>
                    <a:bodyPr/>
                    <a:lstStyle/>
                    <a:p>
                      <a:r>
                        <a:rPr lang="de-CH" sz="1200" dirty="0">
                          <a:hlinkClick r:id="rId4"/>
                        </a:rPr>
                        <a:t>draft-ietf-netconf-distributed-notif-19</a:t>
                      </a:r>
                      <a:endParaRPr lang="de-CH" sz="1200" dirty="0"/>
                    </a:p>
                  </a:txBody>
                  <a:tcPr/>
                </a:tc>
                <a:tc>
                  <a:txBody>
                    <a:bodyPr/>
                    <a:lstStyle/>
                    <a:p>
                      <a:r>
                        <a:rPr lang="en-US" sz="1200" dirty="0">
                          <a:highlight>
                            <a:srgbClr val="FFFF00"/>
                          </a:highlight>
                        </a:rPr>
                        <a:t>WIT AD review received.</a:t>
                      </a:r>
                      <a:endParaRPr lang="de-CH" sz="1200" dirty="0">
                        <a:highlight>
                          <a:srgbClr val="FFFF00"/>
                        </a:highlight>
                      </a:endParaRPr>
                    </a:p>
                  </a:txBody>
                  <a:tcPr/>
                </a:tc>
                <a:tc>
                  <a:txBody>
                    <a:bodyPr/>
                    <a:lstStyle/>
                    <a:p>
                      <a:r>
                        <a:rPr lang="en-US" sz="1200" dirty="0"/>
                        <a:t>OPSDIR Early review (of -14) by Jürgen Schönwälder</a:t>
                      </a:r>
                    </a:p>
                    <a:p>
                      <a:r>
                        <a:rPr lang="en-US" sz="1200" dirty="0"/>
                        <a:t>YANGDOCTORS Early review (of -13 and -17) by Martin Björklund </a:t>
                      </a:r>
                      <a:endParaRPr lang="de-CH" sz="1200" dirty="0"/>
                    </a:p>
                  </a:txBody>
                  <a:tcPr/>
                </a:tc>
                <a:extLst>
                  <a:ext uri="{0D108BD9-81ED-4DB2-BD59-A6C34878D82A}">
                    <a16:rowId xmlns:a16="http://schemas.microsoft.com/office/drawing/2014/main" val="269805555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CH" sz="1200" dirty="0"/>
                        <a:t>NETMOD</a:t>
                      </a:r>
                    </a:p>
                    <a:p>
                      <a:endParaRPr lang="de-CH" sz="1200" dirty="0"/>
                    </a:p>
                  </a:txBody>
                  <a:tcPr/>
                </a:tc>
                <a:tc>
                  <a:txBody>
                    <a:bodyPr/>
                    <a:lstStyle/>
                    <a:p>
                      <a:r>
                        <a:rPr lang="de-CH" sz="1200" dirty="0">
                          <a:hlinkClick r:id="rId5"/>
                        </a:rPr>
                        <a:t>draft-</a:t>
                      </a:r>
                      <a:r>
                        <a:rPr lang="de-CH" sz="1200" dirty="0" err="1">
                          <a:hlinkClick r:id="rId5"/>
                        </a:rPr>
                        <a:t>netana</a:t>
                      </a:r>
                      <a:r>
                        <a:rPr lang="de-CH" sz="1200" dirty="0">
                          <a:hlinkClick r:id="rId5"/>
                        </a:rPr>
                        <a:t>-</a:t>
                      </a:r>
                      <a:r>
                        <a:rPr lang="de-CH" sz="1200" dirty="0" err="1">
                          <a:hlinkClick r:id="rId5"/>
                        </a:rPr>
                        <a:t>nmop</a:t>
                      </a:r>
                      <a:r>
                        <a:rPr lang="de-CH" sz="1200" dirty="0">
                          <a:hlinkClick r:id="rId5"/>
                        </a:rPr>
                        <a:t>-</a:t>
                      </a:r>
                      <a:r>
                        <a:rPr lang="de-CH" sz="1200" dirty="0" err="1">
                          <a:hlinkClick r:id="rId5"/>
                        </a:rPr>
                        <a:t>yang</a:t>
                      </a:r>
                      <a:r>
                        <a:rPr lang="de-CH" sz="1200" dirty="0">
                          <a:hlinkClick r:id="rId5"/>
                        </a:rPr>
                        <a:t>-</a:t>
                      </a:r>
                      <a:r>
                        <a:rPr lang="de-CH" sz="1200" dirty="0" err="1">
                          <a:hlinkClick r:id="rId5"/>
                        </a:rPr>
                        <a:t>anydata</a:t>
                      </a:r>
                      <a:r>
                        <a:rPr lang="de-CH" sz="1200" dirty="0">
                          <a:hlinkClick r:id="rId5"/>
                        </a:rPr>
                        <a:t>-validation</a:t>
                      </a:r>
                      <a:endParaRPr lang="de-CH" sz="1200" dirty="0"/>
                    </a:p>
                    <a:p>
                      <a:endParaRPr lang="de-CH" sz="1200" dirty="0"/>
                    </a:p>
                  </a:txBody>
                  <a:tcPr/>
                </a:tc>
                <a:tc>
                  <a:txBody>
                    <a:bodyPr/>
                    <a:lstStyle/>
                    <a:p>
                      <a:r>
                        <a:rPr lang="de-CH" sz="1200" dirty="0">
                          <a:highlight>
                            <a:srgbClr val="FFFF00"/>
                          </a:highlight>
                        </a:rPr>
                        <a:t>Working on </a:t>
                      </a:r>
                      <a:r>
                        <a:rPr lang="de-CH" sz="1200" dirty="0" err="1">
                          <a:highlight>
                            <a:srgbClr val="FFFF00"/>
                          </a:highlight>
                        </a:rPr>
                        <a:t>how</a:t>
                      </a:r>
                      <a:r>
                        <a:rPr lang="de-CH" sz="1200" dirty="0">
                          <a:highlight>
                            <a:srgbClr val="FFFF00"/>
                          </a:highlight>
                        </a:rPr>
                        <a:t> a relative YANG </a:t>
                      </a:r>
                      <a:r>
                        <a:rPr lang="de-CH" sz="1200" dirty="0" err="1">
                          <a:highlight>
                            <a:srgbClr val="FFFF00"/>
                          </a:highlight>
                        </a:rPr>
                        <a:t>path</a:t>
                      </a:r>
                      <a:r>
                        <a:rPr lang="de-CH" sz="1200" dirty="0">
                          <a:highlight>
                            <a:srgbClr val="FFFF00"/>
                          </a:highlight>
                        </a:rPr>
                        <a:t> </a:t>
                      </a:r>
                      <a:r>
                        <a:rPr lang="de-CH" sz="1200" dirty="0" err="1">
                          <a:highlight>
                            <a:srgbClr val="FFFF00"/>
                          </a:highlight>
                        </a:rPr>
                        <a:t>identifier</a:t>
                      </a:r>
                      <a:r>
                        <a:rPr lang="de-CH" sz="1200" dirty="0">
                          <a:highlight>
                            <a:srgbClr val="FFFF00"/>
                          </a:highlight>
                        </a:rPr>
                        <a:t> </a:t>
                      </a:r>
                      <a:r>
                        <a:rPr lang="de-CH" sz="1200" dirty="0" err="1">
                          <a:highlight>
                            <a:srgbClr val="FFFF00"/>
                          </a:highlight>
                        </a:rPr>
                        <a:t>can</a:t>
                      </a:r>
                      <a:r>
                        <a:rPr lang="de-CH" sz="1200" dirty="0">
                          <a:highlight>
                            <a:srgbClr val="FFFF00"/>
                          </a:highlight>
                        </a:rPr>
                        <a:t> </a:t>
                      </a:r>
                      <a:r>
                        <a:rPr lang="de-CH" sz="1200" dirty="0" err="1">
                          <a:highlight>
                            <a:srgbClr val="FFFF00"/>
                          </a:highlight>
                        </a:rPr>
                        <a:t>be</a:t>
                      </a:r>
                      <a:r>
                        <a:rPr lang="de-CH" sz="1200" dirty="0">
                          <a:highlight>
                            <a:srgbClr val="FFFF00"/>
                          </a:highlight>
                        </a:rPr>
                        <a:t> </a:t>
                      </a:r>
                      <a:r>
                        <a:rPr lang="de-CH" sz="1200" dirty="0" err="1">
                          <a:highlight>
                            <a:srgbClr val="FFFF00"/>
                          </a:highlight>
                        </a:rPr>
                        <a:t>used</a:t>
                      </a:r>
                      <a:r>
                        <a:rPr lang="de-CH" sz="1200" dirty="0">
                          <a:highlight>
                            <a:srgbClr val="FFFF00"/>
                          </a:highlight>
                        </a:rPr>
                        <a:t> </a:t>
                      </a:r>
                      <a:r>
                        <a:rPr lang="de-CH" sz="1200" dirty="0" err="1">
                          <a:highlight>
                            <a:srgbClr val="FFFF00"/>
                          </a:highlight>
                        </a:rPr>
                        <a:t>for</a:t>
                      </a:r>
                      <a:r>
                        <a:rPr lang="de-CH" sz="1200" dirty="0">
                          <a:highlight>
                            <a:srgbClr val="FFFF00"/>
                          </a:highlight>
                        </a:rPr>
                        <a:t> </a:t>
                      </a:r>
                      <a:r>
                        <a:rPr lang="de-CH" sz="1200" dirty="0" err="1">
                          <a:highlight>
                            <a:srgbClr val="FFFF00"/>
                          </a:highlight>
                        </a:rPr>
                        <a:t>anydata</a:t>
                      </a:r>
                      <a:r>
                        <a:rPr lang="de-CH" sz="1200" dirty="0">
                          <a:highlight>
                            <a:srgbClr val="FFFF00"/>
                          </a:highlight>
                        </a:rPr>
                        <a:t> </a:t>
                      </a:r>
                      <a:r>
                        <a:rPr lang="de-CH" sz="1200" dirty="0" err="1">
                          <a:highlight>
                            <a:srgbClr val="FFFF00"/>
                          </a:highlight>
                        </a:rPr>
                        <a:t>validation</a:t>
                      </a:r>
                      <a:r>
                        <a:rPr lang="de-CH" sz="1200" dirty="0">
                          <a:highlight>
                            <a:srgbClr val="FFFF00"/>
                          </a:highlight>
                        </a:rPr>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highlight>
                            <a:srgbClr val="FFFF00"/>
                          </a:highlight>
                        </a:rPr>
                        <a:t>Reviews from Rob Wilton and James Cumings received.</a:t>
                      </a:r>
                      <a:endParaRPr lang="de-CH" sz="1200" dirty="0">
                        <a:highlight>
                          <a:srgbClr val="FFFF00"/>
                        </a:highlight>
                      </a:endParaRPr>
                    </a:p>
                    <a:p>
                      <a:endParaRPr lang="de-CH" sz="1200" dirty="0"/>
                    </a:p>
                  </a:txBody>
                  <a:tcPr/>
                </a:tc>
                <a:extLst>
                  <a:ext uri="{0D108BD9-81ED-4DB2-BD59-A6C34878D82A}">
                    <a16:rowId xmlns:a16="http://schemas.microsoft.com/office/drawing/2014/main" val="2744993052"/>
                  </a:ext>
                </a:extLst>
              </a:tr>
              <a:tr h="370840">
                <a:tc>
                  <a:txBody>
                    <a:bodyPr/>
                    <a:lstStyle/>
                    <a:p>
                      <a:endParaRPr lang="de-CH" sz="1200" dirty="0"/>
                    </a:p>
                  </a:txBody>
                  <a:tcPr/>
                </a:tc>
                <a:tc>
                  <a:txBody>
                    <a:bodyPr/>
                    <a:lstStyle/>
                    <a:p>
                      <a:endParaRPr lang="de-CH" sz="1200" dirty="0"/>
                    </a:p>
                  </a:txBody>
                  <a:tcPr/>
                </a:tc>
                <a:tc>
                  <a:txBody>
                    <a:bodyPr/>
                    <a:lstStyle/>
                    <a:p>
                      <a:endParaRPr lang="de-CH" sz="1200" dirty="0"/>
                    </a:p>
                  </a:txBody>
                  <a:tcPr/>
                </a:tc>
                <a:tc>
                  <a:txBody>
                    <a:bodyPr/>
                    <a:lstStyle/>
                    <a:p>
                      <a:endParaRPr lang="de-CH" sz="1200" dirty="0"/>
                    </a:p>
                  </a:txBody>
                  <a:tcPr/>
                </a:tc>
                <a:extLst>
                  <a:ext uri="{0D108BD9-81ED-4DB2-BD59-A6C34878D82A}">
                    <a16:rowId xmlns:a16="http://schemas.microsoft.com/office/drawing/2014/main" val="2665303605"/>
                  </a:ext>
                </a:extLst>
              </a:tr>
              <a:tr h="370840">
                <a:tc>
                  <a:txBody>
                    <a:bodyPr/>
                    <a:lstStyle/>
                    <a:p>
                      <a:endParaRPr lang="de-CH" sz="1200" dirty="0"/>
                    </a:p>
                  </a:txBody>
                  <a:tcPr/>
                </a:tc>
                <a:tc>
                  <a:txBody>
                    <a:bodyPr/>
                    <a:lstStyle/>
                    <a:p>
                      <a:endParaRPr lang="de-CH" sz="1200" dirty="0"/>
                    </a:p>
                  </a:txBody>
                  <a:tcPr/>
                </a:tc>
                <a:tc>
                  <a:txBody>
                    <a:bodyPr/>
                    <a:lstStyle/>
                    <a:p>
                      <a:endParaRPr lang="de-CH" sz="1200" dirty="0"/>
                    </a:p>
                  </a:txBody>
                  <a:tcPr/>
                </a:tc>
                <a:tc>
                  <a:txBody>
                    <a:bodyPr/>
                    <a:lstStyle/>
                    <a:p>
                      <a:endParaRPr lang="de-CH" sz="1200" dirty="0"/>
                    </a:p>
                  </a:txBody>
                  <a:tcPr/>
                </a:tc>
                <a:extLst>
                  <a:ext uri="{0D108BD9-81ED-4DB2-BD59-A6C34878D82A}">
                    <a16:rowId xmlns:a16="http://schemas.microsoft.com/office/drawing/2014/main" val="157176843"/>
                  </a:ext>
                </a:extLst>
              </a:tr>
            </a:tbl>
          </a:graphicData>
        </a:graphic>
      </p:graphicFrame>
    </p:spTree>
    <p:extLst>
      <p:ext uri="{BB962C8B-B14F-4D97-AF65-F5344CB8AC3E}">
        <p14:creationId xmlns:p14="http://schemas.microsoft.com/office/powerpoint/2010/main" val="28814216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05"/>
        <p:cNvGrpSpPr/>
        <p:nvPr/>
      </p:nvGrpSpPr>
      <p:grpSpPr>
        <a:xfrm>
          <a:off x="0" y="0"/>
          <a:ext cx="0" cy="0"/>
          <a:chOff x="0" y="0"/>
          <a:chExt cx="0" cy="0"/>
        </a:xfrm>
      </p:grpSpPr>
      <p:sp>
        <p:nvSpPr>
          <p:cNvPr id="9" name="Rectangle 8">
            <a:extLst>
              <a:ext uri="{FF2B5EF4-FFF2-40B4-BE49-F238E27FC236}">
                <a16:creationId xmlns:a16="http://schemas.microsoft.com/office/drawing/2014/main" id="{4C47D17A-A259-8B8A-20E0-474E61FF5DB6}"/>
              </a:ext>
            </a:extLst>
          </p:cNvPr>
          <p:cNvSpPr/>
          <p:nvPr/>
        </p:nvSpPr>
        <p:spPr>
          <a:xfrm>
            <a:off x="11450426" y="0"/>
            <a:ext cx="741575" cy="6858000"/>
          </a:xfrm>
          <a:prstGeom prst="rect">
            <a:avLst/>
          </a:prstGeom>
          <a:solidFill>
            <a:schemeClr val="bg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CH" sz="2400"/>
          </a:p>
        </p:txBody>
      </p:sp>
      <p:sp>
        <p:nvSpPr>
          <p:cNvPr id="1506" name="Google Shape;1506;p43"/>
          <p:cNvSpPr txBox="1">
            <a:spLocks noGrp="1"/>
          </p:cNvSpPr>
          <p:nvPr>
            <p:ph type="ctrTitle" idx="4294967295"/>
          </p:nvPr>
        </p:nvSpPr>
        <p:spPr>
          <a:xfrm>
            <a:off x="615481" y="374074"/>
            <a:ext cx="7726919" cy="1982781"/>
          </a:xfrm>
          <a:prstGeom prst="rect">
            <a:avLst/>
          </a:prstGeom>
          <a:noFill/>
          <a:ln>
            <a:noFill/>
          </a:ln>
        </p:spPr>
        <p:txBody>
          <a:bodyPr spcFirstLastPara="1" vert="horz" wrap="square" lIns="60933" tIns="60933" rIns="60933" bIns="60933" rtlCol="0" anchor="ctr" anchorCtr="0">
            <a:normAutofit/>
          </a:bodyPr>
          <a:lstStyle/>
          <a:p>
            <a:pPr>
              <a:buClr>
                <a:srgbClr val="888888"/>
              </a:buClr>
              <a:buSzPts val="2500"/>
            </a:pPr>
            <a:r>
              <a:rPr lang="en-US" sz="3733" b="1" dirty="0"/>
              <a:t>Validate YANG-Push to Message Broker End-To-End Data Processing Chain</a:t>
            </a:r>
            <a:br>
              <a:rPr lang="en" sz="5867" dirty="0">
                <a:solidFill>
                  <a:srgbClr val="000000"/>
                </a:solidFill>
                <a:latin typeface="Calibri"/>
                <a:ea typeface="Calibri"/>
                <a:cs typeface="Calibri"/>
                <a:sym typeface="Calibri"/>
              </a:rPr>
            </a:br>
            <a:r>
              <a:rPr lang="en-US" sz="3733" dirty="0">
                <a:solidFill>
                  <a:srgbClr val="888888"/>
                </a:solidFill>
              </a:rPr>
              <a:t>IETF 126 Hackathon, July 18/19</a:t>
            </a:r>
            <a:r>
              <a:rPr lang="en-US" sz="3733" baseline="30000" dirty="0">
                <a:solidFill>
                  <a:srgbClr val="888888"/>
                </a:solidFill>
              </a:rPr>
              <a:t>th</a:t>
            </a:r>
            <a:r>
              <a:rPr lang="en-US" sz="3733" dirty="0">
                <a:solidFill>
                  <a:srgbClr val="888888"/>
                </a:solidFill>
              </a:rPr>
              <a:t> 2026</a:t>
            </a:r>
            <a:endParaRPr sz="3733" dirty="0">
              <a:solidFill>
                <a:srgbClr val="888888"/>
              </a:solidFill>
            </a:endParaRPr>
          </a:p>
        </p:txBody>
      </p:sp>
      <p:pic>
        <p:nvPicPr>
          <p:cNvPr id="5" name="Picture 4">
            <a:extLst>
              <a:ext uri="{FF2B5EF4-FFF2-40B4-BE49-F238E27FC236}">
                <a16:creationId xmlns:a16="http://schemas.microsoft.com/office/drawing/2014/main" id="{2054A158-30A9-C387-5FFD-6AEF58492FC5}"/>
              </a:ext>
            </a:extLst>
          </p:cNvPr>
          <p:cNvPicPr>
            <a:picLocks noChangeAspect="1"/>
          </p:cNvPicPr>
          <p:nvPr/>
        </p:nvPicPr>
        <p:blipFill>
          <a:blip r:embed="rId3"/>
          <a:stretch>
            <a:fillRect/>
          </a:stretch>
        </p:blipFill>
        <p:spPr>
          <a:xfrm>
            <a:off x="7580308" y="166365"/>
            <a:ext cx="3617520" cy="6691636"/>
          </a:xfrm>
          <a:prstGeom prst="rect">
            <a:avLst/>
          </a:prstGeom>
        </p:spPr>
      </p:pic>
      <p:sp>
        <p:nvSpPr>
          <p:cNvPr id="7" name="TextBox 6">
            <a:extLst>
              <a:ext uri="{FF2B5EF4-FFF2-40B4-BE49-F238E27FC236}">
                <a16:creationId xmlns:a16="http://schemas.microsoft.com/office/drawing/2014/main" id="{2099727B-B192-98C3-96AF-57104AF0EAA7}"/>
              </a:ext>
            </a:extLst>
          </p:cNvPr>
          <p:cNvSpPr txBox="1"/>
          <p:nvPr/>
        </p:nvSpPr>
        <p:spPr>
          <a:xfrm rot="5400000">
            <a:off x="8751239" y="2855495"/>
            <a:ext cx="6096000" cy="666786"/>
          </a:xfrm>
          <a:prstGeom prst="rect">
            <a:avLst/>
          </a:prstGeom>
          <a:noFill/>
        </p:spPr>
        <p:txBody>
          <a:bodyPr wrap="square">
            <a:spAutoFit/>
          </a:bodyPr>
          <a:lstStyle/>
          <a:p>
            <a:r>
              <a:rPr lang="en" sz="3733" dirty="0">
                <a:solidFill>
                  <a:schemeClr val="bg1"/>
                </a:solidFill>
                <a:latin typeface="Calibri"/>
                <a:ea typeface="Calibri"/>
                <a:cs typeface="Calibri"/>
                <a:sym typeface="Calibri"/>
              </a:rPr>
              <a:t>NMOP &amp; NETCONF WG</a:t>
            </a:r>
            <a:endParaRPr lang="de-CH" sz="3733" dirty="0">
              <a:solidFill>
                <a:schemeClr val="bg1"/>
              </a:solidFill>
            </a:endParaRPr>
          </a:p>
        </p:txBody>
      </p:sp>
      <p:sp>
        <p:nvSpPr>
          <p:cNvPr id="2" name="Google Shape;1523;p45">
            <a:extLst>
              <a:ext uri="{FF2B5EF4-FFF2-40B4-BE49-F238E27FC236}">
                <a16:creationId xmlns:a16="http://schemas.microsoft.com/office/drawing/2014/main" id="{BCB98076-6DA6-6B8C-F53E-DB5902062EA0}"/>
              </a:ext>
            </a:extLst>
          </p:cNvPr>
          <p:cNvSpPr txBox="1">
            <a:spLocks noGrp="1"/>
          </p:cNvSpPr>
          <p:nvPr>
            <p:ph type="sldNum" idx="12"/>
          </p:nvPr>
        </p:nvSpPr>
        <p:spPr>
          <a:xfrm>
            <a:off x="11676531" y="6383759"/>
            <a:ext cx="245415" cy="307722"/>
          </a:xfrm>
          <a:prstGeom prst="rect">
            <a:avLst/>
          </a:prstGeom>
          <a:noFill/>
          <a:ln>
            <a:noFill/>
          </a:ln>
        </p:spPr>
        <p:txBody>
          <a:bodyPr spcFirstLastPara="1" vert="horz" wrap="square" lIns="60933" tIns="60933" rIns="60933" bIns="60933" rtlCol="0" anchor="ctr" anchorCtr="0">
            <a:spAutoFit/>
          </a:bodyPr>
          <a:lstStyle/>
          <a:p>
            <a:pPr>
              <a:buClr>
                <a:srgbClr val="888888"/>
              </a:buClr>
              <a:buSzPts val="1200"/>
            </a:pPr>
            <a:fld id="{00000000-1234-1234-1234-123412341234}" type="slidenum">
              <a:rPr lang="en"/>
              <a:pPr>
                <a:buClr>
                  <a:srgbClr val="888888"/>
                </a:buClr>
                <a:buSzPts val="1200"/>
              </a:pPr>
              <a:t>6</a:t>
            </a:fld>
            <a:endParaRPr dirty="0"/>
          </a:p>
        </p:txBody>
      </p:sp>
      <p:pic>
        <p:nvPicPr>
          <p:cNvPr id="3" name="Picture 2" descr="IETF | Suggested IETF 126 Sessions for Getting Familiar with New Topics">
            <a:extLst>
              <a:ext uri="{FF2B5EF4-FFF2-40B4-BE49-F238E27FC236}">
                <a16:creationId xmlns:a16="http://schemas.microsoft.com/office/drawing/2014/main" id="{5F561052-D90B-7443-52F5-24F846E0EC2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6831" y="2356855"/>
            <a:ext cx="5579872" cy="402690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13"/>
        <p:cNvGrpSpPr/>
        <p:nvPr/>
      </p:nvGrpSpPr>
      <p:grpSpPr>
        <a:xfrm>
          <a:off x="0" y="0"/>
          <a:ext cx="0" cy="0"/>
          <a:chOff x="0" y="0"/>
          <a:chExt cx="0" cy="0"/>
        </a:xfrm>
      </p:grpSpPr>
      <p:sp>
        <p:nvSpPr>
          <p:cNvPr id="1514" name="Google Shape;1514;p44"/>
          <p:cNvSpPr txBox="1">
            <a:spLocks noGrp="1"/>
          </p:cNvSpPr>
          <p:nvPr>
            <p:ph type="title"/>
          </p:nvPr>
        </p:nvSpPr>
        <p:spPr>
          <a:xfrm>
            <a:off x="728132" y="274638"/>
            <a:ext cx="10292595" cy="1143001"/>
          </a:xfrm>
          <a:prstGeom prst="rect">
            <a:avLst/>
          </a:prstGeom>
          <a:noFill/>
          <a:ln>
            <a:noFill/>
          </a:ln>
        </p:spPr>
        <p:txBody>
          <a:bodyPr spcFirstLastPara="1" vert="horz" wrap="square" lIns="60933" tIns="60933" rIns="60933" bIns="60933" rtlCol="0" anchor="ctr" anchorCtr="0">
            <a:normAutofit/>
          </a:bodyPr>
          <a:lstStyle/>
          <a:p>
            <a:pPr algn="l">
              <a:buSzPts val="3800"/>
            </a:pPr>
            <a:r>
              <a:rPr lang="en-US" sz="5067" dirty="0"/>
              <a:t>Hackathon Plan, Software and Website</a:t>
            </a:r>
          </a:p>
        </p:txBody>
      </p:sp>
      <p:sp>
        <p:nvSpPr>
          <p:cNvPr id="1515" name="Google Shape;1515;p44"/>
          <p:cNvSpPr txBox="1">
            <a:spLocks noGrp="1"/>
          </p:cNvSpPr>
          <p:nvPr>
            <p:ph type="body" idx="1"/>
          </p:nvPr>
        </p:nvSpPr>
        <p:spPr>
          <a:xfrm>
            <a:off x="728133" y="1219200"/>
            <a:ext cx="10662924" cy="2777933"/>
          </a:xfrm>
          <a:prstGeom prst="rect">
            <a:avLst/>
          </a:prstGeom>
          <a:noFill/>
          <a:ln>
            <a:noFill/>
          </a:ln>
        </p:spPr>
        <p:txBody>
          <a:bodyPr spcFirstLastPara="1" vert="horz" wrap="square" lIns="60933" tIns="60933" rIns="60933" bIns="60933" rtlCol="0" anchor="t" anchorCtr="0">
            <a:noAutofit/>
          </a:bodyPr>
          <a:lstStyle/>
          <a:p>
            <a:pPr marL="21771" indent="0">
              <a:lnSpc>
                <a:spcPct val="90000"/>
              </a:lnSpc>
              <a:spcBef>
                <a:spcPts val="0"/>
              </a:spcBef>
              <a:spcAft>
                <a:spcPts val="800"/>
              </a:spcAft>
              <a:buSzPts val="1400"/>
              <a:buNone/>
            </a:pPr>
            <a:r>
              <a:rPr lang="en-US" sz="1867" b="1" dirty="0">
                <a:latin typeface="Calibri"/>
                <a:ea typeface="Calibri"/>
                <a:cs typeface="Calibri"/>
                <a:sym typeface="Calibri"/>
              </a:rPr>
              <a:t>Test Plan</a:t>
            </a:r>
            <a:endParaRPr lang="en-US" noProof="0" dirty="0"/>
          </a:p>
          <a:p>
            <a:pPr marL="21771" indent="0">
              <a:lnSpc>
                <a:spcPct val="90000"/>
              </a:lnSpc>
              <a:spcBef>
                <a:spcPts val="0"/>
              </a:spcBef>
              <a:spcAft>
                <a:spcPts val="800"/>
              </a:spcAft>
              <a:buSzPts val="1400"/>
              <a:buNone/>
            </a:pPr>
            <a:r>
              <a:rPr lang="en-US" sz="1600" dirty="0"/>
              <a:t>Validate and verify</a:t>
            </a:r>
          </a:p>
          <a:p>
            <a:pPr marL="326564" indent="-304792">
              <a:lnSpc>
                <a:spcPct val="90000"/>
              </a:lnSpc>
              <a:spcBef>
                <a:spcPts val="0"/>
              </a:spcBef>
              <a:buSzPts val="1200"/>
              <a:buFont typeface="Calibri"/>
              <a:buChar char="•"/>
            </a:pPr>
            <a:r>
              <a:rPr lang="en-US" sz="1600" dirty="0"/>
              <a:t>5 YANG-Push Publishers</a:t>
            </a:r>
          </a:p>
          <a:p>
            <a:pPr marL="326564" indent="-304792">
              <a:lnSpc>
                <a:spcPct val="90000"/>
              </a:lnSpc>
              <a:spcBef>
                <a:spcPts val="0"/>
              </a:spcBef>
              <a:buSzPts val="1200"/>
              <a:buFont typeface="Calibri"/>
              <a:buChar char="•"/>
            </a:pPr>
            <a:r>
              <a:rPr lang="en-US" sz="1600" dirty="0"/>
              <a:t>2 YANG-Push Receivers</a:t>
            </a:r>
          </a:p>
          <a:p>
            <a:pPr marL="326564" indent="-304792">
              <a:lnSpc>
                <a:spcPct val="90000"/>
              </a:lnSpc>
              <a:spcBef>
                <a:spcPts val="0"/>
              </a:spcBef>
              <a:buSzPts val="1200"/>
              <a:buFont typeface="Calibri"/>
              <a:buChar char="•"/>
            </a:pPr>
            <a:r>
              <a:rPr lang="en-US" sz="1600" dirty="0"/>
              <a:t>2 YANG-Push Network Telemetry Message</a:t>
            </a:r>
          </a:p>
          <a:p>
            <a:pPr marL="326564" indent="-304792">
              <a:lnSpc>
                <a:spcPct val="90000"/>
              </a:lnSpc>
              <a:spcBef>
                <a:spcPts val="0"/>
              </a:spcBef>
              <a:buSzPts val="1200"/>
              <a:buFont typeface="Calibri"/>
              <a:buChar char="•"/>
            </a:pPr>
            <a:r>
              <a:rPr lang="en-US" sz="1600" dirty="0"/>
              <a:t>1 YANG Message Broker Producer and Schema Registry</a:t>
            </a:r>
          </a:p>
          <a:p>
            <a:pPr marL="326564" indent="-304792">
              <a:lnSpc>
                <a:spcPct val="90000"/>
              </a:lnSpc>
              <a:spcBef>
                <a:spcPts val="0"/>
              </a:spcBef>
              <a:buSzPts val="1200"/>
              <a:buFont typeface="Calibri"/>
              <a:buChar char="•"/>
            </a:pPr>
            <a:r>
              <a:rPr lang="en-US" sz="1600" dirty="0"/>
              <a:t>3 YANG Message Broker Consumers</a:t>
            </a:r>
          </a:p>
          <a:p>
            <a:pPr marL="21771" indent="0">
              <a:lnSpc>
                <a:spcPct val="90000"/>
              </a:lnSpc>
              <a:spcBef>
                <a:spcPts val="1200"/>
              </a:spcBef>
              <a:spcAft>
                <a:spcPts val="800"/>
              </a:spcAft>
              <a:buSzPts val="1400"/>
              <a:buNone/>
            </a:pPr>
            <a:r>
              <a:rPr lang="en-US" sz="1600" dirty="0"/>
              <a:t>implementation in YANG data integration automation. Subscribe to YANG</a:t>
            </a:r>
            <a:br>
              <a:rPr lang="en-US" sz="1600" dirty="0"/>
            </a:br>
            <a:r>
              <a:rPr lang="en-US" sz="1600" dirty="0"/>
              <a:t>data on YANG-Publisher, obtain and register all YANG modules necessary</a:t>
            </a:r>
            <a:br>
              <a:rPr lang="en-US" sz="1600" dirty="0"/>
            </a:br>
            <a:r>
              <a:rPr lang="en-US" sz="1600" dirty="0"/>
              <a:t>to build YANG schema tree, register YANG schemas to Schema  Registry</a:t>
            </a:r>
            <a:br>
              <a:rPr lang="en-US" sz="1600" dirty="0"/>
            </a:br>
            <a:r>
              <a:rPr lang="en-US" sz="1600" dirty="0"/>
              <a:t>and verify YANG notifications against scheme trees and produce and</a:t>
            </a:r>
            <a:br>
              <a:rPr lang="en-US" sz="1600" dirty="0"/>
            </a:br>
            <a:r>
              <a:rPr lang="en-US" sz="1600" dirty="0"/>
              <a:t>consume from Message Broker.</a:t>
            </a:r>
            <a:endParaRPr lang="en-US" sz="1600" dirty="0">
              <a:latin typeface="Calibri"/>
              <a:ea typeface="Calibri"/>
              <a:cs typeface="Calibri"/>
              <a:sym typeface="Calibri"/>
            </a:endParaRPr>
          </a:p>
          <a:p>
            <a:pPr marL="21771" indent="0">
              <a:lnSpc>
                <a:spcPct val="90000"/>
              </a:lnSpc>
              <a:spcBef>
                <a:spcPts val="1200"/>
              </a:spcBef>
              <a:spcAft>
                <a:spcPts val="800"/>
              </a:spcAft>
              <a:buSzPts val="1400"/>
              <a:buNone/>
            </a:pPr>
            <a:r>
              <a:rPr lang="en-US" sz="1867" b="1" dirty="0">
                <a:latin typeface="Calibri"/>
                <a:ea typeface="Calibri"/>
                <a:cs typeface="Calibri"/>
                <a:sym typeface="Calibri"/>
              </a:rPr>
              <a:t>Software</a:t>
            </a:r>
            <a:endParaRPr lang="en-US" noProof="0" dirty="0"/>
          </a:p>
          <a:p>
            <a:pPr marL="326564" indent="-304792">
              <a:lnSpc>
                <a:spcPct val="90000"/>
              </a:lnSpc>
              <a:spcBef>
                <a:spcPts val="0"/>
              </a:spcBef>
              <a:buSzPts val="1200"/>
              <a:buFont typeface="Calibri"/>
              <a:buChar char="•"/>
            </a:pPr>
            <a:r>
              <a:rPr lang="en-US" sz="1600" dirty="0"/>
              <a:t>YANG-Push Publisher - Cisco IOS XR, 6WIND VSR, Huawei NE (Router),MA (OLT), </a:t>
            </a:r>
            <a:r>
              <a:rPr lang="en-US" sz="1600" dirty="0" err="1"/>
              <a:t>Arrcus</a:t>
            </a:r>
            <a:r>
              <a:rPr lang="en-US" sz="1600" dirty="0"/>
              <a:t> Arcos and Ductus DMAP</a:t>
            </a:r>
          </a:p>
          <a:p>
            <a:pPr marL="326564" indent="-304792">
              <a:lnSpc>
                <a:spcPct val="90000"/>
              </a:lnSpc>
              <a:spcBef>
                <a:spcPts val="0"/>
              </a:spcBef>
              <a:buSzPts val="1200"/>
              <a:buFont typeface="Calibri"/>
              <a:buChar char="•"/>
            </a:pPr>
            <a:r>
              <a:rPr lang="en-US" sz="1600" dirty="0">
                <a:latin typeface="Calibri"/>
                <a:ea typeface="Calibri"/>
                <a:cs typeface="Calibri"/>
                <a:sym typeface="Calibri"/>
              </a:rPr>
              <a:t>YANG-Push Receiver – </a:t>
            </a:r>
            <a:r>
              <a:rPr lang="en-US" sz="1600" dirty="0">
                <a:latin typeface="Calibri"/>
                <a:ea typeface="Calibri"/>
                <a:cs typeface="Calibri"/>
                <a:sym typeface="Calibri"/>
                <a:hlinkClick r:id="rId3"/>
              </a:rPr>
              <a:t>NetGauze</a:t>
            </a:r>
            <a:r>
              <a:rPr lang="de-CH" sz="1600" dirty="0">
                <a:hlinkClick r:id="rId3"/>
              </a:rPr>
              <a:t>™</a:t>
            </a:r>
            <a:r>
              <a:rPr lang="en-US" sz="1600" dirty="0">
                <a:latin typeface="Calibri"/>
                <a:ea typeface="Calibri"/>
                <a:cs typeface="Calibri"/>
                <a:sym typeface="Calibri"/>
                <a:hlinkClick r:id="rId3"/>
              </a:rPr>
              <a:t> </a:t>
            </a:r>
            <a:r>
              <a:rPr lang="en-US" sz="1600" dirty="0">
                <a:latin typeface="Calibri"/>
                <a:ea typeface="Calibri"/>
                <a:cs typeface="Calibri"/>
                <a:sym typeface="Calibri"/>
              </a:rPr>
              <a:t>and </a:t>
            </a:r>
            <a:r>
              <a:rPr lang="en-US" sz="1600" dirty="0" err="1">
                <a:hlinkClick r:id="rId4"/>
              </a:rPr>
              <a:t>Pmacct</a:t>
            </a:r>
            <a:endParaRPr lang="en-US" sz="1600" dirty="0">
              <a:latin typeface="Calibri"/>
              <a:ea typeface="Calibri"/>
              <a:cs typeface="Calibri"/>
              <a:sym typeface="Calibri"/>
            </a:endParaRPr>
          </a:p>
          <a:p>
            <a:pPr marL="326564" indent="-304792">
              <a:lnSpc>
                <a:spcPct val="90000"/>
              </a:lnSpc>
              <a:spcBef>
                <a:spcPts val="0"/>
              </a:spcBef>
              <a:buSzPts val="1200"/>
              <a:buFont typeface="Calibri"/>
              <a:buChar char="•"/>
            </a:pPr>
            <a:r>
              <a:rPr lang="en-US" sz="1600" dirty="0">
                <a:latin typeface="Calibri"/>
                <a:ea typeface="Calibri"/>
                <a:cs typeface="Calibri"/>
                <a:sym typeface="Calibri"/>
              </a:rPr>
              <a:t>YANG Message Broker Producer </a:t>
            </a:r>
            <a:r>
              <a:rPr lang="en-US" sz="1600" dirty="0"/>
              <a:t>– </a:t>
            </a:r>
            <a:r>
              <a:rPr lang="en-US" sz="1600" dirty="0">
                <a:ea typeface="Calibri"/>
                <a:cs typeface="Calibri"/>
                <a:sym typeface="Calibri"/>
                <a:hlinkClick r:id="rId3"/>
              </a:rPr>
              <a:t>NetGauze</a:t>
            </a:r>
            <a:r>
              <a:rPr lang="de-CH" sz="1600" dirty="0">
                <a:hlinkClick r:id="rId3"/>
              </a:rPr>
              <a:t>™</a:t>
            </a:r>
            <a:endParaRPr lang="en-US" sz="1600" dirty="0"/>
          </a:p>
          <a:p>
            <a:pPr marL="326564" indent="-304792">
              <a:lnSpc>
                <a:spcPct val="90000"/>
              </a:lnSpc>
              <a:spcBef>
                <a:spcPts val="0"/>
              </a:spcBef>
              <a:buSzPts val="1200"/>
              <a:buFont typeface="Calibri"/>
              <a:buChar char="•"/>
            </a:pPr>
            <a:r>
              <a:rPr lang="en-US" sz="1600" dirty="0">
                <a:latin typeface="Calibri"/>
                <a:ea typeface="Calibri"/>
                <a:cs typeface="Calibri"/>
                <a:sym typeface="Calibri"/>
              </a:rPr>
              <a:t>YANG Message Broker Consumer – </a:t>
            </a:r>
            <a:r>
              <a:rPr lang="en-US" sz="1600" dirty="0">
                <a:ea typeface="Calibri"/>
                <a:cs typeface="Calibri"/>
                <a:sym typeface="Calibri"/>
                <a:hlinkClick r:id="rId3"/>
              </a:rPr>
              <a:t>NetGauze</a:t>
            </a:r>
            <a:r>
              <a:rPr lang="de-CH" sz="1600" dirty="0">
                <a:hlinkClick r:id="rId3"/>
              </a:rPr>
              <a:t>™</a:t>
            </a:r>
            <a:r>
              <a:rPr lang="en-US" sz="1600" dirty="0"/>
              <a:t>, Ciena Blue Planet UAA Workflow Engine, Cisco </a:t>
            </a:r>
            <a:r>
              <a:rPr lang="en-US" sz="1600" dirty="0" err="1"/>
              <a:t>Crosswork</a:t>
            </a:r>
            <a:r>
              <a:rPr lang="en-US" sz="1600" dirty="0"/>
              <a:t> Ingestion Service</a:t>
            </a:r>
            <a:endParaRPr lang="en-US" sz="1600" dirty="0">
              <a:latin typeface="Calibri"/>
              <a:ea typeface="Calibri"/>
              <a:cs typeface="Calibri"/>
              <a:sym typeface="Calibri"/>
            </a:endParaRPr>
          </a:p>
          <a:p>
            <a:pPr marL="326564" indent="-304792">
              <a:lnSpc>
                <a:spcPct val="90000"/>
              </a:lnSpc>
              <a:spcBef>
                <a:spcPts val="0"/>
              </a:spcBef>
              <a:buSzPts val="1200"/>
              <a:buFont typeface="Calibri"/>
              <a:buChar char="•"/>
            </a:pPr>
            <a:r>
              <a:rPr lang="en-US" sz="1600" dirty="0">
                <a:latin typeface="Calibri"/>
                <a:ea typeface="Calibri"/>
                <a:cs typeface="Calibri"/>
                <a:sym typeface="Calibri"/>
              </a:rPr>
              <a:t>YANG Schema Registry – </a:t>
            </a:r>
            <a:r>
              <a:rPr lang="en-US" sz="1600" dirty="0">
                <a:latin typeface="Calibri"/>
                <a:ea typeface="Calibri"/>
                <a:cs typeface="Calibri"/>
                <a:sym typeface="Calibri"/>
                <a:hlinkClick r:id="rId5"/>
              </a:rPr>
              <a:t>Apache Kafka YANG Plugin</a:t>
            </a:r>
            <a:endParaRPr lang="en-US" sz="1600" dirty="0">
              <a:latin typeface="Calibri"/>
              <a:ea typeface="Calibri"/>
              <a:cs typeface="Calibri"/>
              <a:sym typeface="Calibri"/>
            </a:endParaRPr>
          </a:p>
          <a:p>
            <a:pPr marL="326564" indent="-304792">
              <a:lnSpc>
                <a:spcPct val="90000"/>
              </a:lnSpc>
              <a:spcBef>
                <a:spcPts val="0"/>
              </a:spcBef>
              <a:buSzPts val="1200"/>
              <a:buFont typeface="Calibri"/>
              <a:buChar char="•"/>
            </a:pPr>
            <a:r>
              <a:rPr lang="en-US" sz="1600" dirty="0"/>
              <a:t>Libyang - </a:t>
            </a:r>
            <a:r>
              <a:rPr lang="en-US" sz="1600" dirty="0">
                <a:hlinkClick r:id="rId6"/>
              </a:rPr>
              <a:t>https://github.com/CESNET/libyang/releases/tag/v5.4.9</a:t>
            </a:r>
            <a:endParaRPr lang="en-US" sz="1600" dirty="0"/>
          </a:p>
          <a:p>
            <a:pPr marL="326564" indent="-304792">
              <a:lnSpc>
                <a:spcPct val="90000"/>
              </a:lnSpc>
              <a:spcBef>
                <a:spcPts val="0"/>
              </a:spcBef>
              <a:buSzPts val="1200"/>
              <a:buFont typeface="Calibri"/>
              <a:buChar char="•"/>
            </a:pPr>
            <a:r>
              <a:rPr lang="en-US" sz="1600" dirty="0" err="1"/>
              <a:t>Yangkit</a:t>
            </a:r>
            <a:r>
              <a:rPr lang="en-US" sz="1600" dirty="0"/>
              <a:t> - </a:t>
            </a:r>
            <a:r>
              <a:rPr lang="en-US" sz="1600" dirty="0">
                <a:hlinkClick r:id="rId7"/>
              </a:rPr>
              <a:t>https://github.com/yang-central/yangkit/</a:t>
            </a:r>
            <a:endParaRPr lang="en-US" sz="1600" dirty="0"/>
          </a:p>
          <a:p>
            <a:pPr marL="326564" indent="-304792">
              <a:lnSpc>
                <a:spcPct val="90000"/>
              </a:lnSpc>
              <a:spcBef>
                <a:spcPts val="0"/>
              </a:spcBef>
              <a:buSzPts val="1200"/>
              <a:buFont typeface="Calibri"/>
              <a:buChar char="•"/>
            </a:pPr>
            <a:r>
              <a:rPr lang="en-US" sz="1600" dirty="0">
                <a:latin typeface="Calibri"/>
                <a:ea typeface="Calibri"/>
                <a:cs typeface="Calibri"/>
                <a:sym typeface="Calibri"/>
              </a:rPr>
              <a:t>Wireshark - </a:t>
            </a:r>
            <a:r>
              <a:rPr lang="en-US" sz="1600" dirty="0">
                <a:latin typeface="Calibri"/>
                <a:ea typeface="Calibri"/>
                <a:cs typeface="Calibri"/>
                <a:sym typeface="Calibri"/>
                <a:hlinkClick r:id="rId8"/>
              </a:rPr>
              <a:t>udp-notif dissector</a:t>
            </a:r>
            <a:endParaRPr lang="en-US" noProof="0" dirty="0"/>
          </a:p>
        </p:txBody>
      </p:sp>
      <p:pic>
        <p:nvPicPr>
          <p:cNvPr id="3" name="Picture 2">
            <a:extLst>
              <a:ext uri="{FF2B5EF4-FFF2-40B4-BE49-F238E27FC236}">
                <a16:creationId xmlns:a16="http://schemas.microsoft.com/office/drawing/2014/main" id="{9FDC4F4D-B33D-1118-BAC0-63500FDC9630}"/>
              </a:ext>
            </a:extLst>
          </p:cNvPr>
          <p:cNvPicPr>
            <a:picLocks noChangeAspect="1"/>
          </p:cNvPicPr>
          <p:nvPr/>
        </p:nvPicPr>
        <p:blipFill>
          <a:blip r:embed="rId9"/>
          <a:stretch>
            <a:fillRect/>
          </a:stretch>
        </p:blipFill>
        <p:spPr>
          <a:xfrm>
            <a:off x="7807217" y="1431355"/>
            <a:ext cx="3236607" cy="3016148"/>
          </a:xfrm>
          <a:prstGeom prst="rect">
            <a:avLst/>
          </a:prstGeom>
        </p:spPr>
      </p:pic>
      <p:sp>
        <p:nvSpPr>
          <p:cNvPr id="5" name="TextBox 4">
            <a:extLst>
              <a:ext uri="{FF2B5EF4-FFF2-40B4-BE49-F238E27FC236}">
                <a16:creationId xmlns:a16="http://schemas.microsoft.com/office/drawing/2014/main" id="{3B639EC6-CFEC-5C52-B9C7-BC997E33CB5C}"/>
              </a:ext>
            </a:extLst>
          </p:cNvPr>
          <p:cNvSpPr txBox="1"/>
          <p:nvPr/>
        </p:nvSpPr>
        <p:spPr>
          <a:xfrm>
            <a:off x="6034643" y="4547971"/>
            <a:ext cx="5371835" cy="338554"/>
          </a:xfrm>
          <a:prstGeom prst="rect">
            <a:avLst/>
          </a:prstGeom>
          <a:noFill/>
        </p:spPr>
        <p:txBody>
          <a:bodyPr wrap="square">
            <a:spAutoFit/>
          </a:bodyPr>
          <a:lstStyle/>
          <a:p>
            <a:r>
              <a:rPr lang="en-US" sz="1600" dirty="0">
                <a:hlinkClick r:id="rId10"/>
              </a:rPr>
              <a:t>https://www.network-analytics.org/yp/how-to-deploy.html</a:t>
            </a:r>
            <a:endParaRPr lang="en-US" sz="1600" dirty="0"/>
          </a:p>
        </p:txBody>
      </p:sp>
      <p:sp>
        <p:nvSpPr>
          <p:cNvPr id="2" name="Rectangle 1">
            <a:extLst>
              <a:ext uri="{FF2B5EF4-FFF2-40B4-BE49-F238E27FC236}">
                <a16:creationId xmlns:a16="http://schemas.microsoft.com/office/drawing/2014/main" id="{2748DDB2-AD4A-DEAE-D5A3-D3BC5389479D}"/>
              </a:ext>
            </a:extLst>
          </p:cNvPr>
          <p:cNvSpPr/>
          <p:nvPr/>
        </p:nvSpPr>
        <p:spPr>
          <a:xfrm>
            <a:off x="11450426" y="0"/>
            <a:ext cx="741575" cy="6858000"/>
          </a:xfrm>
          <a:prstGeom prst="rect">
            <a:avLst/>
          </a:prstGeom>
          <a:solidFill>
            <a:schemeClr val="bg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4" name="TextBox 3">
            <a:extLst>
              <a:ext uri="{FF2B5EF4-FFF2-40B4-BE49-F238E27FC236}">
                <a16:creationId xmlns:a16="http://schemas.microsoft.com/office/drawing/2014/main" id="{E81CC267-4141-8946-2B25-FD5BC687F09A}"/>
              </a:ext>
            </a:extLst>
          </p:cNvPr>
          <p:cNvSpPr txBox="1"/>
          <p:nvPr/>
        </p:nvSpPr>
        <p:spPr>
          <a:xfrm rot="5400000">
            <a:off x="8751239" y="2855495"/>
            <a:ext cx="6096000" cy="666786"/>
          </a:xfrm>
          <a:prstGeom prst="rect">
            <a:avLst/>
          </a:prstGeom>
          <a:noFill/>
        </p:spPr>
        <p:txBody>
          <a:bodyPr wrap="square">
            <a:spAutoFit/>
          </a:bodyPr>
          <a:lstStyle/>
          <a:p>
            <a:r>
              <a:rPr lang="en-US" sz="3733" dirty="0">
                <a:solidFill>
                  <a:schemeClr val="bg1"/>
                </a:solidFill>
                <a:latin typeface="Calibri"/>
                <a:ea typeface="Calibri"/>
                <a:cs typeface="Calibri"/>
                <a:sym typeface="Calibri"/>
              </a:rPr>
              <a:t>NMOP &amp; NETCONF WG</a:t>
            </a:r>
            <a:endParaRPr lang="en-US" sz="3733" dirty="0">
              <a:solidFill>
                <a:schemeClr val="bg1"/>
              </a:solidFill>
            </a:endParaRPr>
          </a:p>
        </p:txBody>
      </p:sp>
      <p:sp>
        <p:nvSpPr>
          <p:cNvPr id="6" name="Google Shape;1523;p45">
            <a:extLst>
              <a:ext uri="{FF2B5EF4-FFF2-40B4-BE49-F238E27FC236}">
                <a16:creationId xmlns:a16="http://schemas.microsoft.com/office/drawing/2014/main" id="{8BF5BFF0-D54E-9B49-7B24-4B838033AC73}"/>
              </a:ext>
            </a:extLst>
          </p:cNvPr>
          <p:cNvSpPr txBox="1">
            <a:spLocks noGrp="1"/>
          </p:cNvSpPr>
          <p:nvPr>
            <p:ph type="sldNum" idx="12"/>
          </p:nvPr>
        </p:nvSpPr>
        <p:spPr>
          <a:xfrm>
            <a:off x="11676531" y="6352981"/>
            <a:ext cx="245415" cy="369277"/>
          </a:xfrm>
          <a:prstGeom prst="rect">
            <a:avLst/>
          </a:prstGeom>
          <a:noFill/>
          <a:ln>
            <a:noFill/>
          </a:ln>
        </p:spPr>
        <p:txBody>
          <a:bodyPr spcFirstLastPara="1" vert="horz" wrap="square" lIns="60933" tIns="60933" rIns="60933" bIns="60933" rtlCol="0" anchor="ctr" anchorCtr="0">
            <a:spAutoFit/>
          </a:bodyPr>
          <a:lstStyle/>
          <a:p>
            <a:fld id="{00000000-1234-1234-1234-123412341234}" type="slidenum">
              <a:rPr lang="en-US" noProof="0" smtClean="0"/>
              <a:pPr/>
              <a:t>7</a:t>
            </a:fld>
            <a:endParaRPr lang="en-US" noProof="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20"/>
        <p:cNvGrpSpPr/>
        <p:nvPr/>
      </p:nvGrpSpPr>
      <p:grpSpPr>
        <a:xfrm>
          <a:off x="0" y="0"/>
          <a:ext cx="0" cy="0"/>
          <a:chOff x="0" y="0"/>
          <a:chExt cx="0" cy="0"/>
        </a:xfrm>
      </p:grpSpPr>
      <p:sp>
        <p:nvSpPr>
          <p:cNvPr id="1521" name="Google Shape;1521;p45"/>
          <p:cNvSpPr txBox="1">
            <a:spLocks noGrp="1"/>
          </p:cNvSpPr>
          <p:nvPr>
            <p:ph type="title"/>
          </p:nvPr>
        </p:nvSpPr>
        <p:spPr>
          <a:xfrm>
            <a:off x="609600" y="274638"/>
            <a:ext cx="10972800" cy="1143001"/>
          </a:xfrm>
          <a:prstGeom prst="rect">
            <a:avLst/>
          </a:prstGeom>
          <a:noFill/>
          <a:ln>
            <a:noFill/>
          </a:ln>
        </p:spPr>
        <p:txBody>
          <a:bodyPr spcFirstLastPara="1" vert="horz" wrap="square" lIns="60933" tIns="60933" rIns="60933" bIns="60933" rtlCol="0" anchor="ctr" anchorCtr="0">
            <a:normAutofit/>
          </a:bodyPr>
          <a:lstStyle/>
          <a:p>
            <a:pPr algn="l">
              <a:buSzPts val="3800"/>
            </a:pPr>
            <a:r>
              <a:rPr lang="en" sz="4533" dirty="0"/>
              <a:t>Hackathon – Repositories</a:t>
            </a:r>
            <a:endParaRPr sz="4533" dirty="0"/>
          </a:p>
        </p:txBody>
      </p:sp>
      <p:sp>
        <p:nvSpPr>
          <p:cNvPr id="1522" name="Google Shape;1522;p45"/>
          <p:cNvSpPr txBox="1">
            <a:spLocks noGrp="1"/>
          </p:cNvSpPr>
          <p:nvPr>
            <p:ph type="body" idx="1"/>
          </p:nvPr>
        </p:nvSpPr>
        <p:spPr>
          <a:xfrm>
            <a:off x="737163" y="1697611"/>
            <a:ext cx="4671964" cy="2189736"/>
          </a:xfrm>
          <a:prstGeom prst="rect">
            <a:avLst/>
          </a:prstGeom>
          <a:noFill/>
          <a:ln>
            <a:noFill/>
          </a:ln>
        </p:spPr>
        <p:txBody>
          <a:bodyPr spcFirstLastPara="1" vert="horz" wrap="square" lIns="60933" tIns="60933" rIns="60933" bIns="60933" rtlCol="0" anchor="t" anchorCtr="0">
            <a:noAutofit/>
          </a:bodyPr>
          <a:lstStyle/>
          <a:p>
            <a:pPr marL="21771" indent="0">
              <a:lnSpc>
                <a:spcPct val="90000"/>
              </a:lnSpc>
              <a:spcBef>
                <a:spcPts val="0"/>
              </a:spcBef>
              <a:buSzPts val="1400"/>
              <a:buNone/>
            </a:pPr>
            <a:r>
              <a:rPr lang="de-CH" sz="1867" b="1" dirty="0">
                <a:latin typeface="Calibri"/>
                <a:ea typeface="Calibri"/>
                <a:cs typeface="Calibri"/>
              </a:rPr>
              <a:t>The </a:t>
            </a:r>
            <a:r>
              <a:rPr lang="de-CH" sz="1867" b="1" dirty="0" err="1">
                <a:latin typeface="Calibri"/>
                <a:ea typeface="Calibri"/>
                <a:cs typeface="Calibri"/>
              </a:rPr>
              <a:t>results</a:t>
            </a:r>
            <a:r>
              <a:rPr lang="de-CH" sz="1867" b="1" dirty="0">
                <a:latin typeface="Calibri"/>
                <a:ea typeface="Calibri"/>
                <a:cs typeface="Calibri"/>
              </a:rPr>
              <a:t> of </a:t>
            </a:r>
            <a:r>
              <a:rPr lang="de-CH" sz="1867" b="1" dirty="0" err="1">
                <a:latin typeface="Calibri"/>
                <a:ea typeface="Calibri"/>
                <a:cs typeface="Calibri"/>
              </a:rPr>
              <a:t>the</a:t>
            </a:r>
            <a:r>
              <a:rPr lang="de-CH" sz="1867" b="1" dirty="0">
                <a:latin typeface="Calibri"/>
                <a:ea typeface="Calibri"/>
                <a:cs typeface="Calibri"/>
              </a:rPr>
              <a:t> end-</a:t>
            </a:r>
            <a:r>
              <a:rPr lang="de-CH" sz="1867" b="1" dirty="0" err="1">
                <a:latin typeface="Calibri"/>
                <a:ea typeface="Calibri"/>
                <a:cs typeface="Calibri"/>
              </a:rPr>
              <a:t>to</a:t>
            </a:r>
            <a:r>
              <a:rPr lang="de-CH" sz="1867" b="1" dirty="0">
                <a:latin typeface="Calibri"/>
                <a:ea typeface="Calibri"/>
                <a:cs typeface="Calibri"/>
              </a:rPr>
              <a:t>-end </a:t>
            </a:r>
            <a:r>
              <a:rPr lang="de-CH" sz="1867" b="1" dirty="0" err="1">
                <a:latin typeface="Calibri"/>
                <a:ea typeface="Calibri"/>
                <a:cs typeface="Calibri"/>
              </a:rPr>
              <a:t>tests</a:t>
            </a:r>
            <a:br>
              <a:rPr lang="de-CH" sz="1867" b="1" dirty="0">
                <a:latin typeface="Calibri"/>
                <a:ea typeface="Calibri"/>
                <a:cs typeface="Calibri"/>
                <a:sym typeface="Calibri"/>
              </a:rPr>
            </a:br>
            <a:endParaRPr lang="de-CH" sz="1600" u="sng" dirty="0">
              <a:solidFill>
                <a:schemeClr val="hlink"/>
              </a:solidFill>
            </a:endParaRPr>
          </a:p>
          <a:p>
            <a:pPr marL="435417" indent="-435417">
              <a:lnSpc>
                <a:spcPct val="90000"/>
              </a:lnSpc>
              <a:spcBef>
                <a:spcPts val="800"/>
              </a:spcBef>
              <a:buClr>
                <a:srgbClr val="FF0000"/>
              </a:buClr>
              <a:buSzPts val="1200"/>
              <a:buFont typeface="Noto Sans Symbols"/>
              <a:buChar char="⮚"/>
            </a:pPr>
            <a:r>
              <a:rPr lang="en" sz="1600" dirty="0">
                <a:latin typeface="Calibri"/>
                <a:ea typeface="Calibri"/>
                <a:cs typeface="Calibri"/>
                <a:sym typeface="Calibri"/>
              </a:rPr>
              <a:t>Netconf RPCs and YANG-Push JSON and CBOR encoded notifications with wire captures from receiver</a:t>
            </a:r>
          </a:p>
          <a:p>
            <a:pPr marL="435417" indent="-435417">
              <a:lnSpc>
                <a:spcPct val="90000"/>
              </a:lnSpc>
              <a:spcBef>
                <a:spcPts val="800"/>
              </a:spcBef>
              <a:buClr>
                <a:srgbClr val="FF0000"/>
              </a:buClr>
              <a:buSzPts val="1200"/>
              <a:buFont typeface="Noto Sans Symbols"/>
              <a:buChar char="⮚"/>
            </a:pPr>
            <a:r>
              <a:rPr lang="en" sz="1600" dirty="0">
                <a:latin typeface="Calibri"/>
                <a:ea typeface="Calibri"/>
                <a:cs typeface="Calibri"/>
                <a:sym typeface="Calibri"/>
              </a:rPr>
              <a:t>YANG-Push Receiver cache content generation with YANG library context, YANG modules, metadata and notification schema validation logs</a:t>
            </a:r>
          </a:p>
          <a:p>
            <a:pPr marL="435417" indent="-435417">
              <a:lnSpc>
                <a:spcPct val="90000"/>
              </a:lnSpc>
              <a:spcBef>
                <a:spcPts val="800"/>
              </a:spcBef>
              <a:buClr>
                <a:srgbClr val="FF0000"/>
              </a:buClr>
              <a:buSzPts val="1200"/>
              <a:buFont typeface="Noto Sans Symbols"/>
              <a:buChar char="⮚"/>
            </a:pPr>
            <a:r>
              <a:rPr lang="en" sz="1600" dirty="0"/>
              <a:t>YANG Message Broker Producer serialization logs</a:t>
            </a:r>
          </a:p>
          <a:p>
            <a:pPr marL="435417" indent="-435417">
              <a:lnSpc>
                <a:spcPct val="90000"/>
              </a:lnSpc>
              <a:spcBef>
                <a:spcPts val="800"/>
              </a:spcBef>
              <a:buClr>
                <a:srgbClr val="FF0000"/>
              </a:buClr>
              <a:buSzPts val="1200"/>
              <a:buFont typeface="Noto Sans Symbols"/>
              <a:buChar char="⮚"/>
            </a:pPr>
            <a:r>
              <a:rPr lang="en" sz="1600" dirty="0"/>
              <a:t>YANG Schema Registry schema examples</a:t>
            </a:r>
          </a:p>
          <a:p>
            <a:pPr marL="435417" indent="-435417">
              <a:lnSpc>
                <a:spcPct val="90000"/>
              </a:lnSpc>
              <a:spcBef>
                <a:spcPts val="800"/>
              </a:spcBef>
              <a:buClr>
                <a:srgbClr val="FF0000"/>
              </a:buClr>
              <a:buSzPts val="1200"/>
              <a:buFont typeface="Noto Sans Symbols"/>
              <a:buChar char="⮚"/>
            </a:pPr>
            <a:r>
              <a:rPr lang="en" sz="1600" dirty="0">
                <a:latin typeface="Calibri"/>
                <a:ea typeface="Calibri"/>
                <a:cs typeface="Calibri"/>
                <a:sym typeface="Calibri"/>
              </a:rPr>
              <a:t>YANG Message Broker Consumer, serialization logs, </a:t>
            </a:r>
            <a:r>
              <a:rPr lang="en" sz="1600" dirty="0"/>
              <a:t>YANG library context, YANG modules and message </a:t>
            </a:r>
            <a:r>
              <a:rPr lang="en" sz="1600" dirty="0">
                <a:latin typeface="Calibri"/>
                <a:ea typeface="Calibri"/>
                <a:cs typeface="Calibri"/>
                <a:sym typeface="Calibri"/>
              </a:rPr>
              <a:t>schema validation</a:t>
            </a:r>
          </a:p>
        </p:txBody>
      </p:sp>
      <p:sp>
        <p:nvSpPr>
          <p:cNvPr id="2" name="Rectangle 1">
            <a:extLst>
              <a:ext uri="{FF2B5EF4-FFF2-40B4-BE49-F238E27FC236}">
                <a16:creationId xmlns:a16="http://schemas.microsoft.com/office/drawing/2014/main" id="{952B6FE5-731F-89A4-5001-7B70CD7E5E73}"/>
              </a:ext>
            </a:extLst>
          </p:cNvPr>
          <p:cNvSpPr/>
          <p:nvPr/>
        </p:nvSpPr>
        <p:spPr>
          <a:xfrm>
            <a:off x="11450426" y="0"/>
            <a:ext cx="741575" cy="6858000"/>
          </a:xfrm>
          <a:prstGeom prst="rect">
            <a:avLst/>
          </a:prstGeom>
          <a:solidFill>
            <a:schemeClr val="bg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CH" sz="2400"/>
          </a:p>
        </p:txBody>
      </p:sp>
      <p:sp>
        <p:nvSpPr>
          <p:cNvPr id="4" name="TextBox 3">
            <a:extLst>
              <a:ext uri="{FF2B5EF4-FFF2-40B4-BE49-F238E27FC236}">
                <a16:creationId xmlns:a16="http://schemas.microsoft.com/office/drawing/2014/main" id="{7E46720E-AF9B-BE1A-05C7-8B9B190C01D7}"/>
              </a:ext>
            </a:extLst>
          </p:cNvPr>
          <p:cNvSpPr txBox="1"/>
          <p:nvPr/>
        </p:nvSpPr>
        <p:spPr>
          <a:xfrm rot="5400000">
            <a:off x="8751239" y="2855495"/>
            <a:ext cx="6096000" cy="666786"/>
          </a:xfrm>
          <a:prstGeom prst="rect">
            <a:avLst/>
          </a:prstGeom>
          <a:noFill/>
        </p:spPr>
        <p:txBody>
          <a:bodyPr wrap="square">
            <a:spAutoFit/>
          </a:bodyPr>
          <a:lstStyle/>
          <a:p>
            <a:r>
              <a:rPr lang="en" sz="3733" dirty="0">
                <a:solidFill>
                  <a:schemeClr val="bg1"/>
                </a:solidFill>
                <a:latin typeface="Calibri"/>
                <a:ea typeface="Calibri"/>
                <a:cs typeface="Calibri"/>
                <a:sym typeface="Calibri"/>
              </a:rPr>
              <a:t>NMOP &amp; NETCONF WG</a:t>
            </a:r>
            <a:endParaRPr lang="de-CH" sz="3733" dirty="0">
              <a:solidFill>
                <a:schemeClr val="bg1"/>
              </a:solidFill>
            </a:endParaRPr>
          </a:p>
        </p:txBody>
      </p:sp>
      <p:sp>
        <p:nvSpPr>
          <p:cNvPr id="8" name="Google Shape;1523;p45">
            <a:extLst>
              <a:ext uri="{FF2B5EF4-FFF2-40B4-BE49-F238E27FC236}">
                <a16:creationId xmlns:a16="http://schemas.microsoft.com/office/drawing/2014/main" id="{2D983028-030F-7FAC-361F-2F3CEBD4DFE3}"/>
              </a:ext>
            </a:extLst>
          </p:cNvPr>
          <p:cNvSpPr txBox="1">
            <a:spLocks noGrp="1"/>
          </p:cNvSpPr>
          <p:nvPr>
            <p:ph type="sldNum" idx="12"/>
          </p:nvPr>
        </p:nvSpPr>
        <p:spPr>
          <a:xfrm>
            <a:off x="11676531" y="6352981"/>
            <a:ext cx="245415" cy="369277"/>
          </a:xfrm>
          <a:prstGeom prst="rect">
            <a:avLst/>
          </a:prstGeom>
          <a:noFill/>
          <a:ln>
            <a:noFill/>
          </a:ln>
        </p:spPr>
        <p:txBody>
          <a:bodyPr spcFirstLastPara="1" vert="horz" wrap="square" lIns="60933" tIns="60933" rIns="60933" bIns="60933" rtlCol="0" anchor="ctr" anchorCtr="0">
            <a:spAutoFit/>
          </a:bodyPr>
          <a:lstStyle/>
          <a:p>
            <a:fld id="{00000000-1234-1234-1234-123412341234}" type="slidenum">
              <a:rPr lang="en"/>
              <a:pPr/>
              <a:t>8</a:t>
            </a:fld>
            <a:endParaRPr dirty="0"/>
          </a:p>
        </p:txBody>
      </p:sp>
      <p:sp>
        <p:nvSpPr>
          <p:cNvPr id="10" name="TextBox 9">
            <a:extLst>
              <a:ext uri="{FF2B5EF4-FFF2-40B4-BE49-F238E27FC236}">
                <a16:creationId xmlns:a16="http://schemas.microsoft.com/office/drawing/2014/main" id="{ECFDEF4D-758D-BDC4-17FB-86FA77F8BD87}"/>
              </a:ext>
            </a:extLst>
          </p:cNvPr>
          <p:cNvSpPr txBox="1"/>
          <p:nvPr/>
        </p:nvSpPr>
        <p:spPr>
          <a:xfrm>
            <a:off x="737164" y="6160374"/>
            <a:ext cx="10379785" cy="338554"/>
          </a:xfrm>
          <a:prstGeom prst="rect">
            <a:avLst/>
          </a:prstGeom>
          <a:noFill/>
        </p:spPr>
        <p:txBody>
          <a:bodyPr wrap="square">
            <a:spAutoFit/>
          </a:bodyPr>
          <a:lstStyle/>
          <a:p>
            <a:pPr algn="r"/>
            <a:r>
              <a:rPr lang="de-CH" sz="1600" dirty="0">
                <a:solidFill>
                  <a:srgbClr val="00B0F0"/>
                </a:solidFill>
                <a:hlinkClick r:id="rId3"/>
              </a:rPr>
              <a:t>https://github.com/network-analytics/ietf-network-analytics-document-status/tree/main/126/Hackathon/</a:t>
            </a:r>
            <a:endParaRPr lang="de-CH" sz="1600" dirty="0">
              <a:solidFill>
                <a:srgbClr val="00B0F0"/>
              </a:solidFill>
            </a:endParaRPr>
          </a:p>
        </p:txBody>
      </p:sp>
      <p:pic>
        <p:nvPicPr>
          <p:cNvPr id="5" name="Picture 4">
            <a:extLst>
              <a:ext uri="{FF2B5EF4-FFF2-40B4-BE49-F238E27FC236}">
                <a16:creationId xmlns:a16="http://schemas.microsoft.com/office/drawing/2014/main" id="{7A097AD8-22B5-E27A-E2F6-9342B03BB2D2}"/>
              </a:ext>
            </a:extLst>
          </p:cNvPr>
          <p:cNvPicPr>
            <a:picLocks noChangeAspect="1"/>
          </p:cNvPicPr>
          <p:nvPr/>
        </p:nvPicPr>
        <p:blipFill>
          <a:blip r:embed="rId4"/>
          <a:stretch>
            <a:fillRect/>
          </a:stretch>
        </p:blipFill>
        <p:spPr>
          <a:xfrm>
            <a:off x="5424547" y="1891145"/>
            <a:ext cx="5793421" cy="276718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20"/>
        <p:cNvGrpSpPr/>
        <p:nvPr/>
      </p:nvGrpSpPr>
      <p:grpSpPr>
        <a:xfrm>
          <a:off x="0" y="0"/>
          <a:ext cx="0" cy="0"/>
          <a:chOff x="0" y="0"/>
          <a:chExt cx="0" cy="0"/>
        </a:xfrm>
      </p:grpSpPr>
      <p:sp>
        <p:nvSpPr>
          <p:cNvPr id="2" name="Rectangle 1">
            <a:extLst>
              <a:ext uri="{FF2B5EF4-FFF2-40B4-BE49-F238E27FC236}">
                <a16:creationId xmlns:a16="http://schemas.microsoft.com/office/drawing/2014/main" id="{952B6FE5-731F-89A4-5001-7B70CD7E5E73}"/>
              </a:ext>
            </a:extLst>
          </p:cNvPr>
          <p:cNvSpPr/>
          <p:nvPr/>
        </p:nvSpPr>
        <p:spPr>
          <a:xfrm>
            <a:off x="11450426" y="0"/>
            <a:ext cx="741575" cy="6858000"/>
          </a:xfrm>
          <a:prstGeom prst="rect">
            <a:avLst/>
          </a:prstGeom>
          <a:solidFill>
            <a:schemeClr val="bg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CH" sz="2400"/>
          </a:p>
        </p:txBody>
      </p:sp>
      <p:sp>
        <p:nvSpPr>
          <p:cNvPr id="4" name="TextBox 3">
            <a:extLst>
              <a:ext uri="{FF2B5EF4-FFF2-40B4-BE49-F238E27FC236}">
                <a16:creationId xmlns:a16="http://schemas.microsoft.com/office/drawing/2014/main" id="{7E46720E-AF9B-BE1A-05C7-8B9B190C01D7}"/>
              </a:ext>
            </a:extLst>
          </p:cNvPr>
          <p:cNvSpPr txBox="1"/>
          <p:nvPr/>
        </p:nvSpPr>
        <p:spPr>
          <a:xfrm rot="5400000">
            <a:off x="8751239" y="2855495"/>
            <a:ext cx="6096000" cy="666786"/>
          </a:xfrm>
          <a:prstGeom prst="rect">
            <a:avLst/>
          </a:prstGeom>
          <a:noFill/>
        </p:spPr>
        <p:txBody>
          <a:bodyPr wrap="square">
            <a:spAutoFit/>
          </a:bodyPr>
          <a:lstStyle/>
          <a:p>
            <a:r>
              <a:rPr lang="en" sz="3733" dirty="0">
                <a:solidFill>
                  <a:schemeClr val="bg1"/>
                </a:solidFill>
                <a:latin typeface="Calibri"/>
                <a:ea typeface="Calibri"/>
                <a:cs typeface="Calibri"/>
                <a:sym typeface="Calibri"/>
              </a:rPr>
              <a:t>NMOP &amp; NETCONF WG</a:t>
            </a:r>
            <a:endParaRPr lang="de-CH" sz="3733" dirty="0">
              <a:solidFill>
                <a:schemeClr val="bg1"/>
              </a:solidFill>
            </a:endParaRPr>
          </a:p>
        </p:txBody>
      </p:sp>
      <p:sp>
        <p:nvSpPr>
          <p:cNvPr id="9" name="Google Shape;1529;p46">
            <a:extLst>
              <a:ext uri="{FF2B5EF4-FFF2-40B4-BE49-F238E27FC236}">
                <a16:creationId xmlns:a16="http://schemas.microsoft.com/office/drawing/2014/main" id="{A24BD4EE-319E-99D8-8524-268A6B1E7127}"/>
              </a:ext>
            </a:extLst>
          </p:cNvPr>
          <p:cNvSpPr txBox="1">
            <a:spLocks noGrp="1"/>
          </p:cNvSpPr>
          <p:nvPr>
            <p:ph type="body" idx="1"/>
          </p:nvPr>
        </p:nvSpPr>
        <p:spPr>
          <a:xfrm>
            <a:off x="838201" y="1868583"/>
            <a:ext cx="5257800" cy="3956535"/>
          </a:xfrm>
          <a:prstGeom prst="rect">
            <a:avLst/>
          </a:prstGeom>
          <a:noFill/>
          <a:ln>
            <a:noFill/>
          </a:ln>
        </p:spPr>
        <p:txBody>
          <a:bodyPr spcFirstLastPara="1" vert="horz" wrap="square" lIns="121900" tIns="60933" rIns="121900" bIns="60933" rtlCol="0" anchor="t" anchorCtr="0">
            <a:noAutofit/>
          </a:bodyPr>
          <a:lstStyle/>
          <a:p>
            <a:pPr marL="228594" indent="-228594">
              <a:lnSpc>
                <a:spcPct val="90000"/>
              </a:lnSpc>
              <a:spcBef>
                <a:spcPts val="0"/>
              </a:spcBef>
              <a:buClr>
                <a:schemeClr val="dk1"/>
              </a:buClr>
              <a:buSzPts val="1200"/>
            </a:pPr>
            <a:r>
              <a:rPr lang="en" sz="1333" dirty="0"/>
              <a:t>Subscription to YANG Notifications</a:t>
            </a:r>
            <a:br>
              <a:rPr lang="en" sz="1333" dirty="0"/>
            </a:br>
            <a:r>
              <a:rPr lang="en" sz="1333" u="sng" dirty="0">
                <a:solidFill>
                  <a:schemeClr val="hlink"/>
                </a:solidFill>
                <a:hlinkClick r:id="rId3"/>
              </a:rPr>
              <a:t>RFC 8639</a:t>
            </a:r>
            <a:endParaRPr sz="1333" dirty="0"/>
          </a:p>
          <a:p>
            <a:pPr marL="228594" indent="-228594">
              <a:lnSpc>
                <a:spcPct val="90000"/>
              </a:lnSpc>
              <a:spcBef>
                <a:spcPts val="0"/>
              </a:spcBef>
              <a:buClr>
                <a:schemeClr val="dk1"/>
              </a:buClr>
              <a:buSzPts val="1200"/>
            </a:pPr>
            <a:r>
              <a:rPr lang="en" sz="1333" dirty="0"/>
              <a:t>Subscription to YANG Notifications for Datastore Updates</a:t>
            </a:r>
            <a:br>
              <a:rPr lang="en" sz="1333" dirty="0"/>
            </a:br>
            <a:r>
              <a:rPr lang="en" sz="1333" u="sng" dirty="0">
                <a:solidFill>
                  <a:schemeClr val="hlink"/>
                </a:solidFill>
                <a:hlinkClick r:id="rId4"/>
              </a:rPr>
              <a:t>RFC 8641</a:t>
            </a:r>
            <a:endParaRPr sz="1333" dirty="0"/>
          </a:p>
          <a:p>
            <a:pPr marL="228594" indent="-228594">
              <a:lnSpc>
                <a:spcPct val="90000"/>
              </a:lnSpc>
              <a:spcBef>
                <a:spcPts val="0"/>
              </a:spcBef>
              <a:buClr>
                <a:schemeClr val="dk1"/>
              </a:buClr>
              <a:buSzPts val="1200"/>
            </a:pPr>
            <a:r>
              <a:rPr lang="en" sz="1333" dirty="0"/>
              <a:t>UDP-based Transport for Configured Subscriptions</a:t>
            </a:r>
            <a:br>
              <a:rPr lang="en" sz="1333" dirty="0"/>
            </a:br>
            <a:r>
              <a:rPr lang="en" sz="1333" u="sng" dirty="0">
                <a:solidFill>
                  <a:schemeClr val="hlink"/>
                </a:solidFill>
                <a:hlinkClick r:id="rId5"/>
              </a:rPr>
              <a:t>draft-ietf-netconf-udp-notif</a:t>
            </a:r>
            <a:endParaRPr sz="1333" dirty="0"/>
          </a:p>
          <a:p>
            <a:pPr marL="228594" indent="-228594">
              <a:lnSpc>
                <a:spcPct val="90000"/>
              </a:lnSpc>
              <a:spcBef>
                <a:spcPts val="0"/>
              </a:spcBef>
              <a:buClr>
                <a:schemeClr val="dk1"/>
              </a:buClr>
              <a:buSzPts val="1200"/>
            </a:pPr>
            <a:r>
              <a:rPr lang="en" sz="1333" dirty="0"/>
              <a:t>Subscription to Distributed Notifications</a:t>
            </a:r>
            <a:br>
              <a:rPr lang="en" sz="1333" dirty="0"/>
            </a:br>
            <a:r>
              <a:rPr lang="en" sz="1333" u="sng" dirty="0">
                <a:solidFill>
                  <a:schemeClr val="hlink"/>
                </a:solidFill>
                <a:hlinkClick r:id="rId6"/>
              </a:rPr>
              <a:t>draft-ietf-netconf-distributed-notif</a:t>
            </a:r>
            <a:endParaRPr sz="1333" dirty="0"/>
          </a:p>
          <a:p>
            <a:pPr marL="228594" indent="-228594">
              <a:lnSpc>
                <a:spcPct val="90000"/>
              </a:lnSpc>
              <a:spcBef>
                <a:spcPts val="0"/>
              </a:spcBef>
              <a:buClr>
                <a:schemeClr val="dk1"/>
              </a:buClr>
              <a:buSzPts val="1200"/>
            </a:pPr>
            <a:r>
              <a:rPr lang="en-US" sz="1333" dirty="0"/>
              <a:t>Extensible YANG Model for YANG-Push Notifications</a:t>
            </a:r>
            <a:br>
              <a:rPr lang="en" sz="1333" dirty="0"/>
            </a:br>
            <a:r>
              <a:rPr lang="de-CH" sz="1333" u="sng" dirty="0">
                <a:solidFill>
                  <a:schemeClr val="hlink"/>
                </a:solidFill>
                <a:hlinkClick r:id="rId7"/>
              </a:rPr>
              <a:t>draft-</a:t>
            </a:r>
            <a:r>
              <a:rPr lang="de-CH" sz="1333" u="sng" dirty="0" err="1">
                <a:solidFill>
                  <a:schemeClr val="hlink"/>
                </a:solidFill>
                <a:hlinkClick r:id="rId7"/>
              </a:rPr>
              <a:t>ietf</a:t>
            </a:r>
            <a:r>
              <a:rPr lang="de-CH" sz="1333" u="sng" dirty="0">
                <a:solidFill>
                  <a:schemeClr val="hlink"/>
                </a:solidFill>
                <a:hlinkClick r:id="rId7"/>
              </a:rPr>
              <a:t>-netconf-</a:t>
            </a:r>
            <a:r>
              <a:rPr lang="de-CH" sz="1333" u="sng" dirty="0" err="1">
                <a:solidFill>
                  <a:schemeClr val="hlink"/>
                </a:solidFill>
                <a:hlinkClick r:id="rId7"/>
              </a:rPr>
              <a:t>notif</a:t>
            </a:r>
            <a:r>
              <a:rPr lang="de-CH" sz="1333" u="sng" dirty="0">
                <a:solidFill>
                  <a:schemeClr val="hlink"/>
                </a:solidFill>
                <a:hlinkClick r:id="rId7"/>
              </a:rPr>
              <a:t>-</a:t>
            </a:r>
            <a:r>
              <a:rPr lang="de-CH" sz="1333" u="sng" dirty="0" err="1">
                <a:solidFill>
                  <a:schemeClr val="hlink"/>
                </a:solidFill>
                <a:hlinkClick r:id="rId7"/>
              </a:rPr>
              <a:t>envelope</a:t>
            </a:r>
            <a:endParaRPr lang="de-CH" sz="1333" u="sng" dirty="0">
              <a:solidFill>
                <a:schemeClr val="hlink"/>
              </a:solidFill>
            </a:endParaRPr>
          </a:p>
          <a:p>
            <a:pPr marL="228594" indent="-228594">
              <a:lnSpc>
                <a:spcPct val="90000"/>
              </a:lnSpc>
              <a:spcBef>
                <a:spcPts val="0"/>
              </a:spcBef>
              <a:buClr>
                <a:schemeClr val="dk1"/>
              </a:buClr>
              <a:buSzPts val="1200"/>
            </a:pPr>
            <a:r>
              <a:rPr lang="en" sz="1333" dirty="0"/>
              <a:t>Support of Versioning in YANG Notifications Subscription</a:t>
            </a:r>
            <a:br>
              <a:rPr lang="en" sz="1333" dirty="0"/>
            </a:br>
            <a:r>
              <a:rPr lang="en" sz="1333" u="sng" dirty="0">
                <a:solidFill>
                  <a:schemeClr val="hlink"/>
                </a:solidFill>
                <a:hlinkClick r:id="rId8"/>
              </a:rPr>
              <a:t>draft-ietf-netconf-yang-notifications-versioning</a:t>
            </a:r>
            <a:endParaRPr lang="de-CH" sz="1333" dirty="0"/>
          </a:p>
          <a:p>
            <a:pPr marL="228594" indent="-228594">
              <a:lnSpc>
                <a:spcPct val="90000"/>
              </a:lnSpc>
              <a:spcBef>
                <a:spcPts val="0"/>
              </a:spcBef>
              <a:buClr>
                <a:schemeClr val="dk1"/>
              </a:buClr>
              <a:buSzPts val="1200"/>
            </a:pPr>
            <a:r>
              <a:rPr lang="en-US" sz="1333" dirty="0"/>
              <a:t>YANG Modules Describing Capabilities for Systems and </a:t>
            </a:r>
            <a:br>
              <a:rPr lang="en-US" sz="1333" dirty="0"/>
            </a:br>
            <a:r>
              <a:rPr lang="en-US" sz="1333" dirty="0"/>
              <a:t>Datastore Update Notifications</a:t>
            </a:r>
            <a:br>
              <a:rPr lang="en-US" sz="1333" dirty="0"/>
            </a:br>
            <a:r>
              <a:rPr lang="en-US" sz="1333" dirty="0">
                <a:hlinkClick r:id="rId9"/>
              </a:rPr>
              <a:t>RFC 9196</a:t>
            </a:r>
            <a:endParaRPr lang="en-US" sz="1333" dirty="0"/>
          </a:p>
          <a:p>
            <a:pPr marL="228594" indent="-228594">
              <a:lnSpc>
                <a:spcPct val="90000"/>
              </a:lnSpc>
              <a:spcBef>
                <a:spcPts val="0"/>
              </a:spcBef>
              <a:buClr>
                <a:schemeClr val="dk1"/>
              </a:buClr>
              <a:buSzPts val="1200"/>
            </a:pPr>
            <a:r>
              <a:rPr lang="en-US" sz="1333" dirty="0"/>
              <a:t>YANG Notification Transport Capabilities</a:t>
            </a:r>
            <a:br>
              <a:rPr lang="en-US" sz="1333" dirty="0"/>
            </a:br>
            <a:r>
              <a:rPr lang="en-US" sz="1333" dirty="0">
                <a:hlinkClick r:id="rId10"/>
              </a:rPr>
              <a:t>draft-</a:t>
            </a:r>
            <a:r>
              <a:rPr lang="en-US" sz="1333" dirty="0" err="1">
                <a:hlinkClick r:id="rId10"/>
              </a:rPr>
              <a:t>ietf</a:t>
            </a:r>
            <a:r>
              <a:rPr lang="en-US" sz="1333" dirty="0">
                <a:hlinkClick r:id="rId10"/>
              </a:rPr>
              <a:t>-netconf-</a:t>
            </a:r>
            <a:r>
              <a:rPr lang="en-US" sz="1333" dirty="0" err="1">
                <a:hlinkClick r:id="rId10"/>
              </a:rPr>
              <a:t>yp</a:t>
            </a:r>
            <a:r>
              <a:rPr lang="en-US" sz="1333" dirty="0">
                <a:hlinkClick r:id="rId10"/>
              </a:rPr>
              <a:t>-transport-capabilities</a:t>
            </a:r>
            <a:endParaRPr lang="en-US" sz="1333" dirty="0"/>
          </a:p>
          <a:p>
            <a:pPr marL="228594" indent="-228594">
              <a:lnSpc>
                <a:spcPct val="90000"/>
              </a:lnSpc>
              <a:spcBef>
                <a:spcPts val="0"/>
              </a:spcBef>
              <a:buClr>
                <a:schemeClr val="dk1"/>
              </a:buClr>
              <a:buSzPts val="1200"/>
            </a:pPr>
            <a:r>
              <a:rPr lang="en" sz="1333" dirty="0"/>
              <a:t>YANG Library</a:t>
            </a:r>
            <a:br>
              <a:rPr lang="en" sz="1333" dirty="0"/>
            </a:br>
            <a:r>
              <a:rPr lang="en" sz="1333" u="sng" dirty="0">
                <a:solidFill>
                  <a:schemeClr val="hlink"/>
                </a:solidFill>
                <a:hlinkClick r:id="rId11"/>
              </a:rPr>
              <a:t>RFC 8525</a:t>
            </a:r>
            <a:endParaRPr sz="1333" dirty="0"/>
          </a:p>
          <a:p>
            <a:pPr marL="228594" indent="-228594">
              <a:lnSpc>
                <a:spcPct val="90000"/>
              </a:lnSpc>
              <a:spcBef>
                <a:spcPts val="0"/>
              </a:spcBef>
              <a:buClr>
                <a:schemeClr val="dk1"/>
              </a:buClr>
              <a:buSzPts val="1200"/>
            </a:pPr>
            <a:r>
              <a:rPr lang="en" sz="1333" dirty="0"/>
              <a:t>Augmented-by Addition into the IETF-YANG-Library</a:t>
            </a:r>
            <a:br>
              <a:rPr lang="en" sz="1333" dirty="0"/>
            </a:br>
            <a:r>
              <a:rPr lang="en" sz="1333" u="sng" dirty="0">
                <a:solidFill>
                  <a:schemeClr val="hlink"/>
                </a:solidFill>
                <a:hlinkClick r:id="rId12"/>
              </a:rPr>
              <a:t>draft-ietf-netconf-yang-library-augmentation</a:t>
            </a:r>
            <a:endParaRPr lang="en" sz="1333" u="sng" dirty="0">
              <a:solidFill>
                <a:schemeClr val="hlink"/>
              </a:solidFill>
            </a:endParaRPr>
          </a:p>
          <a:p>
            <a:pPr marL="228594" indent="-228594">
              <a:spcBef>
                <a:spcPts val="0"/>
              </a:spcBef>
              <a:buSzPts val="1200"/>
            </a:pPr>
            <a:r>
              <a:rPr lang="en-US" sz="1333" dirty="0"/>
              <a:t>Validating </a:t>
            </a:r>
            <a:r>
              <a:rPr lang="en-US" sz="1333" dirty="0" err="1"/>
              <a:t>anydata</a:t>
            </a:r>
            <a:r>
              <a:rPr lang="en-US" sz="1333" dirty="0"/>
              <a:t> in YANG Library context</a:t>
            </a:r>
            <a:br>
              <a:rPr lang="en-US" sz="1333" dirty="0"/>
            </a:br>
            <a:r>
              <a:rPr lang="en-US" sz="1333" dirty="0">
                <a:hlinkClick r:id="rId13"/>
              </a:rPr>
              <a:t>draft-</a:t>
            </a:r>
            <a:r>
              <a:rPr lang="en-US" sz="1333" dirty="0" err="1">
                <a:hlinkClick r:id="rId13"/>
              </a:rPr>
              <a:t>netana</a:t>
            </a:r>
            <a:r>
              <a:rPr lang="en-US" sz="1333" dirty="0">
                <a:hlinkClick r:id="rId13"/>
              </a:rPr>
              <a:t>-</a:t>
            </a:r>
            <a:r>
              <a:rPr lang="en-US" sz="1333" dirty="0" err="1">
                <a:hlinkClick r:id="rId13"/>
              </a:rPr>
              <a:t>nmop</a:t>
            </a:r>
            <a:r>
              <a:rPr lang="en-US" sz="1333" dirty="0">
                <a:hlinkClick r:id="rId13"/>
              </a:rPr>
              <a:t>-yang-</a:t>
            </a:r>
            <a:r>
              <a:rPr lang="en-US" sz="1333" dirty="0" err="1">
                <a:hlinkClick r:id="rId13"/>
              </a:rPr>
              <a:t>anydata</a:t>
            </a:r>
            <a:r>
              <a:rPr lang="en-US" sz="1333" dirty="0">
                <a:hlinkClick r:id="rId13"/>
              </a:rPr>
              <a:t>-validation</a:t>
            </a:r>
            <a:endParaRPr lang="en-US" sz="1333" dirty="0"/>
          </a:p>
          <a:p>
            <a:pPr marL="228594" indent="-228594">
              <a:spcBef>
                <a:spcPts val="0"/>
              </a:spcBef>
              <a:buSzPts val="1200"/>
            </a:pPr>
            <a:r>
              <a:rPr lang="en-US" sz="1333" dirty="0"/>
              <a:t>Encoding of Data Modeled with YANG in the CBOR</a:t>
            </a:r>
            <a:br>
              <a:rPr lang="en" sz="1333" dirty="0"/>
            </a:br>
            <a:r>
              <a:rPr lang="en" sz="1333" u="sng" dirty="0">
                <a:solidFill>
                  <a:schemeClr val="hlink"/>
                </a:solidFill>
              </a:rPr>
              <a:t>RFC </a:t>
            </a:r>
            <a:r>
              <a:rPr lang="en" sz="1333" u="sng" dirty="0">
                <a:solidFill>
                  <a:schemeClr val="hlink"/>
                </a:solidFill>
                <a:hlinkClick r:id="rId14"/>
              </a:rPr>
              <a:t>9254</a:t>
            </a:r>
            <a:endParaRPr lang="en" sz="1333" u="sng" dirty="0">
              <a:solidFill>
                <a:schemeClr val="hlink"/>
              </a:solidFill>
            </a:endParaRPr>
          </a:p>
        </p:txBody>
      </p:sp>
      <p:sp>
        <p:nvSpPr>
          <p:cNvPr id="10" name="Google Shape;1531;p46">
            <a:extLst>
              <a:ext uri="{FF2B5EF4-FFF2-40B4-BE49-F238E27FC236}">
                <a16:creationId xmlns:a16="http://schemas.microsoft.com/office/drawing/2014/main" id="{64A11574-7DDA-89DF-5BD5-1D5AFE7CCC3B}"/>
              </a:ext>
            </a:extLst>
          </p:cNvPr>
          <p:cNvSpPr txBox="1">
            <a:spLocks noGrp="1"/>
          </p:cNvSpPr>
          <p:nvPr>
            <p:ph type="title"/>
          </p:nvPr>
        </p:nvSpPr>
        <p:spPr>
          <a:xfrm>
            <a:off x="838201" y="365125"/>
            <a:ext cx="6124977" cy="1503457"/>
          </a:xfrm>
          <a:prstGeom prst="rect">
            <a:avLst/>
          </a:prstGeom>
          <a:noFill/>
          <a:ln>
            <a:noFill/>
          </a:ln>
        </p:spPr>
        <p:txBody>
          <a:bodyPr spcFirstLastPara="1" vert="horz" wrap="square" lIns="121900" tIns="60933" rIns="121900" bIns="60933" rtlCol="0" anchor="ctr" anchorCtr="0">
            <a:normAutofit fontScale="90000"/>
          </a:bodyPr>
          <a:lstStyle/>
          <a:p>
            <a:pPr lvl="0" algn="l">
              <a:lnSpc>
                <a:spcPct val="90000"/>
              </a:lnSpc>
              <a:buClr>
                <a:schemeClr val="dk1"/>
              </a:buClr>
              <a:buSzPts val="2100"/>
            </a:pPr>
            <a:r>
              <a:rPr lang="en" sz="2933" b="1" dirty="0"/>
              <a:t>An Architecture for YANG-Push </a:t>
            </a:r>
            <a:br>
              <a:rPr lang="en" sz="2933" b="1" dirty="0"/>
            </a:br>
            <a:r>
              <a:rPr lang="en" sz="2933" b="1" dirty="0"/>
              <a:t>to Message Broker Integration </a:t>
            </a:r>
            <a:br>
              <a:rPr lang="en" sz="3600" dirty="0"/>
            </a:br>
            <a:r>
              <a:rPr lang="de-CH" sz="1733" dirty="0">
                <a:solidFill>
                  <a:srgbClr val="AEABAB"/>
                </a:solidFill>
              </a:rPr>
              <a:t>draft-</a:t>
            </a:r>
            <a:r>
              <a:rPr lang="de-CH" sz="1733" dirty="0" err="1">
                <a:solidFill>
                  <a:srgbClr val="AEABAB"/>
                </a:solidFill>
              </a:rPr>
              <a:t>ietf</a:t>
            </a:r>
            <a:r>
              <a:rPr lang="de-CH" sz="1733" dirty="0">
                <a:solidFill>
                  <a:srgbClr val="AEABAB"/>
                </a:solidFill>
              </a:rPr>
              <a:t>-</a:t>
            </a:r>
            <a:r>
              <a:rPr lang="de-CH" sz="1733" dirty="0" err="1">
                <a:solidFill>
                  <a:srgbClr val="AEABAB"/>
                </a:solidFill>
              </a:rPr>
              <a:t>nmop</a:t>
            </a:r>
            <a:r>
              <a:rPr lang="de-CH" sz="1733" dirty="0">
                <a:solidFill>
                  <a:srgbClr val="AEABAB"/>
                </a:solidFill>
              </a:rPr>
              <a:t>-</a:t>
            </a:r>
            <a:r>
              <a:rPr lang="de-CH" sz="1733" dirty="0" err="1">
                <a:solidFill>
                  <a:srgbClr val="AEABAB"/>
                </a:solidFill>
              </a:rPr>
              <a:t>yang</a:t>
            </a:r>
            <a:r>
              <a:rPr lang="de-CH" sz="1733" dirty="0">
                <a:solidFill>
                  <a:srgbClr val="AEABAB"/>
                </a:solidFill>
              </a:rPr>
              <a:t>-message-broker-integration</a:t>
            </a:r>
            <a:br>
              <a:rPr lang="de-CH" sz="1733" dirty="0">
                <a:solidFill>
                  <a:srgbClr val="AEABAB"/>
                </a:solidFill>
              </a:rPr>
            </a:br>
            <a:r>
              <a:rPr lang="de-CH" sz="1733" dirty="0">
                <a:solidFill>
                  <a:srgbClr val="AEABAB"/>
                </a:solidFill>
              </a:rPr>
              <a:t>draft-</a:t>
            </a:r>
            <a:r>
              <a:rPr lang="de-CH" sz="1733" dirty="0" err="1">
                <a:solidFill>
                  <a:srgbClr val="AEABAB"/>
                </a:solidFill>
              </a:rPr>
              <a:t>ietf</a:t>
            </a:r>
            <a:r>
              <a:rPr lang="de-CH" sz="1733" dirty="0">
                <a:solidFill>
                  <a:srgbClr val="AEABAB"/>
                </a:solidFill>
              </a:rPr>
              <a:t>-</a:t>
            </a:r>
            <a:r>
              <a:rPr lang="de-CH" sz="1733" dirty="0" err="1">
                <a:solidFill>
                  <a:srgbClr val="AEABAB"/>
                </a:solidFill>
              </a:rPr>
              <a:t>nmop</a:t>
            </a:r>
            <a:r>
              <a:rPr lang="de-CH" sz="1733" dirty="0">
                <a:solidFill>
                  <a:srgbClr val="AEABAB"/>
                </a:solidFill>
              </a:rPr>
              <a:t>-message-broker-</a:t>
            </a:r>
            <a:r>
              <a:rPr lang="de-CH" sz="1733" dirty="0" err="1">
                <a:solidFill>
                  <a:srgbClr val="AEABAB"/>
                </a:solidFill>
              </a:rPr>
              <a:t>telemetry</a:t>
            </a:r>
            <a:r>
              <a:rPr lang="de-CH" sz="1733" dirty="0">
                <a:solidFill>
                  <a:srgbClr val="AEABAB"/>
                </a:solidFill>
              </a:rPr>
              <a:t>-message</a:t>
            </a:r>
            <a:br>
              <a:rPr lang="de-CH" sz="1733" dirty="0">
                <a:solidFill>
                  <a:srgbClr val="AEABAB"/>
                </a:solidFill>
              </a:rPr>
            </a:br>
            <a:r>
              <a:rPr lang="de-CH" sz="1733" dirty="0">
                <a:solidFill>
                  <a:srgbClr val="AEABAB"/>
                </a:solidFill>
              </a:rPr>
              <a:t>draft-</a:t>
            </a:r>
            <a:r>
              <a:rPr lang="de-CH" sz="1733" dirty="0" err="1">
                <a:solidFill>
                  <a:srgbClr val="AEABAB"/>
                </a:solidFill>
              </a:rPr>
              <a:t>ietf</a:t>
            </a:r>
            <a:r>
              <a:rPr lang="de-CH" sz="1733" dirty="0">
                <a:solidFill>
                  <a:srgbClr val="AEABAB"/>
                </a:solidFill>
              </a:rPr>
              <a:t>-</a:t>
            </a:r>
            <a:r>
              <a:rPr lang="de-CH" sz="1733" dirty="0" err="1">
                <a:solidFill>
                  <a:srgbClr val="AEABAB"/>
                </a:solidFill>
              </a:rPr>
              <a:t>nmop</a:t>
            </a:r>
            <a:r>
              <a:rPr lang="de-CH" sz="1733" dirty="0">
                <a:solidFill>
                  <a:srgbClr val="AEABAB"/>
                </a:solidFill>
              </a:rPr>
              <a:t>-</a:t>
            </a:r>
            <a:r>
              <a:rPr lang="de-CH" sz="1733" dirty="0" err="1">
                <a:solidFill>
                  <a:srgbClr val="AEABAB"/>
                </a:solidFill>
              </a:rPr>
              <a:t>yang</a:t>
            </a:r>
            <a:r>
              <a:rPr lang="de-CH" sz="1733" dirty="0">
                <a:solidFill>
                  <a:srgbClr val="AEABAB"/>
                </a:solidFill>
              </a:rPr>
              <a:t>-message-broker-message-</a:t>
            </a:r>
            <a:r>
              <a:rPr lang="de-CH" sz="1733" dirty="0" err="1">
                <a:solidFill>
                  <a:srgbClr val="AEABAB"/>
                </a:solidFill>
              </a:rPr>
              <a:t>key</a:t>
            </a:r>
            <a:br>
              <a:rPr lang="de-CH" sz="1733" dirty="0">
                <a:solidFill>
                  <a:srgbClr val="AEABAB"/>
                </a:solidFill>
              </a:rPr>
            </a:br>
            <a:r>
              <a:rPr lang="de-CH" sz="1733" dirty="0">
                <a:solidFill>
                  <a:srgbClr val="AEABAB"/>
                </a:solidFill>
              </a:rPr>
              <a:t>draft-</a:t>
            </a:r>
            <a:r>
              <a:rPr lang="de-CH" sz="1733" dirty="0" err="1">
                <a:solidFill>
                  <a:srgbClr val="AEABAB"/>
                </a:solidFill>
              </a:rPr>
              <a:t>netana</a:t>
            </a:r>
            <a:r>
              <a:rPr lang="de-CH" sz="1733" dirty="0">
                <a:solidFill>
                  <a:srgbClr val="AEABAB"/>
                </a:solidFill>
              </a:rPr>
              <a:t>-</a:t>
            </a:r>
            <a:r>
              <a:rPr lang="de-CH" sz="1733" dirty="0" err="1">
                <a:solidFill>
                  <a:srgbClr val="AEABAB"/>
                </a:solidFill>
              </a:rPr>
              <a:t>nmop</a:t>
            </a:r>
            <a:r>
              <a:rPr lang="de-CH" sz="1733" dirty="0">
                <a:solidFill>
                  <a:srgbClr val="AEABAB"/>
                </a:solidFill>
              </a:rPr>
              <a:t>-message-broker-</a:t>
            </a:r>
            <a:r>
              <a:rPr lang="de-CH" sz="1733" dirty="0" err="1">
                <a:solidFill>
                  <a:srgbClr val="AEABAB"/>
                </a:solidFill>
              </a:rPr>
              <a:t>bmp</a:t>
            </a:r>
            <a:r>
              <a:rPr lang="de-CH" sz="1733" dirty="0">
                <a:solidFill>
                  <a:srgbClr val="AEABAB"/>
                </a:solidFill>
              </a:rPr>
              <a:t>-</a:t>
            </a:r>
            <a:r>
              <a:rPr lang="de-CH" sz="1733" dirty="0" err="1">
                <a:solidFill>
                  <a:srgbClr val="AEABAB"/>
                </a:solidFill>
              </a:rPr>
              <a:t>telemetry</a:t>
            </a:r>
            <a:r>
              <a:rPr lang="de-CH" sz="1733" dirty="0">
                <a:solidFill>
                  <a:srgbClr val="AEABAB"/>
                </a:solidFill>
              </a:rPr>
              <a:t>-message</a:t>
            </a:r>
            <a:br>
              <a:rPr lang="de-CH" sz="1733" dirty="0">
                <a:solidFill>
                  <a:srgbClr val="AEABAB"/>
                </a:solidFill>
              </a:rPr>
            </a:br>
            <a:endParaRPr sz="1733" dirty="0"/>
          </a:p>
        </p:txBody>
      </p:sp>
      <p:sp>
        <p:nvSpPr>
          <p:cNvPr id="11" name="Google Shape;1532;p46">
            <a:extLst>
              <a:ext uri="{FF2B5EF4-FFF2-40B4-BE49-F238E27FC236}">
                <a16:creationId xmlns:a16="http://schemas.microsoft.com/office/drawing/2014/main" id="{575B41E3-AAFA-DCEA-6665-0E3C0B3CA4D6}"/>
              </a:ext>
            </a:extLst>
          </p:cNvPr>
          <p:cNvSpPr txBox="1"/>
          <p:nvPr/>
        </p:nvSpPr>
        <p:spPr>
          <a:xfrm>
            <a:off x="5955950" y="216267"/>
            <a:ext cx="5450527" cy="6421960"/>
          </a:xfrm>
          <a:prstGeom prst="rect">
            <a:avLst/>
          </a:prstGeom>
          <a:noFill/>
          <a:ln>
            <a:noFill/>
          </a:ln>
        </p:spPr>
        <p:txBody>
          <a:bodyPr spcFirstLastPara="1" wrap="square" lIns="121900" tIns="60933" rIns="121900" bIns="60933" anchor="t" anchorCtr="0">
            <a:spAutoFit/>
          </a:bodyPr>
          <a:lstStyle/>
          <a:p>
            <a:pPr lvl="0">
              <a:lnSpc>
                <a:spcPct val="107000"/>
              </a:lnSpc>
              <a:buSzPts val="700"/>
            </a:pPr>
            <a:r>
              <a:rPr lang="de-CH" sz="933" dirty="0">
                <a:latin typeface="Courier New"/>
                <a:ea typeface="Courier New"/>
                <a:cs typeface="Courier New"/>
                <a:sym typeface="Courier New"/>
              </a:rPr>
              <a:t>      +------------------------------------------------------------+</a:t>
            </a:r>
          </a:p>
          <a:p>
            <a:pPr lvl="0">
              <a:lnSpc>
                <a:spcPct val="107000"/>
              </a:lnSpc>
              <a:buSzPts val="700"/>
            </a:pPr>
            <a:r>
              <a:rPr lang="de-CH" sz="933" dirty="0">
                <a:latin typeface="Courier New"/>
                <a:ea typeface="Courier New"/>
                <a:cs typeface="Courier New"/>
                <a:sym typeface="Courier New"/>
              </a:rPr>
              <a:t>      |                       Data Storage                         |</a:t>
            </a:r>
          </a:p>
          <a:p>
            <a:pPr lvl="0">
              <a:lnSpc>
                <a:spcPct val="107000"/>
              </a:lnSpc>
              <a:buSzPts val="700"/>
            </a:pPr>
            <a:r>
              <a:rPr lang="de-CH" sz="933" dirty="0">
                <a:latin typeface="Courier New"/>
                <a:ea typeface="Courier New"/>
                <a:cs typeface="Courier New"/>
                <a:sym typeface="Courier New"/>
              </a:rPr>
              <a:t>      +------------------------------------------------------------+</a:t>
            </a:r>
          </a:p>
          <a:p>
            <a:pPr lvl="0">
              <a:lnSpc>
                <a:spcPct val="107000"/>
              </a:lnSpc>
              <a:buSzPts val="700"/>
            </a:pPr>
            <a:r>
              <a:rPr lang="de-CH" sz="933" dirty="0">
                <a:latin typeface="Courier New"/>
                <a:ea typeface="Courier New"/>
                <a:cs typeface="Courier New"/>
                <a:sym typeface="Courier New"/>
              </a:rPr>
              <a:t>                                     ^</a:t>
            </a:r>
          </a:p>
          <a:p>
            <a:pPr lvl="0">
              <a:lnSpc>
                <a:spcPct val="107000"/>
              </a:lnSpc>
              <a:buSzPts val="700"/>
            </a:pPr>
            <a:r>
              <a:rPr lang="de-CH" sz="933" dirty="0">
                <a:latin typeface="Courier New"/>
                <a:ea typeface="Courier New"/>
                <a:cs typeface="Courier New"/>
                <a:sym typeface="Courier New"/>
              </a:rPr>
              <a:t>                                     | (12) </a:t>
            </a:r>
            <a:r>
              <a:rPr lang="de-CH" sz="933" dirty="0" err="1">
                <a:latin typeface="Courier New"/>
                <a:ea typeface="Courier New"/>
                <a:cs typeface="Courier New"/>
                <a:sym typeface="Courier New"/>
              </a:rPr>
              <a:t>Ingest</a:t>
            </a:r>
            <a:r>
              <a:rPr lang="de-CH" sz="933" dirty="0">
                <a:latin typeface="Courier New"/>
                <a:ea typeface="Courier New"/>
                <a:cs typeface="Courier New"/>
                <a:sym typeface="Courier New"/>
              </a:rPr>
              <a:t> Data</a:t>
            </a:r>
          </a:p>
          <a:p>
            <a:pPr lvl="0">
              <a:lnSpc>
                <a:spcPct val="107000"/>
              </a:lnSpc>
              <a:buSzPts val="700"/>
            </a:pPr>
            <a:r>
              <a:rPr lang="de-CH" sz="933" dirty="0">
                <a:latin typeface="Courier New"/>
                <a:ea typeface="Courier New"/>
                <a:cs typeface="Courier New"/>
                <a:sym typeface="Courier New"/>
              </a:rPr>
              <a:t>                                     | </a:t>
            </a:r>
            <a:r>
              <a:rPr lang="de-CH" sz="933" dirty="0" err="1">
                <a:latin typeface="Courier New"/>
                <a:ea typeface="Courier New"/>
                <a:cs typeface="Courier New"/>
                <a:sym typeface="Courier New"/>
              </a:rPr>
              <a:t>According</a:t>
            </a:r>
            <a:r>
              <a:rPr lang="de-CH" sz="933" dirty="0">
                <a:latin typeface="Courier New"/>
                <a:ea typeface="Courier New"/>
                <a:cs typeface="Courier New"/>
                <a:sym typeface="Courier New"/>
              </a:rPr>
              <a:t> </a:t>
            </a:r>
            <a:r>
              <a:rPr lang="de-CH" sz="933" dirty="0" err="1">
                <a:latin typeface="Courier New"/>
                <a:ea typeface="Courier New"/>
                <a:cs typeface="Courier New"/>
                <a:sym typeface="Courier New"/>
              </a:rPr>
              <a:t>to</a:t>
            </a:r>
            <a:r>
              <a:rPr lang="de-CH" sz="933" dirty="0">
                <a:latin typeface="Courier New"/>
                <a:ea typeface="Courier New"/>
                <a:cs typeface="Courier New"/>
                <a:sym typeface="Courier New"/>
              </a:rPr>
              <a:t> Schema</a:t>
            </a:r>
          </a:p>
          <a:p>
            <a:pPr lvl="0">
              <a:lnSpc>
                <a:spcPct val="107000"/>
              </a:lnSpc>
              <a:buSzPts val="700"/>
            </a:pPr>
            <a:r>
              <a:rPr lang="de-CH" sz="933" dirty="0">
                <a:latin typeface="Courier New"/>
                <a:ea typeface="Courier New"/>
                <a:cs typeface="Courier New"/>
                <a:sym typeface="Courier New"/>
              </a:rPr>
              <a:t>      +------------------------------------------------------------+</a:t>
            </a:r>
          </a:p>
          <a:p>
            <a:pPr lvl="0">
              <a:lnSpc>
                <a:spcPct val="107000"/>
              </a:lnSpc>
              <a:buSzPts val="700"/>
            </a:pPr>
            <a:r>
              <a:rPr lang="de-CH" sz="933" dirty="0">
                <a:latin typeface="Courier New"/>
                <a:ea typeface="Courier New"/>
                <a:cs typeface="Courier New"/>
                <a:sym typeface="Courier New"/>
              </a:rPr>
              <a:t>      |                       Data Consumer                        |</a:t>
            </a:r>
          </a:p>
          <a:p>
            <a:pPr lvl="0">
              <a:lnSpc>
                <a:spcPct val="107000"/>
              </a:lnSpc>
              <a:buSzPts val="700"/>
            </a:pPr>
            <a:r>
              <a:rPr lang="de-CH" sz="933" dirty="0">
                <a:latin typeface="Courier New"/>
                <a:ea typeface="Courier New"/>
                <a:cs typeface="Courier New"/>
                <a:sym typeface="Courier New"/>
              </a:rPr>
              <a:t>      +------------------------------------------------------------+</a:t>
            </a:r>
          </a:p>
          <a:p>
            <a:pPr lvl="0">
              <a:lnSpc>
                <a:spcPct val="107000"/>
              </a:lnSpc>
              <a:buSzPts val="700"/>
            </a:pPr>
            <a:r>
              <a:rPr lang="de-CH" sz="933" dirty="0">
                <a:latin typeface="Courier New"/>
                <a:ea typeface="Courier New"/>
                <a:cs typeface="Courier New"/>
                <a:sym typeface="Courier New"/>
              </a:rPr>
              <a:t>            |  ^                                   ^</a:t>
            </a:r>
          </a:p>
          <a:p>
            <a:pPr lvl="0">
              <a:lnSpc>
                <a:spcPct val="107000"/>
              </a:lnSpc>
              <a:buSzPts val="700"/>
            </a:pPr>
            <a:r>
              <a:rPr lang="de-CH" sz="933" dirty="0">
                <a:latin typeface="Courier New"/>
                <a:ea typeface="Courier New"/>
                <a:cs typeface="Courier New"/>
                <a:sym typeface="Courier New"/>
              </a:rPr>
              <a:t>   (10) </a:t>
            </a:r>
            <a:r>
              <a:rPr lang="de-CH" sz="933" dirty="0" err="1">
                <a:latin typeface="Courier New"/>
                <a:ea typeface="Courier New"/>
                <a:cs typeface="Courier New"/>
                <a:sym typeface="Courier New"/>
              </a:rPr>
              <a:t>Get</a:t>
            </a:r>
            <a:r>
              <a:rPr lang="de-CH" sz="933" dirty="0">
                <a:latin typeface="Courier New"/>
                <a:ea typeface="Courier New"/>
                <a:cs typeface="Courier New"/>
                <a:sym typeface="Courier New"/>
              </a:rPr>
              <a:t> |  |                                   | (9) </a:t>
            </a:r>
            <a:r>
              <a:rPr lang="de-CH" sz="933" dirty="0" err="1">
                <a:latin typeface="Courier New"/>
                <a:ea typeface="Courier New"/>
                <a:cs typeface="Courier New"/>
                <a:sym typeface="Courier New"/>
              </a:rPr>
              <a:t>Validate</a:t>
            </a:r>
            <a:endParaRPr lang="de-CH" sz="933" dirty="0">
              <a:latin typeface="Courier New"/>
              <a:ea typeface="Courier New"/>
              <a:cs typeface="Courier New"/>
              <a:sym typeface="Courier New"/>
            </a:endParaRPr>
          </a:p>
          <a:p>
            <a:pPr lvl="0">
              <a:lnSpc>
                <a:spcPct val="107000"/>
              </a:lnSpc>
              <a:buSzPts val="700"/>
            </a:pPr>
            <a:r>
              <a:rPr lang="de-CH" sz="933" dirty="0">
                <a:latin typeface="Courier New"/>
                <a:ea typeface="Courier New"/>
                <a:cs typeface="Courier New"/>
                <a:sym typeface="Courier New"/>
              </a:rPr>
              <a:t>     Schema |  |                                   | </a:t>
            </a:r>
            <a:r>
              <a:rPr lang="de-CH" sz="933" dirty="0" err="1">
                <a:latin typeface="Courier New"/>
                <a:ea typeface="Courier New"/>
                <a:cs typeface="Courier New"/>
                <a:sym typeface="Courier New"/>
              </a:rPr>
              <a:t>Serialized</a:t>
            </a:r>
            <a:r>
              <a:rPr lang="de-CH" sz="933" dirty="0">
                <a:latin typeface="Courier New"/>
                <a:ea typeface="Courier New"/>
                <a:cs typeface="Courier New"/>
                <a:sym typeface="Courier New"/>
              </a:rPr>
              <a:t> Message</a:t>
            </a:r>
          </a:p>
          <a:p>
            <a:pPr lvl="0">
              <a:lnSpc>
                <a:spcPct val="107000"/>
              </a:lnSpc>
              <a:buSzPts val="700"/>
            </a:pPr>
            <a:r>
              <a:rPr lang="de-CH" sz="933" dirty="0">
                <a:latin typeface="Courier New"/>
                <a:ea typeface="Courier New"/>
                <a:cs typeface="Courier New"/>
                <a:sym typeface="Courier New"/>
              </a:rPr>
              <a:t>            |  |                                   | Schema on Consumer</a:t>
            </a:r>
          </a:p>
          <a:p>
            <a:pPr lvl="0">
              <a:lnSpc>
                <a:spcPct val="107000"/>
              </a:lnSpc>
              <a:buSzPts val="700"/>
            </a:pPr>
            <a:r>
              <a:rPr lang="de-CH" sz="933" dirty="0">
                <a:latin typeface="Courier New"/>
                <a:ea typeface="Courier New"/>
                <a:cs typeface="Courier New"/>
                <a:sym typeface="Courier New"/>
              </a:rPr>
              <a:t>            |  |                              +--------------------+</a:t>
            </a:r>
          </a:p>
          <a:p>
            <a:pPr lvl="0">
              <a:lnSpc>
                <a:spcPct val="107000"/>
              </a:lnSpc>
              <a:buSzPts val="700"/>
            </a:pPr>
            <a:r>
              <a:rPr lang="de-CH" sz="933" dirty="0">
                <a:latin typeface="Courier New"/>
                <a:ea typeface="Courier New"/>
                <a:cs typeface="Courier New"/>
                <a:sym typeface="Courier New"/>
              </a:rPr>
              <a:t>            |  |                              |      Message       |</a:t>
            </a:r>
          </a:p>
          <a:p>
            <a:pPr lvl="0">
              <a:lnSpc>
                <a:spcPct val="107000"/>
              </a:lnSpc>
              <a:buSzPts val="700"/>
            </a:pPr>
            <a:r>
              <a:rPr lang="de-CH" sz="933" dirty="0">
                <a:latin typeface="Courier New"/>
                <a:ea typeface="Courier New"/>
                <a:cs typeface="Courier New"/>
                <a:sym typeface="Courier New"/>
              </a:rPr>
              <a:t>            |  |                              |      Broker        |</a:t>
            </a:r>
          </a:p>
          <a:p>
            <a:pPr lvl="0">
              <a:lnSpc>
                <a:spcPct val="107000"/>
              </a:lnSpc>
              <a:buSzPts val="700"/>
            </a:pPr>
            <a:r>
              <a:rPr lang="de-CH" sz="933" dirty="0">
                <a:latin typeface="Courier New"/>
                <a:ea typeface="Courier New"/>
                <a:cs typeface="Courier New"/>
                <a:sym typeface="Courier New"/>
              </a:rPr>
              <a:t>            |  |                              +--------------------+</a:t>
            </a:r>
          </a:p>
          <a:p>
            <a:pPr lvl="0">
              <a:lnSpc>
                <a:spcPct val="107000"/>
              </a:lnSpc>
              <a:buSzPts val="700"/>
            </a:pPr>
            <a:r>
              <a:rPr lang="de-CH" sz="933" dirty="0">
                <a:latin typeface="Courier New"/>
                <a:ea typeface="Courier New"/>
                <a:cs typeface="Courier New"/>
                <a:sym typeface="Courier New"/>
              </a:rPr>
              <a:t>            |  |                                   ^</a:t>
            </a:r>
          </a:p>
          <a:p>
            <a:pPr lvl="0">
              <a:lnSpc>
                <a:spcPct val="107000"/>
              </a:lnSpc>
              <a:buSzPts val="700"/>
            </a:pPr>
            <a:r>
              <a:rPr lang="de-CH" sz="933" dirty="0">
                <a:latin typeface="Courier New"/>
                <a:ea typeface="Courier New"/>
                <a:cs typeface="Courier New"/>
                <a:sym typeface="Courier New"/>
              </a:rPr>
              <a:t>            |  |                                   | (8) </a:t>
            </a:r>
            <a:r>
              <a:rPr lang="de-CH" sz="933" dirty="0" err="1">
                <a:latin typeface="Courier New"/>
                <a:ea typeface="Courier New"/>
                <a:cs typeface="Courier New"/>
                <a:sym typeface="Courier New"/>
              </a:rPr>
              <a:t>Serialize</a:t>
            </a:r>
            <a:endParaRPr lang="de-CH" sz="933" dirty="0">
              <a:latin typeface="Courier New"/>
              <a:ea typeface="Courier New"/>
              <a:cs typeface="Courier New"/>
              <a:sym typeface="Courier New"/>
            </a:endParaRPr>
          </a:p>
          <a:p>
            <a:pPr lvl="0">
              <a:lnSpc>
                <a:spcPct val="107000"/>
              </a:lnSpc>
              <a:buSzPts val="700"/>
            </a:pPr>
            <a:r>
              <a:rPr lang="de-CH" sz="933" dirty="0">
                <a:latin typeface="Courier New"/>
                <a:ea typeface="Courier New"/>
                <a:cs typeface="Courier New"/>
                <a:sym typeface="Courier New"/>
              </a:rPr>
              <a:t>            |  | (11) </a:t>
            </a:r>
            <a:r>
              <a:rPr lang="de-CH" sz="933" dirty="0" err="1">
                <a:latin typeface="Courier New"/>
                <a:ea typeface="Courier New"/>
                <a:cs typeface="Courier New"/>
                <a:sym typeface="Courier New"/>
              </a:rPr>
              <a:t>Issue</a:t>
            </a:r>
            <a:r>
              <a:rPr lang="de-CH" sz="933" dirty="0">
                <a:latin typeface="Courier New"/>
                <a:ea typeface="Courier New"/>
                <a:cs typeface="Courier New"/>
                <a:sym typeface="Courier New"/>
              </a:rPr>
              <a:t>                        | YANG-Push Message</a:t>
            </a:r>
          </a:p>
          <a:p>
            <a:pPr lvl="0">
              <a:lnSpc>
                <a:spcPct val="107000"/>
              </a:lnSpc>
              <a:buSzPts val="700"/>
            </a:pPr>
            <a:r>
              <a:rPr lang="de-CH" sz="933" dirty="0">
                <a:latin typeface="Courier New"/>
                <a:ea typeface="Courier New"/>
                <a:cs typeface="Courier New"/>
                <a:sym typeface="Courier New"/>
              </a:rPr>
              <a:t>            |  |      Schema                       | </a:t>
            </a:r>
            <a:r>
              <a:rPr lang="de-CH" sz="933" dirty="0" err="1">
                <a:latin typeface="Courier New"/>
                <a:ea typeface="Courier New"/>
                <a:cs typeface="Courier New"/>
                <a:sym typeface="Courier New"/>
              </a:rPr>
              <a:t>annotated</a:t>
            </a:r>
            <a:r>
              <a:rPr lang="de-CH" sz="933" dirty="0">
                <a:latin typeface="Courier New"/>
                <a:ea typeface="Courier New"/>
                <a:cs typeface="Courier New"/>
                <a:sym typeface="Courier New"/>
              </a:rPr>
              <a:t> Schema</a:t>
            </a:r>
          </a:p>
          <a:p>
            <a:pPr lvl="0">
              <a:lnSpc>
                <a:spcPct val="107000"/>
              </a:lnSpc>
              <a:buSzPts val="700"/>
            </a:pPr>
            <a:r>
              <a:rPr lang="de-CH" sz="933" dirty="0">
                <a:latin typeface="Courier New"/>
                <a:ea typeface="Courier New"/>
                <a:cs typeface="Courier New"/>
                <a:sym typeface="Courier New"/>
              </a:rPr>
              <a:t>            v  |                  (6) Post         | ID on Producer</a:t>
            </a:r>
          </a:p>
          <a:p>
            <a:pPr lvl="0">
              <a:lnSpc>
                <a:spcPct val="107000"/>
              </a:lnSpc>
              <a:buSzPts val="700"/>
            </a:pPr>
            <a:r>
              <a:rPr lang="de-CH" sz="933" dirty="0">
                <a:latin typeface="Courier New"/>
                <a:ea typeface="Courier New"/>
                <a:cs typeface="Courier New"/>
                <a:sym typeface="Courier New"/>
              </a:rPr>
              <a:t>      +--------------------+          Schema  +--------------------+</a:t>
            </a:r>
          </a:p>
          <a:p>
            <a:pPr lvl="0">
              <a:lnSpc>
                <a:spcPct val="107000"/>
              </a:lnSpc>
              <a:buSzPts val="700"/>
            </a:pPr>
            <a:r>
              <a:rPr lang="de-CH" sz="933" dirty="0">
                <a:latin typeface="Courier New"/>
                <a:ea typeface="Courier New"/>
                <a:cs typeface="Courier New"/>
                <a:sym typeface="Courier New"/>
              </a:rPr>
              <a:t>      |       YANG         | &lt;--------------- |  Data Collection   |</a:t>
            </a:r>
          </a:p>
          <a:p>
            <a:pPr lvl="0">
              <a:lnSpc>
                <a:spcPct val="107000"/>
              </a:lnSpc>
              <a:buSzPts val="700"/>
            </a:pPr>
            <a:r>
              <a:rPr lang="de-CH" sz="933" dirty="0">
                <a:latin typeface="Courier New"/>
                <a:ea typeface="Courier New"/>
                <a:cs typeface="Courier New"/>
                <a:sym typeface="Courier New"/>
              </a:rPr>
              <a:t>      |  Schema Registry   | ---------------&gt; | YANG-Push Receiver |</a:t>
            </a:r>
          </a:p>
          <a:p>
            <a:pPr lvl="0">
              <a:lnSpc>
                <a:spcPct val="107000"/>
              </a:lnSpc>
              <a:buSzPts val="700"/>
            </a:pPr>
            <a:r>
              <a:rPr lang="de-CH" sz="933" dirty="0">
                <a:latin typeface="Courier New"/>
                <a:ea typeface="Courier New"/>
                <a:cs typeface="Courier New"/>
                <a:sym typeface="Courier New"/>
              </a:rPr>
              <a:t>      +--------------------+  (7) </a:t>
            </a:r>
            <a:r>
              <a:rPr lang="de-CH" sz="933" dirty="0" err="1">
                <a:latin typeface="Courier New"/>
                <a:ea typeface="Courier New"/>
                <a:cs typeface="Courier New"/>
                <a:sym typeface="Courier New"/>
              </a:rPr>
              <a:t>Issue</a:t>
            </a:r>
            <a:r>
              <a:rPr lang="de-CH" sz="933" dirty="0">
                <a:latin typeface="Courier New"/>
                <a:ea typeface="Courier New"/>
                <a:cs typeface="Courier New"/>
                <a:sym typeface="Courier New"/>
              </a:rPr>
              <a:t>       +--------------------+</a:t>
            </a:r>
          </a:p>
          <a:p>
            <a:pPr lvl="0">
              <a:lnSpc>
                <a:spcPct val="107000"/>
              </a:lnSpc>
              <a:buSzPts val="700"/>
            </a:pPr>
            <a:r>
              <a:rPr lang="de-CH" sz="933" dirty="0">
                <a:latin typeface="Courier New"/>
                <a:ea typeface="Courier New"/>
                <a:cs typeface="Courier New"/>
                <a:sym typeface="Courier New"/>
              </a:rPr>
              <a:t>            |                     Schema ID        |  ^ (3) </a:t>
            </a:r>
            <a:r>
              <a:rPr lang="de-CH" sz="933" dirty="0" err="1">
                <a:latin typeface="Courier New"/>
                <a:ea typeface="Courier New"/>
                <a:cs typeface="Courier New"/>
                <a:sym typeface="Courier New"/>
              </a:rPr>
              <a:t>Receive</a:t>
            </a:r>
            <a:endParaRPr lang="de-CH" sz="933" dirty="0">
              <a:latin typeface="Courier New"/>
              <a:ea typeface="Courier New"/>
              <a:cs typeface="Courier New"/>
              <a:sym typeface="Courier New"/>
            </a:endParaRPr>
          </a:p>
          <a:p>
            <a:pPr lvl="0">
              <a:lnSpc>
                <a:spcPct val="107000"/>
              </a:lnSpc>
              <a:buSzPts val="700"/>
            </a:pPr>
            <a:r>
              <a:rPr lang="de-CH" sz="933" dirty="0">
                <a:latin typeface="Courier New"/>
                <a:ea typeface="Courier New"/>
                <a:cs typeface="Courier New"/>
                <a:sym typeface="Courier New"/>
              </a:rPr>
              <a:t>            |                                      |  | YANG-Push</a:t>
            </a:r>
          </a:p>
          <a:p>
            <a:pPr lvl="0">
              <a:lnSpc>
                <a:spcPct val="107000"/>
              </a:lnSpc>
              <a:buSzPts val="700"/>
            </a:pPr>
            <a:r>
              <a:rPr lang="de-CH" sz="933" dirty="0">
                <a:latin typeface="Courier New"/>
                <a:ea typeface="Courier New"/>
                <a:cs typeface="Courier New"/>
                <a:sym typeface="Courier New"/>
              </a:rPr>
              <a:t>            v                         (4) Discover |  | </a:t>
            </a:r>
            <a:r>
              <a:rPr lang="de-CH" sz="933" dirty="0" err="1">
                <a:latin typeface="Courier New"/>
                <a:ea typeface="Courier New"/>
                <a:cs typeface="Courier New"/>
                <a:sym typeface="Courier New"/>
              </a:rPr>
              <a:t>Subscription</a:t>
            </a:r>
            <a:endParaRPr lang="de-CH" sz="933" dirty="0">
              <a:latin typeface="Courier New"/>
              <a:ea typeface="Courier New"/>
              <a:cs typeface="Courier New"/>
              <a:sym typeface="Courier New"/>
            </a:endParaRPr>
          </a:p>
          <a:p>
            <a:pPr lvl="0">
              <a:lnSpc>
                <a:spcPct val="107000"/>
              </a:lnSpc>
              <a:buSzPts val="700"/>
            </a:pPr>
            <a:r>
              <a:rPr lang="de-CH" sz="933" dirty="0">
                <a:latin typeface="Courier New"/>
                <a:ea typeface="Courier New"/>
                <a:cs typeface="Courier New"/>
                <a:sym typeface="Courier New"/>
              </a:rPr>
              <a:t>      +--------------------+                Schema |  | Start Message</a:t>
            </a:r>
          </a:p>
          <a:p>
            <a:pPr lvl="0">
              <a:lnSpc>
                <a:spcPct val="107000"/>
              </a:lnSpc>
              <a:buSzPts val="700"/>
            </a:pPr>
            <a:r>
              <a:rPr lang="de-CH" sz="933" dirty="0">
                <a:latin typeface="Courier New"/>
                <a:ea typeface="Courier New"/>
                <a:cs typeface="Courier New"/>
                <a:sym typeface="Courier New"/>
              </a:rPr>
              <a:t>      |      Stream        |          </a:t>
            </a:r>
            <a:r>
              <a:rPr lang="de-CH" sz="933" dirty="0" err="1">
                <a:latin typeface="Courier New"/>
                <a:ea typeface="Courier New"/>
                <a:cs typeface="Courier New"/>
                <a:sym typeface="Courier New"/>
              </a:rPr>
              <a:t>Dependencies</a:t>
            </a:r>
            <a:r>
              <a:rPr lang="de-CH" sz="933" dirty="0">
                <a:latin typeface="Courier New"/>
                <a:ea typeface="Courier New"/>
                <a:cs typeface="Courier New"/>
                <a:sym typeface="Courier New"/>
              </a:rPr>
              <a:t> |  |   ^</a:t>
            </a:r>
          </a:p>
          <a:p>
            <a:pPr lvl="0">
              <a:lnSpc>
                <a:spcPct val="107000"/>
              </a:lnSpc>
              <a:buSzPts val="700"/>
            </a:pPr>
            <a:r>
              <a:rPr lang="de-CH" sz="933" dirty="0">
                <a:latin typeface="Courier New"/>
                <a:ea typeface="Courier New"/>
                <a:cs typeface="Courier New"/>
                <a:sym typeface="Courier New"/>
              </a:rPr>
              <a:t>      |      Catalog       |            and </a:t>
            </a:r>
            <a:r>
              <a:rPr lang="de-CH" sz="933" dirty="0" err="1">
                <a:latin typeface="Courier New"/>
                <a:ea typeface="Courier New"/>
                <a:cs typeface="Courier New"/>
                <a:sym typeface="Courier New"/>
              </a:rPr>
              <a:t>Obtain</a:t>
            </a:r>
            <a:r>
              <a:rPr lang="de-CH" sz="933" dirty="0">
                <a:latin typeface="Courier New"/>
                <a:ea typeface="Courier New"/>
                <a:cs typeface="Courier New"/>
                <a:sym typeface="Courier New"/>
              </a:rPr>
              <a:t> |  |   | (5) Publish</a:t>
            </a:r>
          </a:p>
          <a:p>
            <a:pPr lvl="0">
              <a:lnSpc>
                <a:spcPct val="107000"/>
              </a:lnSpc>
              <a:buSzPts val="700"/>
            </a:pPr>
            <a:r>
              <a:rPr lang="de-CH" sz="933" dirty="0">
                <a:latin typeface="Courier New"/>
                <a:ea typeface="Courier New"/>
                <a:cs typeface="Courier New"/>
                <a:sym typeface="Courier New"/>
              </a:rPr>
              <a:t>      +--------------------+               Schemas |  |   | YANG-Push</a:t>
            </a:r>
          </a:p>
          <a:p>
            <a:pPr lvl="0">
              <a:lnSpc>
                <a:spcPct val="107000"/>
              </a:lnSpc>
              <a:buSzPts val="700"/>
            </a:pPr>
            <a:r>
              <a:rPr lang="de-CH" sz="933" dirty="0">
                <a:latin typeface="Courier New"/>
                <a:ea typeface="Courier New"/>
                <a:cs typeface="Courier New"/>
                <a:sym typeface="Courier New"/>
              </a:rPr>
              <a:t>                                                   |  |   | Message</a:t>
            </a:r>
          </a:p>
          <a:p>
            <a:pPr lvl="0">
              <a:lnSpc>
                <a:spcPct val="107000"/>
              </a:lnSpc>
              <a:buSzPts val="700"/>
            </a:pPr>
            <a:r>
              <a:rPr lang="de-CH" sz="933" dirty="0">
                <a:latin typeface="Courier New"/>
                <a:ea typeface="Courier New"/>
                <a:cs typeface="Courier New"/>
                <a:sym typeface="Courier New"/>
              </a:rPr>
              <a:t>                                                   |  |   | </a:t>
            </a:r>
            <a:r>
              <a:rPr lang="de-CH" sz="933" dirty="0" err="1">
                <a:latin typeface="Courier New"/>
                <a:ea typeface="Courier New"/>
                <a:cs typeface="Courier New"/>
                <a:sym typeface="Courier New"/>
              </a:rPr>
              <a:t>with</a:t>
            </a:r>
            <a:endParaRPr lang="de-CH" sz="933" dirty="0">
              <a:latin typeface="Courier New"/>
              <a:ea typeface="Courier New"/>
              <a:cs typeface="Courier New"/>
              <a:sym typeface="Courier New"/>
            </a:endParaRPr>
          </a:p>
          <a:p>
            <a:pPr lvl="0">
              <a:lnSpc>
                <a:spcPct val="107000"/>
              </a:lnSpc>
              <a:buSzPts val="700"/>
            </a:pPr>
            <a:r>
              <a:rPr lang="de-CH" sz="933" dirty="0">
                <a:latin typeface="Courier New"/>
                <a:ea typeface="Courier New"/>
                <a:cs typeface="Courier New"/>
                <a:sym typeface="Courier New"/>
              </a:rPr>
              <a:t>                             (1) Discover          |  |   | Subscriber</a:t>
            </a:r>
          </a:p>
          <a:p>
            <a:pPr lvl="0">
              <a:lnSpc>
                <a:spcPct val="107000"/>
              </a:lnSpc>
              <a:buSzPts val="700"/>
            </a:pPr>
            <a:r>
              <a:rPr lang="de-CH" sz="933" dirty="0">
                <a:latin typeface="Courier New"/>
                <a:ea typeface="Courier New"/>
                <a:cs typeface="Courier New"/>
                <a:sym typeface="Courier New"/>
              </a:rPr>
              <a:t>                                 </a:t>
            </a:r>
            <a:r>
              <a:rPr lang="de-CH" sz="933" dirty="0" err="1">
                <a:latin typeface="Courier New"/>
                <a:ea typeface="Courier New"/>
                <a:cs typeface="Courier New"/>
                <a:sym typeface="Courier New"/>
              </a:rPr>
              <a:t>Notification</a:t>
            </a:r>
            <a:r>
              <a:rPr lang="de-CH" sz="933" dirty="0">
                <a:latin typeface="Courier New"/>
                <a:ea typeface="Courier New"/>
                <a:cs typeface="Courier New"/>
                <a:sym typeface="Courier New"/>
              </a:rPr>
              <a:t>      v  |   | ID</a:t>
            </a:r>
          </a:p>
          <a:p>
            <a:pPr lvl="0">
              <a:lnSpc>
                <a:spcPct val="107000"/>
              </a:lnSpc>
              <a:buSzPts val="700"/>
            </a:pPr>
            <a:r>
              <a:rPr lang="de-CH" sz="933" dirty="0">
                <a:latin typeface="Courier New"/>
                <a:ea typeface="Courier New"/>
                <a:cs typeface="Courier New"/>
                <a:sym typeface="Courier New"/>
              </a:rPr>
              <a:t>      +--------------------+     </a:t>
            </a:r>
            <a:r>
              <a:rPr lang="de-CH" sz="933" dirty="0" err="1">
                <a:latin typeface="Courier New"/>
                <a:ea typeface="Courier New"/>
                <a:cs typeface="Courier New"/>
                <a:sym typeface="Courier New"/>
              </a:rPr>
              <a:t>Capabilities</a:t>
            </a:r>
            <a:r>
              <a:rPr lang="de-CH" sz="933" dirty="0">
                <a:latin typeface="Courier New"/>
                <a:ea typeface="Courier New"/>
                <a:cs typeface="Courier New"/>
                <a:sym typeface="Courier New"/>
              </a:rPr>
              <a:t> +--------------------+</a:t>
            </a:r>
          </a:p>
          <a:p>
            <a:pPr lvl="0">
              <a:lnSpc>
                <a:spcPct val="107000"/>
              </a:lnSpc>
              <a:buSzPts val="700"/>
            </a:pPr>
            <a:r>
              <a:rPr lang="de-CH" sz="933" dirty="0">
                <a:latin typeface="Courier New"/>
                <a:ea typeface="Courier New"/>
                <a:cs typeface="Courier New"/>
                <a:sym typeface="Courier New"/>
              </a:rPr>
              <a:t>      |  Manage YANG-Push  | ---------------&gt; |   Network Node     |</a:t>
            </a:r>
          </a:p>
          <a:p>
            <a:pPr lvl="0">
              <a:lnSpc>
                <a:spcPct val="107000"/>
              </a:lnSpc>
              <a:buSzPts val="700"/>
            </a:pPr>
            <a:r>
              <a:rPr lang="de-CH" sz="933" dirty="0">
                <a:latin typeface="Courier New"/>
                <a:ea typeface="Courier New"/>
                <a:cs typeface="Courier New"/>
                <a:sym typeface="Courier New"/>
              </a:rPr>
              <a:t>      |    </a:t>
            </a:r>
            <a:r>
              <a:rPr lang="de-CH" sz="933" dirty="0" err="1">
                <a:latin typeface="Courier New"/>
                <a:ea typeface="Courier New"/>
                <a:cs typeface="Courier New"/>
                <a:sym typeface="Courier New"/>
              </a:rPr>
              <a:t>Subscription</a:t>
            </a:r>
            <a:r>
              <a:rPr lang="de-CH" sz="933" dirty="0">
                <a:latin typeface="Courier New"/>
                <a:ea typeface="Courier New"/>
                <a:cs typeface="Courier New"/>
                <a:sym typeface="Courier New"/>
              </a:rPr>
              <a:t>    | ---------------&gt; | YANG-Push Publisher|</a:t>
            </a:r>
          </a:p>
          <a:p>
            <a:pPr lvl="0">
              <a:lnSpc>
                <a:spcPct val="107000"/>
              </a:lnSpc>
              <a:buSzPts val="700"/>
            </a:pPr>
            <a:r>
              <a:rPr lang="de-CH" sz="933" dirty="0">
                <a:latin typeface="Courier New"/>
                <a:ea typeface="Courier New"/>
                <a:cs typeface="Courier New"/>
                <a:sym typeface="Courier New"/>
              </a:rPr>
              <a:t>      +--------------------+ (2) </a:t>
            </a:r>
            <a:r>
              <a:rPr lang="de-CH" sz="933" dirty="0" err="1">
                <a:latin typeface="Courier New"/>
                <a:ea typeface="Courier New"/>
                <a:cs typeface="Courier New"/>
                <a:sym typeface="Courier New"/>
              </a:rPr>
              <a:t>Subscribe</a:t>
            </a:r>
            <a:r>
              <a:rPr lang="de-CH" sz="933" dirty="0">
                <a:latin typeface="Courier New"/>
                <a:ea typeface="Courier New"/>
                <a:cs typeface="Courier New"/>
                <a:sym typeface="Courier New"/>
              </a:rPr>
              <a:t>    +--------------------+</a:t>
            </a:r>
            <a:endParaRPr sz="933" dirty="0">
              <a:solidFill>
                <a:srgbClr val="000000"/>
              </a:solidFill>
              <a:latin typeface="Courier New"/>
              <a:ea typeface="Courier New"/>
              <a:cs typeface="Courier New"/>
              <a:sym typeface="Courier New"/>
            </a:endParaRPr>
          </a:p>
        </p:txBody>
      </p:sp>
      <p:sp>
        <p:nvSpPr>
          <p:cNvPr id="5" name="Google Shape;1523;p45">
            <a:extLst>
              <a:ext uri="{FF2B5EF4-FFF2-40B4-BE49-F238E27FC236}">
                <a16:creationId xmlns:a16="http://schemas.microsoft.com/office/drawing/2014/main" id="{FBABCE45-8F6B-3984-B0EF-B4C86A7D512C}"/>
              </a:ext>
            </a:extLst>
          </p:cNvPr>
          <p:cNvSpPr txBox="1">
            <a:spLocks noGrp="1"/>
          </p:cNvSpPr>
          <p:nvPr>
            <p:ph type="sldNum" idx="12"/>
          </p:nvPr>
        </p:nvSpPr>
        <p:spPr>
          <a:xfrm>
            <a:off x="11676531" y="6352981"/>
            <a:ext cx="245415" cy="369277"/>
          </a:xfrm>
          <a:prstGeom prst="rect">
            <a:avLst/>
          </a:prstGeom>
          <a:noFill/>
          <a:ln>
            <a:noFill/>
          </a:ln>
        </p:spPr>
        <p:txBody>
          <a:bodyPr spcFirstLastPara="1" vert="horz" wrap="square" lIns="60933" tIns="60933" rIns="60933" bIns="60933" rtlCol="0" anchor="ctr" anchorCtr="0">
            <a:spAutoFit/>
          </a:bodyPr>
          <a:lstStyle/>
          <a:p>
            <a:fld id="{00000000-1234-1234-1234-123412341234}" type="slidenum">
              <a:rPr lang="en"/>
              <a:pPr/>
              <a:t>9</a:t>
            </a:fld>
            <a:endParaRPr dirty="0"/>
          </a:p>
        </p:txBody>
      </p:sp>
    </p:spTree>
    <p:extLst>
      <p:ext uri="{BB962C8B-B14F-4D97-AF65-F5344CB8AC3E}">
        <p14:creationId xmlns:p14="http://schemas.microsoft.com/office/powerpoint/2010/main" val="36163145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20">
          <a:extLst>
            <a:ext uri="{FF2B5EF4-FFF2-40B4-BE49-F238E27FC236}">
              <a16:creationId xmlns:a16="http://schemas.microsoft.com/office/drawing/2014/main" id="{33FA7E77-C99D-444D-C5DB-0056DFE337AD}"/>
            </a:ext>
          </a:extLst>
        </p:cNvPr>
        <p:cNvGrpSpPr/>
        <p:nvPr/>
      </p:nvGrpSpPr>
      <p:grpSpPr>
        <a:xfrm>
          <a:off x="0" y="0"/>
          <a:ext cx="0" cy="0"/>
          <a:chOff x="0" y="0"/>
          <a:chExt cx="0" cy="0"/>
        </a:xfrm>
      </p:grpSpPr>
      <p:sp>
        <p:nvSpPr>
          <p:cNvPr id="1521" name="Google Shape;1521;p45">
            <a:extLst>
              <a:ext uri="{FF2B5EF4-FFF2-40B4-BE49-F238E27FC236}">
                <a16:creationId xmlns:a16="http://schemas.microsoft.com/office/drawing/2014/main" id="{9DDC19D8-D4BA-AA5E-61E1-B0A4525A6B80}"/>
              </a:ext>
            </a:extLst>
          </p:cNvPr>
          <p:cNvSpPr txBox="1">
            <a:spLocks noGrp="1"/>
          </p:cNvSpPr>
          <p:nvPr>
            <p:ph type="title"/>
          </p:nvPr>
        </p:nvSpPr>
        <p:spPr>
          <a:xfrm>
            <a:off x="609600" y="274638"/>
            <a:ext cx="10972800" cy="1143001"/>
          </a:xfrm>
          <a:prstGeom prst="rect">
            <a:avLst/>
          </a:prstGeom>
          <a:noFill/>
          <a:ln>
            <a:noFill/>
          </a:ln>
        </p:spPr>
        <p:txBody>
          <a:bodyPr spcFirstLastPara="1" vert="horz" wrap="square" lIns="60933" tIns="60933" rIns="60933" bIns="60933" rtlCol="0" anchor="ctr" anchorCtr="0">
            <a:normAutofit/>
          </a:bodyPr>
          <a:lstStyle/>
          <a:p>
            <a:pPr algn="l">
              <a:buSzPts val="3800"/>
            </a:pPr>
            <a:r>
              <a:rPr lang="en" sz="4533" dirty="0"/>
              <a:t>YANG-Push Publisher - Subscription</a:t>
            </a:r>
            <a:endParaRPr sz="4533" dirty="0"/>
          </a:p>
        </p:txBody>
      </p:sp>
      <p:sp>
        <p:nvSpPr>
          <p:cNvPr id="2" name="Rectangle 1">
            <a:extLst>
              <a:ext uri="{FF2B5EF4-FFF2-40B4-BE49-F238E27FC236}">
                <a16:creationId xmlns:a16="http://schemas.microsoft.com/office/drawing/2014/main" id="{69001FF5-7F7B-3666-7E0C-79E25D32BE46}"/>
              </a:ext>
            </a:extLst>
          </p:cNvPr>
          <p:cNvSpPr/>
          <p:nvPr/>
        </p:nvSpPr>
        <p:spPr>
          <a:xfrm>
            <a:off x="11450426" y="0"/>
            <a:ext cx="741575" cy="6858000"/>
          </a:xfrm>
          <a:prstGeom prst="rect">
            <a:avLst/>
          </a:prstGeom>
          <a:solidFill>
            <a:schemeClr val="bg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CH" sz="2400"/>
          </a:p>
        </p:txBody>
      </p:sp>
      <p:sp>
        <p:nvSpPr>
          <p:cNvPr id="4" name="TextBox 3">
            <a:extLst>
              <a:ext uri="{FF2B5EF4-FFF2-40B4-BE49-F238E27FC236}">
                <a16:creationId xmlns:a16="http://schemas.microsoft.com/office/drawing/2014/main" id="{84823EA9-CB88-A3CF-8EA6-F7AACC2B0B97}"/>
              </a:ext>
            </a:extLst>
          </p:cNvPr>
          <p:cNvSpPr txBox="1"/>
          <p:nvPr/>
        </p:nvSpPr>
        <p:spPr>
          <a:xfrm rot="5400000">
            <a:off x="8751239" y="2855495"/>
            <a:ext cx="6096000" cy="666786"/>
          </a:xfrm>
          <a:prstGeom prst="rect">
            <a:avLst/>
          </a:prstGeom>
          <a:noFill/>
        </p:spPr>
        <p:txBody>
          <a:bodyPr wrap="square">
            <a:spAutoFit/>
          </a:bodyPr>
          <a:lstStyle/>
          <a:p>
            <a:r>
              <a:rPr lang="en" sz="3733" dirty="0">
                <a:solidFill>
                  <a:schemeClr val="bg1"/>
                </a:solidFill>
                <a:latin typeface="Calibri"/>
                <a:ea typeface="Calibri"/>
                <a:cs typeface="Calibri"/>
                <a:sym typeface="Calibri"/>
              </a:rPr>
              <a:t>NMOP &amp; NETCONF WG</a:t>
            </a:r>
            <a:endParaRPr lang="de-CH" sz="3733" dirty="0">
              <a:solidFill>
                <a:schemeClr val="bg1"/>
              </a:solidFill>
            </a:endParaRPr>
          </a:p>
        </p:txBody>
      </p:sp>
      <p:sp>
        <p:nvSpPr>
          <p:cNvPr id="8" name="Google Shape;1523;p45">
            <a:extLst>
              <a:ext uri="{FF2B5EF4-FFF2-40B4-BE49-F238E27FC236}">
                <a16:creationId xmlns:a16="http://schemas.microsoft.com/office/drawing/2014/main" id="{B03EBD5C-5FD5-F8CB-6932-FF33457BA141}"/>
              </a:ext>
            </a:extLst>
          </p:cNvPr>
          <p:cNvSpPr txBox="1">
            <a:spLocks noGrp="1"/>
          </p:cNvSpPr>
          <p:nvPr>
            <p:ph type="sldNum" idx="12"/>
          </p:nvPr>
        </p:nvSpPr>
        <p:spPr>
          <a:xfrm>
            <a:off x="11676531" y="6352981"/>
            <a:ext cx="245415" cy="369277"/>
          </a:xfrm>
          <a:prstGeom prst="rect">
            <a:avLst/>
          </a:prstGeom>
          <a:noFill/>
          <a:ln>
            <a:noFill/>
          </a:ln>
        </p:spPr>
        <p:txBody>
          <a:bodyPr spcFirstLastPara="1" vert="horz" wrap="square" lIns="60933" tIns="60933" rIns="60933" bIns="60933" rtlCol="0" anchor="ctr" anchorCtr="0">
            <a:spAutoFit/>
          </a:bodyPr>
          <a:lstStyle/>
          <a:p>
            <a:fld id="{00000000-1234-1234-1234-123412341234}" type="slidenum">
              <a:rPr lang="en"/>
              <a:pPr/>
              <a:t>10</a:t>
            </a:fld>
            <a:endParaRPr dirty="0"/>
          </a:p>
        </p:txBody>
      </p:sp>
      <p:pic>
        <p:nvPicPr>
          <p:cNvPr id="9" name="Picture 8">
            <a:extLst>
              <a:ext uri="{FF2B5EF4-FFF2-40B4-BE49-F238E27FC236}">
                <a16:creationId xmlns:a16="http://schemas.microsoft.com/office/drawing/2014/main" id="{11146658-3377-44D0-D254-CD664F57F84A}"/>
              </a:ext>
            </a:extLst>
          </p:cNvPr>
          <p:cNvPicPr>
            <a:picLocks noChangeAspect="1"/>
          </p:cNvPicPr>
          <p:nvPr/>
        </p:nvPicPr>
        <p:blipFill>
          <a:blip r:embed="rId3"/>
          <a:stretch>
            <a:fillRect/>
          </a:stretch>
        </p:blipFill>
        <p:spPr>
          <a:xfrm>
            <a:off x="5317651" y="1434476"/>
            <a:ext cx="5582413" cy="5148886"/>
          </a:xfrm>
          <a:prstGeom prst="rect">
            <a:avLst/>
          </a:prstGeom>
        </p:spPr>
      </p:pic>
      <p:sp>
        <p:nvSpPr>
          <p:cNvPr id="11" name="Google Shape;1522;p45">
            <a:extLst>
              <a:ext uri="{FF2B5EF4-FFF2-40B4-BE49-F238E27FC236}">
                <a16:creationId xmlns:a16="http://schemas.microsoft.com/office/drawing/2014/main" id="{9B8E9BE6-DD0F-99BA-5FF0-AD176F68E2FD}"/>
              </a:ext>
            </a:extLst>
          </p:cNvPr>
          <p:cNvSpPr txBox="1">
            <a:spLocks noGrp="1"/>
          </p:cNvSpPr>
          <p:nvPr>
            <p:ph type="body" idx="1"/>
          </p:nvPr>
        </p:nvSpPr>
        <p:spPr>
          <a:xfrm>
            <a:off x="737163" y="1697611"/>
            <a:ext cx="3834837" cy="2189736"/>
          </a:xfrm>
          <a:prstGeom prst="rect">
            <a:avLst/>
          </a:prstGeom>
          <a:noFill/>
          <a:ln>
            <a:noFill/>
          </a:ln>
        </p:spPr>
        <p:txBody>
          <a:bodyPr spcFirstLastPara="1" vert="horz" wrap="square" lIns="60933" tIns="60933" rIns="60933" bIns="60933" rtlCol="0" anchor="t" anchorCtr="0">
            <a:noAutofit/>
          </a:bodyPr>
          <a:lstStyle/>
          <a:p>
            <a:pPr marL="435417" indent="-435417">
              <a:lnSpc>
                <a:spcPct val="90000"/>
              </a:lnSpc>
              <a:spcBef>
                <a:spcPts val="800"/>
              </a:spcBef>
              <a:buClr>
                <a:srgbClr val="FF0000"/>
              </a:buClr>
              <a:buSzPts val="1200"/>
              <a:buFont typeface="Noto Sans Symbols"/>
              <a:buChar char="⮚"/>
            </a:pPr>
            <a:r>
              <a:rPr lang="en" sz="1600" dirty="0">
                <a:latin typeface="Calibri"/>
                <a:ea typeface="Calibri"/>
                <a:cs typeface="Calibri"/>
                <a:sym typeface="Calibri"/>
              </a:rPr>
              <a:t>Netconf RPC calls to create, delete and obtain YANG-Push subscriptions and receiver configurations.</a:t>
            </a:r>
          </a:p>
        </p:txBody>
      </p:sp>
    </p:spTree>
    <p:extLst>
      <p:ext uri="{BB962C8B-B14F-4D97-AF65-F5344CB8AC3E}">
        <p14:creationId xmlns:p14="http://schemas.microsoft.com/office/powerpoint/2010/main" val="38530611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20">
          <a:extLst>
            <a:ext uri="{FF2B5EF4-FFF2-40B4-BE49-F238E27FC236}">
              <a16:creationId xmlns:a16="http://schemas.microsoft.com/office/drawing/2014/main" id="{2012EE96-0018-6996-C41B-B7C58E313CEC}"/>
            </a:ext>
          </a:extLst>
        </p:cNvPr>
        <p:cNvGrpSpPr/>
        <p:nvPr/>
      </p:nvGrpSpPr>
      <p:grpSpPr>
        <a:xfrm>
          <a:off x="0" y="0"/>
          <a:ext cx="0" cy="0"/>
          <a:chOff x="0" y="0"/>
          <a:chExt cx="0" cy="0"/>
        </a:xfrm>
      </p:grpSpPr>
      <p:sp>
        <p:nvSpPr>
          <p:cNvPr id="1521" name="Google Shape;1521;p45">
            <a:extLst>
              <a:ext uri="{FF2B5EF4-FFF2-40B4-BE49-F238E27FC236}">
                <a16:creationId xmlns:a16="http://schemas.microsoft.com/office/drawing/2014/main" id="{53AAD7B6-A6B5-89DF-3082-CF9E15BC3B6E}"/>
              </a:ext>
            </a:extLst>
          </p:cNvPr>
          <p:cNvSpPr txBox="1">
            <a:spLocks noGrp="1"/>
          </p:cNvSpPr>
          <p:nvPr>
            <p:ph type="title"/>
          </p:nvPr>
        </p:nvSpPr>
        <p:spPr>
          <a:xfrm>
            <a:off x="609600" y="274638"/>
            <a:ext cx="10972800" cy="1143001"/>
          </a:xfrm>
          <a:prstGeom prst="rect">
            <a:avLst/>
          </a:prstGeom>
          <a:noFill/>
          <a:ln>
            <a:noFill/>
          </a:ln>
        </p:spPr>
        <p:txBody>
          <a:bodyPr spcFirstLastPara="1" vert="horz" wrap="square" lIns="60933" tIns="60933" rIns="60933" bIns="60933" rtlCol="0" anchor="ctr" anchorCtr="0">
            <a:normAutofit/>
          </a:bodyPr>
          <a:lstStyle/>
          <a:p>
            <a:pPr algn="l">
              <a:buSzPts val="3800"/>
            </a:pPr>
            <a:r>
              <a:rPr lang="en" sz="4533" dirty="0"/>
              <a:t>YANG-Push Publisher - Notifications</a:t>
            </a:r>
            <a:endParaRPr sz="4533" dirty="0"/>
          </a:p>
        </p:txBody>
      </p:sp>
      <p:sp>
        <p:nvSpPr>
          <p:cNvPr id="2" name="Rectangle 1">
            <a:extLst>
              <a:ext uri="{FF2B5EF4-FFF2-40B4-BE49-F238E27FC236}">
                <a16:creationId xmlns:a16="http://schemas.microsoft.com/office/drawing/2014/main" id="{F9F3AB96-8CC1-4183-B953-FF51D710E242}"/>
              </a:ext>
            </a:extLst>
          </p:cNvPr>
          <p:cNvSpPr/>
          <p:nvPr/>
        </p:nvSpPr>
        <p:spPr>
          <a:xfrm>
            <a:off x="11450426" y="0"/>
            <a:ext cx="741575" cy="6858000"/>
          </a:xfrm>
          <a:prstGeom prst="rect">
            <a:avLst/>
          </a:prstGeom>
          <a:solidFill>
            <a:schemeClr val="bg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CH" sz="2400"/>
          </a:p>
        </p:txBody>
      </p:sp>
      <p:sp>
        <p:nvSpPr>
          <p:cNvPr id="4" name="TextBox 3">
            <a:extLst>
              <a:ext uri="{FF2B5EF4-FFF2-40B4-BE49-F238E27FC236}">
                <a16:creationId xmlns:a16="http://schemas.microsoft.com/office/drawing/2014/main" id="{AE812F44-20F3-CBF9-494C-95EF44DEAC40}"/>
              </a:ext>
            </a:extLst>
          </p:cNvPr>
          <p:cNvSpPr txBox="1"/>
          <p:nvPr/>
        </p:nvSpPr>
        <p:spPr>
          <a:xfrm rot="5400000">
            <a:off x="8751239" y="2855495"/>
            <a:ext cx="6096000" cy="666786"/>
          </a:xfrm>
          <a:prstGeom prst="rect">
            <a:avLst/>
          </a:prstGeom>
          <a:noFill/>
        </p:spPr>
        <p:txBody>
          <a:bodyPr wrap="square">
            <a:spAutoFit/>
          </a:bodyPr>
          <a:lstStyle/>
          <a:p>
            <a:r>
              <a:rPr lang="en" sz="3733" dirty="0">
                <a:solidFill>
                  <a:schemeClr val="bg1"/>
                </a:solidFill>
                <a:latin typeface="Calibri"/>
                <a:ea typeface="Calibri"/>
                <a:cs typeface="Calibri"/>
                <a:sym typeface="Calibri"/>
              </a:rPr>
              <a:t>NMOP &amp; NETCONF WG</a:t>
            </a:r>
            <a:endParaRPr lang="de-CH" sz="3733" dirty="0">
              <a:solidFill>
                <a:schemeClr val="bg1"/>
              </a:solidFill>
            </a:endParaRPr>
          </a:p>
        </p:txBody>
      </p:sp>
      <p:sp>
        <p:nvSpPr>
          <p:cNvPr id="8" name="Google Shape;1523;p45">
            <a:extLst>
              <a:ext uri="{FF2B5EF4-FFF2-40B4-BE49-F238E27FC236}">
                <a16:creationId xmlns:a16="http://schemas.microsoft.com/office/drawing/2014/main" id="{653C64F2-63B1-4B12-29C8-F42780F8358A}"/>
              </a:ext>
            </a:extLst>
          </p:cNvPr>
          <p:cNvSpPr txBox="1">
            <a:spLocks noGrp="1"/>
          </p:cNvSpPr>
          <p:nvPr>
            <p:ph type="sldNum" idx="12"/>
          </p:nvPr>
        </p:nvSpPr>
        <p:spPr>
          <a:xfrm>
            <a:off x="11676531" y="6352981"/>
            <a:ext cx="245415" cy="369277"/>
          </a:xfrm>
          <a:prstGeom prst="rect">
            <a:avLst/>
          </a:prstGeom>
          <a:noFill/>
          <a:ln>
            <a:noFill/>
          </a:ln>
        </p:spPr>
        <p:txBody>
          <a:bodyPr spcFirstLastPara="1" vert="horz" wrap="square" lIns="60933" tIns="60933" rIns="60933" bIns="60933" rtlCol="0" anchor="ctr" anchorCtr="0">
            <a:spAutoFit/>
          </a:bodyPr>
          <a:lstStyle/>
          <a:p>
            <a:fld id="{00000000-1234-1234-1234-123412341234}" type="slidenum">
              <a:rPr lang="en"/>
              <a:pPr/>
              <a:t>11</a:t>
            </a:fld>
            <a:endParaRPr dirty="0"/>
          </a:p>
        </p:txBody>
      </p:sp>
      <p:sp>
        <p:nvSpPr>
          <p:cNvPr id="11" name="Google Shape;1522;p45">
            <a:extLst>
              <a:ext uri="{FF2B5EF4-FFF2-40B4-BE49-F238E27FC236}">
                <a16:creationId xmlns:a16="http://schemas.microsoft.com/office/drawing/2014/main" id="{56F76BE1-A152-FF58-4794-2D4959E1E67F}"/>
              </a:ext>
            </a:extLst>
          </p:cNvPr>
          <p:cNvSpPr txBox="1">
            <a:spLocks noGrp="1"/>
          </p:cNvSpPr>
          <p:nvPr>
            <p:ph type="body" idx="1"/>
          </p:nvPr>
        </p:nvSpPr>
        <p:spPr>
          <a:xfrm>
            <a:off x="737163" y="1697611"/>
            <a:ext cx="3834837" cy="2189736"/>
          </a:xfrm>
          <a:prstGeom prst="rect">
            <a:avLst/>
          </a:prstGeom>
          <a:noFill/>
          <a:ln>
            <a:noFill/>
          </a:ln>
        </p:spPr>
        <p:txBody>
          <a:bodyPr spcFirstLastPara="1" vert="horz" wrap="square" lIns="60933" tIns="60933" rIns="60933" bIns="60933" rtlCol="0" anchor="t" anchorCtr="0">
            <a:noAutofit/>
          </a:bodyPr>
          <a:lstStyle/>
          <a:p>
            <a:pPr marL="435417" indent="-435417">
              <a:lnSpc>
                <a:spcPct val="90000"/>
              </a:lnSpc>
              <a:spcBef>
                <a:spcPts val="800"/>
              </a:spcBef>
              <a:buClr>
                <a:srgbClr val="FF0000"/>
              </a:buClr>
              <a:buSzPts val="1200"/>
              <a:buFont typeface="Noto Sans Symbols"/>
              <a:buChar char="⮚"/>
            </a:pPr>
            <a:r>
              <a:rPr lang="en" sz="1600" dirty="0">
                <a:latin typeface="Calibri"/>
                <a:ea typeface="Calibri"/>
                <a:cs typeface="Calibri"/>
                <a:sym typeface="Calibri"/>
              </a:rPr>
              <a:t>Subscription state change notifications as JSON and PCAP.</a:t>
            </a:r>
          </a:p>
          <a:p>
            <a:pPr marL="435417" indent="-435417">
              <a:lnSpc>
                <a:spcPct val="90000"/>
              </a:lnSpc>
              <a:spcBef>
                <a:spcPts val="800"/>
              </a:spcBef>
              <a:buClr>
                <a:srgbClr val="FF0000"/>
              </a:buClr>
              <a:buSzPts val="1200"/>
              <a:buFont typeface="Noto Sans Symbols"/>
              <a:buChar char="⮚"/>
            </a:pPr>
            <a:r>
              <a:rPr lang="en" sz="1600" dirty="0">
                <a:latin typeface="Calibri"/>
                <a:ea typeface="Calibri"/>
                <a:cs typeface="Calibri"/>
                <a:sym typeface="Calibri"/>
              </a:rPr>
              <a:t>Push update and change-update notifications as JSON and PCAP.</a:t>
            </a:r>
          </a:p>
        </p:txBody>
      </p:sp>
      <p:pic>
        <p:nvPicPr>
          <p:cNvPr id="5" name="Picture 4">
            <a:extLst>
              <a:ext uri="{FF2B5EF4-FFF2-40B4-BE49-F238E27FC236}">
                <a16:creationId xmlns:a16="http://schemas.microsoft.com/office/drawing/2014/main" id="{0BEFBEB9-3CD2-E356-4FCC-35FD36EBCCCB}"/>
              </a:ext>
            </a:extLst>
          </p:cNvPr>
          <p:cNvPicPr>
            <a:picLocks noChangeAspect="1"/>
          </p:cNvPicPr>
          <p:nvPr/>
        </p:nvPicPr>
        <p:blipFill>
          <a:blip r:embed="rId3"/>
          <a:stretch>
            <a:fillRect/>
          </a:stretch>
        </p:blipFill>
        <p:spPr>
          <a:xfrm>
            <a:off x="5301811" y="1417639"/>
            <a:ext cx="5755669" cy="5170869"/>
          </a:xfrm>
          <a:prstGeom prst="rect">
            <a:avLst/>
          </a:prstGeom>
        </p:spPr>
      </p:pic>
    </p:spTree>
    <p:extLst>
      <p:ext uri="{BB962C8B-B14F-4D97-AF65-F5344CB8AC3E}">
        <p14:creationId xmlns:p14="http://schemas.microsoft.com/office/powerpoint/2010/main" val="21909261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20">
          <a:extLst>
            <a:ext uri="{FF2B5EF4-FFF2-40B4-BE49-F238E27FC236}">
              <a16:creationId xmlns:a16="http://schemas.microsoft.com/office/drawing/2014/main" id="{E48BD2AB-ED3A-E464-175F-E88670C9B6A1}"/>
            </a:ext>
          </a:extLst>
        </p:cNvPr>
        <p:cNvGrpSpPr/>
        <p:nvPr/>
      </p:nvGrpSpPr>
      <p:grpSpPr>
        <a:xfrm>
          <a:off x="0" y="0"/>
          <a:ext cx="0" cy="0"/>
          <a:chOff x="0" y="0"/>
          <a:chExt cx="0" cy="0"/>
        </a:xfrm>
      </p:grpSpPr>
      <p:sp>
        <p:nvSpPr>
          <p:cNvPr id="1521" name="Google Shape;1521;p45">
            <a:extLst>
              <a:ext uri="{FF2B5EF4-FFF2-40B4-BE49-F238E27FC236}">
                <a16:creationId xmlns:a16="http://schemas.microsoft.com/office/drawing/2014/main" id="{F8866217-59C3-9562-4230-3580E12F9BE8}"/>
              </a:ext>
            </a:extLst>
          </p:cNvPr>
          <p:cNvSpPr txBox="1">
            <a:spLocks noGrp="1"/>
          </p:cNvSpPr>
          <p:nvPr>
            <p:ph type="title"/>
          </p:nvPr>
        </p:nvSpPr>
        <p:spPr>
          <a:xfrm>
            <a:off x="609600" y="274638"/>
            <a:ext cx="10972800" cy="1143001"/>
          </a:xfrm>
          <a:prstGeom prst="rect">
            <a:avLst/>
          </a:prstGeom>
          <a:noFill/>
          <a:ln>
            <a:noFill/>
          </a:ln>
        </p:spPr>
        <p:txBody>
          <a:bodyPr spcFirstLastPara="1" vert="horz" wrap="square" lIns="60933" tIns="60933" rIns="60933" bIns="60933" rtlCol="0" anchor="ctr" anchorCtr="0">
            <a:normAutofit/>
          </a:bodyPr>
          <a:lstStyle/>
          <a:p>
            <a:pPr algn="l">
              <a:buSzPts val="3800"/>
            </a:pPr>
            <a:r>
              <a:rPr lang="en" sz="4533" dirty="0"/>
              <a:t>YANG-Push UDP-Notif – DTLS and CBOR</a:t>
            </a:r>
            <a:endParaRPr sz="4533" dirty="0"/>
          </a:p>
        </p:txBody>
      </p:sp>
      <p:sp>
        <p:nvSpPr>
          <p:cNvPr id="2" name="Rectangle 1">
            <a:extLst>
              <a:ext uri="{FF2B5EF4-FFF2-40B4-BE49-F238E27FC236}">
                <a16:creationId xmlns:a16="http://schemas.microsoft.com/office/drawing/2014/main" id="{931AFAF7-57B2-7987-99D5-B5484D625EA8}"/>
              </a:ext>
            </a:extLst>
          </p:cNvPr>
          <p:cNvSpPr/>
          <p:nvPr/>
        </p:nvSpPr>
        <p:spPr>
          <a:xfrm>
            <a:off x="11450426" y="0"/>
            <a:ext cx="741575" cy="6858000"/>
          </a:xfrm>
          <a:prstGeom prst="rect">
            <a:avLst/>
          </a:prstGeom>
          <a:solidFill>
            <a:schemeClr val="bg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CH" sz="2400"/>
          </a:p>
        </p:txBody>
      </p:sp>
      <p:sp>
        <p:nvSpPr>
          <p:cNvPr id="4" name="TextBox 3">
            <a:extLst>
              <a:ext uri="{FF2B5EF4-FFF2-40B4-BE49-F238E27FC236}">
                <a16:creationId xmlns:a16="http://schemas.microsoft.com/office/drawing/2014/main" id="{207B97EA-30FD-F962-1487-48021726A3E0}"/>
              </a:ext>
            </a:extLst>
          </p:cNvPr>
          <p:cNvSpPr txBox="1"/>
          <p:nvPr/>
        </p:nvSpPr>
        <p:spPr>
          <a:xfrm rot="5400000">
            <a:off x="8751239" y="2855495"/>
            <a:ext cx="6096000" cy="666786"/>
          </a:xfrm>
          <a:prstGeom prst="rect">
            <a:avLst/>
          </a:prstGeom>
          <a:noFill/>
        </p:spPr>
        <p:txBody>
          <a:bodyPr wrap="square">
            <a:spAutoFit/>
          </a:bodyPr>
          <a:lstStyle/>
          <a:p>
            <a:r>
              <a:rPr lang="en" sz="3733" dirty="0">
                <a:solidFill>
                  <a:schemeClr val="bg1"/>
                </a:solidFill>
                <a:latin typeface="Calibri"/>
                <a:ea typeface="Calibri"/>
                <a:cs typeface="Calibri"/>
                <a:sym typeface="Calibri"/>
              </a:rPr>
              <a:t>NMOP &amp; NETCONF WG</a:t>
            </a:r>
            <a:endParaRPr lang="de-CH" sz="3733" dirty="0">
              <a:solidFill>
                <a:schemeClr val="bg1"/>
              </a:solidFill>
            </a:endParaRPr>
          </a:p>
        </p:txBody>
      </p:sp>
      <p:sp>
        <p:nvSpPr>
          <p:cNvPr id="8" name="Google Shape;1523;p45">
            <a:extLst>
              <a:ext uri="{FF2B5EF4-FFF2-40B4-BE49-F238E27FC236}">
                <a16:creationId xmlns:a16="http://schemas.microsoft.com/office/drawing/2014/main" id="{E64C87A1-6890-5958-929C-2F26234DE033}"/>
              </a:ext>
            </a:extLst>
          </p:cNvPr>
          <p:cNvSpPr txBox="1">
            <a:spLocks noGrp="1"/>
          </p:cNvSpPr>
          <p:nvPr>
            <p:ph type="sldNum" idx="12"/>
          </p:nvPr>
        </p:nvSpPr>
        <p:spPr>
          <a:xfrm>
            <a:off x="11676531" y="6352981"/>
            <a:ext cx="245415" cy="369277"/>
          </a:xfrm>
          <a:prstGeom prst="rect">
            <a:avLst/>
          </a:prstGeom>
          <a:noFill/>
          <a:ln>
            <a:noFill/>
          </a:ln>
        </p:spPr>
        <p:txBody>
          <a:bodyPr spcFirstLastPara="1" vert="horz" wrap="square" lIns="60933" tIns="60933" rIns="60933" bIns="60933" rtlCol="0" anchor="ctr" anchorCtr="0">
            <a:spAutoFit/>
          </a:bodyPr>
          <a:lstStyle/>
          <a:p>
            <a:fld id="{00000000-1234-1234-1234-123412341234}" type="slidenum">
              <a:rPr lang="en"/>
              <a:pPr/>
              <a:t>12</a:t>
            </a:fld>
            <a:endParaRPr dirty="0"/>
          </a:p>
        </p:txBody>
      </p:sp>
      <p:pic>
        <p:nvPicPr>
          <p:cNvPr id="9" name="Picture 8">
            <a:extLst>
              <a:ext uri="{FF2B5EF4-FFF2-40B4-BE49-F238E27FC236}">
                <a16:creationId xmlns:a16="http://schemas.microsoft.com/office/drawing/2014/main" id="{75605D30-1CC0-030C-82E1-9C055A7BB88A}"/>
              </a:ext>
            </a:extLst>
          </p:cNvPr>
          <p:cNvPicPr>
            <a:picLocks noChangeAspect="1"/>
          </p:cNvPicPr>
          <p:nvPr/>
        </p:nvPicPr>
        <p:blipFill>
          <a:blip r:embed="rId3"/>
          <a:stretch>
            <a:fillRect/>
          </a:stretch>
        </p:blipFill>
        <p:spPr>
          <a:xfrm>
            <a:off x="220050" y="2440420"/>
            <a:ext cx="5071015" cy="3719015"/>
          </a:xfrm>
          <a:prstGeom prst="rect">
            <a:avLst/>
          </a:prstGeom>
        </p:spPr>
      </p:pic>
      <p:pic>
        <p:nvPicPr>
          <p:cNvPr id="12" name="Picture 11">
            <a:extLst>
              <a:ext uri="{FF2B5EF4-FFF2-40B4-BE49-F238E27FC236}">
                <a16:creationId xmlns:a16="http://schemas.microsoft.com/office/drawing/2014/main" id="{7FBF8E69-25C2-F773-DBE5-1317A3E69E4D}"/>
              </a:ext>
            </a:extLst>
          </p:cNvPr>
          <p:cNvPicPr>
            <a:picLocks noChangeAspect="1"/>
          </p:cNvPicPr>
          <p:nvPr/>
        </p:nvPicPr>
        <p:blipFill>
          <a:blip r:embed="rId4"/>
          <a:stretch>
            <a:fillRect/>
          </a:stretch>
        </p:blipFill>
        <p:spPr>
          <a:xfrm>
            <a:off x="5410132" y="2440420"/>
            <a:ext cx="5781378" cy="3719015"/>
          </a:xfrm>
          <a:prstGeom prst="rect">
            <a:avLst/>
          </a:prstGeom>
        </p:spPr>
      </p:pic>
      <p:sp>
        <p:nvSpPr>
          <p:cNvPr id="13" name="Google Shape;1522;p45">
            <a:extLst>
              <a:ext uri="{FF2B5EF4-FFF2-40B4-BE49-F238E27FC236}">
                <a16:creationId xmlns:a16="http://schemas.microsoft.com/office/drawing/2014/main" id="{294199AF-DE49-CEF5-3B42-4C0ED64CB7E4}"/>
              </a:ext>
            </a:extLst>
          </p:cNvPr>
          <p:cNvSpPr txBox="1">
            <a:spLocks noGrp="1"/>
          </p:cNvSpPr>
          <p:nvPr>
            <p:ph type="body" idx="1"/>
          </p:nvPr>
        </p:nvSpPr>
        <p:spPr>
          <a:xfrm>
            <a:off x="647381" y="1417639"/>
            <a:ext cx="10418937" cy="849302"/>
          </a:xfrm>
          <a:prstGeom prst="rect">
            <a:avLst/>
          </a:prstGeom>
          <a:noFill/>
          <a:ln>
            <a:noFill/>
          </a:ln>
        </p:spPr>
        <p:txBody>
          <a:bodyPr spcFirstLastPara="1" vert="horz" wrap="square" lIns="60933" tIns="60933" rIns="60933" bIns="60933" rtlCol="0" anchor="t" anchorCtr="0">
            <a:noAutofit/>
          </a:bodyPr>
          <a:lstStyle/>
          <a:p>
            <a:pPr marL="435417" indent="-435417">
              <a:lnSpc>
                <a:spcPct val="90000"/>
              </a:lnSpc>
              <a:spcBef>
                <a:spcPts val="800"/>
              </a:spcBef>
              <a:buClr>
                <a:srgbClr val="FF0000"/>
              </a:buClr>
              <a:buSzPts val="1200"/>
              <a:buFont typeface="Noto Sans Symbols"/>
              <a:buChar char="⮚"/>
            </a:pPr>
            <a:r>
              <a:rPr lang="en" sz="1600" dirty="0">
                <a:latin typeface="Calibri"/>
                <a:ea typeface="Calibri"/>
                <a:cs typeface="Calibri"/>
                <a:sym typeface="Calibri"/>
              </a:rPr>
              <a:t>With Cisco IOS XR, 6Wind VSR and Arrcus Arcos we have now three implementations supporting </a:t>
            </a:r>
            <a:r>
              <a:rPr lang="en" sz="1600" dirty="0">
                <a:latin typeface="Calibri"/>
                <a:ea typeface="Calibri"/>
                <a:cs typeface="Calibri"/>
                <a:sym typeface="Calibri"/>
                <a:hlinkClick r:id="rId5"/>
              </a:rPr>
              <a:t>CBOR Name Identifiers </a:t>
            </a:r>
            <a:endParaRPr lang="en" sz="1600" dirty="0">
              <a:latin typeface="Calibri"/>
              <a:ea typeface="Calibri"/>
              <a:cs typeface="Calibri"/>
              <a:sym typeface="Calibri"/>
            </a:endParaRPr>
          </a:p>
          <a:p>
            <a:pPr marL="435417" indent="-435417">
              <a:lnSpc>
                <a:spcPct val="90000"/>
              </a:lnSpc>
              <a:spcBef>
                <a:spcPts val="800"/>
              </a:spcBef>
              <a:buClr>
                <a:srgbClr val="FF0000"/>
              </a:buClr>
              <a:buSzPts val="1200"/>
              <a:buFont typeface="Noto Sans Symbols"/>
              <a:buChar char="⮚"/>
            </a:pPr>
            <a:r>
              <a:rPr lang="en" sz="1600" dirty="0">
                <a:ea typeface="Calibri"/>
                <a:cs typeface="Calibri"/>
                <a:sym typeface="Calibri"/>
              </a:rPr>
              <a:t>With Cisco IOS XR we have the first implementation supporting </a:t>
            </a:r>
            <a:r>
              <a:rPr lang="en" sz="1600" dirty="0">
                <a:ea typeface="Calibri"/>
                <a:cs typeface="Calibri"/>
                <a:sym typeface="Calibri"/>
                <a:hlinkClick r:id="rId6"/>
              </a:rPr>
              <a:t>DTLS 1.2 in UDP-Notif</a:t>
            </a:r>
            <a:r>
              <a:rPr lang="en" sz="1600" dirty="0">
                <a:ea typeface="Calibri"/>
                <a:cs typeface="Calibri"/>
                <a:sym typeface="Calibri"/>
              </a:rPr>
              <a:t>.</a:t>
            </a:r>
            <a:endParaRPr lang="en" sz="1600" dirty="0">
              <a:latin typeface="Calibri"/>
              <a:ea typeface="Calibri"/>
              <a:cs typeface="Calibri"/>
              <a:sym typeface="Calibri"/>
            </a:endParaRPr>
          </a:p>
        </p:txBody>
      </p:sp>
    </p:spTree>
    <p:extLst>
      <p:ext uri="{BB962C8B-B14F-4D97-AF65-F5344CB8AC3E}">
        <p14:creationId xmlns:p14="http://schemas.microsoft.com/office/powerpoint/2010/main" val="19758388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20">
          <a:extLst>
            <a:ext uri="{FF2B5EF4-FFF2-40B4-BE49-F238E27FC236}">
              <a16:creationId xmlns:a16="http://schemas.microsoft.com/office/drawing/2014/main" id="{BBCD6CB7-1F92-3E93-79DF-00615991D1D6}"/>
            </a:ext>
          </a:extLst>
        </p:cNvPr>
        <p:cNvGrpSpPr/>
        <p:nvPr/>
      </p:nvGrpSpPr>
      <p:grpSpPr>
        <a:xfrm>
          <a:off x="0" y="0"/>
          <a:ext cx="0" cy="0"/>
          <a:chOff x="0" y="0"/>
          <a:chExt cx="0" cy="0"/>
        </a:xfrm>
      </p:grpSpPr>
      <p:sp>
        <p:nvSpPr>
          <p:cNvPr id="1521" name="Google Shape;1521;p45">
            <a:extLst>
              <a:ext uri="{FF2B5EF4-FFF2-40B4-BE49-F238E27FC236}">
                <a16:creationId xmlns:a16="http://schemas.microsoft.com/office/drawing/2014/main" id="{3D996E3F-3C50-B6F1-48E1-B0BA03B6F453}"/>
              </a:ext>
            </a:extLst>
          </p:cNvPr>
          <p:cNvSpPr txBox="1">
            <a:spLocks noGrp="1"/>
          </p:cNvSpPr>
          <p:nvPr>
            <p:ph type="title"/>
          </p:nvPr>
        </p:nvSpPr>
        <p:spPr>
          <a:xfrm>
            <a:off x="609600" y="274638"/>
            <a:ext cx="10972800" cy="1143001"/>
          </a:xfrm>
          <a:prstGeom prst="rect">
            <a:avLst/>
          </a:prstGeom>
          <a:noFill/>
          <a:ln>
            <a:noFill/>
          </a:ln>
        </p:spPr>
        <p:txBody>
          <a:bodyPr spcFirstLastPara="1" vert="horz" wrap="square" lIns="60933" tIns="60933" rIns="60933" bIns="60933" rtlCol="0" anchor="ctr" anchorCtr="0">
            <a:normAutofit/>
          </a:bodyPr>
          <a:lstStyle/>
          <a:p>
            <a:pPr algn="l">
              <a:buSzPts val="3800"/>
            </a:pPr>
            <a:r>
              <a:rPr lang="en" sz="4533" dirty="0"/>
              <a:t>YANG-Push Capabilities &amp; YANG Lib</a:t>
            </a:r>
            <a:r>
              <a:rPr lang="de-CH" sz="4533" dirty="0"/>
              <a:t>r</a:t>
            </a:r>
            <a:r>
              <a:rPr lang="en" sz="4533" dirty="0"/>
              <a:t>ary - RPC</a:t>
            </a:r>
            <a:endParaRPr sz="4533" dirty="0"/>
          </a:p>
        </p:txBody>
      </p:sp>
      <p:sp>
        <p:nvSpPr>
          <p:cNvPr id="2" name="Rectangle 1">
            <a:extLst>
              <a:ext uri="{FF2B5EF4-FFF2-40B4-BE49-F238E27FC236}">
                <a16:creationId xmlns:a16="http://schemas.microsoft.com/office/drawing/2014/main" id="{F3289D24-3570-B0F2-DD7C-21179905022C}"/>
              </a:ext>
            </a:extLst>
          </p:cNvPr>
          <p:cNvSpPr/>
          <p:nvPr/>
        </p:nvSpPr>
        <p:spPr>
          <a:xfrm>
            <a:off x="11450426" y="0"/>
            <a:ext cx="741575" cy="6858000"/>
          </a:xfrm>
          <a:prstGeom prst="rect">
            <a:avLst/>
          </a:prstGeom>
          <a:solidFill>
            <a:schemeClr val="bg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CH" sz="2400"/>
          </a:p>
        </p:txBody>
      </p:sp>
      <p:sp>
        <p:nvSpPr>
          <p:cNvPr id="4" name="TextBox 3">
            <a:extLst>
              <a:ext uri="{FF2B5EF4-FFF2-40B4-BE49-F238E27FC236}">
                <a16:creationId xmlns:a16="http://schemas.microsoft.com/office/drawing/2014/main" id="{0DF75B5C-3C14-DCE6-34D6-2E3C6875A055}"/>
              </a:ext>
            </a:extLst>
          </p:cNvPr>
          <p:cNvSpPr txBox="1"/>
          <p:nvPr/>
        </p:nvSpPr>
        <p:spPr>
          <a:xfrm rot="5400000">
            <a:off x="8751239" y="2855495"/>
            <a:ext cx="6096000" cy="666786"/>
          </a:xfrm>
          <a:prstGeom prst="rect">
            <a:avLst/>
          </a:prstGeom>
          <a:noFill/>
        </p:spPr>
        <p:txBody>
          <a:bodyPr wrap="square">
            <a:spAutoFit/>
          </a:bodyPr>
          <a:lstStyle/>
          <a:p>
            <a:r>
              <a:rPr lang="en" sz="3733" dirty="0">
                <a:solidFill>
                  <a:schemeClr val="bg1"/>
                </a:solidFill>
                <a:latin typeface="Calibri"/>
                <a:ea typeface="Calibri"/>
                <a:cs typeface="Calibri"/>
                <a:sym typeface="Calibri"/>
              </a:rPr>
              <a:t>NMOP &amp; NETCONF WG</a:t>
            </a:r>
            <a:endParaRPr lang="de-CH" sz="3733" dirty="0">
              <a:solidFill>
                <a:schemeClr val="bg1"/>
              </a:solidFill>
            </a:endParaRPr>
          </a:p>
        </p:txBody>
      </p:sp>
      <p:sp>
        <p:nvSpPr>
          <p:cNvPr id="8" name="Google Shape;1523;p45">
            <a:extLst>
              <a:ext uri="{FF2B5EF4-FFF2-40B4-BE49-F238E27FC236}">
                <a16:creationId xmlns:a16="http://schemas.microsoft.com/office/drawing/2014/main" id="{55DD11AD-51A0-3455-0F61-CBDE2353B0EE}"/>
              </a:ext>
            </a:extLst>
          </p:cNvPr>
          <p:cNvSpPr txBox="1">
            <a:spLocks noGrp="1"/>
          </p:cNvSpPr>
          <p:nvPr>
            <p:ph type="sldNum" idx="12"/>
          </p:nvPr>
        </p:nvSpPr>
        <p:spPr>
          <a:xfrm>
            <a:off x="11676531" y="6352981"/>
            <a:ext cx="245415" cy="369277"/>
          </a:xfrm>
          <a:prstGeom prst="rect">
            <a:avLst/>
          </a:prstGeom>
          <a:noFill/>
          <a:ln>
            <a:noFill/>
          </a:ln>
        </p:spPr>
        <p:txBody>
          <a:bodyPr spcFirstLastPara="1" vert="horz" wrap="square" lIns="60933" tIns="60933" rIns="60933" bIns="60933" rtlCol="0" anchor="ctr" anchorCtr="0">
            <a:spAutoFit/>
          </a:bodyPr>
          <a:lstStyle/>
          <a:p>
            <a:fld id="{00000000-1234-1234-1234-123412341234}" type="slidenum">
              <a:rPr lang="en"/>
              <a:pPr/>
              <a:t>13</a:t>
            </a:fld>
            <a:endParaRPr dirty="0"/>
          </a:p>
        </p:txBody>
      </p:sp>
      <p:sp>
        <p:nvSpPr>
          <p:cNvPr id="11" name="Google Shape;1522;p45">
            <a:extLst>
              <a:ext uri="{FF2B5EF4-FFF2-40B4-BE49-F238E27FC236}">
                <a16:creationId xmlns:a16="http://schemas.microsoft.com/office/drawing/2014/main" id="{EA234121-DE88-D68E-0FD9-976CDBB2D7AA}"/>
              </a:ext>
            </a:extLst>
          </p:cNvPr>
          <p:cNvSpPr txBox="1">
            <a:spLocks noGrp="1"/>
          </p:cNvSpPr>
          <p:nvPr>
            <p:ph type="body" idx="1"/>
          </p:nvPr>
        </p:nvSpPr>
        <p:spPr>
          <a:xfrm>
            <a:off x="737163" y="1697611"/>
            <a:ext cx="8396446" cy="2189736"/>
          </a:xfrm>
          <a:prstGeom prst="rect">
            <a:avLst/>
          </a:prstGeom>
          <a:noFill/>
          <a:ln>
            <a:noFill/>
          </a:ln>
        </p:spPr>
        <p:txBody>
          <a:bodyPr spcFirstLastPara="1" vert="horz" wrap="square" lIns="60933" tIns="60933" rIns="60933" bIns="60933" rtlCol="0" anchor="t" anchorCtr="0">
            <a:noAutofit/>
          </a:bodyPr>
          <a:lstStyle/>
          <a:p>
            <a:pPr marL="435417" indent="-435417">
              <a:lnSpc>
                <a:spcPct val="90000"/>
              </a:lnSpc>
              <a:spcBef>
                <a:spcPts val="800"/>
              </a:spcBef>
              <a:buClr>
                <a:srgbClr val="FF0000"/>
              </a:buClr>
              <a:buSzPts val="1200"/>
              <a:buFont typeface="Noto Sans Symbols"/>
              <a:buChar char="⮚"/>
            </a:pPr>
            <a:r>
              <a:rPr lang="en" sz="1600" dirty="0">
                <a:latin typeface="Calibri"/>
                <a:ea typeface="Calibri"/>
                <a:cs typeface="Calibri"/>
                <a:sym typeface="Calibri"/>
              </a:rPr>
              <a:t>Netconf XML encoded reply for </a:t>
            </a:r>
            <a:r>
              <a:rPr lang="en" sz="1600" dirty="0">
                <a:latin typeface="Calibri"/>
                <a:ea typeface="Calibri"/>
                <a:cs typeface="Calibri"/>
                <a:sym typeface="Calibri"/>
                <a:hlinkClick r:id="rId3"/>
              </a:rPr>
              <a:t>RFC 9196 </a:t>
            </a:r>
            <a:r>
              <a:rPr lang="en" sz="1600" dirty="0">
                <a:latin typeface="Calibri"/>
                <a:ea typeface="Calibri"/>
                <a:cs typeface="Calibri"/>
                <a:sym typeface="Calibri"/>
              </a:rPr>
              <a:t>YANG-Push capabilities.</a:t>
            </a:r>
          </a:p>
          <a:p>
            <a:pPr marL="435417" indent="-435417">
              <a:lnSpc>
                <a:spcPct val="90000"/>
              </a:lnSpc>
              <a:spcBef>
                <a:spcPts val="800"/>
              </a:spcBef>
              <a:buClr>
                <a:srgbClr val="FF0000"/>
              </a:buClr>
              <a:buSzPts val="1200"/>
              <a:buFont typeface="Noto Sans Symbols"/>
              <a:buChar char="⮚"/>
            </a:pPr>
            <a:r>
              <a:rPr lang="en" sz="1600" dirty="0">
                <a:latin typeface="Calibri"/>
                <a:ea typeface="Calibri"/>
                <a:cs typeface="Calibri"/>
                <a:sym typeface="Calibri"/>
              </a:rPr>
              <a:t>Netconf XML encoded reply  for </a:t>
            </a:r>
            <a:r>
              <a:rPr lang="en" sz="1600" dirty="0">
                <a:latin typeface="Calibri"/>
                <a:ea typeface="Calibri"/>
                <a:cs typeface="Calibri"/>
                <a:sym typeface="Calibri"/>
                <a:hlinkClick r:id="rId4"/>
              </a:rPr>
              <a:t>RFC 8525 </a:t>
            </a:r>
            <a:r>
              <a:rPr lang="en" sz="1600" dirty="0">
                <a:latin typeface="Calibri"/>
                <a:ea typeface="Calibri"/>
                <a:cs typeface="Calibri"/>
                <a:sym typeface="Calibri"/>
              </a:rPr>
              <a:t>with </a:t>
            </a:r>
            <a:r>
              <a:rPr lang="de-CH" sz="1600" dirty="0">
                <a:ea typeface="Calibri"/>
                <a:cs typeface="Calibri"/>
                <a:sym typeface="Calibri"/>
                <a:hlinkClick r:id="rId5"/>
              </a:rPr>
              <a:t>draft-</a:t>
            </a:r>
            <a:r>
              <a:rPr lang="de-CH" sz="1600" dirty="0" err="1">
                <a:ea typeface="Calibri"/>
                <a:cs typeface="Calibri"/>
                <a:sym typeface="Calibri"/>
                <a:hlinkClick r:id="rId5"/>
              </a:rPr>
              <a:t>ietf</a:t>
            </a:r>
            <a:r>
              <a:rPr lang="de-CH" sz="1600" dirty="0">
                <a:ea typeface="Calibri"/>
                <a:cs typeface="Calibri"/>
                <a:sym typeface="Calibri"/>
                <a:hlinkClick r:id="rId5"/>
              </a:rPr>
              <a:t>-netconf-</a:t>
            </a:r>
            <a:r>
              <a:rPr lang="de-CH" sz="1600" dirty="0" err="1">
                <a:ea typeface="Calibri"/>
                <a:cs typeface="Calibri"/>
                <a:sym typeface="Calibri"/>
                <a:hlinkClick r:id="rId5"/>
              </a:rPr>
              <a:t>yang</a:t>
            </a:r>
            <a:r>
              <a:rPr lang="de-CH" sz="1600" dirty="0">
                <a:ea typeface="Calibri"/>
                <a:cs typeface="Calibri"/>
                <a:sym typeface="Calibri"/>
                <a:hlinkClick r:id="rId5"/>
              </a:rPr>
              <a:t>-</a:t>
            </a:r>
            <a:r>
              <a:rPr lang="de-CH" sz="1600" dirty="0" err="1">
                <a:ea typeface="Calibri"/>
                <a:cs typeface="Calibri"/>
                <a:sym typeface="Calibri"/>
                <a:hlinkClick r:id="rId5"/>
              </a:rPr>
              <a:t>library-augmentedby</a:t>
            </a:r>
            <a:r>
              <a:rPr lang="de-CH" sz="1600" dirty="0">
                <a:ea typeface="Calibri"/>
                <a:cs typeface="Calibri"/>
                <a:sym typeface="Calibri"/>
              </a:rPr>
              <a:t>.</a:t>
            </a:r>
            <a:endParaRPr lang="en" sz="1600" dirty="0">
              <a:latin typeface="Calibri"/>
              <a:ea typeface="Calibri"/>
              <a:cs typeface="Calibri"/>
              <a:sym typeface="Calibri"/>
            </a:endParaRPr>
          </a:p>
        </p:txBody>
      </p:sp>
      <p:pic>
        <p:nvPicPr>
          <p:cNvPr id="6" name="Picture 5">
            <a:extLst>
              <a:ext uri="{FF2B5EF4-FFF2-40B4-BE49-F238E27FC236}">
                <a16:creationId xmlns:a16="http://schemas.microsoft.com/office/drawing/2014/main" id="{F5618685-B89C-880C-44A0-31CBD603A85F}"/>
              </a:ext>
            </a:extLst>
          </p:cNvPr>
          <p:cNvPicPr>
            <a:picLocks noChangeAspect="1"/>
          </p:cNvPicPr>
          <p:nvPr/>
        </p:nvPicPr>
        <p:blipFill>
          <a:blip r:embed="rId6"/>
          <a:stretch>
            <a:fillRect/>
          </a:stretch>
        </p:blipFill>
        <p:spPr>
          <a:xfrm>
            <a:off x="737163" y="3188888"/>
            <a:ext cx="9269119" cy="2915057"/>
          </a:xfrm>
          <a:prstGeom prst="rect">
            <a:avLst/>
          </a:prstGeom>
        </p:spPr>
      </p:pic>
    </p:spTree>
    <p:extLst>
      <p:ext uri="{BB962C8B-B14F-4D97-AF65-F5344CB8AC3E}">
        <p14:creationId xmlns:p14="http://schemas.microsoft.com/office/powerpoint/2010/main" val="9785911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20">
          <a:extLst>
            <a:ext uri="{FF2B5EF4-FFF2-40B4-BE49-F238E27FC236}">
              <a16:creationId xmlns:a16="http://schemas.microsoft.com/office/drawing/2014/main" id="{7A1754DF-BFD9-6CEE-E187-3DBD4CC7BD2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6A755E8-EC21-6A3B-4AEA-55AE3AF2094E}"/>
              </a:ext>
            </a:extLst>
          </p:cNvPr>
          <p:cNvSpPr/>
          <p:nvPr/>
        </p:nvSpPr>
        <p:spPr>
          <a:xfrm>
            <a:off x="11450426" y="0"/>
            <a:ext cx="741575" cy="6858000"/>
          </a:xfrm>
          <a:prstGeom prst="rect">
            <a:avLst/>
          </a:prstGeom>
          <a:solidFill>
            <a:schemeClr val="bg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CH" sz="2400"/>
          </a:p>
        </p:txBody>
      </p:sp>
      <p:sp>
        <p:nvSpPr>
          <p:cNvPr id="4" name="TextBox 3">
            <a:extLst>
              <a:ext uri="{FF2B5EF4-FFF2-40B4-BE49-F238E27FC236}">
                <a16:creationId xmlns:a16="http://schemas.microsoft.com/office/drawing/2014/main" id="{3C44C505-90AC-FBB6-6CD8-D72DCB65D929}"/>
              </a:ext>
            </a:extLst>
          </p:cNvPr>
          <p:cNvSpPr txBox="1"/>
          <p:nvPr/>
        </p:nvSpPr>
        <p:spPr>
          <a:xfrm rot="5400000">
            <a:off x="8751239" y="2855495"/>
            <a:ext cx="6096000" cy="666786"/>
          </a:xfrm>
          <a:prstGeom prst="rect">
            <a:avLst/>
          </a:prstGeom>
          <a:noFill/>
        </p:spPr>
        <p:txBody>
          <a:bodyPr wrap="square">
            <a:spAutoFit/>
          </a:bodyPr>
          <a:lstStyle/>
          <a:p>
            <a:r>
              <a:rPr lang="en" sz="3733" dirty="0">
                <a:solidFill>
                  <a:schemeClr val="bg1"/>
                </a:solidFill>
                <a:latin typeface="Calibri"/>
                <a:ea typeface="Calibri"/>
                <a:cs typeface="Calibri"/>
                <a:sym typeface="Calibri"/>
              </a:rPr>
              <a:t>NMOP &amp; NETCONF WG</a:t>
            </a:r>
            <a:endParaRPr lang="de-CH" sz="3733" dirty="0">
              <a:solidFill>
                <a:schemeClr val="bg1"/>
              </a:solidFill>
            </a:endParaRPr>
          </a:p>
        </p:txBody>
      </p:sp>
      <p:sp>
        <p:nvSpPr>
          <p:cNvPr id="5" name="Google Shape;1523;p45">
            <a:extLst>
              <a:ext uri="{FF2B5EF4-FFF2-40B4-BE49-F238E27FC236}">
                <a16:creationId xmlns:a16="http://schemas.microsoft.com/office/drawing/2014/main" id="{E3507CCC-E28A-A9EF-7C54-FE287DD592AF}"/>
              </a:ext>
            </a:extLst>
          </p:cNvPr>
          <p:cNvSpPr txBox="1">
            <a:spLocks noGrp="1"/>
          </p:cNvSpPr>
          <p:nvPr>
            <p:ph type="sldNum" idx="12"/>
          </p:nvPr>
        </p:nvSpPr>
        <p:spPr>
          <a:xfrm>
            <a:off x="11676531" y="6352981"/>
            <a:ext cx="245415" cy="369277"/>
          </a:xfrm>
          <a:prstGeom prst="rect">
            <a:avLst/>
          </a:prstGeom>
          <a:noFill/>
          <a:ln>
            <a:noFill/>
          </a:ln>
        </p:spPr>
        <p:txBody>
          <a:bodyPr spcFirstLastPara="1" vert="horz" wrap="square" lIns="60933" tIns="60933" rIns="60933" bIns="60933" rtlCol="0" anchor="ctr" anchorCtr="0">
            <a:spAutoFit/>
          </a:bodyPr>
          <a:lstStyle/>
          <a:p>
            <a:fld id="{00000000-1234-1234-1234-123412341234}" type="slidenum">
              <a:rPr lang="en"/>
              <a:pPr/>
              <a:t>14</a:t>
            </a:fld>
            <a:endParaRPr dirty="0"/>
          </a:p>
        </p:txBody>
      </p:sp>
      <p:sp>
        <p:nvSpPr>
          <p:cNvPr id="16" name="Google Shape;1616;p55">
            <a:extLst>
              <a:ext uri="{FF2B5EF4-FFF2-40B4-BE49-F238E27FC236}">
                <a16:creationId xmlns:a16="http://schemas.microsoft.com/office/drawing/2014/main" id="{AFFFE766-17F6-D669-4B6B-5FC7ED4069D7}"/>
              </a:ext>
            </a:extLst>
          </p:cNvPr>
          <p:cNvSpPr txBox="1">
            <a:spLocks/>
          </p:cNvSpPr>
          <p:nvPr/>
        </p:nvSpPr>
        <p:spPr>
          <a:xfrm>
            <a:off x="690880" y="1"/>
            <a:ext cx="6563360" cy="1150108"/>
          </a:xfrm>
          <a:prstGeom prst="rect">
            <a:avLst/>
          </a:prstGeom>
          <a:noFill/>
          <a:ln>
            <a:noFill/>
          </a:ln>
        </p:spPr>
        <p:txBody>
          <a:bodyPr spcFirstLastPara="1" wrap="square" lIns="162533" tIns="81244" rIns="162533" bIns="81244"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lvl="0">
              <a:buClr>
                <a:srgbClr val="000000"/>
              </a:buClr>
              <a:buSzPts val="2400"/>
              <a:defRPr/>
            </a:pPr>
            <a:r>
              <a:rPr lang="de-CH" sz="2667" b="1" kern="0" dirty="0">
                <a:solidFill>
                  <a:srgbClr val="000000"/>
                </a:solidFill>
              </a:rPr>
              <a:t>YANG-Push</a:t>
            </a:r>
            <a:br>
              <a:rPr lang="de-CH" sz="5333" kern="0" dirty="0">
                <a:solidFill>
                  <a:srgbClr val="000000"/>
                </a:solidFill>
              </a:rPr>
            </a:br>
            <a:r>
              <a:rPr lang="de-CH" sz="2667" kern="0" dirty="0">
                <a:solidFill>
                  <a:srgbClr val="AEABAB"/>
                </a:solidFill>
              </a:rPr>
              <a:t>IETF </a:t>
            </a:r>
            <a:r>
              <a:rPr lang="de-CH" sz="2667" dirty="0">
                <a:solidFill>
                  <a:srgbClr val="AEABAB"/>
                </a:solidFill>
              </a:rPr>
              <a:t>126 Publisher Implementation </a:t>
            </a:r>
            <a:r>
              <a:rPr lang="de-CH" sz="2667" kern="0" dirty="0">
                <a:solidFill>
                  <a:srgbClr val="AEABAB"/>
                </a:solidFill>
              </a:rPr>
              <a:t>Status</a:t>
            </a:r>
          </a:p>
        </p:txBody>
      </p:sp>
      <p:graphicFrame>
        <p:nvGraphicFramePr>
          <p:cNvPr id="17" name="Google Shape;1617;p55">
            <a:extLst>
              <a:ext uri="{FF2B5EF4-FFF2-40B4-BE49-F238E27FC236}">
                <a16:creationId xmlns:a16="http://schemas.microsoft.com/office/drawing/2014/main" id="{5ECCBFC6-73D0-E6BC-CB73-B40DF9A7AED2}"/>
              </a:ext>
            </a:extLst>
          </p:cNvPr>
          <p:cNvGraphicFramePr/>
          <p:nvPr/>
        </p:nvGraphicFramePr>
        <p:xfrm>
          <a:off x="815424" y="1370031"/>
          <a:ext cx="9648220" cy="4966856"/>
        </p:xfrm>
        <a:graphic>
          <a:graphicData uri="http://schemas.openxmlformats.org/drawingml/2006/table">
            <a:tbl>
              <a:tblPr>
                <a:noFill/>
              </a:tblPr>
              <a:tblGrid>
                <a:gridCol w="4174137">
                  <a:extLst>
                    <a:ext uri="{9D8B030D-6E8A-4147-A177-3AD203B41FA5}">
                      <a16:colId xmlns:a16="http://schemas.microsoft.com/office/drawing/2014/main" val="20000"/>
                    </a:ext>
                  </a:extLst>
                </a:gridCol>
                <a:gridCol w="807070">
                  <a:extLst>
                    <a:ext uri="{9D8B030D-6E8A-4147-A177-3AD203B41FA5}">
                      <a16:colId xmlns:a16="http://schemas.microsoft.com/office/drawing/2014/main" val="20001"/>
                    </a:ext>
                  </a:extLst>
                </a:gridCol>
                <a:gridCol w="844573">
                  <a:extLst>
                    <a:ext uri="{9D8B030D-6E8A-4147-A177-3AD203B41FA5}">
                      <a16:colId xmlns:a16="http://schemas.microsoft.com/office/drawing/2014/main" val="20002"/>
                    </a:ext>
                  </a:extLst>
                </a:gridCol>
                <a:gridCol w="844573">
                  <a:extLst>
                    <a:ext uri="{9D8B030D-6E8A-4147-A177-3AD203B41FA5}">
                      <a16:colId xmlns:a16="http://schemas.microsoft.com/office/drawing/2014/main" val="3717512912"/>
                    </a:ext>
                  </a:extLst>
                </a:gridCol>
                <a:gridCol w="752687">
                  <a:extLst>
                    <a:ext uri="{9D8B030D-6E8A-4147-A177-3AD203B41FA5}">
                      <a16:colId xmlns:a16="http://schemas.microsoft.com/office/drawing/2014/main" val="20003"/>
                    </a:ext>
                  </a:extLst>
                </a:gridCol>
                <a:gridCol w="733108">
                  <a:extLst>
                    <a:ext uri="{9D8B030D-6E8A-4147-A177-3AD203B41FA5}">
                      <a16:colId xmlns:a16="http://schemas.microsoft.com/office/drawing/2014/main" val="273656328"/>
                    </a:ext>
                  </a:extLst>
                </a:gridCol>
                <a:gridCol w="746036">
                  <a:extLst>
                    <a:ext uri="{9D8B030D-6E8A-4147-A177-3AD203B41FA5}">
                      <a16:colId xmlns:a16="http://schemas.microsoft.com/office/drawing/2014/main" val="20004"/>
                    </a:ext>
                  </a:extLst>
                </a:gridCol>
                <a:gridCol w="746036">
                  <a:extLst>
                    <a:ext uri="{9D8B030D-6E8A-4147-A177-3AD203B41FA5}">
                      <a16:colId xmlns:a16="http://schemas.microsoft.com/office/drawing/2014/main" val="3525373323"/>
                    </a:ext>
                  </a:extLst>
                </a:gridCol>
              </a:tblGrid>
              <a:tr h="577736">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rtl="0">
                        <a:spcBef>
                          <a:spcPts val="0"/>
                        </a:spcBef>
                        <a:spcAft>
                          <a:spcPts val="0"/>
                        </a:spcAft>
                        <a:buNone/>
                      </a:pPr>
                      <a:endParaRPr sz="1600" b="0" i="0" u="none" strike="noStrike" cap="none" dirty="0">
                        <a:solidFill>
                          <a:srgbClr val="00000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r>
                        <a:rPr lang="en" sz="1400" b="1" u="none" strike="noStrike" cap="none" dirty="0">
                          <a:latin typeface="Calibri"/>
                          <a:ea typeface="Calibri"/>
                          <a:cs typeface="Calibri"/>
                          <a:sym typeface="Calibri"/>
                        </a:rPr>
                        <a:t>6WIND</a:t>
                      </a:r>
                      <a:br>
                        <a:rPr lang="en" sz="1400" b="1" u="none" strike="noStrike" cap="none" dirty="0">
                          <a:latin typeface="Calibri"/>
                          <a:ea typeface="Calibri"/>
                          <a:cs typeface="Calibri"/>
                          <a:sym typeface="Calibri"/>
                        </a:rPr>
                      </a:br>
                      <a:r>
                        <a:rPr lang="en" sz="1400" b="1" u="none" strike="noStrike" cap="none" dirty="0">
                          <a:latin typeface="Calibri"/>
                          <a:ea typeface="Calibri"/>
                          <a:cs typeface="Calibri"/>
                          <a:sym typeface="Calibri"/>
                        </a:rPr>
                        <a:t>VSR</a:t>
                      </a:r>
                      <a:endParaRPr sz="1400" b="1" i="0" u="none" strike="noStrike" cap="none" dirty="0">
                        <a:solidFill>
                          <a:srgbClr val="00000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r>
                        <a:rPr lang="en" sz="1400" b="1" u="none" strike="noStrike" cap="none" dirty="0">
                          <a:latin typeface="Calibri"/>
                          <a:ea typeface="Calibri"/>
                          <a:cs typeface="Calibri"/>
                          <a:sym typeface="Calibri"/>
                        </a:rPr>
                        <a:t>Huawei</a:t>
                      </a:r>
                      <a:br>
                        <a:rPr lang="en" sz="1400" b="1" u="none" strike="noStrike" cap="none" dirty="0">
                          <a:latin typeface="Calibri"/>
                          <a:ea typeface="Calibri"/>
                          <a:cs typeface="Calibri"/>
                          <a:sym typeface="Calibri"/>
                        </a:rPr>
                      </a:br>
                      <a:r>
                        <a:rPr lang="en" sz="1400" b="1" u="none" strike="noStrike" cap="none" dirty="0">
                          <a:latin typeface="Calibri"/>
                          <a:ea typeface="Calibri"/>
                          <a:cs typeface="Calibri"/>
                          <a:sym typeface="Calibri"/>
                        </a:rPr>
                        <a:t>NE</a:t>
                      </a:r>
                      <a:endParaRPr sz="1400" b="1" i="0" u="none" strike="noStrike" cap="none" dirty="0">
                        <a:solidFill>
                          <a:srgbClr val="00000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r>
                        <a:rPr lang="de-CH" sz="1400" b="1" i="0" u="none" strike="noStrike" cap="none" dirty="0">
                          <a:solidFill>
                            <a:srgbClr val="000000"/>
                          </a:solidFill>
                          <a:latin typeface="Calibri"/>
                          <a:ea typeface="Calibri"/>
                          <a:cs typeface="Calibri"/>
                          <a:sym typeface="Calibri"/>
                        </a:rPr>
                        <a:t>Huawei</a:t>
                      </a:r>
                      <a:br>
                        <a:rPr lang="de-CH" sz="1400" b="1" i="0" u="none" strike="noStrike" cap="none" dirty="0">
                          <a:solidFill>
                            <a:srgbClr val="000000"/>
                          </a:solidFill>
                          <a:latin typeface="Calibri"/>
                          <a:ea typeface="Calibri"/>
                          <a:cs typeface="Calibri"/>
                          <a:sym typeface="Calibri"/>
                        </a:rPr>
                      </a:br>
                      <a:r>
                        <a:rPr lang="de-CH" sz="1400" b="1" i="0" u="none" strike="noStrike" cap="none" dirty="0">
                          <a:solidFill>
                            <a:srgbClr val="000000"/>
                          </a:solidFill>
                          <a:latin typeface="Calibri"/>
                          <a:ea typeface="Calibri"/>
                          <a:cs typeface="Calibri"/>
                          <a:sym typeface="Calibri"/>
                        </a:rPr>
                        <a:t>MA</a:t>
                      </a:r>
                      <a:endParaRPr sz="1400" b="1" i="0" u="none" strike="noStrike" cap="none" dirty="0">
                        <a:solidFill>
                          <a:srgbClr val="000000"/>
                        </a:solidFill>
                        <a:latin typeface="Calibri"/>
                        <a:ea typeface="Calibri"/>
                        <a:cs typeface="Calibri"/>
                        <a:sym typeface="Calibri"/>
                      </a:endParaRPr>
                    </a:p>
                  </a:txBody>
                  <a:tcPr marL="12711" marR="12711" marT="12711" marB="0" anchor="b">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r>
                        <a:rPr lang="en" sz="1400" b="1" u="none" strike="noStrike" cap="none" dirty="0">
                          <a:latin typeface="Calibri"/>
                          <a:ea typeface="Calibri"/>
                          <a:cs typeface="Calibri"/>
                          <a:sym typeface="Calibri"/>
                        </a:rPr>
                        <a:t>Cisco</a:t>
                      </a:r>
                      <a:br>
                        <a:rPr lang="en" sz="1400" b="1" u="none" strike="noStrike" cap="none" dirty="0">
                          <a:latin typeface="Calibri"/>
                          <a:ea typeface="Calibri"/>
                          <a:cs typeface="Calibri"/>
                          <a:sym typeface="Calibri"/>
                        </a:rPr>
                      </a:br>
                      <a:r>
                        <a:rPr lang="en" sz="1400" b="1" u="none" strike="noStrike" cap="none" dirty="0">
                          <a:latin typeface="Calibri"/>
                          <a:ea typeface="Calibri"/>
                          <a:cs typeface="Calibri"/>
                          <a:sym typeface="Calibri"/>
                        </a:rPr>
                        <a:t>IOS XR</a:t>
                      </a:r>
                      <a:endParaRPr sz="1400" b="1" i="0" u="none" strike="noStrike" cap="none" dirty="0">
                        <a:solidFill>
                          <a:srgbClr val="00000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p>
                      <a:pPr marL="0" marR="0" lvl="0" indent="0" algn="ctr" rtl="0">
                        <a:spcBef>
                          <a:spcPts val="0"/>
                        </a:spcBef>
                        <a:spcAft>
                          <a:spcPts val="0"/>
                        </a:spcAft>
                        <a:buNone/>
                      </a:pPr>
                      <a:r>
                        <a:rPr lang="de-CH" sz="1400" b="1" i="0" u="none" strike="noStrike" cap="none" dirty="0" err="1">
                          <a:solidFill>
                            <a:srgbClr val="000000"/>
                          </a:solidFill>
                          <a:latin typeface="Calibri"/>
                          <a:ea typeface="Calibri"/>
                          <a:cs typeface="Calibri"/>
                          <a:sym typeface="Calibri"/>
                        </a:rPr>
                        <a:t>Arrcus</a:t>
                      </a:r>
                      <a:br>
                        <a:rPr lang="de-CH" sz="1400" b="1" i="0" u="none" strike="noStrike" cap="none" dirty="0">
                          <a:solidFill>
                            <a:srgbClr val="000000"/>
                          </a:solidFill>
                          <a:latin typeface="Calibri"/>
                          <a:ea typeface="Calibri"/>
                          <a:cs typeface="Calibri"/>
                          <a:sym typeface="Calibri"/>
                        </a:rPr>
                      </a:br>
                      <a:r>
                        <a:rPr lang="de-CH" sz="1400" b="1" i="0" u="none" strike="noStrike" cap="none" dirty="0">
                          <a:solidFill>
                            <a:srgbClr val="000000"/>
                          </a:solidFill>
                          <a:latin typeface="Calibri"/>
                          <a:ea typeface="Calibri"/>
                          <a:cs typeface="Calibri"/>
                          <a:sym typeface="Calibri"/>
                        </a:rPr>
                        <a:t>Arcos</a:t>
                      </a:r>
                      <a:endParaRPr sz="1400" b="1" i="0" u="none" strike="noStrike" cap="none" dirty="0">
                        <a:solidFill>
                          <a:srgbClr val="000000"/>
                        </a:solidFill>
                        <a:latin typeface="Calibri"/>
                        <a:ea typeface="Calibri"/>
                        <a:cs typeface="Calibri"/>
                        <a:sym typeface="Calibri"/>
                      </a:endParaRPr>
                    </a:p>
                  </a:txBody>
                  <a:tcPr marL="12711" marR="12711" marT="12711" marB="0" anchor="b">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r>
                        <a:rPr lang="en" sz="1400" b="1" i="0" u="none" strike="noStrike" cap="none" dirty="0">
                          <a:solidFill>
                            <a:srgbClr val="000000"/>
                          </a:solidFill>
                          <a:latin typeface="Calibri"/>
                          <a:ea typeface="Calibri"/>
                          <a:cs typeface="Calibri"/>
                          <a:sym typeface="Calibri"/>
                        </a:rPr>
                        <a:t>Open-Source</a:t>
                      </a:r>
                      <a:endParaRPr sz="1400" dirty="0"/>
                    </a:p>
                  </a:txBody>
                  <a:tcPr marL="12711" marR="12711" marT="12711" marB="0" anchor="b">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p>
                      <a:pPr marL="0" marR="0" lvl="0" indent="0" algn="ctr" rtl="0">
                        <a:spcBef>
                          <a:spcPts val="0"/>
                        </a:spcBef>
                        <a:spcAft>
                          <a:spcPts val="0"/>
                        </a:spcAft>
                        <a:buNone/>
                      </a:pPr>
                      <a:r>
                        <a:rPr lang="de-CH" sz="1400" b="1" dirty="0"/>
                        <a:t>Ductus DMAP</a:t>
                      </a:r>
                      <a:endParaRPr sz="1400" b="1" dirty="0"/>
                    </a:p>
                  </a:txBody>
                  <a:tcPr marL="12711" marR="12711" marT="12711"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extLst>
                  <a:ext uri="{0D108BD9-81ED-4DB2-BD59-A6C34878D82A}">
                    <a16:rowId xmlns:a16="http://schemas.microsoft.com/office/drawing/2014/main" val="10000"/>
                  </a:ext>
                </a:extLst>
              </a:tr>
              <a:tr h="36576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0" algn="l" rtl="0">
                        <a:spcBef>
                          <a:spcPts val="0"/>
                        </a:spcBef>
                        <a:spcAft>
                          <a:spcPts val="0"/>
                        </a:spcAft>
                        <a:buNone/>
                      </a:pPr>
                      <a:r>
                        <a:rPr lang="en" sz="1600" u="none" strike="noStrike" cap="none" dirty="0">
                          <a:latin typeface="Calibri"/>
                          <a:ea typeface="Calibri"/>
                          <a:cs typeface="Calibri"/>
                          <a:sym typeface="Calibri"/>
                        </a:rPr>
                        <a:t>RFC 8639 YANG-Push Subscription</a:t>
                      </a:r>
                      <a:endParaRPr sz="1600" b="0" i="0" u="none" strike="noStrike" cap="none" dirty="0">
                        <a:solidFill>
                          <a:srgbClr val="00000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r>
                        <a:rPr lang="en" sz="1600" u="none" strike="noStrike" cap="none" dirty="0">
                          <a:latin typeface="Calibri"/>
                          <a:ea typeface="Calibri"/>
                          <a:cs typeface="Calibri"/>
                          <a:sym typeface="Calibri"/>
                        </a:rPr>
                        <a:t>✔</a:t>
                      </a:r>
                      <a:endParaRPr sz="1600" b="0" i="0" u="none" strike="noStrike" cap="none" dirty="0">
                        <a:solidFill>
                          <a:srgbClr val="00000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r>
                        <a:rPr lang="en" sz="1600" u="none" strike="noStrike" cap="none" dirty="0">
                          <a:latin typeface="Calibri"/>
                          <a:ea typeface="Calibri"/>
                          <a:cs typeface="Calibri"/>
                          <a:sym typeface="Calibri"/>
                        </a:rPr>
                        <a:t>✔</a:t>
                      </a:r>
                      <a:endParaRPr lang="en" sz="1600" b="0" i="0" u="none" strike="noStrike" cap="none" dirty="0">
                        <a:solidFill>
                          <a:srgbClr val="00000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r>
                        <a:rPr lang="en" sz="1600" u="none" strike="noStrike" cap="none" dirty="0">
                          <a:latin typeface="Calibri"/>
                          <a:ea typeface="Calibri"/>
                          <a:cs typeface="Calibri"/>
                          <a:sym typeface="Calibri"/>
                        </a:rPr>
                        <a:t>✔</a:t>
                      </a:r>
                      <a:endParaRPr lang="en" sz="1600" b="0" i="0" u="none" strike="noStrike" cap="none" dirty="0">
                        <a:solidFill>
                          <a:srgbClr val="000000"/>
                        </a:solidFill>
                        <a:latin typeface="Calibri"/>
                        <a:ea typeface="Calibri"/>
                        <a:cs typeface="Calibri"/>
                        <a:sym typeface="Calibri"/>
                      </a:endParaRPr>
                    </a:p>
                  </a:txBody>
                  <a:tcPr marL="12711" marR="12711" marT="12711" marB="0" anchor="b">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r>
                        <a:rPr lang="en" sz="1600" u="none" strike="noStrike" cap="none" dirty="0">
                          <a:latin typeface="Calibri"/>
                          <a:ea typeface="Calibri"/>
                          <a:cs typeface="Calibri"/>
                          <a:sym typeface="Calibri"/>
                        </a:rPr>
                        <a:t>✔</a:t>
                      </a:r>
                      <a:endParaRPr lang="en" sz="1600" b="0" i="0" u="none" strike="noStrike" cap="none" dirty="0">
                        <a:solidFill>
                          <a:srgbClr val="00000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p>
                      <a:pPr marL="0" marR="0" lvl="0" indent="0" algn="ctr" rtl="0">
                        <a:spcBef>
                          <a:spcPts val="0"/>
                        </a:spcBef>
                        <a:spcAft>
                          <a:spcPts val="0"/>
                        </a:spcAft>
                        <a:buNone/>
                      </a:pPr>
                      <a:r>
                        <a:rPr lang="en" sz="1600" u="none" strike="noStrike" cap="none" dirty="0">
                          <a:latin typeface="+mn-lt"/>
                          <a:ea typeface="Calibri"/>
                          <a:cs typeface="Calibri"/>
                          <a:sym typeface="Calibri"/>
                        </a:rPr>
                        <a:t>✔</a:t>
                      </a:r>
                      <a:endParaRPr lang="en" sz="1600" b="0" i="0" u="none" strike="noStrike" cap="none" dirty="0">
                        <a:solidFill>
                          <a:srgbClr val="000000"/>
                        </a:solidFill>
                        <a:latin typeface="+mn-lt"/>
                        <a:ea typeface="Calibri"/>
                        <a:cs typeface="Calibri"/>
                        <a:sym typeface="Calibri"/>
                      </a:endParaRPr>
                    </a:p>
                  </a:txBody>
                  <a:tcPr marL="12711" marR="12711" marT="12711" marB="0" anchor="b">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endParaRPr sz="1600" b="0" i="0" u="none" strike="noStrike" cap="none" dirty="0">
                        <a:solidFill>
                          <a:srgbClr val="FF000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 sz="1600" u="none" strike="noStrike" cap="none" dirty="0">
                          <a:solidFill>
                            <a:srgbClr val="92D050"/>
                          </a:solidFill>
                          <a:latin typeface="+mn-lt"/>
                          <a:ea typeface="Calibri"/>
                          <a:cs typeface="Calibri"/>
                          <a:sym typeface="Calibri"/>
                        </a:rPr>
                        <a:t>✔</a:t>
                      </a:r>
                      <a:endParaRPr lang="en" sz="1600" b="0" i="0" u="none" strike="noStrike" cap="none" dirty="0">
                        <a:solidFill>
                          <a:srgbClr val="92D050"/>
                        </a:solidFill>
                        <a:latin typeface="+mn-lt"/>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extLst>
                  <a:ext uri="{0D108BD9-81ED-4DB2-BD59-A6C34878D82A}">
                    <a16:rowId xmlns:a16="http://schemas.microsoft.com/office/drawing/2014/main" val="10001"/>
                  </a:ext>
                </a:extLst>
              </a:tr>
              <a:tr h="36576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0" algn="l" rtl="0">
                        <a:spcBef>
                          <a:spcPts val="0"/>
                        </a:spcBef>
                        <a:spcAft>
                          <a:spcPts val="0"/>
                        </a:spcAft>
                        <a:buNone/>
                      </a:pPr>
                      <a:r>
                        <a:rPr lang="en" sz="1600" u="none" strike="noStrike" cap="none" dirty="0">
                          <a:latin typeface="Calibri"/>
                          <a:ea typeface="Calibri"/>
                          <a:cs typeface="Calibri"/>
                          <a:sym typeface="Calibri"/>
                        </a:rPr>
                        <a:t>RFC 8641 YANG-Push Notification</a:t>
                      </a:r>
                      <a:endParaRPr sz="1600" b="0" i="0" u="none" strike="noStrike" cap="none" dirty="0">
                        <a:solidFill>
                          <a:srgbClr val="00000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r>
                        <a:rPr lang="en" sz="1600" u="none" strike="noStrike" cap="none" dirty="0">
                          <a:latin typeface="Calibri"/>
                          <a:ea typeface="Calibri"/>
                          <a:cs typeface="Calibri"/>
                          <a:sym typeface="Calibri"/>
                        </a:rPr>
                        <a:t>✔</a:t>
                      </a:r>
                      <a:endParaRPr sz="1600" b="0" i="0" u="none" strike="noStrike" cap="none" dirty="0">
                        <a:solidFill>
                          <a:srgbClr val="00000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r>
                        <a:rPr lang="en" sz="1600" u="none" strike="noStrike" cap="none" dirty="0">
                          <a:latin typeface="Calibri"/>
                          <a:ea typeface="Calibri"/>
                          <a:cs typeface="Calibri"/>
                          <a:sym typeface="Calibri"/>
                        </a:rPr>
                        <a:t>✔</a:t>
                      </a:r>
                      <a:endParaRPr lang="en" sz="1600" b="0" i="0" u="none" strike="noStrike" cap="none" dirty="0">
                        <a:solidFill>
                          <a:srgbClr val="00000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r>
                        <a:rPr lang="en" sz="1600" u="none" strike="noStrike" cap="none" dirty="0">
                          <a:latin typeface="Calibri"/>
                          <a:ea typeface="Calibri"/>
                          <a:cs typeface="Calibri"/>
                          <a:sym typeface="Calibri"/>
                        </a:rPr>
                        <a:t>✔</a:t>
                      </a:r>
                      <a:endParaRPr lang="en" sz="1600" b="0" i="0" u="none" strike="noStrike" cap="none" dirty="0">
                        <a:solidFill>
                          <a:srgbClr val="000000"/>
                        </a:solidFill>
                        <a:latin typeface="Calibri"/>
                        <a:ea typeface="Calibri"/>
                        <a:cs typeface="Calibri"/>
                        <a:sym typeface="Calibri"/>
                      </a:endParaRPr>
                    </a:p>
                  </a:txBody>
                  <a:tcPr marL="12711" marR="12711" marT="12711" marB="0" anchor="b">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r>
                        <a:rPr lang="en" sz="1600" u="none" strike="noStrike" cap="none" dirty="0">
                          <a:latin typeface="Calibri"/>
                          <a:ea typeface="Calibri"/>
                          <a:cs typeface="Calibri"/>
                          <a:sym typeface="Calibri"/>
                        </a:rPr>
                        <a:t>✔</a:t>
                      </a:r>
                      <a:endParaRPr sz="1600" b="0" i="0" u="none" strike="noStrike" cap="none" dirty="0">
                        <a:solidFill>
                          <a:srgbClr val="00000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p>
                      <a:pPr marL="0" marR="0" lvl="0" indent="0" algn="ctr" rtl="0">
                        <a:spcBef>
                          <a:spcPts val="0"/>
                        </a:spcBef>
                        <a:spcAft>
                          <a:spcPts val="0"/>
                        </a:spcAft>
                        <a:buNone/>
                      </a:pPr>
                      <a:r>
                        <a:rPr lang="en" sz="1600" u="none" strike="noStrike" cap="none" dirty="0">
                          <a:latin typeface="+mn-lt"/>
                          <a:ea typeface="Calibri"/>
                          <a:cs typeface="Calibri"/>
                          <a:sym typeface="Calibri"/>
                        </a:rPr>
                        <a:t>✔</a:t>
                      </a:r>
                      <a:endParaRPr lang="en" sz="1600" b="0" i="0" u="none" strike="noStrike" cap="none" dirty="0">
                        <a:solidFill>
                          <a:srgbClr val="000000"/>
                        </a:solidFill>
                        <a:latin typeface="+mn-lt"/>
                        <a:ea typeface="Calibri"/>
                        <a:cs typeface="Calibri"/>
                        <a:sym typeface="Calibri"/>
                      </a:endParaRPr>
                    </a:p>
                  </a:txBody>
                  <a:tcPr marL="12711" marR="12711" marT="12711" marB="0" anchor="b">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lnSpc>
                          <a:spcPct val="100000"/>
                        </a:lnSpc>
                        <a:spcBef>
                          <a:spcPts val="0"/>
                        </a:spcBef>
                        <a:spcAft>
                          <a:spcPts val="0"/>
                        </a:spcAft>
                        <a:buClr>
                          <a:schemeClr val="dk1"/>
                        </a:buClr>
                        <a:buSzPts val="1400"/>
                        <a:buFont typeface="Calibri"/>
                        <a:buNone/>
                      </a:pPr>
                      <a:endParaRPr sz="1600" b="0" i="0" u="none" strike="noStrike" cap="none" dirty="0">
                        <a:solidFill>
                          <a:srgbClr val="FF000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400"/>
                        <a:buFont typeface="Calibri"/>
                        <a:buNone/>
                        <a:tabLst/>
                        <a:defRPr/>
                      </a:pPr>
                      <a:r>
                        <a:rPr lang="en" sz="1600" u="none" strike="noStrike" cap="none" dirty="0">
                          <a:solidFill>
                            <a:srgbClr val="92D050"/>
                          </a:solidFill>
                          <a:latin typeface="+mn-lt"/>
                          <a:ea typeface="Calibri"/>
                          <a:cs typeface="Calibri"/>
                          <a:sym typeface="Calibri"/>
                        </a:rPr>
                        <a:t>✔</a:t>
                      </a:r>
                      <a:endParaRPr lang="en" sz="1600" b="0" i="0" u="none" strike="noStrike" cap="none" dirty="0">
                        <a:solidFill>
                          <a:srgbClr val="92D050"/>
                        </a:solidFill>
                        <a:latin typeface="+mn-lt"/>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extLst>
                  <a:ext uri="{0D108BD9-81ED-4DB2-BD59-A6C34878D82A}">
                    <a16:rowId xmlns:a16="http://schemas.microsoft.com/office/drawing/2014/main" val="10002"/>
                  </a:ext>
                </a:extLst>
              </a:tr>
              <a:tr h="36576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0" algn="l" rtl="0">
                        <a:spcBef>
                          <a:spcPts val="0"/>
                        </a:spcBef>
                        <a:spcAft>
                          <a:spcPts val="0"/>
                        </a:spcAft>
                        <a:buNone/>
                      </a:pPr>
                      <a:r>
                        <a:rPr lang="en" sz="1600" u="none" strike="noStrike" cap="none" dirty="0">
                          <a:solidFill>
                            <a:schemeClr val="dk1"/>
                          </a:solidFill>
                          <a:latin typeface="Calibri"/>
                          <a:ea typeface="Calibri"/>
                          <a:cs typeface="Calibri"/>
                          <a:sym typeface="Calibri"/>
                        </a:rPr>
                        <a:t>draft-ietf-netconf-udp-notif</a:t>
                      </a:r>
                      <a:endParaRPr sz="1600" u="none" strike="noStrike" cap="none" dirty="0">
                        <a:solidFill>
                          <a:schemeClr val="dk1"/>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r>
                        <a:rPr lang="en" sz="1600" u="none" strike="noStrike" cap="none">
                          <a:latin typeface="Calibri"/>
                          <a:ea typeface="Calibri"/>
                          <a:cs typeface="Calibri"/>
                          <a:sym typeface="Calibri"/>
                        </a:rPr>
                        <a:t>✔</a:t>
                      </a:r>
                      <a:endParaRPr sz="1600" b="0" i="0" u="none" strike="noStrike" cap="none">
                        <a:solidFill>
                          <a:srgbClr val="00000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r>
                        <a:rPr lang="en" sz="1600" u="none" strike="noStrike" cap="none" dirty="0">
                          <a:latin typeface="Calibri"/>
                          <a:ea typeface="Calibri"/>
                          <a:cs typeface="Calibri"/>
                          <a:sym typeface="Calibri"/>
                        </a:rPr>
                        <a:t>✔</a:t>
                      </a:r>
                      <a:endParaRPr sz="1600" b="0" i="0" u="none" strike="noStrike" cap="none" dirty="0">
                        <a:solidFill>
                          <a:srgbClr val="00000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r>
                        <a:rPr lang="en" sz="1600" u="none" strike="noStrike" cap="none" dirty="0">
                          <a:latin typeface="Calibri"/>
                          <a:ea typeface="Calibri"/>
                          <a:cs typeface="Calibri"/>
                          <a:sym typeface="Calibri"/>
                        </a:rPr>
                        <a:t>✔</a:t>
                      </a:r>
                      <a:endParaRPr lang="en" sz="1600" b="0" i="0" u="none" strike="noStrike" cap="none" dirty="0">
                        <a:solidFill>
                          <a:srgbClr val="000000"/>
                        </a:solidFill>
                        <a:latin typeface="Calibri"/>
                        <a:ea typeface="Calibri"/>
                        <a:cs typeface="Calibri"/>
                        <a:sym typeface="Calibri"/>
                      </a:endParaRPr>
                    </a:p>
                  </a:txBody>
                  <a:tcPr marL="12711" marR="12711" marT="12711" marB="0" anchor="b">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r>
                        <a:rPr lang="en" sz="1600" u="none" strike="noStrike" cap="none" dirty="0">
                          <a:latin typeface="Calibri"/>
                          <a:ea typeface="Calibri"/>
                          <a:cs typeface="Calibri"/>
                          <a:sym typeface="Calibri"/>
                        </a:rPr>
                        <a:t>✔</a:t>
                      </a:r>
                      <a:endParaRPr lang="en" sz="1600" b="0" i="0" u="none" strike="noStrike" cap="none" dirty="0">
                        <a:solidFill>
                          <a:srgbClr val="00000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p>
                      <a:pPr marL="0" marR="0" lvl="0" indent="0" algn="ctr" rtl="0">
                        <a:spcBef>
                          <a:spcPts val="0"/>
                        </a:spcBef>
                        <a:spcAft>
                          <a:spcPts val="0"/>
                        </a:spcAft>
                        <a:buNone/>
                      </a:pPr>
                      <a:r>
                        <a:rPr lang="en" sz="1600" u="none" strike="noStrike" cap="none" dirty="0">
                          <a:latin typeface="+mn-lt"/>
                          <a:ea typeface="Calibri"/>
                          <a:cs typeface="Calibri"/>
                          <a:sym typeface="Calibri"/>
                        </a:rPr>
                        <a:t>✔</a:t>
                      </a:r>
                      <a:endParaRPr lang="en" sz="1600" b="0" i="0" u="none" strike="noStrike" cap="none" dirty="0">
                        <a:solidFill>
                          <a:srgbClr val="000000"/>
                        </a:solidFill>
                        <a:latin typeface="+mn-lt"/>
                        <a:ea typeface="Calibri"/>
                        <a:cs typeface="Calibri"/>
                        <a:sym typeface="Calibri"/>
                      </a:endParaRPr>
                    </a:p>
                  </a:txBody>
                  <a:tcPr marL="12711" marR="12711" marT="12711" marB="0" anchor="b">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r>
                        <a:rPr lang="en" sz="1600" u="none" strike="noStrike" cap="none" dirty="0">
                          <a:latin typeface="Calibri"/>
                          <a:ea typeface="Calibri"/>
                          <a:cs typeface="Calibri"/>
                          <a:sym typeface="Calibri"/>
                        </a:rPr>
                        <a:t>✔</a:t>
                      </a:r>
                      <a:endParaRPr sz="1600" b="0" i="0" u="none" strike="noStrike" cap="none" dirty="0">
                        <a:solidFill>
                          <a:srgbClr val="00000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p>
                      <a:pPr marL="0" marR="0" lvl="0" indent="0" algn="ctr" rtl="0">
                        <a:spcBef>
                          <a:spcPts val="0"/>
                        </a:spcBef>
                        <a:spcAft>
                          <a:spcPts val="0"/>
                        </a:spcAft>
                        <a:buNone/>
                      </a:pPr>
                      <a:endParaRPr sz="1600" b="0" i="0" u="none" strike="noStrike" cap="none" dirty="0">
                        <a:solidFill>
                          <a:srgbClr val="00000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extLst>
                  <a:ext uri="{0D108BD9-81ED-4DB2-BD59-A6C34878D82A}">
                    <a16:rowId xmlns:a16="http://schemas.microsoft.com/office/drawing/2014/main" val="10003"/>
                  </a:ext>
                </a:extLst>
              </a:tr>
              <a:tr h="365760">
                <a:tc>
                  <a:txBody>
                    <a:bodyPr/>
                    <a:lstStyle/>
                    <a:p>
                      <a:pPr marL="91440" marR="0" lvl="0" indent="0" algn="l" defTabSz="914400" rtl="0" eaLnBrk="1" fontAlgn="auto" latinLnBrk="0" hangingPunct="1">
                        <a:lnSpc>
                          <a:spcPct val="100000"/>
                        </a:lnSpc>
                        <a:spcBef>
                          <a:spcPts val="0"/>
                        </a:spcBef>
                        <a:spcAft>
                          <a:spcPts val="0"/>
                        </a:spcAft>
                        <a:buClrTx/>
                        <a:buSzTx/>
                        <a:buFontTx/>
                        <a:buNone/>
                        <a:tabLst/>
                        <a:defRPr/>
                      </a:pPr>
                      <a:r>
                        <a:rPr lang="de-CH" sz="1600" u="none" strike="noStrike" cap="none" dirty="0">
                          <a:solidFill>
                            <a:schemeClr val="dk1"/>
                          </a:solidFill>
                          <a:latin typeface="+mn-lt"/>
                          <a:ea typeface="Calibri"/>
                          <a:cs typeface="Calibri"/>
                          <a:sym typeface="Calibri"/>
                        </a:rPr>
                        <a:t>draft-ietf-netconf-udp-notif</a:t>
                      </a:r>
                      <a:r>
                        <a:rPr lang="de-CH" sz="1600" u="none" strike="noStrike" cap="none" dirty="0">
                          <a:solidFill>
                            <a:schemeClr val="dk1"/>
                          </a:solidFill>
                          <a:latin typeface="Calibri"/>
                          <a:ea typeface="Calibri"/>
                          <a:cs typeface="Calibri"/>
                          <a:sym typeface="Calibri"/>
                        </a:rPr>
                        <a:t> </a:t>
                      </a:r>
                      <a:r>
                        <a:rPr lang="de-CH" sz="1600" u="none" strike="noStrike" cap="none" dirty="0" err="1">
                          <a:solidFill>
                            <a:schemeClr val="dk1"/>
                          </a:solidFill>
                          <a:latin typeface="Calibri"/>
                          <a:ea typeface="Calibri"/>
                          <a:cs typeface="Calibri"/>
                          <a:sym typeface="Calibri"/>
                        </a:rPr>
                        <a:t>with</a:t>
                      </a:r>
                      <a:r>
                        <a:rPr lang="de-CH" sz="1600" u="none" strike="noStrike" cap="none" dirty="0">
                          <a:solidFill>
                            <a:schemeClr val="dk1"/>
                          </a:solidFill>
                          <a:latin typeface="Calibri"/>
                          <a:ea typeface="Calibri"/>
                          <a:cs typeface="Calibri"/>
                          <a:sym typeface="Calibri"/>
                        </a:rPr>
                        <a:t> DTLS</a:t>
                      </a:r>
                      <a:endParaRPr lang="de-CH" sz="1600" u="none" strike="noStrike" cap="none" dirty="0">
                        <a:solidFill>
                          <a:schemeClr val="dk1"/>
                        </a:solidFill>
                        <a:latin typeface="+mn-lt"/>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p>
                      <a:pPr marL="0" marR="0" lvl="0" indent="0" algn="ctr" rtl="0">
                        <a:spcBef>
                          <a:spcPts val="0"/>
                        </a:spcBef>
                        <a:spcAft>
                          <a:spcPts val="0"/>
                        </a:spcAft>
                        <a:buNone/>
                      </a:pPr>
                      <a:endParaRPr sz="1600" b="0" i="0" u="none" strike="noStrike" cap="none">
                        <a:solidFill>
                          <a:srgbClr val="000000"/>
                        </a:solidFill>
                        <a:latin typeface="Calibri"/>
                        <a:ea typeface="Calibri"/>
                        <a:cs typeface="Calibri"/>
                        <a:sym typeface="Calibri"/>
                      </a:endParaRPr>
                    </a:p>
                  </a:txBody>
                  <a:tcPr marL="12711" marR="12711" marT="12711" marB="0" anchor="b">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p>
                      <a:pPr marL="0" marR="0" lvl="0" indent="0" algn="ctr" rtl="0">
                        <a:spcBef>
                          <a:spcPts val="0"/>
                        </a:spcBef>
                        <a:spcAft>
                          <a:spcPts val="0"/>
                        </a:spcAft>
                        <a:buNone/>
                      </a:pPr>
                      <a:endParaRPr sz="1600" b="0" i="0" u="none" strike="noStrike" cap="none" dirty="0">
                        <a:solidFill>
                          <a:srgbClr val="000000"/>
                        </a:solidFill>
                        <a:latin typeface="Calibri"/>
                        <a:ea typeface="Calibri"/>
                        <a:cs typeface="Calibri"/>
                        <a:sym typeface="Calibri"/>
                      </a:endParaRPr>
                    </a:p>
                  </a:txBody>
                  <a:tcPr marL="12711" marR="12711" marT="12711" marB="0" anchor="b">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p>
                      <a:pPr marL="0" marR="0" lvl="0" indent="0" algn="ctr" rtl="0">
                        <a:spcBef>
                          <a:spcPts val="0"/>
                        </a:spcBef>
                        <a:spcAft>
                          <a:spcPts val="0"/>
                        </a:spcAft>
                        <a:buNone/>
                      </a:pPr>
                      <a:endParaRPr lang="en" sz="1600" b="0" i="0" u="none" strike="noStrike" cap="none" dirty="0">
                        <a:solidFill>
                          <a:srgbClr val="000000"/>
                        </a:solidFill>
                        <a:latin typeface="Calibri"/>
                        <a:ea typeface="Calibri"/>
                        <a:cs typeface="Calibri"/>
                        <a:sym typeface="Calibri"/>
                      </a:endParaRPr>
                    </a:p>
                  </a:txBody>
                  <a:tcPr marL="12711" marR="12711" marT="12711" marB="0" anchor="b">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 sz="1600" u="none" strike="noStrike" cap="none" dirty="0">
                          <a:solidFill>
                            <a:srgbClr val="92D050"/>
                          </a:solidFill>
                          <a:latin typeface="+mn-lt"/>
                          <a:ea typeface="Calibri"/>
                          <a:cs typeface="Calibri"/>
                          <a:sym typeface="Calibri"/>
                        </a:rPr>
                        <a:t>✔</a:t>
                      </a:r>
                      <a:endParaRPr lang="en" sz="1600" b="0" i="0" u="none" strike="noStrike" cap="none" dirty="0">
                        <a:solidFill>
                          <a:srgbClr val="92D050"/>
                        </a:solidFill>
                        <a:latin typeface="+mn-lt"/>
                        <a:ea typeface="Calibri"/>
                        <a:cs typeface="Calibri"/>
                        <a:sym typeface="Calibri"/>
                      </a:endParaRPr>
                    </a:p>
                  </a:txBody>
                  <a:tcPr marL="12711" marR="12711" marT="12711" marB="0" anchor="b">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p>
                      <a:pPr marL="0" marR="0" lvl="0" indent="0" algn="ctr" rtl="0">
                        <a:spcBef>
                          <a:spcPts val="0"/>
                        </a:spcBef>
                        <a:spcAft>
                          <a:spcPts val="0"/>
                        </a:spcAft>
                        <a:buNone/>
                      </a:pPr>
                      <a:endParaRPr lang="en" sz="1600" b="0" i="0" u="none" strike="noStrike" cap="none" dirty="0">
                        <a:solidFill>
                          <a:srgbClr val="000000"/>
                        </a:solidFill>
                        <a:latin typeface="+mn-lt"/>
                        <a:ea typeface="Calibri"/>
                        <a:cs typeface="Calibri"/>
                        <a:sym typeface="Calibri"/>
                      </a:endParaRPr>
                    </a:p>
                  </a:txBody>
                  <a:tcPr marL="12711" marR="12711" marT="12711" marB="0" anchor="b">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p>
                      <a:pPr marL="0" marR="0" lvl="0" indent="0" algn="ctr" rtl="0">
                        <a:spcBef>
                          <a:spcPts val="0"/>
                        </a:spcBef>
                        <a:spcAft>
                          <a:spcPts val="0"/>
                        </a:spcAft>
                        <a:buNone/>
                      </a:pPr>
                      <a:endParaRPr sz="1600" b="0" i="0" u="none" strike="noStrike" cap="none" dirty="0">
                        <a:solidFill>
                          <a:srgbClr val="000000"/>
                        </a:solidFill>
                        <a:latin typeface="Calibri"/>
                        <a:ea typeface="Calibri"/>
                        <a:cs typeface="Calibri"/>
                        <a:sym typeface="Calibri"/>
                      </a:endParaRPr>
                    </a:p>
                  </a:txBody>
                  <a:tcPr marL="12711" marR="12711" marT="12711" marB="0" anchor="b">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p>
                      <a:pPr marL="0" marR="0" lvl="0" indent="0" algn="ctr" rtl="0">
                        <a:spcBef>
                          <a:spcPts val="0"/>
                        </a:spcBef>
                        <a:spcAft>
                          <a:spcPts val="0"/>
                        </a:spcAft>
                        <a:buNone/>
                      </a:pPr>
                      <a:endParaRPr sz="1600" b="0" i="0" u="none" strike="noStrike" cap="none" dirty="0">
                        <a:solidFill>
                          <a:srgbClr val="000000"/>
                        </a:solidFill>
                        <a:latin typeface="Calibri"/>
                        <a:ea typeface="Calibri"/>
                        <a:cs typeface="Calibri"/>
                        <a:sym typeface="Calibri"/>
                      </a:endParaRPr>
                    </a:p>
                  </a:txBody>
                  <a:tcPr marL="12711" marR="12711" marT="12711" marB="0" anchor="b">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extLst>
                  <a:ext uri="{0D108BD9-81ED-4DB2-BD59-A6C34878D82A}">
                    <a16:rowId xmlns:a16="http://schemas.microsoft.com/office/drawing/2014/main" val="518043927"/>
                  </a:ext>
                </a:extLst>
              </a:tr>
              <a:tr h="36576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0" algn="l" defTabSz="914400" rtl="0" eaLnBrk="1" fontAlgn="auto" latinLnBrk="0" hangingPunct="1">
                        <a:lnSpc>
                          <a:spcPct val="100000"/>
                        </a:lnSpc>
                        <a:spcBef>
                          <a:spcPts val="0"/>
                        </a:spcBef>
                        <a:spcAft>
                          <a:spcPts val="0"/>
                        </a:spcAft>
                        <a:buClrTx/>
                        <a:buSzTx/>
                        <a:buFontTx/>
                        <a:buNone/>
                        <a:tabLst/>
                        <a:defRPr/>
                      </a:pPr>
                      <a:r>
                        <a:rPr lang="de-CH" sz="1600" u="none" strike="noStrike" cap="none" dirty="0">
                          <a:solidFill>
                            <a:schemeClr val="dk1"/>
                          </a:solidFill>
                          <a:latin typeface="Calibri"/>
                          <a:ea typeface="Calibri"/>
                          <a:cs typeface="Calibri"/>
                          <a:sym typeface="Calibri"/>
                        </a:rPr>
                        <a:t>draft-</a:t>
                      </a:r>
                      <a:r>
                        <a:rPr lang="de-CH" sz="1600" u="none" strike="noStrike" cap="none" dirty="0" err="1">
                          <a:solidFill>
                            <a:schemeClr val="dk1"/>
                          </a:solidFill>
                          <a:latin typeface="Calibri"/>
                          <a:ea typeface="Calibri"/>
                          <a:cs typeface="Calibri"/>
                          <a:sym typeface="Calibri"/>
                        </a:rPr>
                        <a:t>ietf</a:t>
                      </a:r>
                      <a:r>
                        <a:rPr lang="de-CH" sz="1600" u="none" strike="noStrike" cap="none" dirty="0">
                          <a:solidFill>
                            <a:schemeClr val="dk1"/>
                          </a:solidFill>
                          <a:latin typeface="Calibri"/>
                          <a:ea typeface="Calibri"/>
                          <a:cs typeface="Calibri"/>
                          <a:sym typeface="Calibri"/>
                        </a:rPr>
                        <a:t>-netconf-</a:t>
                      </a:r>
                      <a:r>
                        <a:rPr lang="de-CH" sz="1600" u="none" strike="noStrike" cap="none" dirty="0" err="1">
                          <a:solidFill>
                            <a:schemeClr val="dk1"/>
                          </a:solidFill>
                          <a:latin typeface="Calibri"/>
                          <a:ea typeface="Calibri"/>
                          <a:cs typeface="Calibri"/>
                          <a:sym typeface="Calibri"/>
                        </a:rPr>
                        <a:t>distributed</a:t>
                      </a:r>
                      <a:r>
                        <a:rPr lang="de-CH" sz="1600" u="none" strike="noStrike" cap="none" dirty="0">
                          <a:solidFill>
                            <a:schemeClr val="dk1"/>
                          </a:solidFill>
                          <a:latin typeface="Calibri"/>
                          <a:ea typeface="Calibri"/>
                          <a:cs typeface="Calibri"/>
                          <a:sym typeface="Calibri"/>
                        </a:rPr>
                        <a:t>-</a:t>
                      </a:r>
                      <a:r>
                        <a:rPr lang="de-CH" sz="1600" u="none" strike="noStrike" cap="none" dirty="0" err="1">
                          <a:solidFill>
                            <a:schemeClr val="dk1"/>
                          </a:solidFill>
                          <a:latin typeface="Calibri"/>
                          <a:ea typeface="Calibri"/>
                          <a:cs typeface="Calibri"/>
                          <a:sym typeface="Calibri"/>
                        </a:rPr>
                        <a:t>notif</a:t>
                      </a:r>
                      <a:endParaRPr lang="de-CH" sz="1600" u="none" strike="noStrike" cap="none" dirty="0">
                        <a:solidFill>
                          <a:schemeClr val="dk1"/>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r>
                        <a:rPr lang="en" sz="1600" u="none" strike="noStrike" cap="none" dirty="0">
                          <a:latin typeface="Calibri"/>
                          <a:ea typeface="Calibri"/>
                          <a:cs typeface="Calibri"/>
                          <a:sym typeface="Calibri"/>
                        </a:rPr>
                        <a:t>✔</a:t>
                      </a:r>
                      <a:endParaRPr sz="1600" b="0" i="0" u="none" strike="noStrike" cap="none" dirty="0">
                        <a:solidFill>
                          <a:srgbClr val="00000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r>
                        <a:rPr lang="en" sz="1600" u="none" strike="noStrike" cap="none" dirty="0">
                          <a:latin typeface="Calibri"/>
                          <a:ea typeface="Calibri"/>
                          <a:cs typeface="Calibri"/>
                          <a:sym typeface="Calibri"/>
                        </a:rPr>
                        <a:t>✔</a:t>
                      </a:r>
                      <a:endParaRPr sz="1600" b="0" i="0" u="none" strike="noStrike" cap="none" dirty="0">
                        <a:solidFill>
                          <a:srgbClr val="00000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r>
                        <a:rPr lang="en" sz="1600" u="none" strike="noStrike" cap="none" dirty="0">
                          <a:latin typeface="Calibri"/>
                          <a:ea typeface="Calibri"/>
                          <a:cs typeface="Calibri"/>
                          <a:sym typeface="Calibri"/>
                        </a:rPr>
                        <a:t>✔</a:t>
                      </a:r>
                      <a:endParaRPr lang="en" sz="1600" b="0" i="0" u="none" strike="noStrike" cap="none" dirty="0">
                        <a:solidFill>
                          <a:srgbClr val="000000"/>
                        </a:solidFill>
                        <a:latin typeface="Calibri"/>
                        <a:ea typeface="Calibri"/>
                        <a:cs typeface="Calibri"/>
                        <a:sym typeface="Calibri"/>
                      </a:endParaRPr>
                    </a:p>
                  </a:txBody>
                  <a:tcPr marL="12711" marR="12711" marT="12711" marB="0" anchor="b">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endParaRPr lang="en" sz="1600" b="0" i="0" u="none" strike="noStrike" cap="none" dirty="0">
                        <a:solidFill>
                          <a:srgbClr val="00000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p>
                      <a:pPr marL="0" marR="0" lvl="0" indent="0" algn="ctr" rtl="0">
                        <a:spcBef>
                          <a:spcPts val="0"/>
                        </a:spcBef>
                        <a:spcAft>
                          <a:spcPts val="0"/>
                        </a:spcAft>
                        <a:buNone/>
                      </a:pPr>
                      <a:r>
                        <a:rPr lang="en" sz="1600" b="0" i="0" u="none" strike="noStrike" cap="none" dirty="0">
                          <a:solidFill>
                            <a:srgbClr val="000000"/>
                          </a:solidFill>
                          <a:latin typeface="Calibri"/>
                          <a:ea typeface="Calibri"/>
                          <a:cs typeface="Calibri"/>
                          <a:sym typeface="Calibri"/>
                        </a:rPr>
                        <a:t>na</a:t>
                      </a:r>
                    </a:p>
                  </a:txBody>
                  <a:tcPr marL="12711" marR="12711" marT="12711" marB="0" anchor="b">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lnSpc>
                          <a:spcPct val="100000"/>
                        </a:lnSpc>
                        <a:spcBef>
                          <a:spcPts val="0"/>
                        </a:spcBef>
                        <a:spcAft>
                          <a:spcPts val="0"/>
                        </a:spcAft>
                        <a:buClr>
                          <a:schemeClr val="dk1"/>
                        </a:buClr>
                        <a:buSzPts val="1400"/>
                        <a:buFont typeface="Calibri"/>
                        <a:buNone/>
                      </a:pPr>
                      <a:endParaRPr sz="1600" b="0" i="0" u="none" strike="noStrike" cap="none" dirty="0">
                        <a:solidFill>
                          <a:srgbClr val="FF000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p>
                      <a:pPr marL="0" marR="0" lvl="0" indent="0" algn="ctr" rtl="0">
                        <a:lnSpc>
                          <a:spcPct val="100000"/>
                        </a:lnSpc>
                        <a:spcBef>
                          <a:spcPts val="0"/>
                        </a:spcBef>
                        <a:spcAft>
                          <a:spcPts val="0"/>
                        </a:spcAft>
                        <a:buClr>
                          <a:schemeClr val="dk1"/>
                        </a:buClr>
                        <a:buSzPts val="1400"/>
                        <a:buFont typeface="Calibri"/>
                        <a:buNone/>
                      </a:pPr>
                      <a:endParaRPr sz="1600" b="0" i="0" u="none" strike="noStrike" cap="none" dirty="0">
                        <a:solidFill>
                          <a:srgbClr val="FF000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extLst>
                  <a:ext uri="{0D108BD9-81ED-4DB2-BD59-A6C34878D82A}">
                    <a16:rowId xmlns:a16="http://schemas.microsoft.com/office/drawing/2014/main" val="10004"/>
                  </a:ext>
                </a:extLst>
              </a:tr>
              <a:tr h="36576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0" algn="l" rtl="0">
                        <a:spcBef>
                          <a:spcPts val="0"/>
                        </a:spcBef>
                        <a:spcAft>
                          <a:spcPts val="0"/>
                        </a:spcAft>
                        <a:buNone/>
                      </a:pPr>
                      <a:r>
                        <a:rPr lang="de-CH" sz="1600" u="none" strike="noStrike" cap="none" dirty="0">
                          <a:solidFill>
                            <a:schemeClr val="dk1"/>
                          </a:solidFill>
                          <a:latin typeface="Calibri"/>
                          <a:ea typeface="Calibri"/>
                          <a:cs typeface="Calibri"/>
                          <a:sym typeface="Calibri"/>
                        </a:rPr>
                        <a:t>draft-</a:t>
                      </a:r>
                      <a:r>
                        <a:rPr lang="de-CH" sz="1600" u="none" strike="noStrike" cap="none" dirty="0" err="1">
                          <a:solidFill>
                            <a:schemeClr val="dk1"/>
                          </a:solidFill>
                          <a:latin typeface="Calibri"/>
                          <a:ea typeface="Calibri"/>
                          <a:cs typeface="Calibri"/>
                          <a:sym typeface="Calibri"/>
                        </a:rPr>
                        <a:t>ietf</a:t>
                      </a:r>
                      <a:r>
                        <a:rPr lang="de-CH" sz="1600" u="none" strike="noStrike" cap="none" dirty="0">
                          <a:solidFill>
                            <a:schemeClr val="dk1"/>
                          </a:solidFill>
                          <a:latin typeface="Calibri"/>
                          <a:ea typeface="Calibri"/>
                          <a:cs typeface="Calibri"/>
                          <a:sym typeface="Calibri"/>
                        </a:rPr>
                        <a:t>-netconf-</a:t>
                      </a:r>
                      <a:r>
                        <a:rPr lang="de-CH" sz="1600" u="none" strike="noStrike" cap="none" dirty="0" err="1">
                          <a:solidFill>
                            <a:schemeClr val="dk1"/>
                          </a:solidFill>
                          <a:latin typeface="Calibri"/>
                          <a:ea typeface="Calibri"/>
                          <a:cs typeface="Calibri"/>
                          <a:sym typeface="Calibri"/>
                        </a:rPr>
                        <a:t>notif</a:t>
                      </a:r>
                      <a:r>
                        <a:rPr lang="de-CH" sz="1600" u="none" strike="noStrike" cap="none" dirty="0">
                          <a:solidFill>
                            <a:schemeClr val="dk1"/>
                          </a:solidFill>
                          <a:latin typeface="Calibri"/>
                          <a:ea typeface="Calibri"/>
                          <a:cs typeface="Calibri"/>
                          <a:sym typeface="Calibri"/>
                        </a:rPr>
                        <a:t>-</a:t>
                      </a:r>
                      <a:r>
                        <a:rPr lang="de-CH" sz="1600" u="none" strike="noStrike" cap="none" dirty="0" err="1">
                          <a:solidFill>
                            <a:schemeClr val="dk1"/>
                          </a:solidFill>
                          <a:latin typeface="Calibri"/>
                          <a:ea typeface="Calibri"/>
                          <a:cs typeface="Calibri"/>
                          <a:sym typeface="Calibri"/>
                        </a:rPr>
                        <a:t>envelope</a:t>
                      </a:r>
                      <a:endParaRPr lang="de-CH" sz="1600" u="none" strike="noStrike" cap="none" dirty="0">
                        <a:solidFill>
                          <a:schemeClr val="dk1"/>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r>
                        <a:rPr lang="en" sz="1600" u="none" strike="noStrike" cap="none" dirty="0">
                          <a:latin typeface="Calibri"/>
                          <a:ea typeface="Calibri"/>
                          <a:cs typeface="Calibri"/>
                          <a:sym typeface="Calibri"/>
                        </a:rPr>
                        <a:t>✔</a:t>
                      </a:r>
                      <a:endParaRPr sz="1600" b="0" i="0" u="none" strike="noStrike" cap="none" dirty="0">
                        <a:solidFill>
                          <a:srgbClr val="00000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r>
                        <a:rPr lang="en" sz="1600" u="none" strike="noStrike" cap="none" dirty="0">
                          <a:latin typeface="Calibri"/>
                          <a:ea typeface="Calibri"/>
                          <a:cs typeface="Calibri"/>
                          <a:sym typeface="Calibri"/>
                        </a:rPr>
                        <a:t>✔</a:t>
                      </a:r>
                      <a:endParaRPr lang="en" sz="1600" b="0" i="0" u="none" strike="noStrike" cap="none" dirty="0">
                        <a:solidFill>
                          <a:srgbClr val="00000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r>
                        <a:rPr lang="en" sz="1600" u="none" strike="noStrike" cap="none" dirty="0">
                          <a:latin typeface="Calibri"/>
                          <a:ea typeface="Calibri"/>
                          <a:cs typeface="Calibri"/>
                          <a:sym typeface="Calibri"/>
                        </a:rPr>
                        <a:t>✔</a:t>
                      </a:r>
                      <a:endParaRPr lang="en" sz="1600" b="0" i="0" u="none" strike="noStrike" cap="none" dirty="0">
                        <a:solidFill>
                          <a:srgbClr val="000000"/>
                        </a:solidFill>
                        <a:latin typeface="Calibri"/>
                        <a:ea typeface="Calibri"/>
                        <a:cs typeface="Calibri"/>
                        <a:sym typeface="Calibri"/>
                      </a:endParaRPr>
                    </a:p>
                  </a:txBody>
                  <a:tcPr marL="12711" marR="12711" marT="12711" marB="0" anchor="b">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r>
                        <a:rPr lang="en" sz="1600" u="none" strike="noStrike" cap="none" dirty="0">
                          <a:latin typeface="Calibri"/>
                          <a:ea typeface="Calibri"/>
                          <a:cs typeface="Calibri"/>
                          <a:sym typeface="Calibri"/>
                        </a:rPr>
                        <a:t>✔</a:t>
                      </a:r>
                      <a:endParaRPr lang="en" sz="1600" b="0" i="0" u="none" strike="noStrike" cap="none" dirty="0">
                        <a:solidFill>
                          <a:srgbClr val="00000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p>
                      <a:pPr marL="0" marR="0" lvl="0" indent="0" algn="ctr" rtl="0">
                        <a:spcBef>
                          <a:spcPts val="0"/>
                        </a:spcBef>
                        <a:spcAft>
                          <a:spcPts val="0"/>
                        </a:spcAft>
                        <a:buNone/>
                      </a:pPr>
                      <a:r>
                        <a:rPr lang="en" sz="1600" u="none" strike="noStrike" cap="none" dirty="0">
                          <a:latin typeface="+mn-lt"/>
                          <a:ea typeface="Calibri"/>
                          <a:cs typeface="Calibri"/>
                          <a:sym typeface="Calibri"/>
                        </a:rPr>
                        <a:t>✔</a:t>
                      </a:r>
                      <a:endParaRPr lang="en" sz="1600" b="0" i="0" u="none" strike="noStrike" cap="none" dirty="0">
                        <a:solidFill>
                          <a:srgbClr val="000000"/>
                        </a:solidFill>
                        <a:latin typeface="+mn-lt"/>
                        <a:ea typeface="Calibri"/>
                        <a:cs typeface="Calibri"/>
                        <a:sym typeface="Calibri"/>
                      </a:endParaRPr>
                    </a:p>
                  </a:txBody>
                  <a:tcPr marL="12711" marR="12711" marT="12711" marB="0" anchor="b">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lnSpc>
                          <a:spcPct val="100000"/>
                        </a:lnSpc>
                        <a:spcBef>
                          <a:spcPts val="0"/>
                        </a:spcBef>
                        <a:spcAft>
                          <a:spcPts val="0"/>
                        </a:spcAft>
                        <a:buClr>
                          <a:schemeClr val="dk1"/>
                        </a:buClr>
                        <a:buSzPts val="1400"/>
                        <a:buFont typeface="Calibri"/>
                        <a:buNone/>
                      </a:pPr>
                      <a:endParaRPr sz="1600" b="0" i="0" u="none" strike="noStrike" cap="none" dirty="0">
                        <a:solidFill>
                          <a:srgbClr val="FF000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400"/>
                        <a:buFont typeface="Calibri"/>
                        <a:buNone/>
                        <a:tabLst/>
                        <a:defRPr/>
                      </a:pPr>
                      <a:r>
                        <a:rPr lang="de-CH" sz="1600" b="0" i="0" u="none" strike="noStrike" cap="none" dirty="0">
                          <a:solidFill>
                            <a:schemeClr val="accent6"/>
                          </a:solidFill>
                          <a:latin typeface="+mn-lt"/>
                          <a:ea typeface="Calibri"/>
                          <a:cs typeface="Calibri"/>
                          <a:sym typeface="Calibri"/>
                        </a:rPr>
                        <a:t>P</a:t>
                      </a:r>
                      <a:endParaRPr lang="de-CH" sz="1600" b="0" i="0" u="none" strike="noStrike" cap="none" dirty="0">
                        <a:solidFill>
                          <a:schemeClr val="accent6"/>
                        </a:solidFill>
                        <a:latin typeface="+mn-lt"/>
                        <a:ea typeface="Calibri"/>
                        <a:cs typeface="Calibri"/>
                        <a:sym typeface="Arial"/>
                      </a:endParaRPr>
                    </a:p>
                  </a:txBody>
                  <a:tcPr marL="12711" marR="12711" marT="12711"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extLst>
                  <a:ext uri="{0D108BD9-81ED-4DB2-BD59-A6C34878D82A}">
                    <a16:rowId xmlns:a16="http://schemas.microsoft.com/office/drawing/2014/main" val="10005"/>
                  </a:ext>
                </a:extLst>
              </a:tr>
              <a:tr h="36576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0" algn="l" defTabSz="914400" rtl="0" eaLnBrk="1" fontAlgn="auto" latinLnBrk="0" hangingPunct="1">
                        <a:lnSpc>
                          <a:spcPct val="100000"/>
                        </a:lnSpc>
                        <a:spcBef>
                          <a:spcPts val="0"/>
                        </a:spcBef>
                        <a:spcAft>
                          <a:spcPts val="0"/>
                        </a:spcAft>
                        <a:buClrTx/>
                        <a:buSzTx/>
                        <a:buFontTx/>
                        <a:buNone/>
                        <a:tabLst/>
                        <a:defRPr/>
                      </a:pPr>
                      <a:r>
                        <a:rPr lang="de-CH" sz="1600" u="none" strike="noStrike" cap="none" dirty="0">
                          <a:solidFill>
                            <a:schemeClr val="dk1"/>
                          </a:solidFill>
                          <a:latin typeface="Calibri"/>
                          <a:ea typeface="Calibri"/>
                          <a:cs typeface="Calibri"/>
                          <a:sym typeface="Calibri"/>
                        </a:rPr>
                        <a:t>draft-</a:t>
                      </a:r>
                      <a:r>
                        <a:rPr lang="de-CH" sz="1600" u="none" strike="noStrike" cap="none" dirty="0" err="1">
                          <a:solidFill>
                            <a:schemeClr val="dk1"/>
                          </a:solidFill>
                          <a:latin typeface="Calibri"/>
                          <a:ea typeface="Calibri"/>
                          <a:cs typeface="Calibri"/>
                          <a:sym typeface="Calibri"/>
                        </a:rPr>
                        <a:t>ietf</a:t>
                      </a:r>
                      <a:r>
                        <a:rPr lang="de-CH" sz="1600" u="none" strike="noStrike" cap="none" dirty="0">
                          <a:solidFill>
                            <a:schemeClr val="dk1"/>
                          </a:solidFill>
                          <a:latin typeface="Calibri"/>
                          <a:ea typeface="Calibri"/>
                          <a:cs typeface="Calibri"/>
                          <a:sym typeface="Calibri"/>
                        </a:rPr>
                        <a:t>-netconf-</a:t>
                      </a:r>
                      <a:r>
                        <a:rPr lang="de-CH" sz="1600" u="none" strike="noStrike" cap="none" dirty="0" err="1">
                          <a:solidFill>
                            <a:schemeClr val="dk1"/>
                          </a:solidFill>
                          <a:latin typeface="Calibri"/>
                          <a:ea typeface="Calibri"/>
                          <a:cs typeface="Calibri"/>
                          <a:sym typeface="Calibri"/>
                        </a:rPr>
                        <a:t>yang</a:t>
                      </a:r>
                      <a:r>
                        <a:rPr lang="de-CH" sz="1600" u="none" strike="noStrike" cap="none" dirty="0">
                          <a:solidFill>
                            <a:schemeClr val="dk1"/>
                          </a:solidFill>
                          <a:latin typeface="Calibri"/>
                          <a:ea typeface="Calibri"/>
                          <a:cs typeface="Calibri"/>
                          <a:sym typeface="Calibri"/>
                        </a:rPr>
                        <a:t>-</a:t>
                      </a:r>
                      <a:r>
                        <a:rPr lang="de-CH" sz="1600" u="none" strike="noStrike" cap="none" dirty="0" err="1">
                          <a:solidFill>
                            <a:schemeClr val="dk1"/>
                          </a:solidFill>
                          <a:latin typeface="Calibri"/>
                          <a:ea typeface="Calibri"/>
                          <a:cs typeface="Calibri"/>
                          <a:sym typeface="Calibri"/>
                        </a:rPr>
                        <a:t>notifications-versioning</a:t>
                      </a:r>
                      <a:endParaRPr lang="de-CH" sz="1600" u="none" strike="noStrike" cap="none" dirty="0">
                        <a:solidFill>
                          <a:schemeClr val="dk1"/>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r>
                        <a:rPr lang="en" sz="1600" u="none" strike="noStrike" cap="none">
                          <a:latin typeface="Calibri"/>
                          <a:ea typeface="Calibri"/>
                          <a:cs typeface="Calibri"/>
                          <a:sym typeface="Calibri"/>
                        </a:rPr>
                        <a:t>✔</a:t>
                      </a:r>
                      <a:endParaRPr sz="1600" b="0" i="0" u="none" strike="noStrike" cap="none">
                        <a:solidFill>
                          <a:srgbClr val="00000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r>
                        <a:rPr lang="en" sz="1600" u="none" strike="noStrike" cap="none" dirty="0">
                          <a:latin typeface="Calibri"/>
                          <a:ea typeface="Calibri"/>
                          <a:cs typeface="Calibri"/>
                          <a:sym typeface="Calibri"/>
                        </a:rPr>
                        <a:t>✔</a:t>
                      </a:r>
                      <a:endParaRPr lang="en" sz="1600" b="0" i="0" u="none" strike="noStrike" cap="none" dirty="0">
                        <a:solidFill>
                          <a:srgbClr val="00000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r>
                        <a:rPr lang="en" sz="1600" u="none" strike="noStrike" cap="none" dirty="0">
                          <a:latin typeface="Calibri"/>
                          <a:ea typeface="Calibri"/>
                          <a:cs typeface="Calibri"/>
                          <a:sym typeface="Calibri"/>
                        </a:rPr>
                        <a:t>✔</a:t>
                      </a:r>
                      <a:endParaRPr lang="en" sz="1600" b="0" i="0" u="none" strike="noStrike" cap="none" dirty="0">
                        <a:solidFill>
                          <a:srgbClr val="000000"/>
                        </a:solidFill>
                        <a:latin typeface="Calibri"/>
                        <a:ea typeface="Calibri"/>
                        <a:cs typeface="Calibri"/>
                        <a:sym typeface="Calibri"/>
                      </a:endParaRPr>
                    </a:p>
                  </a:txBody>
                  <a:tcPr marL="12711" marR="12711" marT="12711" marB="0" anchor="b">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r>
                        <a:rPr lang="en" sz="1600" u="none" strike="noStrike" cap="none" dirty="0">
                          <a:latin typeface="Calibri"/>
                          <a:ea typeface="Calibri"/>
                          <a:cs typeface="Calibri"/>
                          <a:sym typeface="Calibri"/>
                        </a:rPr>
                        <a:t>✔</a:t>
                      </a:r>
                      <a:endParaRPr lang="en" sz="1600" b="0" i="0" u="none" strike="noStrike" cap="none" dirty="0">
                        <a:solidFill>
                          <a:srgbClr val="00000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p>
                      <a:pPr marL="0" marR="0" lvl="0" indent="0" algn="ctr" rtl="0">
                        <a:spcBef>
                          <a:spcPts val="0"/>
                        </a:spcBef>
                        <a:spcAft>
                          <a:spcPts val="0"/>
                        </a:spcAft>
                        <a:buNone/>
                      </a:pPr>
                      <a:r>
                        <a:rPr lang="en" sz="1600" u="none" strike="noStrike" cap="none" dirty="0">
                          <a:latin typeface="+mn-lt"/>
                          <a:ea typeface="Calibri"/>
                          <a:cs typeface="Calibri"/>
                          <a:sym typeface="Calibri"/>
                        </a:rPr>
                        <a:t>✔</a:t>
                      </a:r>
                      <a:endParaRPr lang="en" sz="1600" b="0" i="0" u="none" strike="noStrike" cap="none" dirty="0">
                        <a:solidFill>
                          <a:srgbClr val="000000"/>
                        </a:solidFill>
                        <a:latin typeface="+mn-lt"/>
                        <a:ea typeface="Calibri"/>
                        <a:cs typeface="Calibri"/>
                        <a:sym typeface="Calibri"/>
                      </a:endParaRPr>
                    </a:p>
                  </a:txBody>
                  <a:tcPr marL="12711" marR="12711" marT="12711" marB="0" anchor="b">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lnSpc>
                          <a:spcPct val="100000"/>
                        </a:lnSpc>
                        <a:spcBef>
                          <a:spcPts val="0"/>
                        </a:spcBef>
                        <a:spcAft>
                          <a:spcPts val="0"/>
                        </a:spcAft>
                        <a:buClr>
                          <a:schemeClr val="dk1"/>
                        </a:buClr>
                        <a:buSzPts val="1400"/>
                        <a:buFont typeface="Calibri"/>
                        <a:buNone/>
                      </a:pPr>
                      <a:endParaRPr sz="1600" b="0" i="0" u="none" strike="noStrike" cap="none" dirty="0">
                        <a:solidFill>
                          <a:srgbClr val="FF000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p>
                      <a:pPr marL="0" marR="0" lvl="0" indent="0" algn="ctr" rtl="0">
                        <a:lnSpc>
                          <a:spcPct val="100000"/>
                        </a:lnSpc>
                        <a:spcBef>
                          <a:spcPts val="0"/>
                        </a:spcBef>
                        <a:spcAft>
                          <a:spcPts val="0"/>
                        </a:spcAft>
                        <a:buClr>
                          <a:schemeClr val="dk1"/>
                        </a:buClr>
                        <a:buSzPts val="1400"/>
                        <a:buFont typeface="Calibri"/>
                        <a:buNone/>
                      </a:pPr>
                      <a:endParaRPr sz="1600" b="0" i="0" u="none" strike="noStrike" cap="none" dirty="0">
                        <a:solidFill>
                          <a:srgbClr val="FF000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extLst>
                  <a:ext uri="{0D108BD9-81ED-4DB2-BD59-A6C34878D82A}">
                    <a16:rowId xmlns:a16="http://schemas.microsoft.com/office/drawing/2014/main" val="10006"/>
                  </a:ext>
                </a:extLst>
              </a:tr>
              <a:tr h="36576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0" algn="l" rtl="0">
                        <a:lnSpc>
                          <a:spcPct val="100000"/>
                        </a:lnSpc>
                        <a:spcBef>
                          <a:spcPts val="0"/>
                        </a:spcBef>
                        <a:spcAft>
                          <a:spcPts val="0"/>
                        </a:spcAft>
                        <a:buClr>
                          <a:schemeClr val="dk1"/>
                        </a:buClr>
                        <a:buSzPts val="1400"/>
                        <a:buFont typeface="Calibri"/>
                        <a:buNone/>
                      </a:pPr>
                      <a:r>
                        <a:rPr lang="en" sz="1600" u="none" strike="noStrike" cap="none" dirty="0">
                          <a:solidFill>
                            <a:schemeClr val="dk1"/>
                          </a:solidFill>
                          <a:latin typeface="Calibri"/>
                          <a:ea typeface="Calibri"/>
                          <a:cs typeface="Calibri"/>
                          <a:sym typeface="Calibri"/>
                        </a:rPr>
                        <a:t>RFC 8525 YANG Library</a:t>
                      </a:r>
                      <a:endParaRPr sz="1600" dirty="0"/>
                    </a:p>
                  </a:txBody>
                  <a:tcPr marL="12711" marR="12711" marT="12711" marB="0" anchor="b">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r>
                        <a:rPr lang="en" sz="1600" u="none" strike="noStrike" cap="none">
                          <a:latin typeface="Calibri"/>
                          <a:ea typeface="Calibri"/>
                          <a:cs typeface="Calibri"/>
                          <a:sym typeface="Calibri"/>
                        </a:rPr>
                        <a:t>✔</a:t>
                      </a:r>
                      <a:endParaRPr sz="1600" b="0" i="0" u="none" strike="noStrike" cap="none">
                        <a:solidFill>
                          <a:srgbClr val="000000"/>
                        </a:solidFill>
                        <a:latin typeface="Calibri"/>
                        <a:ea typeface="Calibri"/>
                        <a:cs typeface="Calibri"/>
                        <a:sym typeface="Calibri"/>
                      </a:endParaRPr>
                    </a:p>
                  </a:txBody>
                  <a:tcPr marL="12711" marR="12711" marT="12711" marB="0" anchor="b">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r>
                        <a:rPr lang="en" sz="1600" u="none" strike="noStrike" cap="none" dirty="0">
                          <a:latin typeface="Calibri"/>
                          <a:ea typeface="Calibri"/>
                          <a:cs typeface="Calibri"/>
                          <a:sym typeface="Calibri"/>
                        </a:rPr>
                        <a:t>✔</a:t>
                      </a:r>
                      <a:endParaRPr lang="en" sz="1600" b="0" i="0" u="none" strike="noStrike" cap="none" dirty="0">
                        <a:solidFill>
                          <a:srgbClr val="000000"/>
                        </a:solidFill>
                        <a:latin typeface="Calibri"/>
                        <a:ea typeface="Calibri"/>
                        <a:cs typeface="Calibri"/>
                        <a:sym typeface="Calibri"/>
                      </a:endParaRPr>
                    </a:p>
                  </a:txBody>
                  <a:tcPr marL="12711" marR="12711" marT="12711" marB="0" anchor="b">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r>
                        <a:rPr lang="en" sz="1600" u="none" strike="noStrike" cap="none" dirty="0">
                          <a:latin typeface="Calibri"/>
                          <a:ea typeface="Calibri"/>
                          <a:cs typeface="Calibri"/>
                          <a:sym typeface="Calibri"/>
                        </a:rPr>
                        <a:t>✔</a:t>
                      </a:r>
                      <a:endParaRPr lang="en" sz="1600" b="0" i="0" u="none" strike="noStrike" cap="none" dirty="0">
                        <a:solidFill>
                          <a:srgbClr val="000000"/>
                        </a:solidFill>
                        <a:latin typeface="Calibri"/>
                        <a:ea typeface="Calibri"/>
                        <a:cs typeface="Calibri"/>
                        <a:sym typeface="Calibri"/>
                      </a:endParaRPr>
                    </a:p>
                  </a:txBody>
                  <a:tcPr marL="12711" marR="12711" marT="12711" marB="0" anchor="b">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r>
                        <a:rPr lang="en" sz="1600" u="none" strike="noStrike" cap="none" dirty="0">
                          <a:latin typeface="Calibri"/>
                          <a:ea typeface="Calibri"/>
                          <a:cs typeface="Calibri"/>
                          <a:sym typeface="Calibri"/>
                        </a:rPr>
                        <a:t>✔</a:t>
                      </a:r>
                      <a:endParaRPr sz="1600" b="0" i="0" u="none" strike="noStrike" cap="none" dirty="0">
                        <a:solidFill>
                          <a:srgbClr val="000000"/>
                        </a:solidFill>
                        <a:latin typeface="Calibri"/>
                        <a:ea typeface="Calibri"/>
                        <a:cs typeface="Calibri"/>
                        <a:sym typeface="Calibri"/>
                      </a:endParaRPr>
                    </a:p>
                  </a:txBody>
                  <a:tcPr marL="12711" marR="12711" marT="12711" marB="0" anchor="b">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 sz="1600" u="none" strike="noStrike" cap="none" dirty="0">
                          <a:latin typeface="Calibri"/>
                          <a:ea typeface="Calibri"/>
                          <a:cs typeface="Calibri"/>
                          <a:sym typeface="Calibri"/>
                        </a:rPr>
                        <a:t>✔</a:t>
                      </a:r>
                      <a:endParaRPr lang="en" sz="1600" b="0" i="0" u="none" strike="noStrike" cap="none" dirty="0">
                        <a:solidFill>
                          <a:srgbClr val="000000"/>
                        </a:solidFill>
                        <a:latin typeface="Calibri"/>
                        <a:ea typeface="Calibri"/>
                        <a:cs typeface="Calibri"/>
                        <a:sym typeface="Calibri"/>
                      </a:endParaRPr>
                    </a:p>
                  </a:txBody>
                  <a:tcPr marL="12711" marR="12711" marT="12711" marB="0" anchor="b">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endParaRPr sz="1600" b="0" i="0" u="none" strike="noStrike" cap="none" dirty="0">
                        <a:solidFill>
                          <a:srgbClr val="000000"/>
                        </a:solidFill>
                        <a:latin typeface="Calibri"/>
                        <a:ea typeface="Calibri"/>
                        <a:cs typeface="Calibri"/>
                        <a:sym typeface="Calibri"/>
                      </a:endParaRPr>
                    </a:p>
                  </a:txBody>
                  <a:tcPr marL="12711" marR="12711" marT="12711" marB="0" anchor="b">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 sz="1600" u="none" strike="noStrike" cap="none" dirty="0">
                          <a:solidFill>
                            <a:srgbClr val="92D050"/>
                          </a:solidFill>
                          <a:latin typeface="+mn-lt"/>
                          <a:ea typeface="Calibri"/>
                          <a:cs typeface="Calibri"/>
                          <a:sym typeface="Calibri"/>
                        </a:rPr>
                        <a:t>✔</a:t>
                      </a:r>
                      <a:endParaRPr lang="en" sz="1600" b="0" i="0" u="none" strike="noStrike" cap="none" dirty="0">
                        <a:solidFill>
                          <a:srgbClr val="92D050"/>
                        </a:solidFill>
                        <a:latin typeface="+mn-lt"/>
                        <a:ea typeface="Calibri"/>
                        <a:cs typeface="Calibri"/>
                        <a:sym typeface="Calibri"/>
                      </a:endParaRPr>
                    </a:p>
                  </a:txBody>
                  <a:tcPr marL="12711" marR="12711" marT="12711" marB="0" anchor="b">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extLst>
                  <a:ext uri="{0D108BD9-81ED-4DB2-BD59-A6C34878D82A}">
                    <a16:rowId xmlns:a16="http://schemas.microsoft.com/office/drawing/2014/main" val="10008"/>
                  </a:ext>
                </a:extLst>
              </a:tr>
              <a:tr h="36576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0" algn="l" rtl="0">
                        <a:spcBef>
                          <a:spcPts val="0"/>
                        </a:spcBef>
                        <a:spcAft>
                          <a:spcPts val="0"/>
                        </a:spcAft>
                        <a:buNone/>
                      </a:pPr>
                      <a:r>
                        <a:rPr lang="en" sz="1600" u="none" strike="noStrike" cap="none">
                          <a:solidFill>
                            <a:schemeClr val="dk1"/>
                          </a:solidFill>
                          <a:latin typeface="Calibri"/>
                          <a:ea typeface="Calibri"/>
                          <a:cs typeface="Calibri"/>
                          <a:sym typeface="Calibri"/>
                        </a:rPr>
                        <a:t>draft-ietf-netconf-yang-library-augmentation</a:t>
                      </a:r>
                      <a:endParaRPr sz="1600"/>
                    </a:p>
                  </a:txBody>
                  <a:tcPr marL="12711" marR="12711" marT="12711" marB="0" anchor="b">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auto" latinLnBrk="0" hangingPunct="1">
                        <a:lnSpc>
                          <a:spcPct val="100000"/>
                        </a:lnSpc>
                        <a:spcBef>
                          <a:spcPts val="0"/>
                        </a:spcBef>
                        <a:spcAft>
                          <a:spcPts val="0"/>
                        </a:spcAft>
                        <a:buClr>
                          <a:schemeClr val="dk1"/>
                        </a:buClr>
                        <a:buSzPts val="1400"/>
                        <a:buFont typeface="Calibri"/>
                        <a:buNone/>
                        <a:tabLst/>
                        <a:defRPr/>
                      </a:pPr>
                      <a:r>
                        <a:rPr lang="en" sz="1600" u="none" strike="noStrike" cap="none" dirty="0">
                          <a:latin typeface="Calibri"/>
                          <a:ea typeface="Calibri"/>
                          <a:cs typeface="Calibri"/>
                          <a:sym typeface="Calibri"/>
                        </a:rPr>
                        <a:t>✔</a:t>
                      </a:r>
                      <a:endParaRPr lang="en" sz="1600" b="0" i="0" u="none" strike="noStrike" cap="none" dirty="0">
                        <a:solidFill>
                          <a:srgbClr val="00000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r>
                        <a:rPr lang="en" sz="1600" u="none" strike="noStrike" cap="none" dirty="0">
                          <a:latin typeface="Calibri"/>
                          <a:ea typeface="Calibri"/>
                          <a:cs typeface="Calibri"/>
                          <a:sym typeface="Calibri"/>
                        </a:rPr>
                        <a:t>✔</a:t>
                      </a:r>
                      <a:endParaRPr lang="en" sz="1600" b="0" i="0" u="none" strike="noStrike" cap="none" dirty="0">
                        <a:solidFill>
                          <a:srgbClr val="00000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r>
                        <a:rPr lang="en" sz="1600" u="none" strike="noStrike" cap="none" dirty="0">
                          <a:latin typeface="Calibri"/>
                          <a:ea typeface="Calibri"/>
                          <a:cs typeface="Calibri"/>
                          <a:sym typeface="Calibri"/>
                        </a:rPr>
                        <a:t>✔</a:t>
                      </a:r>
                      <a:endParaRPr lang="en" sz="1600" b="0" i="0" u="none" strike="noStrike" cap="none" dirty="0">
                        <a:solidFill>
                          <a:srgbClr val="000000"/>
                        </a:solidFill>
                        <a:latin typeface="Calibri"/>
                        <a:ea typeface="Calibri"/>
                        <a:cs typeface="Calibri"/>
                        <a:sym typeface="Calibri"/>
                      </a:endParaRPr>
                    </a:p>
                  </a:txBody>
                  <a:tcPr marL="12711" marR="12711" marT="12711" marB="0" anchor="b">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r>
                        <a:rPr lang="en" sz="1600" u="none" strike="noStrike" cap="none" dirty="0">
                          <a:latin typeface="Calibri"/>
                          <a:ea typeface="Calibri"/>
                          <a:cs typeface="Calibri"/>
                          <a:sym typeface="Calibri"/>
                        </a:rPr>
                        <a:t>✔</a:t>
                      </a:r>
                      <a:endParaRPr lang="en" sz="1600" b="0" i="0" u="none" strike="noStrike" cap="none" dirty="0">
                        <a:solidFill>
                          <a:srgbClr val="00000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p>
                      <a:pPr marL="0" marR="0" lvl="0" indent="0" algn="ctr" rtl="0">
                        <a:spcBef>
                          <a:spcPts val="0"/>
                        </a:spcBef>
                        <a:spcAft>
                          <a:spcPts val="0"/>
                        </a:spcAft>
                        <a:buNone/>
                      </a:pPr>
                      <a:endParaRPr lang="en" sz="1600" b="0" i="0" u="none" strike="noStrike" cap="none" dirty="0">
                        <a:solidFill>
                          <a:srgbClr val="000000"/>
                        </a:solidFill>
                        <a:latin typeface="Calibri"/>
                        <a:ea typeface="Calibri"/>
                        <a:cs typeface="Calibri"/>
                        <a:sym typeface="Calibri"/>
                      </a:endParaRPr>
                    </a:p>
                  </a:txBody>
                  <a:tcPr marL="12711" marR="12711" marT="12711" marB="0" anchor="b">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r>
                        <a:rPr lang="en" sz="1600" u="none" strike="noStrike" cap="none" dirty="0">
                          <a:latin typeface="Calibri"/>
                          <a:ea typeface="Calibri"/>
                          <a:cs typeface="Calibri"/>
                          <a:sym typeface="Calibri"/>
                        </a:rPr>
                        <a:t>✔</a:t>
                      </a:r>
                      <a:endParaRPr sz="1600" b="0" i="0" u="none" strike="noStrike" cap="none" dirty="0">
                        <a:solidFill>
                          <a:srgbClr val="00000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 sz="1600" u="none" strike="noStrike" cap="none" dirty="0">
                          <a:solidFill>
                            <a:srgbClr val="92D050"/>
                          </a:solidFill>
                          <a:latin typeface="+mn-lt"/>
                          <a:ea typeface="Calibri"/>
                          <a:cs typeface="Calibri"/>
                          <a:sym typeface="Calibri"/>
                        </a:rPr>
                        <a:t>✔</a:t>
                      </a:r>
                      <a:endParaRPr lang="en" sz="1600" b="0" i="0" u="none" strike="noStrike" cap="none" dirty="0">
                        <a:solidFill>
                          <a:srgbClr val="92D050"/>
                        </a:solidFill>
                        <a:latin typeface="+mn-lt"/>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extLst>
                  <a:ext uri="{0D108BD9-81ED-4DB2-BD59-A6C34878D82A}">
                    <a16:rowId xmlns:a16="http://schemas.microsoft.com/office/drawing/2014/main" val="10009"/>
                  </a:ext>
                </a:extLst>
              </a:tr>
              <a:tr h="36576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0" algn="l" rtl="0">
                        <a:spcBef>
                          <a:spcPts val="0"/>
                        </a:spcBef>
                        <a:spcAft>
                          <a:spcPts val="0"/>
                        </a:spcAft>
                        <a:buNone/>
                      </a:pPr>
                      <a:r>
                        <a:rPr lang="en" sz="1600" u="none" strike="noStrike" cap="none" dirty="0">
                          <a:solidFill>
                            <a:schemeClr val="dk1"/>
                          </a:solidFill>
                          <a:latin typeface="Calibri"/>
                          <a:ea typeface="Calibri"/>
                          <a:cs typeface="Calibri"/>
                          <a:sym typeface="Calibri"/>
                        </a:rPr>
                        <a:t>RFC 9196 System and Notification Capabilities</a:t>
                      </a:r>
                      <a:endParaRPr sz="1600" u="none" strike="noStrike" cap="none" dirty="0">
                        <a:solidFill>
                          <a:schemeClr val="dk1"/>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auto" latinLnBrk="0" hangingPunct="1">
                        <a:lnSpc>
                          <a:spcPct val="100000"/>
                        </a:lnSpc>
                        <a:spcBef>
                          <a:spcPts val="0"/>
                        </a:spcBef>
                        <a:spcAft>
                          <a:spcPts val="0"/>
                        </a:spcAft>
                        <a:buClr>
                          <a:schemeClr val="dk1"/>
                        </a:buClr>
                        <a:buSzPts val="1400"/>
                        <a:buFont typeface="Calibri"/>
                        <a:buNone/>
                        <a:tabLst/>
                        <a:defRPr/>
                      </a:pPr>
                      <a:endParaRPr lang="en" sz="1600" b="0" i="0" u="none" strike="noStrike" cap="none" dirty="0">
                        <a:solidFill>
                          <a:srgbClr val="00000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lnSpc>
                          <a:spcPct val="100000"/>
                        </a:lnSpc>
                        <a:spcBef>
                          <a:spcPts val="0"/>
                        </a:spcBef>
                        <a:spcAft>
                          <a:spcPts val="0"/>
                        </a:spcAft>
                        <a:buClr>
                          <a:schemeClr val="dk1"/>
                        </a:buClr>
                        <a:buSzPts val="1400"/>
                        <a:buFont typeface="Calibri"/>
                        <a:buNone/>
                      </a:pPr>
                      <a:endParaRPr sz="1600" b="0" i="0" u="none" strike="noStrike" cap="none" dirty="0">
                        <a:solidFill>
                          <a:srgbClr val="FF000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r>
                        <a:rPr lang="en" sz="1600" u="none" strike="noStrike" cap="none" dirty="0">
                          <a:latin typeface="Calibri"/>
                          <a:ea typeface="Calibri"/>
                          <a:cs typeface="Calibri"/>
                          <a:sym typeface="Calibri"/>
                        </a:rPr>
                        <a:t>✔</a:t>
                      </a:r>
                      <a:endParaRPr lang="en" sz="1600" b="0" i="0" u="none" strike="noStrike" cap="none" dirty="0">
                        <a:solidFill>
                          <a:srgbClr val="000000"/>
                        </a:solidFill>
                        <a:latin typeface="Calibri"/>
                        <a:ea typeface="Calibri"/>
                        <a:cs typeface="Calibri"/>
                        <a:sym typeface="Calibri"/>
                      </a:endParaRPr>
                    </a:p>
                  </a:txBody>
                  <a:tcPr marL="12711" marR="12711" marT="12711" marB="0" anchor="b">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auto" latinLnBrk="0" hangingPunct="1">
                        <a:lnSpc>
                          <a:spcPct val="100000"/>
                        </a:lnSpc>
                        <a:spcBef>
                          <a:spcPts val="0"/>
                        </a:spcBef>
                        <a:spcAft>
                          <a:spcPts val="0"/>
                        </a:spcAft>
                        <a:buClr>
                          <a:schemeClr val="dk1"/>
                        </a:buClr>
                        <a:buSzPts val="1400"/>
                        <a:buFont typeface="Calibri"/>
                        <a:buNone/>
                        <a:tabLst/>
                        <a:defRPr/>
                      </a:pPr>
                      <a:r>
                        <a:rPr lang="de-CH" sz="1600" b="0" i="0" u="none" strike="noStrike" cap="none" dirty="0">
                          <a:solidFill>
                            <a:schemeClr val="tx1"/>
                          </a:solidFill>
                          <a:latin typeface="Calibri"/>
                          <a:ea typeface="Calibri"/>
                          <a:cs typeface="Calibri"/>
                          <a:sym typeface="Calibri"/>
                        </a:rPr>
                        <a:t>P</a:t>
                      </a:r>
                      <a:endParaRPr lang="de-CH" sz="1600" b="0" i="0" u="none" strike="noStrike" cap="none" dirty="0">
                        <a:solidFill>
                          <a:schemeClr val="tx1"/>
                        </a:solidFill>
                        <a:latin typeface="Calibri"/>
                        <a:ea typeface="Calibri"/>
                        <a:cs typeface="Calibri"/>
                        <a:sym typeface="Arial"/>
                      </a:endParaRPr>
                    </a:p>
                  </a:txBody>
                  <a:tcPr marL="12711" marR="12711" marT="12711"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p>
                      <a:pPr marL="0" marR="0" lvl="0" indent="0" algn="ctr" rtl="0">
                        <a:spcBef>
                          <a:spcPts val="0"/>
                        </a:spcBef>
                        <a:spcAft>
                          <a:spcPts val="0"/>
                        </a:spcAft>
                        <a:buNone/>
                      </a:pPr>
                      <a:r>
                        <a:rPr lang="en" sz="1600" u="none" strike="noStrike" cap="none" dirty="0">
                          <a:latin typeface="+mn-lt"/>
                          <a:ea typeface="Calibri"/>
                          <a:cs typeface="Calibri"/>
                          <a:sym typeface="Calibri"/>
                        </a:rPr>
                        <a:t>✔</a:t>
                      </a:r>
                      <a:endParaRPr lang="en" sz="1600" b="0" i="0" u="none" strike="noStrike" cap="none" dirty="0">
                        <a:solidFill>
                          <a:srgbClr val="000000"/>
                        </a:solidFill>
                        <a:latin typeface="+mn-lt"/>
                        <a:ea typeface="Calibri"/>
                        <a:cs typeface="Calibri"/>
                        <a:sym typeface="Calibri"/>
                      </a:endParaRPr>
                    </a:p>
                  </a:txBody>
                  <a:tcPr marL="12711" marR="12711" marT="12711" marB="0" anchor="b">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endParaRPr sz="1600" b="0" i="0" u="none" strike="noStrike" cap="none" dirty="0">
                        <a:solidFill>
                          <a:srgbClr val="00000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 sz="1600" u="none" strike="noStrike" cap="none" dirty="0">
                          <a:solidFill>
                            <a:srgbClr val="92D050"/>
                          </a:solidFill>
                          <a:latin typeface="+mn-lt"/>
                          <a:ea typeface="Calibri"/>
                          <a:cs typeface="Calibri"/>
                          <a:sym typeface="Calibri"/>
                        </a:rPr>
                        <a:t>✔</a:t>
                      </a:r>
                      <a:endParaRPr lang="en" sz="1600" b="0" i="0" u="none" strike="noStrike" cap="none" dirty="0">
                        <a:solidFill>
                          <a:srgbClr val="92D050"/>
                        </a:solidFill>
                        <a:latin typeface="+mn-lt"/>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extLst>
                  <a:ext uri="{0D108BD9-81ED-4DB2-BD59-A6C34878D82A}">
                    <a16:rowId xmlns:a16="http://schemas.microsoft.com/office/drawing/2014/main" val="10010"/>
                  </a:ext>
                </a:extLst>
              </a:tr>
              <a:tr h="36576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0" algn="l" rtl="0">
                        <a:spcBef>
                          <a:spcPts val="0"/>
                        </a:spcBef>
                        <a:spcAft>
                          <a:spcPts val="0"/>
                        </a:spcAft>
                        <a:buNone/>
                      </a:pPr>
                      <a:r>
                        <a:rPr lang="en" sz="1600" b="0" i="0" u="none" strike="noStrike" cap="none" dirty="0">
                          <a:solidFill>
                            <a:srgbClr val="000000"/>
                          </a:solidFill>
                          <a:latin typeface="Calibri"/>
                          <a:ea typeface="Calibri"/>
                          <a:cs typeface="Calibri"/>
                          <a:sym typeface="Calibri"/>
                        </a:rPr>
                        <a:t>draft-netana-netconf-yp-transport-capabilities</a:t>
                      </a:r>
                      <a:endParaRPr sz="1600" u="none" strike="noStrike" cap="none" dirty="0">
                        <a:solidFill>
                          <a:schemeClr val="dk1"/>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endParaRPr lang="en" sz="1600" b="0" i="0" u="none" strike="noStrike" cap="none" dirty="0">
                        <a:solidFill>
                          <a:srgbClr val="00000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auto" latinLnBrk="0" hangingPunct="1">
                        <a:lnSpc>
                          <a:spcPct val="100000"/>
                        </a:lnSpc>
                        <a:spcBef>
                          <a:spcPts val="0"/>
                        </a:spcBef>
                        <a:spcAft>
                          <a:spcPts val="0"/>
                        </a:spcAft>
                        <a:buClr>
                          <a:schemeClr val="dk1"/>
                        </a:buClr>
                        <a:buSzPts val="1400"/>
                        <a:buFont typeface="Calibri"/>
                        <a:buNone/>
                        <a:tabLst/>
                        <a:defRPr/>
                      </a:pPr>
                      <a:endParaRPr lang="en" sz="1600" b="0" i="0" u="none" strike="noStrike" cap="none" dirty="0">
                        <a:solidFill>
                          <a:srgbClr val="92D05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r>
                        <a:rPr lang="en" sz="1600" u="none" strike="noStrike" cap="none" dirty="0">
                          <a:latin typeface="Calibri"/>
                          <a:ea typeface="Calibri"/>
                          <a:cs typeface="Calibri"/>
                          <a:sym typeface="Calibri"/>
                        </a:rPr>
                        <a:t>✔</a:t>
                      </a:r>
                      <a:endParaRPr lang="en" sz="1600" b="0" i="0" u="none" strike="noStrike" cap="none" dirty="0">
                        <a:solidFill>
                          <a:srgbClr val="000000"/>
                        </a:solidFill>
                        <a:latin typeface="Calibri"/>
                        <a:ea typeface="Calibri"/>
                        <a:cs typeface="Calibri"/>
                        <a:sym typeface="Calibri"/>
                      </a:endParaRPr>
                    </a:p>
                  </a:txBody>
                  <a:tcPr marL="12711" marR="12711" marT="12711" marB="0" anchor="b">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r>
                        <a:rPr lang="en" sz="1600" u="none" strike="noStrike" cap="none" dirty="0">
                          <a:latin typeface="Calibri"/>
                          <a:ea typeface="Calibri"/>
                          <a:cs typeface="Calibri"/>
                          <a:sym typeface="Calibri"/>
                        </a:rPr>
                        <a:t>✔</a:t>
                      </a:r>
                      <a:endParaRPr lang="en" sz="1600" b="0" i="0" u="none" strike="noStrike" cap="none" dirty="0">
                        <a:solidFill>
                          <a:srgbClr val="00000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p>
                      <a:pPr marL="0" marR="0" lvl="0" indent="0" algn="ctr" rtl="0">
                        <a:spcBef>
                          <a:spcPts val="0"/>
                        </a:spcBef>
                        <a:spcAft>
                          <a:spcPts val="0"/>
                        </a:spcAft>
                        <a:buNone/>
                      </a:pPr>
                      <a:r>
                        <a:rPr lang="en" sz="1600" u="none" strike="noStrike" cap="none" dirty="0">
                          <a:latin typeface="+mn-lt"/>
                          <a:ea typeface="Calibri"/>
                          <a:cs typeface="Calibri"/>
                          <a:sym typeface="Calibri"/>
                        </a:rPr>
                        <a:t>✔</a:t>
                      </a:r>
                      <a:endParaRPr lang="en" sz="1600" b="0" i="0" u="none" strike="noStrike" cap="none" dirty="0">
                        <a:solidFill>
                          <a:srgbClr val="000000"/>
                        </a:solidFill>
                        <a:latin typeface="+mn-lt"/>
                        <a:ea typeface="Calibri"/>
                        <a:cs typeface="Calibri"/>
                        <a:sym typeface="Calibri"/>
                      </a:endParaRPr>
                    </a:p>
                  </a:txBody>
                  <a:tcPr marL="12711" marR="12711" marT="12711" marB="0" anchor="b">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endParaRPr sz="1600" b="0" i="0" u="none" strike="noStrike" cap="none" dirty="0">
                        <a:solidFill>
                          <a:srgbClr val="00000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p>
                      <a:pPr marL="0" marR="0" lvl="0" indent="0" algn="ctr" rtl="0">
                        <a:spcBef>
                          <a:spcPts val="0"/>
                        </a:spcBef>
                        <a:spcAft>
                          <a:spcPts val="0"/>
                        </a:spcAft>
                        <a:buNone/>
                      </a:pPr>
                      <a:endParaRPr sz="1600" b="0" i="0" u="none" strike="noStrike" cap="none" dirty="0">
                        <a:solidFill>
                          <a:srgbClr val="00000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extLst>
                  <a:ext uri="{0D108BD9-81ED-4DB2-BD59-A6C34878D82A}">
                    <a16:rowId xmlns:a16="http://schemas.microsoft.com/office/drawing/2014/main" val="10011"/>
                  </a:ext>
                </a:extLst>
              </a:tr>
              <a:tr h="365760">
                <a:tc>
                  <a:txBody>
                    <a:bodyPr/>
                    <a:lstStyle/>
                    <a:p>
                      <a:pPr marL="91440" marR="0" lvl="0" indent="0" algn="l" defTabSz="914400" rtl="0" eaLnBrk="1" fontAlgn="auto" latinLnBrk="0" hangingPunct="1">
                        <a:lnSpc>
                          <a:spcPct val="100000"/>
                        </a:lnSpc>
                        <a:spcBef>
                          <a:spcPts val="0"/>
                        </a:spcBef>
                        <a:spcAft>
                          <a:spcPts val="0"/>
                        </a:spcAft>
                        <a:buClrTx/>
                        <a:buSzTx/>
                        <a:buFontTx/>
                        <a:buNone/>
                        <a:tabLst/>
                        <a:defRPr/>
                      </a:pPr>
                      <a:r>
                        <a:rPr lang="en-US" sz="1600" u="none" strike="noStrike" kern="1200" cap="none" dirty="0">
                          <a:solidFill>
                            <a:schemeClr val="dk1"/>
                          </a:solidFill>
                          <a:latin typeface="Calibri"/>
                          <a:ea typeface="Calibri"/>
                          <a:cs typeface="Calibri"/>
                          <a:sym typeface="Calibri"/>
                        </a:rPr>
                        <a:t>RFC 9254 CBOR Named Identifiers</a:t>
                      </a:r>
                      <a:endParaRPr lang="en-US" sz="1600" u="none" strike="noStrike" kern="1200" cap="none" dirty="0">
                        <a:solidFill>
                          <a:schemeClr val="dk1"/>
                        </a:solidFill>
                        <a:latin typeface="Calibri"/>
                        <a:ea typeface="Calibri"/>
                        <a:cs typeface="Calibri"/>
                      </a:endParaRPr>
                    </a:p>
                  </a:txBody>
                  <a:tcPr marL="12711" marR="12711" marT="12711" marB="0" anchor="b">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 sz="1600" u="none" strike="noStrike" cap="none" dirty="0">
                          <a:latin typeface="Calibri"/>
                          <a:ea typeface="Calibri"/>
                          <a:cs typeface="Calibri"/>
                          <a:sym typeface="Calibri"/>
                        </a:rPr>
                        <a:t>✔</a:t>
                      </a:r>
                      <a:endParaRPr lang="en" sz="1600" b="0" i="0" u="none" strike="noStrike" cap="none" dirty="0">
                        <a:solidFill>
                          <a:srgbClr val="000000"/>
                        </a:solidFill>
                        <a:latin typeface="Calibri"/>
                        <a:ea typeface="Calibri"/>
                        <a:cs typeface="Calibri"/>
                        <a:sym typeface="Calibri"/>
                      </a:endParaRPr>
                    </a:p>
                  </a:txBody>
                  <a:tcPr marL="12711" marR="12711" marT="12711" marB="0" anchor="b">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400"/>
                        <a:buFont typeface="Calibri"/>
                        <a:buNone/>
                        <a:tabLst/>
                        <a:defRPr/>
                      </a:pPr>
                      <a:endParaRPr lang="en" sz="1600" b="0" i="0" u="none" strike="noStrike" cap="none" dirty="0">
                        <a:solidFill>
                          <a:srgbClr val="92D050"/>
                        </a:solidFill>
                        <a:latin typeface="Calibri"/>
                        <a:ea typeface="Calibri"/>
                        <a:cs typeface="Calibri"/>
                        <a:sym typeface="Calibri"/>
                      </a:endParaRPr>
                    </a:p>
                  </a:txBody>
                  <a:tcPr marL="12711" marR="12711" marT="12711" marB="0" anchor="b">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400"/>
                        <a:buFont typeface="Calibri"/>
                        <a:buNone/>
                        <a:tabLst/>
                        <a:defRPr/>
                      </a:pPr>
                      <a:endParaRPr lang="en" sz="1600" b="0" i="0" u="none" strike="noStrike" cap="none" dirty="0">
                        <a:solidFill>
                          <a:srgbClr val="92D050"/>
                        </a:solidFill>
                        <a:latin typeface="Calibri"/>
                        <a:ea typeface="Calibri"/>
                        <a:cs typeface="Calibri"/>
                        <a:sym typeface="Calibri"/>
                      </a:endParaRPr>
                    </a:p>
                  </a:txBody>
                  <a:tcPr marL="12711" marR="12711" marT="12711" marB="0" anchor="b">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 sz="1600" u="none" strike="noStrike" cap="none" dirty="0">
                          <a:solidFill>
                            <a:srgbClr val="92D050"/>
                          </a:solidFill>
                          <a:latin typeface="+mn-lt"/>
                          <a:ea typeface="Calibri"/>
                          <a:cs typeface="Calibri"/>
                          <a:sym typeface="Calibri"/>
                        </a:rPr>
                        <a:t>✔</a:t>
                      </a:r>
                      <a:endParaRPr lang="en" sz="1600" b="0" i="0" u="none" strike="noStrike" cap="none" dirty="0">
                        <a:solidFill>
                          <a:srgbClr val="92D050"/>
                        </a:solidFill>
                        <a:latin typeface="+mn-lt"/>
                        <a:ea typeface="Calibri"/>
                        <a:cs typeface="Calibri"/>
                        <a:sym typeface="Calibri"/>
                      </a:endParaRPr>
                    </a:p>
                  </a:txBody>
                  <a:tcPr marL="12711" marR="12711" marT="12711" marB="0" anchor="b">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 sz="1600" u="none" strike="noStrike" cap="none" dirty="0">
                          <a:solidFill>
                            <a:srgbClr val="92D050"/>
                          </a:solidFill>
                          <a:latin typeface="+mn-lt"/>
                          <a:ea typeface="Calibri"/>
                          <a:cs typeface="Calibri"/>
                          <a:sym typeface="Calibri"/>
                        </a:rPr>
                        <a:t>✔</a:t>
                      </a:r>
                      <a:endParaRPr lang="en" sz="1600" b="0" i="0" u="none" strike="noStrike" cap="none" dirty="0">
                        <a:solidFill>
                          <a:srgbClr val="92D050"/>
                        </a:solidFill>
                        <a:latin typeface="+mn-lt"/>
                        <a:ea typeface="Calibri"/>
                        <a:cs typeface="Calibri"/>
                        <a:sym typeface="Calibri"/>
                      </a:endParaRPr>
                    </a:p>
                  </a:txBody>
                  <a:tcPr marL="12711" marR="12711" marT="12711" marB="0" anchor="b">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p>
                      <a:pPr marL="0" marR="0" lvl="0" indent="0" algn="ctr" rtl="0">
                        <a:spcBef>
                          <a:spcPts val="0"/>
                        </a:spcBef>
                        <a:spcAft>
                          <a:spcPts val="0"/>
                        </a:spcAft>
                        <a:buNone/>
                      </a:pPr>
                      <a:endParaRPr sz="1600" b="0" i="0" u="none" strike="noStrike" cap="none" dirty="0">
                        <a:solidFill>
                          <a:srgbClr val="000000"/>
                        </a:solidFill>
                        <a:latin typeface="Calibri"/>
                        <a:ea typeface="Calibri"/>
                        <a:cs typeface="Calibri"/>
                        <a:sym typeface="Calibri"/>
                      </a:endParaRPr>
                    </a:p>
                  </a:txBody>
                  <a:tcPr marL="12711" marR="12711" marT="12711" marB="0" anchor="b">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p>
                      <a:pPr marL="0" marR="0" lvl="0" indent="0" algn="ctr" rtl="0">
                        <a:spcBef>
                          <a:spcPts val="0"/>
                        </a:spcBef>
                        <a:spcAft>
                          <a:spcPts val="0"/>
                        </a:spcAft>
                        <a:buNone/>
                      </a:pPr>
                      <a:endParaRPr sz="1600" b="0" i="0" u="none" strike="noStrike" cap="none" dirty="0">
                        <a:solidFill>
                          <a:srgbClr val="000000"/>
                        </a:solidFill>
                        <a:latin typeface="Calibri"/>
                        <a:ea typeface="Calibri"/>
                        <a:cs typeface="Calibri"/>
                        <a:sym typeface="Calibri"/>
                      </a:endParaRPr>
                    </a:p>
                  </a:txBody>
                  <a:tcPr marL="12711" marR="12711" marT="12711" marB="0" anchor="b">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extLst>
                  <a:ext uri="{0D108BD9-81ED-4DB2-BD59-A6C34878D82A}">
                    <a16:rowId xmlns:a16="http://schemas.microsoft.com/office/drawing/2014/main" val="2399796846"/>
                  </a:ext>
                </a:extLst>
              </a:tr>
            </a:tbl>
          </a:graphicData>
        </a:graphic>
      </p:graphicFrame>
      <p:sp>
        <p:nvSpPr>
          <p:cNvPr id="18" name="Google Shape;1618;p55">
            <a:extLst>
              <a:ext uri="{FF2B5EF4-FFF2-40B4-BE49-F238E27FC236}">
                <a16:creationId xmlns:a16="http://schemas.microsoft.com/office/drawing/2014/main" id="{A350FCEA-6E80-6AEA-E88A-9B2A5E449AD1}"/>
              </a:ext>
            </a:extLst>
          </p:cNvPr>
          <p:cNvSpPr txBox="1"/>
          <p:nvPr/>
        </p:nvSpPr>
        <p:spPr>
          <a:xfrm>
            <a:off x="815424" y="6352981"/>
            <a:ext cx="9019823" cy="410296"/>
          </a:xfrm>
          <a:prstGeom prst="rect">
            <a:avLst/>
          </a:prstGeom>
          <a:noFill/>
          <a:ln>
            <a:noFill/>
          </a:ln>
        </p:spPr>
        <p:txBody>
          <a:bodyPr spcFirstLastPara="1" wrap="square" lIns="162533" tIns="81244" rIns="162533" bIns="81244" anchor="t" anchorCtr="0">
            <a:spAutoFit/>
          </a:bodyPr>
          <a:lstStyle/>
          <a:p>
            <a:pPr defTabSz="1625519">
              <a:buClr>
                <a:srgbClr val="92D050"/>
              </a:buClr>
              <a:buSzPts val="1200"/>
              <a:defRPr/>
            </a:pPr>
            <a:r>
              <a:rPr lang="en" sz="1600" kern="0" dirty="0">
                <a:solidFill>
                  <a:srgbClr val="92D050"/>
                </a:solidFill>
                <a:latin typeface="Calibri"/>
                <a:ea typeface="Calibri"/>
                <a:cs typeface="Calibri"/>
                <a:sym typeface="Calibri"/>
              </a:rPr>
              <a:t>Green marked describes new capability at IETF 126. </a:t>
            </a:r>
            <a:r>
              <a:rPr lang="en" sz="1600" kern="0" dirty="0">
                <a:solidFill>
                  <a:srgbClr val="000000"/>
                </a:solidFill>
                <a:latin typeface="Calibri"/>
                <a:ea typeface="Calibri"/>
                <a:cs typeface="Calibri"/>
                <a:sym typeface="Calibri"/>
              </a:rPr>
              <a:t>"P" to partially implemented.</a:t>
            </a:r>
            <a:endParaRPr sz="1600" kern="0" dirty="0">
              <a:solidFill>
                <a:srgbClr val="000000"/>
              </a:solidFill>
              <a:latin typeface="Arial"/>
              <a:cs typeface="Arial"/>
              <a:sym typeface="Arial"/>
            </a:endParaRPr>
          </a:p>
        </p:txBody>
      </p:sp>
      <p:pic>
        <p:nvPicPr>
          <p:cNvPr id="19" name="Picture 2">
            <a:extLst>
              <a:ext uri="{FF2B5EF4-FFF2-40B4-BE49-F238E27FC236}">
                <a16:creationId xmlns:a16="http://schemas.microsoft.com/office/drawing/2014/main" id="{5A9D6B90-0053-C962-54DC-C5C0EDD4D9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9547403" y="136820"/>
            <a:ext cx="1722118" cy="11501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70237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20">
          <a:extLst>
            <a:ext uri="{FF2B5EF4-FFF2-40B4-BE49-F238E27FC236}">
              <a16:creationId xmlns:a16="http://schemas.microsoft.com/office/drawing/2014/main" id="{529A6BF7-D5ED-B109-4A34-CA3A3637480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C14971D-785A-BB4F-8B14-17C1A5D4CE45}"/>
              </a:ext>
            </a:extLst>
          </p:cNvPr>
          <p:cNvSpPr/>
          <p:nvPr/>
        </p:nvSpPr>
        <p:spPr>
          <a:xfrm>
            <a:off x="11450426" y="0"/>
            <a:ext cx="741575" cy="6858000"/>
          </a:xfrm>
          <a:prstGeom prst="rect">
            <a:avLst/>
          </a:prstGeom>
          <a:solidFill>
            <a:schemeClr val="bg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CH" sz="2400"/>
          </a:p>
        </p:txBody>
      </p:sp>
      <p:sp>
        <p:nvSpPr>
          <p:cNvPr id="4" name="TextBox 3">
            <a:extLst>
              <a:ext uri="{FF2B5EF4-FFF2-40B4-BE49-F238E27FC236}">
                <a16:creationId xmlns:a16="http://schemas.microsoft.com/office/drawing/2014/main" id="{D545CE53-3265-1DD9-3C79-EEBD0A194FC1}"/>
              </a:ext>
            </a:extLst>
          </p:cNvPr>
          <p:cNvSpPr txBox="1"/>
          <p:nvPr/>
        </p:nvSpPr>
        <p:spPr>
          <a:xfrm rot="5400000">
            <a:off x="8751239" y="2855495"/>
            <a:ext cx="6096000" cy="666786"/>
          </a:xfrm>
          <a:prstGeom prst="rect">
            <a:avLst/>
          </a:prstGeom>
          <a:noFill/>
        </p:spPr>
        <p:txBody>
          <a:bodyPr wrap="square">
            <a:spAutoFit/>
          </a:bodyPr>
          <a:lstStyle/>
          <a:p>
            <a:r>
              <a:rPr lang="en" sz="3733" dirty="0">
                <a:solidFill>
                  <a:schemeClr val="bg1"/>
                </a:solidFill>
                <a:latin typeface="Calibri"/>
                <a:ea typeface="Calibri"/>
                <a:cs typeface="Calibri"/>
                <a:sym typeface="Calibri"/>
              </a:rPr>
              <a:t>NMOP &amp; NETCONF WG</a:t>
            </a:r>
            <a:endParaRPr lang="de-CH" sz="3733" dirty="0">
              <a:solidFill>
                <a:schemeClr val="bg1"/>
              </a:solidFill>
            </a:endParaRPr>
          </a:p>
        </p:txBody>
      </p:sp>
      <p:sp>
        <p:nvSpPr>
          <p:cNvPr id="5" name="Google Shape;1523;p45">
            <a:extLst>
              <a:ext uri="{FF2B5EF4-FFF2-40B4-BE49-F238E27FC236}">
                <a16:creationId xmlns:a16="http://schemas.microsoft.com/office/drawing/2014/main" id="{3B879DA6-564A-7051-69F5-49C48C8B45FA}"/>
              </a:ext>
            </a:extLst>
          </p:cNvPr>
          <p:cNvSpPr txBox="1">
            <a:spLocks noGrp="1"/>
          </p:cNvSpPr>
          <p:nvPr>
            <p:ph type="sldNum" idx="12"/>
          </p:nvPr>
        </p:nvSpPr>
        <p:spPr>
          <a:xfrm>
            <a:off x="11676531" y="6352981"/>
            <a:ext cx="245415" cy="369277"/>
          </a:xfrm>
          <a:prstGeom prst="rect">
            <a:avLst/>
          </a:prstGeom>
          <a:noFill/>
          <a:ln>
            <a:noFill/>
          </a:ln>
        </p:spPr>
        <p:txBody>
          <a:bodyPr spcFirstLastPara="1" vert="horz" wrap="square" lIns="60933" tIns="60933" rIns="60933" bIns="60933" rtlCol="0" anchor="ctr" anchorCtr="0">
            <a:spAutoFit/>
          </a:bodyPr>
          <a:lstStyle/>
          <a:p>
            <a:fld id="{00000000-1234-1234-1234-123412341234}" type="slidenum">
              <a:rPr lang="en"/>
              <a:pPr/>
              <a:t>15</a:t>
            </a:fld>
            <a:endParaRPr dirty="0"/>
          </a:p>
        </p:txBody>
      </p:sp>
      <p:sp>
        <p:nvSpPr>
          <p:cNvPr id="16" name="Google Shape;1616;p55">
            <a:extLst>
              <a:ext uri="{FF2B5EF4-FFF2-40B4-BE49-F238E27FC236}">
                <a16:creationId xmlns:a16="http://schemas.microsoft.com/office/drawing/2014/main" id="{AAB3B5A3-BA47-369D-3D2B-5283DC573BC2}"/>
              </a:ext>
            </a:extLst>
          </p:cNvPr>
          <p:cNvSpPr txBox="1">
            <a:spLocks/>
          </p:cNvSpPr>
          <p:nvPr/>
        </p:nvSpPr>
        <p:spPr>
          <a:xfrm>
            <a:off x="690880" y="1"/>
            <a:ext cx="6563360" cy="1150108"/>
          </a:xfrm>
          <a:prstGeom prst="rect">
            <a:avLst/>
          </a:prstGeom>
          <a:noFill/>
          <a:ln>
            <a:noFill/>
          </a:ln>
        </p:spPr>
        <p:txBody>
          <a:bodyPr spcFirstLastPara="1" wrap="square" lIns="162533" tIns="81244" rIns="162533" bIns="81244"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lvl="0">
              <a:buClr>
                <a:srgbClr val="000000"/>
              </a:buClr>
              <a:buSzPts val="2400"/>
              <a:defRPr/>
            </a:pPr>
            <a:r>
              <a:rPr lang="de-CH" sz="2667" b="1" dirty="0">
                <a:solidFill>
                  <a:srgbClr val="000000"/>
                </a:solidFill>
              </a:rPr>
              <a:t>Operational IETF/IEEE YANG</a:t>
            </a:r>
            <a:br>
              <a:rPr lang="de-CH" sz="5333" kern="0" dirty="0">
                <a:solidFill>
                  <a:srgbClr val="000000"/>
                </a:solidFill>
              </a:rPr>
            </a:br>
            <a:r>
              <a:rPr lang="de-CH" sz="2667" dirty="0">
                <a:solidFill>
                  <a:srgbClr val="AEABAB"/>
                </a:solidFill>
              </a:rPr>
              <a:t>IETF 126 Module Implementation Status</a:t>
            </a:r>
            <a:endParaRPr lang="de-CH" sz="2667" kern="0" dirty="0">
              <a:solidFill>
                <a:srgbClr val="AEABAB"/>
              </a:solidFill>
            </a:endParaRPr>
          </a:p>
        </p:txBody>
      </p:sp>
      <p:sp>
        <p:nvSpPr>
          <p:cNvPr id="18" name="Google Shape;1618;p55">
            <a:extLst>
              <a:ext uri="{FF2B5EF4-FFF2-40B4-BE49-F238E27FC236}">
                <a16:creationId xmlns:a16="http://schemas.microsoft.com/office/drawing/2014/main" id="{9B870C59-13A4-06EE-06E8-D7BBE5C3B479}"/>
              </a:ext>
            </a:extLst>
          </p:cNvPr>
          <p:cNvSpPr txBox="1"/>
          <p:nvPr/>
        </p:nvSpPr>
        <p:spPr>
          <a:xfrm>
            <a:off x="815425" y="6155149"/>
            <a:ext cx="9019823" cy="410296"/>
          </a:xfrm>
          <a:prstGeom prst="rect">
            <a:avLst/>
          </a:prstGeom>
          <a:noFill/>
          <a:ln>
            <a:noFill/>
          </a:ln>
        </p:spPr>
        <p:txBody>
          <a:bodyPr spcFirstLastPara="1" wrap="square" lIns="162533" tIns="81244" rIns="162533" bIns="81244" anchor="t" anchorCtr="0">
            <a:spAutoFit/>
          </a:bodyPr>
          <a:lstStyle/>
          <a:p>
            <a:pPr defTabSz="1625519">
              <a:buClr>
                <a:srgbClr val="92D050"/>
              </a:buClr>
              <a:buSzPts val="1200"/>
              <a:defRPr/>
            </a:pPr>
            <a:r>
              <a:rPr lang="en" sz="1600" kern="0" dirty="0">
                <a:solidFill>
                  <a:srgbClr val="92D050"/>
                </a:solidFill>
                <a:latin typeface="Calibri"/>
                <a:ea typeface="Calibri"/>
                <a:cs typeface="Calibri"/>
                <a:sym typeface="Calibri"/>
              </a:rPr>
              <a:t>Green marked describes new capability at IETF 126. </a:t>
            </a:r>
            <a:r>
              <a:rPr lang="en" sz="1600" kern="0" dirty="0">
                <a:solidFill>
                  <a:srgbClr val="000000"/>
                </a:solidFill>
                <a:latin typeface="Calibri"/>
                <a:ea typeface="Calibri"/>
                <a:cs typeface="Calibri"/>
                <a:sym typeface="Calibri"/>
              </a:rPr>
              <a:t>"P" to partially implemented.</a:t>
            </a:r>
            <a:endParaRPr sz="1600" kern="0" dirty="0">
              <a:solidFill>
                <a:srgbClr val="000000"/>
              </a:solidFill>
              <a:latin typeface="Arial"/>
              <a:cs typeface="Arial"/>
              <a:sym typeface="Arial"/>
            </a:endParaRPr>
          </a:p>
        </p:txBody>
      </p:sp>
      <p:pic>
        <p:nvPicPr>
          <p:cNvPr id="19" name="Picture 2">
            <a:extLst>
              <a:ext uri="{FF2B5EF4-FFF2-40B4-BE49-F238E27FC236}">
                <a16:creationId xmlns:a16="http://schemas.microsoft.com/office/drawing/2014/main" id="{D3895974-3045-C97E-ABDB-DB5597C979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9547403" y="136820"/>
            <a:ext cx="1722118" cy="1150107"/>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Google Shape;1617;p55">
            <a:extLst>
              <a:ext uri="{FF2B5EF4-FFF2-40B4-BE49-F238E27FC236}">
                <a16:creationId xmlns:a16="http://schemas.microsoft.com/office/drawing/2014/main" id="{A107FAE6-D7B4-1153-52E9-1B1F1A1D3AD2}"/>
              </a:ext>
            </a:extLst>
          </p:cNvPr>
          <p:cNvGraphicFramePr/>
          <p:nvPr>
            <p:extLst>
              <p:ext uri="{D42A27DB-BD31-4B8C-83A1-F6EECF244321}">
                <p14:modId xmlns:p14="http://schemas.microsoft.com/office/powerpoint/2010/main" val="570173676"/>
              </p:ext>
            </p:extLst>
          </p:nvPr>
        </p:nvGraphicFramePr>
        <p:xfrm>
          <a:off x="818716" y="1575375"/>
          <a:ext cx="8666205" cy="3862765"/>
        </p:xfrm>
        <a:graphic>
          <a:graphicData uri="http://schemas.openxmlformats.org/drawingml/2006/table">
            <a:tbl>
              <a:tblPr>
                <a:noFill/>
              </a:tblPr>
              <a:tblGrid>
                <a:gridCol w="4399005">
                  <a:extLst>
                    <a:ext uri="{9D8B030D-6E8A-4147-A177-3AD203B41FA5}">
                      <a16:colId xmlns:a16="http://schemas.microsoft.com/office/drawing/2014/main" val="20000"/>
                    </a:ext>
                  </a:extLst>
                </a:gridCol>
                <a:gridCol w="853440">
                  <a:extLst>
                    <a:ext uri="{9D8B030D-6E8A-4147-A177-3AD203B41FA5}">
                      <a16:colId xmlns:a16="http://schemas.microsoft.com/office/drawing/2014/main" val="20001"/>
                    </a:ext>
                  </a:extLst>
                </a:gridCol>
                <a:gridCol w="853440">
                  <a:extLst>
                    <a:ext uri="{9D8B030D-6E8A-4147-A177-3AD203B41FA5}">
                      <a16:colId xmlns:a16="http://schemas.microsoft.com/office/drawing/2014/main" val="20002"/>
                    </a:ext>
                  </a:extLst>
                </a:gridCol>
                <a:gridCol w="853440">
                  <a:extLst>
                    <a:ext uri="{9D8B030D-6E8A-4147-A177-3AD203B41FA5}">
                      <a16:colId xmlns:a16="http://schemas.microsoft.com/office/drawing/2014/main" val="3717512912"/>
                    </a:ext>
                  </a:extLst>
                </a:gridCol>
                <a:gridCol w="853440">
                  <a:extLst>
                    <a:ext uri="{9D8B030D-6E8A-4147-A177-3AD203B41FA5}">
                      <a16:colId xmlns:a16="http://schemas.microsoft.com/office/drawing/2014/main" val="20003"/>
                    </a:ext>
                  </a:extLst>
                </a:gridCol>
                <a:gridCol w="853440">
                  <a:extLst>
                    <a:ext uri="{9D8B030D-6E8A-4147-A177-3AD203B41FA5}">
                      <a16:colId xmlns:a16="http://schemas.microsoft.com/office/drawing/2014/main" val="273656328"/>
                    </a:ext>
                  </a:extLst>
                </a:gridCol>
              </a:tblGrid>
              <a:tr h="570925">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rtl="0">
                        <a:spcBef>
                          <a:spcPts val="0"/>
                        </a:spcBef>
                        <a:spcAft>
                          <a:spcPts val="0"/>
                        </a:spcAft>
                        <a:buNone/>
                      </a:pPr>
                      <a:endParaRPr sz="1600" b="0" i="0" u="none" strike="noStrike" cap="none" dirty="0">
                        <a:solidFill>
                          <a:srgbClr val="00000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r>
                        <a:rPr lang="en" sz="1400" b="1" u="none" strike="noStrike" cap="none" dirty="0">
                          <a:latin typeface="Calibri"/>
                          <a:ea typeface="Calibri"/>
                          <a:cs typeface="Calibri"/>
                          <a:sym typeface="Calibri"/>
                        </a:rPr>
                        <a:t>6WIND</a:t>
                      </a:r>
                      <a:br>
                        <a:rPr lang="en" sz="1400" b="1" u="none" strike="noStrike" cap="none" dirty="0">
                          <a:latin typeface="Calibri"/>
                          <a:ea typeface="Calibri"/>
                          <a:cs typeface="Calibri"/>
                          <a:sym typeface="Calibri"/>
                        </a:rPr>
                      </a:br>
                      <a:r>
                        <a:rPr lang="en" sz="1400" b="1" u="none" strike="noStrike" cap="none" dirty="0">
                          <a:latin typeface="Calibri"/>
                          <a:ea typeface="Calibri"/>
                          <a:cs typeface="Calibri"/>
                          <a:sym typeface="Calibri"/>
                        </a:rPr>
                        <a:t>VSR</a:t>
                      </a:r>
                      <a:endParaRPr sz="1400" b="1" i="0" u="none" strike="noStrike" cap="none" dirty="0">
                        <a:solidFill>
                          <a:srgbClr val="00000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r>
                        <a:rPr lang="en" sz="1400" b="1" u="none" strike="noStrike" cap="none" dirty="0">
                          <a:latin typeface="Calibri"/>
                          <a:ea typeface="Calibri"/>
                          <a:cs typeface="Calibri"/>
                          <a:sym typeface="Calibri"/>
                        </a:rPr>
                        <a:t>Huawei</a:t>
                      </a:r>
                      <a:br>
                        <a:rPr lang="en" sz="1400" b="1" u="none" strike="noStrike" cap="none" dirty="0">
                          <a:latin typeface="Calibri"/>
                          <a:ea typeface="Calibri"/>
                          <a:cs typeface="Calibri"/>
                          <a:sym typeface="Calibri"/>
                        </a:rPr>
                      </a:br>
                      <a:r>
                        <a:rPr lang="en" sz="1400" b="1" u="none" strike="noStrike" cap="none" dirty="0">
                          <a:latin typeface="Calibri"/>
                          <a:ea typeface="Calibri"/>
                          <a:cs typeface="Calibri"/>
                          <a:sym typeface="Calibri"/>
                        </a:rPr>
                        <a:t>NE</a:t>
                      </a:r>
                      <a:endParaRPr sz="1400" b="1" i="0" u="none" strike="noStrike" cap="none" dirty="0">
                        <a:solidFill>
                          <a:srgbClr val="00000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r>
                        <a:rPr lang="de-CH" sz="1400" b="1" i="0" u="none" strike="noStrike" cap="none" dirty="0">
                          <a:solidFill>
                            <a:srgbClr val="000000"/>
                          </a:solidFill>
                          <a:latin typeface="Calibri"/>
                          <a:ea typeface="Calibri"/>
                          <a:cs typeface="Calibri"/>
                          <a:sym typeface="Calibri"/>
                        </a:rPr>
                        <a:t>Huawei</a:t>
                      </a:r>
                      <a:br>
                        <a:rPr lang="de-CH" sz="1400" b="1" i="0" u="none" strike="noStrike" cap="none" dirty="0">
                          <a:solidFill>
                            <a:srgbClr val="000000"/>
                          </a:solidFill>
                          <a:latin typeface="Calibri"/>
                          <a:ea typeface="Calibri"/>
                          <a:cs typeface="Calibri"/>
                          <a:sym typeface="Calibri"/>
                        </a:rPr>
                      </a:br>
                      <a:r>
                        <a:rPr lang="de-CH" sz="1400" b="1" i="0" u="none" strike="noStrike" cap="none" dirty="0">
                          <a:solidFill>
                            <a:srgbClr val="000000"/>
                          </a:solidFill>
                          <a:latin typeface="Calibri"/>
                          <a:ea typeface="Calibri"/>
                          <a:cs typeface="Calibri"/>
                          <a:sym typeface="Calibri"/>
                        </a:rPr>
                        <a:t>MA</a:t>
                      </a:r>
                      <a:endParaRPr sz="1400" b="1" i="0" u="none" strike="noStrike" cap="none" dirty="0">
                        <a:solidFill>
                          <a:srgbClr val="000000"/>
                        </a:solidFill>
                        <a:latin typeface="Calibri"/>
                        <a:ea typeface="Calibri"/>
                        <a:cs typeface="Calibri"/>
                        <a:sym typeface="Calibri"/>
                      </a:endParaRPr>
                    </a:p>
                  </a:txBody>
                  <a:tcPr marL="12711" marR="12711" marT="12711" marB="0" anchor="b">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r>
                        <a:rPr lang="en" sz="1400" b="1" u="none" strike="noStrike" cap="none" dirty="0">
                          <a:latin typeface="Calibri"/>
                          <a:ea typeface="Calibri"/>
                          <a:cs typeface="Calibri"/>
                          <a:sym typeface="Calibri"/>
                        </a:rPr>
                        <a:t>Cisco</a:t>
                      </a:r>
                      <a:br>
                        <a:rPr lang="en" sz="1400" b="1" u="none" strike="noStrike" cap="none" dirty="0">
                          <a:latin typeface="Calibri"/>
                          <a:ea typeface="Calibri"/>
                          <a:cs typeface="Calibri"/>
                          <a:sym typeface="Calibri"/>
                        </a:rPr>
                      </a:br>
                      <a:r>
                        <a:rPr lang="en" sz="1400" b="1" u="none" strike="noStrike" cap="none" dirty="0">
                          <a:latin typeface="Calibri"/>
                          <a:ea typeface="Calibri"/>
                          <a:cs typeface="Calibri"/>
                          <a:sym typeface="Calibri"/>
                        </a:rPr>
                        <a:t>IOS XR</a:t>
                      </a:r>
                      <a:endParaRPr sz="1400" b="1" i="0" u="none" strike="noStrike" cap="none" dirty="0">
                        <a:solidFill>
                          <a:srgbClr val="00000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p>
                      <a:pPr marL="0" marR="0" lvl="0" indent="0" algn="ctr" rtl="0">
                        <a:spcBef>
                          <a:spcPts val="0"/>
                        </a:spcBef>
                        <a:spcAft>
                          <a:spcPts val="0"/>
                        </a:spcAft>
                        <a:buNone/>
                      </a:pPr>
                      <a:r>
                        <a:rPr lang="de-CH" sz="1400" b="1" i="0" u="none" strike="noStrike" cap="none" dirty="0" err="1">
                          <a:solidFill>
                            <a:srgbClr val="000000"/>
                          </a:solidFill>
                          <a:latin typeface="Calibri"/>
                          <a:ea typeface="Calibri"/>
                          <a:cs typeface="Calibri"/>
                          <a:sym typeface="Calibri"/>
                        </a:rPr>
                        <a:t>Arrcus</a:t>
                      </a:r>
                      <a:br>
                        <a:rPr lang="de-CH" sz="1400" b="1" i="0" u="none" strike="noStrike" cap="none" dirty="0">
                          <a:solidFill>
                            <a:srgbClr val="000000"/>
                          </a:solidFill>
                          <a:latin typeface="Calibri"/>
                          <a:ea typeface="Calibri"/>
                          <a:cs typeface="Calibri"/>
                          <a:sym typeface="Calibri"/>
                        </a:rPr>
                      </a:br>
                      <a:r>
                        <a:rPr lang="de-CH" sz="1400" b="1" i="0" u="none" strike="noStrike" cap="none" dirty="0">
                          <a:solidFill>
                            <a:srgbClr val="000000"/>
                          </a:solidFill>
                          <a:latin typeface="Calibri"/>
                          <a:ea typeface="Calibri"/>
                          <a:cs typeface="Calibri"/>
                          <a:sym typeface="Calibri"/>
                        </a:rPr>
                        <a:t>Arcos</a:t>
                      </a:r>
                      <a:endParaRPr sz="1400" b="1" i="0" u="none" strike="noStrike" cap="none" dirty="0">
                        <a:solidFill>
                          <a:srgbClr val="000000"/>
                        </a:solidFill>
                        <a:latin typeface="Calibri"/>
                        <a:ea typeface="Calibri"/>
                        <a:cs typeface="Calibri"/>
                        <a:sym typeface="Calibri"/>
                      </a:endParaRPr>
                    </a:p>
                  </a:txBody>
                  <a:tcPr marL="12711" marR="12711" marT="12711" marB="0" anchor="b">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extLst>
                  <a:ext uri="{0D108BD9-81ED-4DB2-BD59-A6C34878D82A}">
                    <a16:rowId xmlns:a16="http://schemas.microsoft.com/office/drawing/2014/main" val="10000"/>
                  </a:ext>
                </a:extLst>
              </a:tr>
              <a:tr h="36576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0" algn="l" rtl="0">
                        <a:spcBef>
                          <a:spcPts val="0"/>
                        </a:spcBef>
                        <a:spcAft>
                          <a:spcPts val="0"/>
                        </a:spcAft>
                        <a:buNone/>
                      </a:pPr>
                      <a:r>
                        <a:rPr lang="en-US" sz="1600" u="none" strike="noStrike" cap="none" dirty="0" err="1">
                          <a:latin typeface="Calibri"/>
                          <a:ea typeface="Calibri"/>
                          <a:cs typeface="Calibri"/>
                          <a:sym typeface="Calibri"/>
                        </a:rPr>
                        <a:t>ietf-interfaces.yang</a:t>
                      </a:r>
                      <a:r>
                        <a:rPr lang="en-US" sz="1600" u="none" strike="noStrike" cap="none" dirty="0">
                          <a:latin typeface="Calibri"/>
                          <a:ea typeface="Calibri"/>
                          <a:cs typeface="Calibri"/>
                          <a:sym typeface="Calibri"/>
                        </a:rPr>
                        <a:t> (inventory, state and statistic)</a:t>
                      </a:r>
                      <a:endParaRPr sz="1600" b="0" i="0" u="none" strike="noStrike" cap="none" dirty="0">
                        <a:solidFill>
                          <a:srgbClr val="00000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r>
                        <a:rPr lang="en" sz="1600" u="none" strike="noStrike" cap="none" dirty="0">
                          <a:solidFill>
                            <a:srgbClr val="92D050"/>
                          </a:solidFill>
                          <a:latin typeface="Calibri"/>
                          <a:ea typeface="Calibri"/>
                          <a:cs typeface="Calibri"/>
                          <a:sym typeface="Calibri"/>
                        </a:rPr>
                        <a:t>✔</a:t>
                      </a:r>
                      <a:endParaRPr lang="en" sz="1600" b="0" i="0" u="none" strike="noStrike" cap="none" dirty="0">
                        <a:solidFill>
                          <a:srgbClr val="92D05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r>
                        <a:rPr lang="en" sz="1600" u="none" strike="noStrike" cap="none" dirty="0">
                          <a:solidFill>
                            <a:srgbClr val="92D050"/>
                          </a:solidFill>
                          <a:latin typeface="Calibri"/>
                          <a:ea typeface="Calibri"/>
                          <a:cs typeface="Calibri"/>
                          <a:sym typeface="Calibri"/>
                        </a:rPr>
                        <a:t>✔</a:t>
                      </a:r>
                      <a:endParaRPr lang="en" sz="1600" b="0" i="0" u="none" strike="noStrike" cap="none" dirty="0">
                        <a:solidFill>
                          <a:srgbClr val="92D05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r>
                        <a:rPr lang="en" sz="1600" u="none" strike="noStrike" cap="none" dirty="0">
                          <a:latin typeface="Calibri"/>
                          <a:ea typeface="Calibri"/>
                          <a:cs typeface="Calibri"/>
                          <a:sym typeface="Calibri"/>
                        </a:rPr>
                        <a:t>✔</a:t>
                      </a:r>
                      <a:endParaRPr lang="en" sz="1600" b="0" i="0" u="none" strike="noStrike" cap="none" dirty="0">
                        <a:solidFill>
                          <a:srgbClr val="000000"/>
                        </a:solidFill>
                        <a:latin typeface="Calibri"/>
                        <a:ea typeface="Calibri"/>
                        <a:cs typeface="Calibri"/>
                        <a:sym typeface="Calibri"/>
                      </a:endParaRPr>
                    </a:p>
                  </a:txBody>
                  <a:tcPr marL="12711" marR="12711" marT="12711" marB="0" anchor="b">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endParaRPr lang="en" sz="1600" b="0" i="0" u="none" strike="noStrike" cap="none" dirty="0">
                        <a:solidFill>
                          <a:srgbClr val="00000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p>
                      <a:pPr marL="0" marR="0" lvl="0" indent="0" algn="ctr" rtl="0">
                        <a:spcBef>
                          <a:spcPts val="0"/>
                        </a:spcBef>
                        <a:spcAft>
                          <a:spcPts val="0"/>
                        </a:spcAft>
                        <a:buNone/>
                      </a:pPr>
                      <a:endParaRPr lang="en" sz="1600" b="0" i="0" u="none" strike="noStrike" cap="none" dirty="0">
                        <a:solidFill>
                          <a:srgbClr val="92D050"/>
                        </a:solidFill>
                        <a:latin typeface="Calibri"/>
                        <a:ea typeface="Calibri"/>
                        <a:cs typeface="Calibri"/>
                        <a:sym typeface="Calibri"/>
                      </a:endParaRPr>
                    </a:p>
                  </a:txBody>
                  <a:tcPr marL="12711" marR="12711" marT="12711" marB="0" anchor="b">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extLst>
                  <a:ext uri="{0D108BD9-81ED-4DB2-BD59-A6C34878D82A}">
                    <a16:rowId xmlns:a16="http://schemas.microsoft.com/office/drawing/2014/main" val="10001"/>
                  </a:ext>
                </a:extLst>
              </a:tr>
              <a:tr h="36576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0" algn="l" rtl="0">
                        <a:spcBef>
                          <a:spcPts val="0"/>
                        </a:spcBef>
                        <a:spcAft>
                          <a:spcPts val="0"/>
                        </a:spcAft>
                        <a:buNone/>
                      </a:pPr>
                      <a:r>
                        <a:rPr lang="en-US" sz="1600" u="none" strike="noStrike" cap="none" dirty="0" err="1">
                          <a:latin typeface="Calibri"/>
                          <a:ea typeface="Calibri"/>
                          <a:cs typeface="Calibri"/>
                          <a:sym typeface="Calibri"/>
                        </a:rPr>
                        <a:t>ietf-hardware.yang</a:t>
                      </a:r>
                      <a:r>
                        <a:rPr lang="en-US" sz="1600" u="none" strike="noStrike" cap="none" dirty="0">
                          <a:latin typeface="Calibri"/>
                          <a:ea typeface="Calibri"/>
                          <a:cs typeface="Calibri"/>
                          <a:sym typeface="Calibri"/>
                        </a:rPr>
                        <a:t> (inventory, state and statistic)</a:t>
                      </a:r>
                      <a:endParaRPr sz="1600" b="0" i="0" u="none" strike="noStrike" cap="none" dirty="0">
                        <a:solidFill>
                          <a:srgbClr val="00000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r>
                        <a:rPr lang="en" sz="1600" u="none" strike="noStrike" cap="none" dirty="0">
                          <a:solidFill>
                            <a:srgbClr val="92D050"/>
                          </a:solidFill>
                          <a:latin typeface="Calibri"/>
                          <a:ea typeface="Calibri"/>
                          <a:cs typeface="Calibri"/>
                          <a:sym typeface="Calibri"/>
                        </a:rPr>
                        <a:t>✔</a:t>
                      </a:r>
                      <a:endParaRPr lang="en" sz="1600" b="0" i="0" u="none" strike="noStrike" cap="none" dirty="0">
                        <a:solidFill>
                          <a:srgbClr val="92D05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 sz="1600" u="none" strike="noStrike" cap="none" dirty="0">
                          <a:solidFill>
                            <a:srgbClr val="92D050"/>
                          </a:solidFill>
                          <a:latin typeface="Calibri"/>
                          <a:ea typeface="Calibri"/>
                          <a:cs typeface="Calibri"/>
                          <a:sym typeface="Calibri"/>
                        </a:rPr>
                        <a:t>✔</a:t>
                      </a:r>
                      <a:endParaRPr lang="en" sz="1600" b="0" i="0" u="none" strike="noStrike" cap="none" dirty="0">
                        <a:solidFill>
                          <a:srgbClr val="92D05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r>
                        <a:rPr lang="en" sz="1600" u="none" strike="noStrike" cap="none" dirty="0">
                          <a:latin typeface="Calibri"/>
                          <a:ea typeface="Calibri"/>
                          <a:cs typeface="Calibri"/>
                          <a:sym typeface="Calibri"/>
                        </a:rPr>
                        <a:t>✔</a:t>
                      </a:r>
                      <a:endParaRPr lang="en" sz="1600" b="0" i="0" u="none" strike="noStrike" cap="none" dirty="0">
                        <a:solidFill>
                          <a:srgbClr val="000000"/>
                        </a:solidFill>
                        <a:latin typeface="Calibri"/>
                        <a:ea typeface="Calibri"/>
                        <a:cs typeface="Calibri"/>
                        <a:sym typeface="Calibri"/>
                      </a:endParaRPr>
                    </a:p>
                  </a:txBody>
                  <a:tcPr marL="12711" marR="12711" marT="12711" marB="0" anchor="b">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endParaRPr sz="1600" b="0" i="0" u="none" strike="noStrike" cap="none" dirty="0">
                        <a:solidFill>
                          <a:srgbClr val="00000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p>
                      <a:pPr marL="0" marR="0" lvl="0" indent="0" algn="ctr" rtl="0">
                        <a:spcBef>
                          <a:spcPts val="0"/>
                        </a:spcBef>
                        <a:spcAft>
                          <a:spcPts val="0"/>
                        </a:spcAft>
                        <a:buNone/>
                      </a:pPr>
                      <a:endParaRPr lang="en" sz="1600" b="0" i="0" u="none" strike="noStrike" cap="none" dirty="0">
                        <a:solidFill>
                          <a:srgbClr val="92D050"/>
                        </a:solidFill>
                        <a:latin typeface="Calibri"/>
                        <a:ea typeface="Calibri"/>
                        <a:cs typeface="Calibri"/>
                        <a:sym typeface="Calibri"/>
                      </a:endParaRPr>
                    </a:p>
                  </a:txBody>
                  <a:tcPr marL="12711" marR="12711" marT="12711" marB="0" anchor="b">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extLst>
                  <a:ext uri="{0D108BD9-81ED-4DB2-BD59-A6C34878D82A}">
                    <a16:rowId xmlns:a16="http://schemas.microsoft.com/office/drawing/2014/main" val="10002"/>
                  </a:ext>
                </a:extLst>
              </a:tr>
              <a:tr h="36576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0" algn="l" rtl="0">
                        <a:spcBef>
                          <a:spcPts val="0"/>
                        </a:spcBef>
                        <a:spcAft>
                          <a:spcPts val="0"/>
                        </a:spcAft>
                        <a:buNone/>
                      </a:pPr>
                      <a:r>
                        <a:rPr lang="de-CH" sz="1600" u="none" strike="noStrike" cap="none" dirty="0" err="1">
                          <a:solidFill>
                            <a:schemeClr val="dk1"/>
                          </a:solidFill>
                          <a:latin typeface="Calibri"/>
                          <a:ea typeface="Calibri"/>
                          <a:cs typeface="Calibri"/>
                          <a:sym typeface="Calibri"/>
                        </a:rPr>
                        <a:t>ietf-alarms.yang</a:t>
                      </a:r>
                      <a:r>
                        <a:rPr lang="de-CH" sz="1600" u="none" strike="noStrike" cap="none" dirty="0">
                          <a:solidFill>
                            <a:schemeClr val="dk1"/>
                          </a:solidFill>
                          <a:latin typeface="Calibri"/>
                          <a:ea typeface="Calibri"/>
                          <a:cs typeface="Calibri"/>
                          <a:sym typeface="Calibri"/>
                        </a:rPr>
                        <a:t> (</a:t>
                      </a:r>
                      <a:r>
                        <a:rPr lang="de-CH" sz="1600" u="none" strike="noStrike" cap="none" dirty="0" err="1">
                          <a:solidFill>
                            <a:schemeClr val="dk1"/>
                          </a:solidFill>
                          <a:latin typeface="Calibri"/>
                          <a:ea typeface="Calibri"/>
                          <a:cs typeface="Calibri"/>
                          <a:sym typeface="Calibri"/>
                        </a:rPr>
                        <a:t>state</a:t>
                      </a:r>
                      <a:r>
                        <a:rPr lang="de-CH" sz="1600" u="none" strike="noStrike" cap="none" dirty="0">
                          <a:solidFill>
                            <a:schemeClr val="dk1"/>
                          </a:solidFill>
                          <a:latin typeface="Calibri"/>
                          <a:ea typeface="Calibri"/>
                          <a:cs typeface="Calibri"/>
                          <a:sym typeface="Calibri"/>
                        </a:rPr>
                        <a:t>)</a:t>
                      </a:r>
                      <a:endParaRPr sz="1600" u="none" strike="noStrike" cap="none" dirty="0">
                        <a:solidFill>
                          <a:schemeClr val="dk1"/>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r>
                        <a:rPr lang="en" sz="1600" u="none" strike="noStrike" cap="none" dirty="0">
                          <a:solidFill>
                            <a:srgbClr val="92D050"/>
                          </a:solidFill>
                          <a:latin typeface="Calibri"/>
                          <a:ea typeface="Calibri"/>
                          <a:cs typeface="Calibri"/>
                          <a:sym typeface="Calibri"/>
                        </a:rPr>
                        <a:t>✔</a:t>
                      </a:r>
                      <a:endParaRPr lang="en" sz="1600" b="0" i="0" u="none" strike="noStrike" cap="none" dirty="0">
                        <a:solidFill>
                          <a:srgbClr val="92D05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 sz="1600" u="none" strike="noStrike" cap="none" dirty="0">
                          <a:solidFill>
                            <a:srgbClr val="92D050"/>
                          </a:solidFill>
                          <a:latin typeface="Calibri"/>
                          <a:ea typeface="Calibri"/>
                          <a:cs typeface="Calibri"/>
                          <a:sym typeface="Calibri"/>
                        </a:rPr>
                        <a:t>✔</a:t>
                      </a:r>
                      <a:endParaRPr lang="en" sz="1600" b="0" i="0" u="none" strike="noStrike" cap="none" dirty="0">
                        <a:solidFill>
                          <a:srgbClr val="92D05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r>
                        <a:rPr lang="en" sz="1600" u="none" strike="noStrike" cap="none" dirty="0">
                          <a:latin typeface="Calibri"/>
                          <a:ea typeface="Calibri"/>
                          <a:cs typeface="Calibri"/>
                          <a:sym typeface="Calibri"/>
                        </a:rPr>
                        <a:t>✔</a:t>
                      </a:r>
                      <a:endParaRPr lang="en" sz="1600" b="0" i="0" u="none" strike="noStrike" cap="none" dirty="0">
                        <a:solidFill>
                          <a:srgbClr val="000000"/>
                        </a:solidFill>
                        <a:latin typeface="Calibri"/>
                        <a:ea typeface="Calibri"/>
                        <a:cs typeface="Calibri"/>
                        <a:sym typeface="Calibri"/>
                      </a:endParaRPr>
                    </a:p>
                  </a:txBody>
                  <a:tcPr marL="12711" marR="12711" marT="12711" marB="0" anchor="b">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endParaRPr lang="en" sz="1600" b="0" i="0" u="none" strike="noStrike" cap="none" dirty="0">
                        <a:solidFill>
                          <a:srgbClr val="00000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p>
                      <a:pPr marL="0" marR="0" lvl="0" indent="0" algn="ctr" rtl="0">
                        <a:spcBef>
                          <a:spcPts val="0"/>
                        </a:spcBef>
                        <a:spcAft>
                          <a:spcPts val="0"/>
                        </a:spcAft>
                        <a:buNone/>
                      </a:pPr>
                      <a:endParaRPr lang="en" sz="1600" b="0" i="0" u="none" strike="noStrike" cap="none" dirty="0">
                        <a:solidFill>
                          <a:srgbClr val="92D050"/>
                        </a:solidFill>
                        <a:latin typeface="Calibri"/>
                        <a:ea typeface="Calibri"/>
                        <a:cs typeface="Calibri"/>
                        <a:sym typeface="Calibri"/>
                      </a:endParaRPr>
                    </a:p>
                  </a:txBody>
                  <a:tcPr marL="12711" marR="12711" marT="12711" marB="0" anchor="b">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extLst>
                  <a:ext uri="{0D108BD9-81ED-4DB2-BD59-A6C34878D82A}">
                    <a16:rowId xmlns:a16="http://schemas.microsoft.com/office/drawing/2014/main" val="10003"/>
                  </a:ext>
                </a:extLst>
              </a:tr>
              <a:tr h="36576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0" algn="l" defTabSz="914400" rtl="0" eaLnBrk="1" fontAlgn="auto" latinLnBrk="0" hangingPunct="1">
                        <a:lnSpc>
                          <a:spcPct val="100000"/>
                        </a:lnSpc>
                        <a:spcBef>
                          <a:spcPts val="0"/>
                        </a:spcBef>
                        <a:spcAft>
                          <a:spcPts val="0"/>
                        </a:spcAft>
                        <a:buClrTx/>
                        <a:buSzTx/>
                        <a:buFontTx/>
                        <a:buNone/>
                        <a:tabLst/>
                        <a:defRPr/>
                      </a:pPr>
                      <a:r>
                        <a:rPr lang="en-US" sz="1600" u="none" strike="noStrike" cap="none" dirty="0">
                          <a:solidFill>
                            <a:schemeClr val="dk1"/>
                          </a:solidFill>
                          <a:latin typeface="Calibri"/>
                          <a:ea typeface="Calibri"/>
                          <a:cs typeface="Calibri"/>
                          <a:sym typeface="Calibri"/>
                        </a:rPr>
                        <a:t>ieee802-dot1ab-lldp.yang (inventory and state)</a:t>
                      </a:r>
                    </a:p>
                  </a:txBody>
                  <a:tcPr marL="12711" marR="12711" marT="12711" marB="0" anchor="b">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 sz="1600" u="none" strike="noStrike" cap="none" dirty="0">
                          <a:solidFill>
                            <a:srgbClr val="92D050"/>
                          </a:solidFill>
                          <a:latin typeface="Calibri"/>
                          <a:ea typeface="Calibri"/>
                          <a:cs typeface="Calibri"/>
                          <a:sym typeface="Calibri"/>
                        </a:rPr>
                        <a:t>✔</a:t>
                      </a:r>
                      <a:endParaRPr lang="en" sz="1600" b="0" i="0" u="none" strike="noStrike" cap="none" dirty="0">
                        <a:solidFill>
                          <a:srgbClr val="92D05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 sz="1600" u="none" strike="noStrike" cap="none" dirty="0">
                          <a:solidFill>
                            <a:srgbClr val="92D050"/>
                          </a:solidFill>
                          <a:latin typeface="Calibri"/>
                          <a:ea typeface="Calibri"/>
                          <a:cs typeface="Calibri"/>
                          <a:sym typeface="Calibri"/>
                        </a:rPr>
                        <a:t>✔</a:t>
                      </a:r>
                      <a:endParaRPr lang="en" sz="1600" b="0" i="0" u="none" strike="noStrike" cap="none" dirty="0">
                        <a:solidFill>
                          <a:srgbClr val="92D05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endParaRPr lang="en" sz="1600" b="0" i="0" u="none" strike="noStrike" cap="none" dirty="0">
                        <a:solidFill>
                          <a:srgbClr val="000000"/>
                        </a:solidFill>
                        <a:latin typeface="Calibri"/>
                        <a:ea typeface="Calibri"/>
                        <a:cs typeface="Calibri"/>
                        <a:sym typeface="Calibri"/>
                      </a:endParaRPr>
                    </a:p>
                  </a:txBody>
                  <a:tcPr marL="12711" marR="12711" marT="12711" marB="0" anchor="b">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endParaRPr lang="en" sz="1600" b="0" i="0" u="none" strike="noStrike" cap="none" dirty="0">
                        <a:solidFill>
                          <a:srgbClr val="00000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p>
                      <a:pPr marL="0" marR="0" lvl="0" indent="0" algn="ctr" rtl="0">
                        <a:spcBef>
                          <a:spcPts val="0"/>
                        </a:spcBef>
                        <a:spcAft>
                          <a:spcPts val="0"/>
                        </a:spcAft>
                        <a:buNone/>
                      </a:pPr>
                      <a:endParaRPr lang="en" sz="1600" b="0" i="0" u="none" strike="noStrike" cap="none" dirty="0">
                        <a:solidFill>
                          <a:srgbClr val="000000"/>
                        </a:solidFill>
                        <a:latin typeface="Calibri"/>
                        <a:ea typeface="Calibri"/>
                        <a:cs typeface="Calibri"/>
                        <a:sym typeface="Calibri"/>
                      </a:endParaRPr>
                    </a:p>
                  </a:txBody>
                  <a:tcPr marL="12711" marR="12711" marT="12711" marB="0" anchor="b">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extLst>
                  <a:ext uri="{0D108BD9-81ED-4DB2-BD59-A6C34878D82A}">
                    <a16:rowId xmlns:a16="http://schemas.microsoft.com/office/drawing/2014/main" val="10004"/>
                  </a:ext>
                </a:extLst>
              </a:tr>
              <a:tr h="36576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0" algn="l" rtl="0">
                        <a:spcBef>
                          <a:spcPts val="0"/>
                        </a:spcBef>
                        <a:spcAft>
                          <a:spcPts val="0"/>
                        </a:spcAft>
                        <a:buNone/>
                      </a:pPr>
                      <a:r>
                        <a:rPr lang="en-US" sz="1600" u="none" strike="noStrike" cap="none" dirty="0">
                          <a:solidFill>
                            <a:schemeClr val="dk1"/>
                          </a:solidFill>
                          <a:latin typeface="Calibri"/>
                          <a:ea typeface="Calibri"/>
                          <a:cs typeface="Calibri"/>
                          <a:sym typeface="Calibri"/>
                        </a:rPr>
                        <a:t>ieee802-dot1ax.yang (inventory, state and statistic)</a:t>
                      </a:r>
                      <a:endParaRPr lang="de-CH" sz="1600" u="none" strike="noStrike" cap="none" dirty="0">
                        <a:solidFill>
                          <a:schemeClr val="dk1"/>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endParaRPr sz="1600" b="0" i="0" u="none" strike="noStrike" cap="none" dirty="0">
                        <a:solidFill>
                          <a:srgbClr val="00000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endParaRPr lang="en" sz="1600" b="0" i="0" u="none" strike="noStrike" cap="none" dirty="0">
                        <a:solidFill>
                          <a:srgbClr val="00000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endParaRPr lang="en" sz="1600" b="0" i="0" u="none" strike="noStrike" cap="none" dirty="0">
                        <a:solidFill>
                          <a:srgbClr val="000000"/>
                        </a:solidFill>
                        <a:latin typeface="Calibri"/>
                        <a:ea typeface="Calibri"/>
                        <a:cs typeface="Calibri"/>
                        <a:sym typeface="Calibri"/>
                      </a:endParaRPr>
                    </a:p>
                  </a:txBody>
                  <a:tcPr marL="12711" marR="12711" marT="12711" marB="0" anchor="b">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endParaRPr lang="en" sz="1600" b="0" i="0" u="none" strike="noStrike" cap="none" dirty="0">
                        <a:solidFill>
                          <a:srgbClr val="00000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p>
                      <a:pPr marL="0" marR="0" lvl="0" indent="0" algn="ctr" rtl="0">
                        <a:spcBef>
                          <a:spcPts val="0"/>
                        </a:spcBef>
                        <a:spcAft>
                          <a:spcPts val="0"/>
                        </a:spcAft>
                        <a:buNone/>
                      </a:pPr>
                      <a:endParaRPr lang="en" sz="1600" b="0" i="0" u="none" strike="noStrike" cap="none" dirty="0">
                        <a:solidFill>
                          <a:srgbClr val="92D050"/>
                        </a:solidFill>
                        <a:latin typeface="Calibri"/>
                        <a:ea typeface="Calibri"/>
                        <a:cs typeface="Calibri"/>
                        <a:sym typeface="Calibri"/>
                      </a:endParaRPr>
                    </a:p>
                  </a:txBody>
                  <a:tcPr marL="12711" marR="12711" marT="12711" marB="0" anchor="b">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extLst>
                  <a:ext uri="{0D108BD9-81ED-4DB2-BD59-A6C34878D82A}">
                    <a16:rowId xmlns:a16="http://schemas.microsoft.com/office/drawing/2014/main" val="10005"/>
                  </a:ext>
                </a:extLst>
              </a:tr>
              <a:tr h="36576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0" algn="l" defTabSz="914400" rtl="0" eaLnBrk="1" fontAlgn="auto" latinLnBrk="0" hangingPunct="1">
                        <a:lnSpc>
                          <a:spcPct val="100000"/>
                        </a:lnSpc>
                        <a:spcBef>
                          <a:spcPts val="0"/>
                        </a:spcBef>
                        <a:spcAft>
                          <a:spcPts val="0"/>
                        </a:spcAft>
                        <a:buClrTx/>
                        <a:buSzTx/>
                        <a:buFontTx/>
                        <a:buNone/>
                        <a:tabLst/>
                        <a:defRPr/>
                      </a:pPr>
                      <a:r>
                        <a:rPr lang="de-CH" sz="1600" u="none" strike="noStrike" cap="none" dirty="0" err="1">
                          <a:solidFill>
                            <a:schemeClr val="dk1"/>
                          </a:solidFill>
                          <a:latin typeface="Calibri"/>
                          <a:ea typeface="Calibri"/>
                          <a:cs typeface="Calibri"/>
                          <a:sym typeface="Calibri"/>
                        </a:rPr>
                        <a:t>ietf-bfd-ip-sh.yang</a:t>
                      </a:r>
                      <a:r>
                        <a:rPr lang="de-CH" sz="1600" u="none" strike="noStrike" cap="none" dirty="0">
                          <a:solidFill>
                            <a:schemeClr val="dk1"/>
                          </a:solidFill>
                          <a:latin typeface="Calibri"/>
                          <a:ea typeface="Calibri"/>
                          <a:cs typeface="Calibri"/>
                          <a:sym typeface="Calibri"/>
                        </a:rPr>
                        <a:t> (</a:t>
                      </a:r>
                      <a:r>
                        <a:rPr lang="de-CH" sz="1600" u="none" strike="noStrike" cap="none" dirty="0" err="1">
                          <a:solidFill>
                            <a:schemeClr val="dk1"/>
                          </a:solidFill>
                          <a:latin typeface="Calibri"/>
                          <a:ea typeface="Calibri"/>
                          <a:cs typeface="Calibri"/>
                          <a:sym typeface="Calibri"/>
                        </a:rPr>
                        <a:t>state</a:t>
                      </a:r>
                      <a:r>
                        <a:rPr lang="de-CH" sz="1600" u="none" strike="noStrike" cap="none" dirty="0">
                          <a:solidFill>
                            <a:schemeClr val="dk1"/>
                          </a:solidFill>
                          <a:latin typeface="Calibri"/>
                          <a:ea typeface="Calibri"/>
                          <a:cs typeface="Calibri"/>
                          <a:sym typeface="Calibri"/>
                        </a:rPr>
                        <a:t>)</a:t>
                      </a:r>
                    </a:p>
                  </a:txBody>
                  <a:tcPr marL="12711" marR="12711" marT="12711" marB="0" anchor="b">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endParaRPr sz="1600" b="0" i="0" u="none" strike="noStrike" cap="none" dirty="0">
                        <a:solidFill>
                          <a:srgbClr val="00000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endParaRPr lang="en" sz="1600" b="0" i="0" u="none" strike="noStrike" cap="none" dirty="0">
                        <a:solidFill>
                          <a:srgbClr val="00000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endParaRPr lang="en" sz="1600" b="0" i="0" u="none" strike="noStrike" cap="none" dirty="0">
                        <a:solidFill>
                          <a:srgbClr val="000000"/>
                        </a:solidFill>
                        <a:latin typeface="Calibri"/>
                        <a:ea typeface="Calibri"/>
                        <a:cs typeface="Calibri"/>
                        <a:sym typeface="Calibri"/>
                      </a:endParaRPr>
                    </a:p>
                  </a:txBody>
                  <a:tcPr marL="12711" marR="12711" marT="12711" marB="0" anchor="b">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endParaRPr lang="en" sz="1600" b="0" i="0" u="none" strike="noStrike" cap="none" dirty="0">
                        <a:solidFill>
                          <a:srgbClr val="00000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p>
                      <a:pPr marL="0" marR="0" lvl="0" indent="0" algn="ctr" rtl="0">
                        <a:spcBef>
                          <a:spcPts val="0"/>
                        </a:spcBef>
                        <a:spcAft>
                          <a:spcPts val="0"/>
                        </a:spcAft>
                        <a:buNone/>
                      </a:pPr>
                      <a:endParaRPr lang="en" sz="1600" b="0" i="0" u="none" strike="noStrike" cap="none" dirty="0">
                        <a:solidFill>
                          <a:srgbClr val="000000"/>
                        </a:solidFill>
                        <a:latin typeface="Calibri"/>
                        <a:ea typeface="Calibri"/>
                        <a:cs typeface="Calibri"/>
                        <a:sym typeface="Calibri"/>
                      </a:endParaRPr>
                    </a:p>
                  </a:txBody>
                  <a:tcPr marL="12711" marR="12711" marT="12711" marB="0" anchor="b">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extLst>
                  <a:ext uri="{0D108BD9-81ED-4DB2-BD59-A6C34878D82A}">
                    <a16:rowId xmlns:a16="http://schemas.microsoft.com/office/drawing/2014/main" val="10006"/>
                  </a:ext>
                </a:extLst>
              </a:tr>
              <a:tr h="36576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0" algn="l" rtl="0">
                        <a:lnSpc>
                          <a:spcPct val="100000"/>
                        </a:lnSpc>
                        <a:spcBef>
                          <a:spcPts val="0"/>
                        </a:spcBef>
                        <a:spcAft>
                          <a:spcPts val="0"/>
                        </a:spcAft>
                        <a:buClr>
                          <a:schemeClr val="dk1"/>
                        </a:buClr>
                        <a:buSzPts val="1400"/>
                        <a:buFont typeface="Calibri"/>
                        <a:buNone/>
                      </a:pPr>
                      <a:r>
                        <a:rPr lang="de-CH" sz="1600" u="none" strike="noStrike" cap="none" dirty="0" err="1">
                          <a:solidFill>
                            <a:schemeClr val="dk1"/>
                          </a:solidFill>
                          <a:latin typeface="Calibri"/>
                          <a:ea typeface="Calibri"/>
                          <a:cs typeface="Calibri"/>
                          <a:sym typeface="Calibri"/>
                        </a:rPr>
                        <a:t>ietf-bfd-ip-mh.yang</a:t>
                      </a:r>
                      <a:r>
                        <a:rPr lang="de-CH" sz="1600" u="none" strike="noStrike" cap="none" dirty="0">
                          <a:solidFill>
                            <a:schemeClr val="dk1"/>
                          </a:solidFill>
                          <a:latin typeface="Calibri"/>
                          <a:ea typeface="Calibri"/>
                          <a:cs typeface="Calibri"/>
                          <a:sym typeface="Calibri"/>
                        </a:rPr>
                        <a:t> (</a:t>
                      </a:r>
                      <a:r>
                        <a:rPr lang="de-CH" sz="1600" u="none" strike="noStrike" cap="none" dirty="0" err="1">
                          <a:solidFill>
                            <a:schemeClr val="dk1"/>
                          </a:solidFill>
                          <a:latin typeface="Calibri"/>
                          <a:ea typeface="Calibri"/>
                          <a:cs typeface="Calibri"/>
                          <a:sym typeface="Calibri"/>
                        </a:rPr>
                        <a:t>state</a:t>
                      </a:r>
                      <a:r>
                        <a:rPr lang="de-CH" sz="1600" u="none" strike="noStrike" cap="none" dirty="0">
                          <a:solidFill>
                            <a:schemeClr val="dk1"/>
                          </a:solidFill>
                          <a:latin typeface="Calibri"/>
                          <a:ea typeface="Calibri"/>
                          <a:cs typeface="Calibri"/>
                          <a:sym typeface="Calibri"/>
                        </a:rPr>
                        <a:t>)</a:t>
                      </a:r>
                    </a:p>
                  </a:txBody>
                  <a:tcPr marL="12711" marR="12711" marT="12711" marB="0" anchor="b">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endParaRPr sz="1600" b="0" i="0" u="none" strike="noStrike" cap="none" dirty="0">
                        <a:solidFill>
                          <a:srgbClr val="000000"/>
                        </a:solidFill>
                        <a:latin typeface="Calibri"/>
                        <a:ea typeface="Calibri"/>
                        <a:cs typeface="Calibri"/>
                        <a:sym typeface="Calibri"/>
                      </a:endParaRPr>
                    </a:p>
                  </a:txBody>
                  <a:tcPr marL="12711" marR="12711" marT="12711" marB="0" anchor="b">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endParaRPr lang="en" sz="1600" b="0" i="0" u="none" strike="noStrike" cap="none" dirty="0">
                        <a:solidFill>
                          <a:srgbClr val="000000"/>
                        </a:solidFill>
                        <a:latin typeface="Calibri"/>
                        <a:ea typeface="Calibri"/>
                        <a:cs typeface="Calibri"/>
                        <a:sym typeface="Calibri"/>
                      </a:endParaRPr>
                    </a:p>
                  </a:txBody>
                  <a:tcPr marL="12711" marR="12711" marT="12711" marB="0" anchor="b">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endParaRPr lang="en" sz="1600" b="0" i="0" u="none" strike="noStrike" cap="none" dirty="0">
                        <a:solidFill>
                          <a:srgbClr val="000000"/>
                        </a:solidFill>
                        <a:latin typeface="Calibri"/>
                        <a:ea typeface="Calibri"/>
                        <a:cs typeface="Calibri"/>
                        <a:sym typeface="Calibri"/>
                      </a:endParaRPr>
                    </a:p>
                  </a:txBody>
                  <a:tcPr marL="12711" marR="12711" marT="12711" marB="0" anchor="b">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endParaRPr sz="1600" b="0" i="0" u="none" strike="noStrike" cap="none" dirty="0">
                        <a:solidFill>
                          <a:srgbClr val="000000"/>
                        </a:solidFill>
                        <a:latin typeface="Calibri"/>
                        <a:ea typeface="Calibri"/>
                        <a:cs typeface="Calibri"/>
                        <a:sym typeface="Calibri"/>
                      </a:endParaRPr>
                    </a:p>
                  </a:txBody>
                  <a:tcPr marL="12711" marR="12711" marT="12711" marB="0" anchor="b">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p>
                      <a:pPr marL="0" marR="0" lvl="0" indent="0" algn="ctr" rtl="0">
                        <a:spcBef>
                          <a:spcPts val="0"/>
                        </a:spcBef>
                        <a:spcAft>
                          <a:spcPts val="0"/>
                        </a:spcAft>
                        <a:buNone/>
                      </a:pPr>
                      <a:endParaRPr sz="1600" b="0" i="0" u="none" strike="noStrike" cap="none" dirty="0">
                        <a:solidFill>
                          <a:srgbClr val="000000"/>
                        </a:solidFill>
                        <a:latin typeface="Calibri"/>
                        <a:ea typeface="Calibri"/>
                        <a:cs typeface="Calibri"/>
                        <a:sym typeface="Calibri"/>
                      </a:endParaRPr>
                    </a:p>
                  </a:txBody>
                  <a:tcPr marL="12711" marR="12711" marT="12711" marB="0" anchor="b">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extLst>
                  <a:ext uri="{0D108BD9-81ED-4DB2-BD59-A6C34878D82A}">
                    <a16:rowId xmlns:a16="http://schemas.microsoft.com/office/drawing/2014/main" val="10008"/>
                  </a:ext>
                </a:extLst>
              </a:tr>
              <a:tr h="36576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0" algn="l" rtl="0">
                        <a:spcBef>
                          <a:spcPts val="0"/>
                        </a:spcBef>
                        <a:spcAft>
                          <a:spcPts val="0"/>
                        </a:spcAft>
                        <a:buNone/>
                      </a:pPr>
                      <a:r>
                        <a:rPr lang="de-CH" sz="1600" u="none" strike="noStrike" cap="none" dirty="0" err="1">
                          <a:solidFill>
                            <a:schemeClr val="dk1"/>
                          </a:solidFill>
                          <a:latin typeface="Calibri"/>
                          <a:ea typeface="Calibri"/>
                          <a:cs typeface="Calibri"/>
                          <a:sym typeface="Calibri"/>
                        </a:rPr>
                        <a:t>ietf-bfd-lag.yang</a:t>
                      </a:r>
                      <a:r>
                        <a:rPr lang="de-CH" sz="1600" u="none" strike="noStrike" cap="none" dirty="0">
                          <a:solidFill>
                            <a:schemeClr val="dk1"/>
                          </a:solidFill>
                          <a:latin typeface="Calibri"/>
                          <a:ea typeface="Calibri"/>
                          <a:cs typeface="Calibri"/>
                          <a:sym typeface="Calibri"/>
                        </a:rPr>
                        <a:t> (</a:t>
                      </a:r>
                      <a:r>
                        <a:rPr lang="de-CH" sz="1600" u="none" strike="noStrike" cap="none" dirty="0" err="1">
                          <a:solidFill>
                            <a:schemeClr val="dk1"/>
                          </a:solidFill>
                          <a:latin typeface="Calibri"/>
                          <a:ea typeface="Calibri"/>
                          <a:cs typeface="Calibri"/>
                          <a:sym typeface="Calibri"/>
                        </a:rPr>
                        <a:t>state</a:t>
                      </a:r>
                      <a:r>
                        <a:rPr lang="de-CH" sz="1600" u="none" strike="noStrike" cap="none" dirty="0">
                          <a:solidFill>
                            <a:schemeClr val="dk1"/>
                          </a:solidFill>
                          <a:latin typeface="Calibri"/>
                          <a:ea typeface="Calibri"/>
                          <a:cs typeface="Calibri"/>
                          <a:sym typeface="Calibri"/>
                        </a:rPr>
                        <a:t>)</a:t>
                      </a:r>
                      <a:endParaRPr sz="1600" dirty="0"/>
                    </a:p>
                  </a:txBody>
                  <a:tcPr marL="12711" marR="12711" marT="12711" marB="0" anchor="b">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auto" latinLnBrk="0" hangingPunct="1">
                        <a:lnSpc>
                          <a:spcPct val="100000"/>
                        </a:lnSpc>
                        <a:spcBef>
                          <a:spcPts val="0"/>
                        </a:spcBef>
                        <a:spcAft>
                          <a:spcPts val="0"/>
                        </a:spcAft>
                        <a:buClr>
                          <a:schemeClr val="dk1"/>
                        </a:buClr>
                        <a:buSzPts val="1400"/>
                        <a:buFont typeface="Calibri"/>
                        <a:buNone/>
                        <a:tabLst/>
                        <a:defRPr/>
                      </a:pPr>
                      <a:endParaRPr lang="en" sz="1600" b="0" i="0" u="none" strike="noStrike" cap="none" dirty="0">
                        <a:solidFill>
                          <a:srgbClr val="00000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endParaRPr lang="en" sz="1600" b="0" i="0" u="none" strike="noStrike" cap="none" dirty="0">
                        <a:solidFill>
                          <a:srgbClr val="00000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endParaRPr lang="en" sz="1600" b="0" i="0" u="none" strike="noStrike" cap="none" dirty="0">
                        <a:solidFill>
                          <a:srgbClr val="000000"/>
                        </a:solidFill>
                        <a:latin typeface="Calibri"/>
                        <a:ea typeface="Calibri"/>
                        <a:cs typeface="Calibri"/>
                        <a:sym typeface="Calibri"/>
                      </a:endParaRPr>
                    </a:p>
                  </a:txBody>
                  <a:tcPr marL="12711" marR="12711" marT="12711" marB="0" anchor="b">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endParaRPr lang="en" sz="1600" b="0" i="0" u="none" strike="noStrike" cap="none" dirty="0">
                        <a:solidFill>
                          <a:srgbClr val="00000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p>
                      <a:pPr marL="0" marR="0" lvl="0" indent="0" algn="ctr" rtl="0">
                        <a:spcBef>
                          <a:spcPts val="0"/>
                        </a:spcBef>
                        <a:spcAft>
                          <a:spcPts val="0"/>
                        </a:spcAft>
                        <a:buNone/>
                      </a:pPr>
                      <a:endParaRPr lang="en" sz="1600" b="0" i="0" u="none" strike="noStrike" cap="none" dirty="0">
                        <a:solidFill>
                          <a:srgbClr val="000000"/>
                        </a:solidFill>
                        <a:latin typeface="Calibri"/>
                        <a:ea typeface="Calibri"/>
                        <a:cs typeface="Calibri"/>
                        <a:sym typeface="Calibri"/>
                      </a:endParaRPr>
                    </a:p>
                  </a:txBody>
                  <a:tcPr marL="12711" marR="12711" marT="12711" marB="0" anchor="b">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extLst>
                  <a:ext uri="{0D108BD9-81ED-4DB2-BD59-A6C34878D82A}">
                    <a16:rowId xmlns:a16="http://schemas.microsoft.com/office/drawing/2014/main" val="10009"/>
                  </a:ext>
                </a:extLst>
              </a:tr>
              <a:tr h="36576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0" algn="l" rtl="0">
                        <a:spcBef>
                          <a:spcPts val="0"/>
                        </a:spcBef>
                        <a:spcAft>
                          <a:spcPts val="0"/>
                        </a:spcAft>
                        <a:buNone/>
                      </a:pPr>
                      <a:r>
                        <a:rPr lang="de-CH" sz="1600" u="none" strike="noStrike" cap="none" dirty="0" err="1">
                          <a:solidFill>
                            <a:schemeClr val="dk1"/>
                          </a:solidFill>
                          <a:latin typeface="Calibri"/>
                          <a:ea typeface="Calibri"/>
                          <a:cs typeface="Calibri"/>
                          <a:sym typeface="Calibri"/>
                        </a:rPr>
                        <a:t>ietf-isis.yang</a:t>
                      </a:r>
                      <a:r>
                        <a:rPr lang="de-CH" sz="1600" u="none" strike="noStrike" cap="none" dirty="0">
                          <a:solidFill>
                            <a:schemeClr val="dk1"/>
                          </a:solidFill>
                          <a:latin typeface="Calibri"/>
                          <a:ea typeface="Calibri"/>
                          <a:cs typeface="Calibri"/>
                          <a:sym typeface="Calibri"/>
                        </a:rPr>
                        <a:t> (</a:t>
                      </a:r>
                      <a:r>
                        <a:rPr lang="de-CH" sz="1600" u="none" strike="noStrike" cap="none" dirty="0" err="1">
                          <a:solidFill>
                            <a:schemeClr val="dk1"/>
                          </a:solidFill>
                          <a:latin typeface="Calibri"/>
                          <a:ea typeface="Calibri"/>
                          <a:cs typeface="Calibri"/>
                          <a:sym typeface="Calibri"/>
                        </a:rPr>
                        <a:t>state</a:t>
                      </a:r>
                      <a:r>
                        <a:rPr lang="de-CH" sz="1600" u="none" strike="noStrike" cap="none" dirty="0">
                          <a:solidFill>
                            <a:schemeClr val="dk1"/>
                          </a:solidFill>
                          <a:latin typeface="Calibri"/>
                          <a:ea typeface="Calibri"/>
                          <a:cs typeface="Calibri"/>
                          <a:sym typeface="Calibri"/>
                        </a:rPr>
                        <a:t>)</a:t>
                      </a:r>
                      <a:endParaRPr sz="1600" u="none" strike="noStrike" cap="none" dirty="0">
                        <a:solidFill>
                          <a:schemeClr val="dk1"/>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auto" latinLnBrk="0" hangingPunct="1">
                        <a:lnSpc>
                          <a:spcPct val="100000"/>
                        </a:lnSpc>
                        <a:spcBef>
                          <a:spcPts val="0"/>
                        </a:spcBef>
                        <a:spcAft>
                          <a:spcPts val="0"/>
                        </a:spcAft>
                        <a:buClr>
                          <a:schemeClr val="dk1"/>
                        </a:buClr>
                        <a:buSzPts val="1400"/>
                        <a:buFont typeface="Calibri"/>
                        <a:buNone/>
                        <a:tabLst/>
                        <a:defRPr/>
                      </a:pPr>
                      <a:endParaRPr lang="en" sz="1600" b="0" i="0" u="none" strike="noStrike" cap="none" dirty="0">
                        <a:solidFill>
                          <a:srgbClr val="00000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lnSpc>
                          <a:spcPct val="100000"/>
                        </a:lnSpc>
                        <a:spcBef>
                          <a:spcPts val="0"/>
                        </a:spcBef>
                        <a:spcAft>
                          <a:spcPts val="0"/>
                        </a:spcAft>
                        <a:buClr>
                          <a:schemeClr val="dk1"/>
                        </a:buClr>
                        <a:buSzPts val="1400"/>
                        <a:buFont typeface="Calibri"/>
                        <a:buNone/>
                      </a:pPr>
                      <a:endParaRPr sz="1600" b="0" i="0" u="none" strike="noStrike" cap="none" dirty="0">
                        <a:solidFill>
                          <a:srgbClr val="FF000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endParaRPr lang="en" sz="1600" b="0" i="0" u="none" strike="noStrike" cap="none" dirty="0">
                        <a:solidFill>
                          <a:srgbClr val="000000"/>
                        </a:solidFill>
                        <a:latin typeface="Calibri"/>
                        <a:ea typeface="Calibri"/>
                        <a:cs typeface="Calibri"/>
                        <a:sym typeface="Calibri"/>
                      </a:endParaRPr>
                    </a:p>
                  </a:txBody>
                  <a:tcPr marL="12711" marR="12711" marT="12711" marB="0" anchor="b">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auto" latinLnBrk="0" hangingPunct="1">
                        <a:lnSpc>
                          <a:spcPct val="100000"/>
                        </a:lnSpc>
                        <a:spcBef>
                          <a:spcPts val="0"/>
                        </a:spcBef>
                        <a:spcAft>
                          <a:spcPts val="0"/>
                        </a:spcAft>
                        <a:buClr>
                          <a:schemeClr val="dk1"/>
                        </a:buClr>
                        <a:buSzPts val="1400"/>
                        <a:buFont typeface="Calibri"/>
                        <a:buNone/>
                        <a:tabLst/>
                        <a:defRPr/>
                      </a:pPr>
                      <a:endParaRPr lang="de-CH" sz="1600" b="0" i="0" u="none" strike="noStrike" cap="none" dirty="0">
                        <a:solidFill>
                          <a:schemeClr val="tx1"/>
                        </a:solidFill>
                        <a:latin typeface="Calibri"/>
                        <a:ea typeface="Calibri"/>
                        <a:cs typeface="Calibri"/>
                        <a:sym typeface="Arial"/>
                      </a:endParaRPr>
                    </a:p>
                  </a:txBody>
                  <a:tcPr marL="12711" marR="12711" marT="12711"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400"/>
                        <a:buFont typeface="Calibri"/>
                        <a:buNone/>
                        <a:tabLst/>
                        <a:defRPr/>
                      </a:pPr>
                      <a:endParaRPr lang="de-CH" sz="1600" b="0" i="0" u="none" strike="noStrike" cap="none" dirty="0">
                        <a:solidFill>
                          <a:schemeClr val="tx1"/>
                        </a:solidFill>
                        <a:latin typeface="Calibri"/>
                        <a:ea typeface="Calibri"/>
                        <a:cs typeface="Calibri"/>
                        <a:sym typeface="Arial"/>
                      </a:endParaRPr>
                    </a:p>
                  </a:txBody>
                  <a:tcPr marL="12711" marR="12711" marT="12711" marB="0" anchor="b">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34626814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20">
          <a:extLst>
            <a:ext uri="{FF2B5EF4-FFF2-40B4-BE49-F238E27FC236}">
              <a16:creationId xmlns:a16="http://schemas.microsoft.com/office/drawing/2014/main" id="{13786091-A017-6FC9-0F48-AAC2852677B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9C01454-EB1E-A0B2-7D91-DF1EF096CBF5}"/>
              </a:ext>
            </a:extLst>
          </p:cNvPr>
          <p:cNvSpPr/>
          <p:nvPr/>
        </p:nvSpPr>
        <p:spPr>
          <a:xfrm>
            <a:off x="11450426" y="0"/>
            <a:ext cx="741575" cy="6858000"/>
          </a:xfrm>
          <a:prstGeom prst="rect">
            <a:avLst/>
          </a:prstGeom>
          <a:solidFill>
            <a:schemeClr val="bg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CH" sz="2400"/>
          </a:p>
        </p:txBody>
      </p:sp>
      <p:sp>
        <p:nvSpPr>
          <p:cNvPr id="4" name="TextBox 3">
            <a:extLst>
              <a:ext uri="{FF2B5EF4-FFF2-40B4-BE49-F238E27FC236}">
                <a16:creationId xmlns:a16="http://schemas.microsoft.com/office/drawing/2014/main" id="{89087497-A9EA-7211-01D3-2DDA431A6915}"/>
              </a:ext>
            </a:extLst>
          </p:cNvPr>
          <p:cNvSpPr txBox="1"/>
          <p:nvPr/>
        </p:nvSpPr>
        <p:spPr>
          <a:xfrm rot="5400000">
            <a:off x="8751239" y="2855495"/>
            <a:ext cx="6096000" cy="666786"/>
          </a:xfrm>
          <a:prstGeom prst="rect">
            <a:avLst/>
          </a:prstGeom>
          <a:noFill/>
        </p:spPr>
        <p:txBody>
          <a:bodyPr wrap="square">
            <a:spAutoFit/>
          </a:bodyPr>
          <a:lstStyle/>
          <a:p>
            <a:r>
              <a:rPr lang="en" sz="3733" dirty="0">
                <a:solidFill>
                  <a:schemeClr val="bg1"/>
                </a:solidFill>
                <a:latin typeface="Calibri"/>
                <a:ea typeface="Calibri"/>
                <a:cs typeface="Calibri"/>
                <a:sym typeface="Calibri"/>
              </a:rPr>
              <a:t>NMOP &amp; NETCONF WG</a:t>
            </a:r>
            <a:endParaRPr lang="de-CH" sz="3733" dirty="0">
              <a:solidFill>
                <a:schemeClr val="bg1"/>
              </a:solidFill>
            </a:endParaRPr>
          </a:p>
        </p:txBody>
      </p:sp>
      <p:sp>
        <p:nvSpPr>
          <p:cNvPr id="5" name="Google Shape;1523;p45">
            <a:extLst>
              <a:ext uri="{FF2B5EF4-FFF2-40B4-BE49-F238E27FC236}">
                <a16:creationId xmlns:a16="http://schemas.microsoft.com/office/drawing/2014/main" id="{035FA214-16B0-2899-B357-0D4BDF2D0957}"/>
              </a:ext>
            </a:extLst>
          </p:cNvPr>
          <p:cNvSpPr txBox="1">
            <a:spLocks noGrp="1"/>
          </p:cNvSpPr>
          <p:nvPr>
            <p:ph type="sldNum" idx="12"/>
          </p:nvPr>
        </p:nvSpPr>
        <p:spPr>
          <a:xfrm>
            <a:off x="11676531" y="6352981"/>
            <a:ext cx="245415" cy="369277"/>
          </a:xfrm>
          <a:prstGeom prst="rect">
            <a:avLst/>
          </a:prstGeom>
          <a:noFill/>
          <a:ln>
            <a:noFill/>
          </a:ln>
        </p:spPr>
        <p:txBody>
          <a:bodyPr spcFirstLastPara="1" vert="horz" wrap="square" lIns="60933" tIns="60933" rIns="60933" bIns="60933" rtlCol="0" anchor="ctr" anchorCtr="0">
            <a:spAutoFit/>
          </a:bodyPr>
          <a:lstStyle/>
          <a:p>
            <a:fld id="{00000000-1234-1234-1234-123412341234}" type="slidenum">
              <a:rPr lang="en"/>
              <a:pPr/>
              <a:t>16</a:t>
            </a:fld>
            <a:endParaRPr dirty="0"/>
          </a:p>
        </p:txBody>
      </p:sp>
      <p:sp>
        <p:nvSpPr>
          <p:cNvPr id="16" name="Google Shape;1616;p55">
            <a:extLst>
              <a:ext uri="{FF2B5EF4-FFF2-40B4-BE49-F238E27FC236}">
                <a16:creationId xmlns:a16="http://schemas.microsoft.com/office/drawing/2014/main" id="{501A433C-2098-C817-EE16-847A004F8D61}"/>
              </a:ext>
            </a:extLst>
          </p:cNvPr>
          <p:cNvSpPr txBox="1">
            <a:spLocks/>
          </p:cNvSpPr>
          <p:nvPr/>
        </p:nvSpPr>
        <p:spPr>
          <a:xfrm>
            <a:off x="690880" y="1"/>
            <a:ext cx="6563360" cy="1150108"/>
          </a:xfrm>
          <a:prstGeom prst="rect">
            <a:avLst/>
          </a:prstGeom>
          <a:noFill/>
          <a:ln>
            <a:noFill/>
          </a:ln>
        </p:spPr>
        <p:txBody>
          <a:bodyPr spcFirstLastPara="1" wrap="square" lIns="162533" tIns="81244" rIns="162533" bIns="81244"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lvl="0">
              <a:buClr>
                <a:srgbClr val="000000"/>
              </a:buClr>
              <a:buSzPts val="2400"/>
              <a:defRPr/>
            </a:pPr>
            <a:r>
              <a:rPr lang="de-CH" sz="2667" b="1" dirty="0">
                <a:solidFill>
                  <a:srgbClr val="000000"/>
                </a:solidFill>
              </a:rPr>
              <a:t>YANG Message Broker</a:t>
            </a:r>
            <a:br>
              <a:rPr lang="de-CH" sz="5333" kern="0" dirty="0">
                <a:solidFill>
                  <a:srgbClr val="000000"/>
                </a:solidFill>
              </a:rPr>
            </a:br>
            <a:r>
              <a:rPr lang="de-CH" sz="2667" dirty="0">
                <a:solidFill>
                  <a:srgbClr val="AEABAB"/>
                </a:solidFill>
              </a:rPr>
              <a:t>IETF 126 Implementation Status</a:t>
            </a:r>
            <a:endParaRPr lang="de-CH" sz="2667" kern="0" dirty="0">
              <a:solidFill>
                <a:srgbClr val="AEABAB"/>
              </a:solidFill>
            </a:endParaRPr>
          </a:p>
        </p:txBody>
      </p:sp>
      <p:sp>
        <p:nvSpPr>
          <p:cNvPr id="18" name="Google Shape;1618;p55">
            <a:extLst>
              <a:ext uri="{FF2B5EF4-FFF2-40B4-BE49-F238E27FC236}">
                <a16:creationId xmlns:a16="http://schemas.microsoft.com/office/drawing/2014/main" id="{5A963854-3EC6-087D-C527-92986F221A3B}"/>
              </a:ext>
            </a:extLst>
          </p:cNvPr>
          <p:cNvSpPr txBox="1"/>
          <p:nvPr/>
        </p:nvSpPr>
        <p:spPr>
          <a:xfrm>
            <a:off x="815425" y="6127323"/>
            <a:ext cx="9019823" cy="410296"/>
          </a:xfrm>
          <a:prstGeom prst="rect">
            <a:avLst/>
          </a:prstGeom>
          <a:noFill/>
          <a:ln>
            <a:noFill/>
          </a:ln>
        </p:spPr>
        <p:txBody>
          <a:bodyPr spcFirstLastPara="1" wrap="square" lIns="162533" tIns="81244" rIns="162533" bIns="81244" anchor="t" anchorCtr="0">
            <a:spAutoFit/>
          </a:bodyPr>
          <a:lstStyle/>
          <a:p>
            <a:pPr defTabSz="1625519">
              <a:buClr>
                <a:srgbClr val="92D050"/>
              </a:buClr>
              <a:buSzPts val="1200"/>
              <a:defRPr/>
            </a:pPr>
            <a:r>
              <a:rPr lang="en" sz="1600" kern="0" dirty="0">
                <a:solidFill>
                  <a:srgbClr val="92D050"/>
                </a:solidFill>
                <a:latin typeface="Calibri"/>
                <a:ea typeface="Calibri"/>
                <a:cs typeface="Calibri"/>
                <a:sym typeface="Calibri"/>
              </a:rPr>
              <a:t>Green marked describes new capability at IETF 126. </a:t>
            </a:r>
            <a:r>
              <a:rPr lang="en" sz="1600" kern="0" dirty="0">
                <a:solidFill>
                  <a:srgbClr val="000000"/>
                </a:solidFill>
                <a:latin typeface="Calibri"/>
                <a:ea typeface="Calibri"/>
                <a:cs typeface="Calibri"/>
                <a:sym typeface="Calibri"/>
              </a:rPr>
              <a:t>"P" to partially implemented.</a:t>
            </a:r>
            <a:endParaRPr sz="1600" kern="0" dirty="0">
              <a:solidFill>
                <a:srgbClr val="000000"/>
              </a:solidFill>
              <a:latin typeface="Arial"/>
              <a:cs typeface="Arial"/>
              <a:sym typeface="Arial"/>
            </a:endParaRPr>
          </a:p>
        </p:txBody>
      </p:sp>
      <p:pic>
        <p:nvPicPr>
          <p:cNvPr id="19" name="Picture 2">
            <a:extLst>
              <a:ext uri="{FF2B5EF4-FFF2-40B4-BE49-F238E27FC236}">
                <a16:creationId xmlns:a16="http://schemas.microsoft.com/office/drawing/2014/main" id="{E7699E31-B0AD-E40F-C5F9-5ABC071A86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9547604" y="136820"/>
            <a:ext cx="1721717" cy="1150107"/>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Google Shape;1617;p55">
            <a:extLst>
              <a:ext uri="{FF2B5EF4-FFF2-40B4-BE49-F238E27FC236}">
                <a16:creationId xmlns:a16="http://schemas.microsoft.com/office/drawing/2014/main" id="{20D70089-A937-8B76-C6A7-4F44AECC93BB}"/>
              </a:ext>
            </a:extLst>
          </p:cNvPr>
          <p:cNvGraphicFramePr/>
          <p:nvPr>
            <p:extLst>
              <p:ext uri="{D42A27DB-BD31-4B8C-83A1-F6EECF244321}">
                <p14:modId xmlns:p14="http://schemas.microsoft.com/office/powerpoint/2010/main" val="8842399"/>
              </p:ext>
            </p:extLst>
          </p:nvPr>
        </p:nvGraphicFramePr>
        <p:xfrm>
          <a:off x="815425" y="1534627"/>
          <a:ext cx="8743060" cy="3840013"/>
        </p:xfrm>
        <a:graphic>
          <a:graphicData uri="http://schemas.openxmlformats.org/drawingml/2006/table">
            <a:tbl>
              <a:tblPr>
                <a:noFill/>
              </a:tblPr>
              <a:tblGrid>
                <a:gridCol w="4522492">
                  <a:extLst>
                    <a:ext uri="{9D8B030D-6E8A-4147-A177-3AD203B41FA5}">
                      <a16:colId xmlns:a16="http://schemas.microsoft.com/office/drawing/2014/main" val="20000"/>
                    </a:ext>
                  </a:extLst>
                </a:gridCol>
                <a:gridCol w="892323">
                  <a:extLst>
                    <a:ext uri="{9D8B030D-6E8A-4147-A177-3AD203B41FA5}">
                      <a16:colId xmlns:a16="http://schemas.microsoft.com/office/drawing/2014/main" val="20001"/>
                    </a:ext>
                  </a:extLst>
                </a:gridCol>
                <a:gridCol w="683704">
                  <a:extLst>
                    <a:ext uri="{9D8B030D-6E8A-4147-A177-3AD203B41FA5}">
                      <a16:colId xmlns:a16="http://schemas.microsoft.com/office/drawing/2014/main" val="20002"/>
                    </a:ext>
                  </a:extLst>
                </a:gridCol>
                <a:gridCol w="700637">
                  <a:extLst>
                    <a:ext uri="{9D8B030D-6E8A-4147-A177-3AD203B41FA5}">
                      <a16:colId xmlns:a16="http://schemas.microsoft.com/office/drawing/2014/main" val="3717512912"/>
                    </a:ext>
                  </a:extLst>
                </a:gridCol>
                <a:gridCol w="989267">
                  <a:extLst>
                    <a:ext uri="{9D8B030D-6E8A-4147-A177-3AD203B41FA5}">
                      <a16:colId xmlns:a16="http://schemas.microsoft.com/office/drawing/2014/main" val="20003"/>
                    </a:ext>
                  </a:extLst>
                </a:gridCol>
                <a:gridCol w="954637">
                  <a:extLst>
                    <a:ext uri="{9D8B030D-6E8A-4147-A177-3AD203B41FA5}">
                      <a16:colId xmlns:a16="http://schemas.microsoft.com/office/drawing/2014/main" val="273656328"/>
                    </a:ext>
                  </a:extLst>
                </a:gridCol>
              </a:tblGrid>
              <a:tr h="548173">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rtl="0">
                        <a:spcBef>
                          <a:spcPts val="0"/>
                        </a:spcBef>
                        <a:spcAft>
                          <a:spcPts val="0"/>
                        </a:spcAft>
                        <a:buNone/>
                      </a:pPr>
                      <a:endParaRPr sz="1600" b="0" i="0" u="none" strike="noStrike" cap="none" dirty="0">
                        <a:solidFill>
                          <a:srgbClr val="00000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r>
                        <a:rPr lang="en" sz="1400" b="1" u="none" strike="noStrike" cap="none" dirty="0">
                          <a:latin typeface="Calibri"/>
                          <a:ea typeface="Calibri"/>
                          <a:cs typeface="Calibri"/>
                          <a:sym typeface="Calibri"/>
                        </a:rPr>
                        <a:t>NetGauze™</a:t>
                      </a:r>
                      <a:br>
                        <a:rPr lang="en" sz="1400" b="1" u="none" strike="noStrike" cap="none" dirty="0">
                          <a:latin typeface="Calibri"/>
                          <a:ea typeface="Calibri"/>
                          <a:cs typeface="Calibri"/>
                          <a:sym typeface="Calibri"/>
                        </a:rPr>
                      </a:br>
                      <a:endParaRPr sz="1400" b="1" i="0" u="none" strike="noStrike" cap="none" dirty="0">
                        <a:solidFill>
                          <a:srgbClr val="00000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r>
                        <a:rPr lang="en" sz="1400" b="1" u="none" strike="noStrike" cap="none" dirty="0">
                          <a:latin typeface="Calibri"/>
                          <a:ea typeface="Calibri"/>
                          <a:cs typeface="Calibri"/>
                          <a:sym typeface="Calibri"/>
                        </a:rPr>
                        <a:t>Pmacct</a:t>
                      </a:r>
                      <a:br>
                        <a:rPr lang="en" sz="1400" b="1" u="none" strike="noStrike" cap="none" dirty="0">
                          <a:latin typeface="Calibri"/>
                          <a:ea typeface="Calibri"/>
                          <a:cs typeface="Calibri"/>
                          <a:sym typeface="Calibri"/>
                        </a:rPr>
                      </a:br>
                      <a:endParaRPr sz="1400" b="1" i="0" u="none" strike="noStrike" cap="none" dirty="0">
                        <a:solidFill>
                          <a:srgbClr val="00000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r>
                        <a:rPr lang="de-CH" sz="1400" b="1" i="0" u="none" strike="noStrike" cap="none" dirty="0">
                          <a:solidFill>
                            <a:srgbClr val="000000"/>
                          </a:solidFill>
                          <a:latin typeface="Calibri"/>
                          <a:ea typeface="Calibri"/>
                          <a:cs typeface="Calibri"/>
                          <a:sym typeface="Calibri"/>
                        </a:rPr>
                        <a:t>Apache</a:t>
                      </a:r>
                      <a:br>
                        <a:rPr lang="de-CH" sz="1400" b="1" i="0" u="none" strike="noStrike" cap="none" dirty="0">
                          <a:solidFill>
                            <a:srgbClr val="000000"/>
                          </a:solidFill>
                          <a:latin typeface="Calibri"/>
                          <a:ea typeface="Calibri"/>
                          <a:cs typeface="Calibri"/>
                          <a:sym typeface="Calibri"/>
                        </a:rPr>
                      </a:br>
                      <a:r>
                        <a:rPr lang="de-CH" sz="1400" b="1" i="0" u="none" strike="noStrike" cap="none" dirty="0">
                          <a:solidFill>
                            <a:srgbClr val="000000"/>
                          </a:solidFill>
                          <a:latin typeface="Calibri"/>
                          <a:ea typeface="Calibri"/>
                          <a:cs typeface="Calibri"/>
                          <a:sym typeface="Calibri"/>
                        </a:rPr>
                        <a:t>Kafka</a:t>
                      </a:r>
                      <a:endParaRPr sz="1400" b="1" i="0" u="none" strike="noStrike" cap="none" dirty="0">
                        <a:solidFill>
                          <a:srgbClr val="000000"/>
                        </a:solidFill>
                        <a:latin typeface="Calibri"/>
                        <a:ea typeface="Calibri"/>
                        <a:cs typeface="Calibri"/>
                        <a:sym typeface="Calibri"/>
                      </a:endParaRPr>
                    </a:p>
                  </a:txBody>
                  <a:tcPr marL="12711" marR="12711" marT="12711" marB="0" anchor="b">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r>
                        <a:rPr lang="en" sz="1400" b="1" u="none" strike="noStrike" cap="none" dirty="0">
                          <a:latin typeface="Calibri"/>
                          <a:ea typeface="Calibri"/>
                          <a:cs typeface="Calibri"/>
                          <a:sym typeface="Calibri"/>
                        </a:rPr>
                        <a:t>Ciena</a:t>
                      </a:r>
                      <a:br>
                        <a:rPr lang="en" sz="1400" b="1" u="none" strike="noStrike" cap="none" dirty="0">
                          <a:latin typeface="Calibri"/>
                          <a:ea typeface="Calibri"/>
                          <a:cs typeface="Calibri"/>
                          <a:sym typeface="Calibri"/>
                        </a:rPr>
                      </a:br>
                      <a:r>
                        <a:rPr lang="en" sz="1400" b="1" u="none" strike="noStrike" cap="none" dirty="0">
                          <a:latin typeface="Calibri"/>
                          <a:ea typeface="Calibri"/>
                          <a:cs typeface="Calibri"/>
                          <a:sym typeface="Calibri"/>
                        </a:rPr>
                        <a:t>Blueplanet</a:t>
                      </a:r>
                      <a:endParaRPr sz="1400" b="1" i="0" u="none" strike="noStrike" cap="none" dirty="0">
                        <a:solidFill>
                          <a:srgbClr val="00000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p>
                      <a:pPr marL="0" marR="0" lvl="0" indent="0" algn="ctr" rtl="0">
                        <a:spcBef>
                          <a:spcPts val="0"/>
                        </a:spcBef>
                        <a:spcAft>
                          <a:spcPts val="0"/>
                        </a:spcAft>
                        <a:buNone/>
                      </a:pPr>
                      <a:r>
                        <a:rPr lang="de-CH" sz="1400" b="1" i="0" u="none" strike="noStrike" cap="none" dirty="0">
                          <a:solidFill>
                            <a:srgbClr val="000000"/>
                          </a:solidFill>
                          <a:latin typeface="Calibri"/>
                          <a:ea typeface="Calibri"/>
                          <a:cs typeface="Calibri"/>
                          <a:sym typeface="Calibri"/>
                        </a:rPr>
                        <a:t>Cisco</a:t>
                      </a:r>
                      <a:br>
                        <a:rPr lang="de-CH" sz="1400" b="1" i="0" u="none" strike="noStrike" cap="none" dirty="0">
                          <a:solidFill>
                            <a:srgbClr val="000000"/>
                          </a:solidFill>
                          <a:latin typeface="Calibri"/>
                          <a:ea typeface="Calibri"/>
                          <a:cs typeface="Calibri"/>
                          <a:sym typeface="Calibri"/>
                        </a:rPr>
                      </a:br>
                      <a:r>
                        <a:rPr lang="de-CH" sz="1400" b="1" i="0" u="none" strike="noStrike" cap="none" dirty="0" err="1">
                          <a:solidFill>
                            <a:srgbClr val="000000"/>
                          </a:solidFill>
                          <a:latin typeface="Calibri"/>
                          <a:ea typeface="Calibri"/>
                          <a:cs typeface="Calibri"/>
                          <a:sym typeface="Calibri"/>
                        </a:rPr>
                        <a:t>Crosswork</a:t>
                      </a:r>
                      <a:endParaRPr sz="1400" b="1" i="0" u="none" strike="noStrike" cap="none" dirty="0">
                        <a:solidFill>
                          <a:srgbClr val="000000"/>
                        </a:solidFill>
                        <a:latin typeface="Calibri"/>
                        <a:ea typeface="Calibri"/>
                        <a:cs typeface="Calibri"/>
                        <a:sym typeface="Calibri"/>
                      </a:endParaRPr>
                    </a:p>
                  </a:txBody>
                  <a:tcPr marL="12711" marR="12711" marT="12711" marB="0" anchor="b">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extLst>
                  <a:ext uri="{0D108BD9-81ED-4DB2-BD59-A6C34878D82A}">
                    <a16:rowId xmlns:a16="http://schemas.microsoft.com/office/drawing/2014/main" val="10000"/>
                  </a:ext>
                </a:extLst>
              </a:tr>
              <a:tr h="365760">
                <a:tc>
                  <a:txBody>
                    <a:bodyPr/>
                    <a:lstStyle/>
                    <a:p>
                      <a:pPr marL="91440" marR="0" lvl="0" indent="0" algn="l" rtl="0">
                        <a:spcBef>
                          <a:spcPts val="0"/>
                        </a:spcBef>
                        <a:spcAft>
                          <a:spcPts val="0"/>
                        </a:spcAft>
                        <a:buNone/>
                      </a:pPr>
                      <a:r>
                        <a:rPr lang="de-CH" sz="1600" b="0" i="0" u="none" strike="noStrike" cap="none" dirty="0">
                          <a:solidFill>
                            <a:srgbClr val="000000"/>
                          </a:solidFill>
                          <a:latin typeface="Calibri"/>
                          <a:ea typeface="Calibri"/>
                          <a:cs typeface="Calibri"/>
                          <a:sym typeface="Calibri"/>
                        </a:rPr>
                        <a:t>draft-</a:t>
                      </a:r>
                      <a:r>
                        <a:rPr lang="de-CH" sz="1600" b="0" i="0" u="none" strike="noStrike" cap="none" dirty="0" err="1">
                          <a:solidFill>
                            <a:srgbClr val="000000"/>
                          </a:solidFill>
                          <a:latin typeface="Calibri"/>
                          <a:ea typeface="Calibri"/>
                          <a:cs typeface="Calibri"/>
                          <a:sym typeface="Calibri"/>
                        </a:rPr>
                        <a:t>ietf</a:t>
                      </a:r>
                      <a:r>
                        <a:rPr lang="de-CH" sz="1600" b="0" i="0" u="none" strike="noStrike" cap="none" dirty="0">
                          <a:solidFill>
                            <a:srgbClr val="000000"/>
                          </a:solidFill>
                          <a:latin typeface="Calibri"/>
                          <a:ea typeface="Calibri"/>
                          <a:cs typeface="Calibri"/>
                          <a:sym typeface="Calibri"/>
                        </a:rPr>
                        <a:t>-</a:t>
                      </a:r>
                      <a:r>
                        <a:rPr lang="de-CH" sz="1600" b="0" i="0" u="none" strike="noStrike" cap="none" dirty="0" err="1">
                          <a:solidFill>
                            <a:srgbClr val="000000"/>
                          </a:solidFill>
                          <a:latin typeface="Calibri"/>
                          <a:ea typeface="Calibri"/>
                          <a:cs typeface="Calibri"/>
                          <a:sym typeface="Calibri"/>
                        </a:rPr>
                        <a:t>nmop</a:t>
                      </a:r>
                      <a:r>
                        <a:rPr lang="de-CH" sz="1600" b="0" i="0" u="none" strike="noStrike" cap="none" dirty="0">
                          <a:solidFill>
                            <a:srgbClr val="000000"/>
                          </a:solidFill>
                          <a:latin typeface="Calibri"/>
                          <a:ea typeface="Calibri"/>
                          <a:cs typeface="Calibri"/>
                          <a:sym typeface="Calibri"/>
                        </a:rPr>
                        <a:t>-message-broker-</a:t>
                      </a:r>
                      <a:r>
                        <a:rPr lang="de-CH" sz="1600" b="0" i="0" u="none" strike="noStrike" cap="none" dirty="0" err="1">
                          <a:solidFill>
                            <a:srgbClr val="000000"/>
                          </a:solidFill>
                          <a:latin typeface="Calibri"/>
                          <a:ea typeface="Calibri"/>
                          <a:cs typeface="Calibri"/>
                          <a:sym typeface="Calibri"/>
                        </a:rPr>
                        <a:t>telemetry</a:t>
                      </a:r>
                      <a:r>
                        <a:rPr lang="de-CH" sz="1600" b="0" i="0" u="none" strike="noStrike" cap="none" dirty="0">
                          <a:solidFill>
                            <a:srgbClr val="000000"/>
                          </a:solidFill>
                          <a:latin typeface="Calibri"/>
                          <a:ea typeface="Calibri"/>
                          <a:cs typeface="Calibri"/>
                          <a:sym typeface="Calibri"/>
                        </a:rPr>
                        <a:t>-message</a:t>
                      </a:r>
                      <a:endParaRPr sz="1600" b="0" i="0" u="none" strike="noStrike" cap="none" dirty="0">
                        <a:solidFill>
                          <a:srgbClr val="00000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 sz="1600" u="none" strike="noStrike" cap="none" dirty="0">
                          <a:latin typeface="Calibri"/>
                          <a:ea typeface="Calibri"/>
                          <a:cs typeface="Calibri"/>
                          <a:sym typeface="Calibri"/>
                        </a:rPr>
                        <a:t>✔</a:t>
                      </a:r>
                      <a:endParaRPr lang="en" sz="1600" b="0" i="0" u="none" strike="noStrike" cap="none" dirty="0">
                        <a:solidFill>
                          <a:srgbClr val="000000"/>
                        </a:solidFill>
                        <a:latin typeface="Calibri"/>
                        <a:ea typeface="Calibri"/>
                        <a:cs typeface="Calibri"/>
                        <a:sym typeface="Calibri"/>
                      </a:endParaRPr>
                    </a:p>
                  </a:txBody>
                  <a:tcPr marL="12711" marR="12711" marT="12711" marB="0" anchor="b">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 sz="1600" u="none" strike="noStrike" cap="none" dirty="0">
                          <a:latin typeface="Calibri"/>
                          <a:ea typeface="Calibri"/>
                          <a:cs typeface="Calibri"/>
                          <a:sym typeface="Calibri"/>
                        </a:rPr>
                        <a:t>✔</a:t>
                      </a:r>
                      <a:endParaRPr lang="en" sz="1600" b="0" i="0" u="none" strike="noStrike" cap="none" dirty="0">
                        <a:solidFill>
                          <a:srgbClr val="000000"/>
                        </a:solidFill>
                        <a:latin typeface="Calibri"/>
                        <a:ea typeface="Calibri"/>
                        <a:cs typeface="Calibri"/>
                        <a:sym typeface="Calibri"/>
                      </a:endParaRPr>
                    </a:p>
                  </a:txBody>
                  <a:tcPr marL="12711" marR="12711" marT="12711" marB="0" anchor="b">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p>
                      <a:pPr marL="0" marR="0" lvl="0" indent="0" algn="ctr" rtl="0">
                        <a:spcBef>
                          <a:spcPts val="0"/>
                        </a:spcBef>
                        <a:spcAft>
                          <a:spcPts val="0"/>
                        </a:spcAft>
                        <a:buNone/>
                      </a:pPr>
                      <a:endParaRPr lang="en" sz="1600" b="0" i="0" u="none" strike="noStrike" cap="none" dirty="0">
                        <a:solidFill>
                          <a:srgbClr val="000000"/>
                        </a:solidFill>
                        <a:latin typeface="Calibri"/>
                        <a:ea typeface="Calibri"/>
                        <a:cs typeface="Calibri"/>
                        <a:sym typeface="Calibri"/>
                      </a:endParaRPr>
                    </a:p>
                  </a:txBody>
                  <a:tcPr marL="12711" marR="12711" marT="12711" marB="0" anchor="b">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p>
                      <a:pPr marL="0" marR="0" lvl="0" indent="0" algn="ctr" rtl="0">
                        <a:spcBef>
                          <a:spcPts val="0"/>
                        </a:spcBef>
                        <a:spcAft>
                          <a:spcPts val="0"/>
                        </a:spcAft>
                        <a:buNone/>
                      </a:pPr>
                      <a:endParaRPr lang="en" sz="1600" b="0" i="0" u="none" strike="noStrike" cap="none" dirty="0">
                        <a:solidFill>
                          <a:srgbClr val="000000"/>
                        </a:solidFill>
                        <a:latin typeface="Calibri"/>
                        <a:ea typeface="Calibri"/>
                        <a:cs typeface="Calibri"/>
                        <a:sym typeface="Calibri"/>
                      </a:endParaRPr>
                    </a:p>
                  </a:txBody>
                  <a:tcPr marL="12711" marR="12711" marT="12711" marB="0" anchor="b">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p>
                      <a:pPr marL="0" marR="0" lvl="0" indent="0" algn="ctr" rtl="0">
                        <a:spcBef>
                          <a:spcPts val="0"/>
                        </a:spcBef>
                        <a:spcAft>
                          <a:spcPts val="0"/>
                        </a:spcAft>
                        <a:buNone/>
                      </a:pPr>
                      <a:endParaRPr lang="en" sz="1600" b="0" i="0" u="none" strike="noStrike" cap="none" dirty="0">
                        <a:solidFill>
                          <a:srgbClr val="92D050"/>
                        </a:solidFill>
                        <a:latin typeface="Calibri"/>
                        <a:ea typeface="Calibri"/>
                        <a:cs typeface="Calibri"/>
                        <a:sym typeface="Calibri"/>
                      </a:endParaRPr>
                    </a:p>
                  </a:txBody>
                  <a:tcPr marL="12711" marR="12711" marT="12711" marB="0" anchor="b">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extLst>
                  <a:ext uri="{0D108BD9-81ED-4DB2-BD59-A6C34878D82A}">
                    <a16:rowId xmlns:a16="http://schemas.microsoft.com/office/drawing/2014/main" val="4210257491"/>
                  </a:ext>
                </a:extLst>
              </a:tr>
              <a:tr h="36576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0" algn="l" rtl="0">
                        <a:spcBef>
                          <a:spcPts val="0"/>
                        </a:spcBef>
                        <a:spcAft>
                          <a:spcPts val="0"/>
                        </a:spcAft>
                        <a:buNone/>
                      </a:pPr>
                      <a:r>
                        <a:rPr lang="en" sz="1600" b="0" i="0" u="none" strike="noStrike" cap="none" dirty="0">
                          <a:solidFill>
                            <a:srgbClr val="000000"/>
                          </a:solidFill>
                          <a:latin typeface="Calibri"/>
                          <a:ea typeface="Calibri"/>
                          <a:cs typeface="Calibri"/>
                          <a:sym typeface="Calibri"/>
                        </a:rPr>
                        <a:t>YANG-Push Receiver</a:t>
                      </a:r>
                      <a:endParaRPr sz="1600" b="0" i="0" u="none" strike="noStrike" cap="none" dirty="0">
                        <a:solidFill>
                          <a:srgbClr val="00000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r>
                        <a:rPr lang="en" sz="1600" u="none" strike="noStrike" cap="none" dirty="0">
                          <a:latin typeface="Calibri"/>
                          <a:ea typeface="Calibri"/>
                          <a:cs typeface="Calibri"/>
                          <a:sym typeface="Calibri"/>
                        </a:rPr>
                        <a:t>✔</a:t>
                      </a:r>
                      <a:endParaRPr sz="1600" b="0" i="0" u="none" strike="noStrike" cap="none" dirty="0">
                        <a:solidFill>
                          <a:srgbClr val="00000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r>
                        <a:rPr lang="en" sz="1600" u="none" strike="noStrike" cap="none" dirty="0">
                          <a:latin typeface="Calibri"/>
                          <a:ea typeface="Calibri"/>
                          <a:cs typeface="Calibri"/>
                          <a:sym typeface="Calibri"/>
                        </a:rPr>
                        <a:t>✔</a:t>
                      </a:r>
                      <a:endParaRPr lang="en" sz="1600" b="0" i="0" u="none" strike="noStrike" cap="none" dirty="0">
                        <a:solidFill>
                          <a:srgbClr val="00000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endParaRPr lang="en" sz="1600" b="0" i="0" u="none" strike="noStrike" cap="none" dirty="0">
                        <a:solidFill>
                          <a:srgbClr val="000000"/>
                        </a:solidFill>
                        <a:latin typeface="Calibri"/>
                        <a:ea typeface="Calibri"/>
                        <a:cs typeface="Calibri"/>
                        <a:sym typeface="Calibri"/>
                      </a:endParaRPr>
                    </a:p>
                  </a:txBody>
                  <a:tcPr marL="12711" marR="12711" marT="12711" marB="0" anchor="b">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endParaRPr lang="en" sz="1600" b="0" i="0" u="none" strike="noStrike" cap="none" dirty="0">
                        <a:solidFill>
                          <a:srgbClr val="00000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p>
                      <a:pPr marL="0" marR="0" lvl="0" indent="0" algn="ctr" rtl="0">
                        <a:spcBef>
                          <a:spcPts val="0"/>
                        </a:spcBef>
                        <a:spcAft>
                          <a:spcPts val="0"/>
                        </a:spcAft>
                        <a:buNone/>
                      </a:pPr>
                      <a:endParaRPr lang="en" sz="1600" b="0" i="0" u="none" strike="noStrike" cap="none" dirty="0">
                        <a:solidFill>
                          <a:srgbClr val="92D050"/>
                        </a:solidFill>
                        <a:latin typeface="Calibri"/>
                        <a:ea typeface="Calibri"/>
                        <a:cs typeface="Calibri"/>
                        <a:sym typeface="Calibri"/>
                      </a:endParaRPr>
                    </a:p>
                  </a:txBody>
                  <a:tcPr marL="12711" marR="12711" marT="12711" marB="0" anchor="b">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extLst>
                  <a:ext uri="{0D108BD9-81ED-4DB2-BD59-A6C34878D82A}">
                    <a16:rowId xmlns:a16="http://schemas.microsoft.com/office/drawing/2014/main" val="10001"/>
                  </a:ext>
                </a:extLst>
              </a:tr>
              <a:tr h="365760">
                <a:tc>
                  <a:txBody>
                    <a:bodyPr/>
                    <a:lstStyle/>
                    <a:p>
                      <a:pPr marL="91440" marR="0" lvl="0" indent="0" algn="l" rtl="0">
                        <a:spcBef>
                          <a:spcPts val="0"/>
                        </a:spcBef>
                        <a:spcAft>
                          <a:spcPts val="0"/>
                        </a:spcAft>
                        <a:buNone/>
                      </a:pPr>
                      <a:r>
                        <a:rPr lang="de-CH" sz="1600" b="0" i="0" u="none" strike="noStrike" cap="none" dirty="0">
                          <a:solidFill>
                            <a:srgbClr val="000000"/>
                          </a:solidFill>
                          <a:latin typeface="Calibri"/>
                          <a:ea typeface="Calibri"/>
                          <a:cs typeface="Calibri"/>
                          <a:sym typeface="Calibri"/>
                        </a:rPr>
                        <a:t>YANG Schema Retrieval</a:t>
                      </a:r>
                      <a:endParaRPr sz="1600" b="0" i="0" u="none" strike="noStrike" cap="none" dirty="0">
                        <a:solidFill>
                          <a:srgbClr val="00000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p>
                      <a:pPr marL="0" marR="0" lvl="0" indent="0" algn="ctr" rtl="0">
                        <a:spcBef>
                          <a:spcPts val="0"/>
                        </a:spcBef>
                        <a:spcAft>
                          <a:spcPts val="0"/>
                        </a:spcAft>
                        <a:buNone/>
                      </a:pPr>
                      <a:r>
                        <a:rPr lang="en" sz="1600" u="none" strike="noStrike" cap="none" dirty="0">
                          <a:latin typeface="+mn-lt"/>
                          <a:ea typeface="Calibri"/>
                          <a:cs typeface="Calibri"/>
                          <a:sym typeface="Calibri"/>
                        </a:rPr>
                        <a:t>✔</a:t>
                      </a:r>
                      <a:endParaRPr lang="en" sz="1600" b="0" i="0" u="none" strike="noStrike" cap="none" dirty="0">
                        <a:solidFill>
                          <a:srgbClr val="000000"/>
                        </a:solidFill>
                        <a:latin typeface="+mn-lt"/>
                        <a:ea typeface="Calibri"/>
                        <a:cs typeface="Calibri"/>
                        <a:sym typeface="Calibri"/>
                      </a:endParaRPr>
                    </a:p>
                  </a:txBody>
                  <a:tcPr marL="12711" marR="12711" marT="12711" marB="0" anchor="b">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p>
                      <a:pPr marL="0" marR="0" lvl="0" indent="0" algn="ctr" rtl="0">
                        <a:spcBef>
                          <a:spcPts val="0"/>
                        </a:spcBef>
                        <a:spcAft>
                          <a:spcPts val="0"/>
                        </a:spcAft>
                        <a:buNone/>
                      </a:pPr>
                      <a:endParaRPr lang="en" sz="1600" b="0" i="0" u="none" strike="noStrike" cap="none" dirty="0">
                        <a:solidFill>
                          <a:srgbClr val="92D050"/>
                        </a:solidFill>
                        <a:latin typeface="Calibri"/>
                        <a:ea typeface="Calibri"/>
                        <a:cs typeface="Calibri"/>
                        <a:sym typeface="Calibri"/>
                      </a:endParaRPr>
                    </a:p>
                  </a:txBody>
                  <a:tcPr marL="12711" marR="12711" marT="12711" marB="0" anchor="b">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p>
                      <a:pPr marL="0" marR="0" lvl="0" indent="0" algn="ctr" rtl="0">
                        <a:spcBef>
                          <a:spcPts val="0"/>
                        </a:spcBef>
                        <a:spcAft>
                          <a:spcPts val="0"/>
                        </a:spcAft>
                        <a:buNone/>
                      </a:pPr>
                      <a:endParaRPr lang="en" sz="1600" b="0" i="0" u="none" strike="noStrike" cap="none" dirty="0">
                        <a:solidFill>
                          <a:srgbClr val="000000"/>
                        </a:solidFill>
                        <a:latin typeface="Calibri"/>
                        <a:ea typeface="Calibri"/>
                        <a:cs typeface="Calibri"/>
                        <a:sym typeface="Calibri"/>
                      </a:endParaRPr>
                    </a:p>
                  </a:txBody>
                  <a:tcPr marL="12711" marR="12711" marT="12711" marB="0" anchor="b">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 sz="1600" b="0" i="0" u="none" strike="noStrike" cap="none" dirty="0">
                        <a:solidFill>
                          <a:schemeClr val="tx1"/>
                        </a:solidFill>
                        <a:latin typeface="Calibri"/>
                        <a:ea typeface="Calibri"/>
                        <a:cs typeface="Calibri"/>
                        <a:sym typeface="Calibri"/>
                      </a:endParaRPr>
                    </a:p>
                  </a:txBody>
                  <a:tcPr marL="12711" marR="12711" marT="12711" marB="0" anchor="b">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 sz="1600" b="0" i="0" u="none" strike="noStrike" cap="none" dirty="0">
                        <a:solidFill>
                          <a:schemeClr val="tx1"/>
                        </a:solidFill>
                        <a:latin typeface="Calibri"/>
                        <a:ea typeface="Calibri"/>
                        <a:cs typeface="Calibri"/>
                        <a:sym typeface="Calibri"/>
                      </a:endParaRPr>
                    </a:p>
                  </a:txBody>
                  <a:tcPr marL="12711" marR="12711" marT="12711" marB="0" anchor="b">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extLst>
                  <a:ext uri="{0D108BD9-81ED-4DB2-BD59-A6C34878D82A}">
                    <a16:rowId xmlns:a16="http://schemas.microsoft.com/office/drawing/2014/main" val="1928356685"/>
                  </a:ext>
                </a:extLst>
              </a:tr>
              <a:tr h="36576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0" algn="l" rtl="0">
                        <a:spcBef>
                          <a:spcPts val="0"/>
                        </a:spcBef>
                        <a:spcAft>
                          <a:spcPts val="0"/>
                        </a:spcAft>
                        <a:buNone/>
                      </a:pPr>
                      <a:r>
                        <a:rPr lang="en" sz="1600" u="none" strike="noStrike" cap="none" dirty="0">
                          <a:latin typeface="Calibri"/>
                          <a:ea typeface="Calibri"/>
                          <a:cs typeface="Calibri"/>
                          <a:sym typeface="Calibri"/>
                        </a:rPr>
                        <a:t>YANG Message Broker Producer</a:t>
                      </a:r>
                      <a:endParaRPr sz="1600" b="0" i="0" u="none" strike="noStrike" cap="none" dirty="0">
                        <a:solidFill>
                          <a:srgbClr val="00000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r>
                        <a:rPr lang="en" sz="1600" u="none" strike="noStrike" cap="none" dirty="0">
                          <a:latin typeface="Calibri"/>
                          <a:ea typeface="Calibri"/>
                          <a:cs typeface="Calibri"/>
                          <a:sym typeface="Calibri"/>
                        </a:rPr>
                        <a:t>✔</a:t>
                      </a:r>
                      <a:endParaRPr lang="en" sz="1600" b="0" i="0" u="none" strike="noStrike" cap="none" dirty="0">
                        <a:solidFill>
                          <a:srgbClr val="00000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endParaRPr lang="en" sz="1600" b="0" i="0" u="none" strike="noStrike" cap="none" dirty="0">
                        <a:solidFill>
                          <a:srgbClr val="92D05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endParaRPr lang="en" sz="1600" b="0" i="0" u="none" strike="noStrike" cap="none" dirty="0">
                        <a:solidFill>
                          <a:srgbClr val="000000"/>
                        </a:solidFill>
                        <a:latin typeface="Calibri"/>
                        <a:ea typeface="Calibri"/>
                        <a:cs typeface="Calibri"/>
                        <a:sym typeface="Calibri"/>
                      </a:endParaRPr>
                    </a:p>
                  </a:txBody>
                  <a:tcPr marL="12711" marR="12711" marT="12711" marB="0" anchor="b">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endParaRPr sz="1600" b="0" i="0" u="none" strike="noStrike" cap="none" dirty="0">
                        <a:solidFill>
                          <a:srgbClr val="00000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p>
                      <a:pPr marL="0" marR="0" lvl="0" indent="0" algn="ctr" rtl="0">
                        <a:spcBef>
                          <a:spcPts val="0"/>
                        </a:spcBef>
                        <a:spcAft>
                          <a:spcPts val="0"/>
                        </a:spcAft>
                        <a:buNone/>
                      </a:pPr>
                      <a:endParaRPr lang="en" sz="1600" b="0" i="0" u="none" strike="noStrike" cap="none" dirty="0">
                        <a:solidFill>
                          <a:srgbClr val="92D050"/>
                        </a:solidFill>
                        <a:latin typeface="Calibri"/>
                        <a:ea typeface="Calibri"/>
                        <a:cs typeface="Calibri"/>
                        <a:sym typeface="Calibri"/>
                      </a:endParaRPr>
                    </a:p>
                  </a:txBody>
                  <a:tcPr marL="12711" marR="12711" marT="12711" marB="0" anchor="b">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extLst>
                  <a:ext uri="{0D108BD9-81ED-4DB2-BD59-A6C34878D82A}">
                    <a16:rowId xmlns:a16="http://schemas.microsoft.com/office/drawing/2014/main" val="10002"/>
                  </a:ext>
                </a:extLst>
              </a:tr>
              <a:tr h="36576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0" algn="l" rtl="0">
                        <a:spcBef>
                          <a:spcPts val="0"/>
                        </a:spcBef>
                        <a:spcAft>
                          <a:spcPts val="0"/>
                        </a:spcAft>
                        <a:buNone/>
                      </a:pPr>
                      <a:r>
                        <a:rPr lang="en" sz="1600" u="none" strike="noStrike" cap="none" dirty="0">
                          <a:solidFill>
                            <a:schemeClr val="dk1"/>
                          </a:solidFill>
                          <a:latin typeface="Calibri"/>
                          <a:ea typeface="Calibri"/>
                          <a:cs typeface="Calibri"/>
                          <a:sym typeface="Calibri"/>
                        </a:rPr>
                        <a:t>YANG Schema Registry</a:t>
                      </a:r>
                      <a:endParaRPr sz="1600" u="none" strike="noStrike" cap="none" dirty="0">
                        <a:solidFill>
                          <a:schemeClr val="dk1"/>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 sz="1600" b="0" i="0" u="none" strike="noStrike" cap="none" dirty="0">
                          <a:solidFill>
                            <a:schemeClr val="tx1"/>
                          </a:solidFill>
                          <a:latin typeface="Calibri"/>
                          <a:ea typeface="Calibri"/>
                          <a:cs typeface="Calibri"/>
                          <a:sym typeface="Calibri"/>
                        </a:rPr>
                        <a:t>na</a:t>
                      </a:r>
                    </a:p>
                  </a:txBody>
                  <a:tcPr marL="12711" marR="12711" marT="12711"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 sz="1600" b="0" i="0" u="none" strike="noStrike" cap="none" dirty="0">
                          <a:solidFill>
                            <a:schemeClr val="tx1"/>
                          </a:solidFill>
                          <a:latin typeface="Calibri"/>
                          <a:ea typeface="Calibri"/>
                          <a:cs typeface="Calibri"/>
                          <a:sym typeface="Calibri"/>
                        </a:rPr>
                        <a:t>na</a:t>
                      </a:r>
                    </a:p>
                  </a:txBody>
                  <a:tcPr marL="12711" marR="12711" marT="12711"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r>
                        <a:rPr lang="en" sz="1600" u="none" strike="noStrike" cap="none" dirty="0">
                          <a:latin typeface="Calibri"/>
                          <a:ea typeface="Calibri"/>
                          <a:cs typeface="Calibri"/>
                          <a:sym typeface="Calibri"/>
                        </a:rPr>
                        <a:t>✔</a:t>
                      </a:r>
                      <a:endParaRPr lang="en" sz="1600" b="0" i="0" u="none" strike="noStrike" cap="none" dirty="0">
                        <a:solidFill>
                          <a:srgbClr val="000000"/>
                        </a:solidFill>
                        <a:latin typeface="Calibri"/>
                        <a:ea typeface="Calibri"/>
                        <a:cs typeface="Calibri"/>
                        <a:sym typeface="Calibri"/>
                      </a:endParaRPr>
                    </a:p>
                  </a:txBody>
                  <a:tcPr marL="12711" marR="12711" marT="12711" marB="0" anchor="b">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 sz="1600" b="0" i="0" u="none" strike="noStrike" cap="none" dirty="0">
                          <a:solidFill>
                            <a:schemeClr val="tx1"/>
                          </a:solidFill>
                          <a:latin typeface="Calibri"/>
                          <a:ea typeface="Calibri"/>
                          <a:cs typeface="Calibri"/>
                          <a:sym typeface="Calibri"/>
                        </a:rPr>
                        <a:t>na</a:t>
                      </a:r>
                    </a:p>
                  </a:txBody>
                  <a:tcPr marL="12711" marR="12711" marT="12711"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 sz="1600" b="0" i="0" u="none" strike="noStrike" cap="none" dirty="0">
                          <a:solidFill>
                            <a:schemeClr val="tx1"/>
                          </a:solidFill>
                          <a:latin typeface="Calibri"/>
                          <a:ea typeface="Calibri"/>
                          <a:cs typeface="Calibri"/>
                          <a:sym typeface="Calibri"/>
                        </a:rPr>
                        <a:t>na</a:t>
                      </a:r>
                    </a:p>
                  </a:txBody>
                  <a:tcPr marL="12711" marR="12711" marT="12711" marB="0" anchor="b">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extLst>
                  <a:ext uri="{0D108BD9-81ED-4DB2-BD59-A6C34878D82A}">
                    <a16:rowId xmlns:a16="http://schemas.microsoft.com/office/drawing/2014/main" val="10003"/>
                  </a:ext>
                </a:extLst>
              </a:tr>
              <a:tr h="36576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0" algn="l" defTabSz="914400" rtl="0" eaLnBrk="1" fontAlgn="auto" latinLnBrk="0" hangingPunct="1">
                        <a:lnSpc>
                          <a:spcPct val="100000"/>
                        </a:lnSpc>
                        <a:spcBef>
                          <a:spcPts val="0"/>
                        </a:spcBef>
                        <a:spcAft>
                          <a:spcPts val="0"/>
                        </a:spcAft>
                        <a:buClrTx/>
                        <a:buSzTx/>
                        <a:buFontTx/>
                        <a:buNone/>
                        <a:tabLst/>
                        <a:defRPr/>
                      </a:pPr>
                      <a:r>
                        <a:rPr lang="de-CH" sz="1600" u="none" strike="noStrike" cap="none" dirty="0">
                          <a:solidFill>
                            <a:schemeClr val="dk1"/>
                          </a:solidFill>
                          <a:latin typeface="Calibri"/>
                          <a:ea typeface="Calibri"/>
                          <a:cs typeface="Calibri"/>
                          <a:sym typeface="Calibri"/>
                        </a:rPr>
                        <a:t>YANG Message Broker Consumer</a:t>
                      </a:r>
                    </a:p>
                  </a:txBody>
                  <a:tcPr marL="12711" marR="12711" marT="12711" marB="0" anchor="b">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r>
                        <a:rPr lang="en" sz="1600" u="none" strike="noStrike" cap="none" dirty="0">
                          <a:latin typeface="Calibri"/>
                          <a:ea typeface="Calibri"/>
                          <a:cs typeface="Calibri"/>
                          <a:sym typeface="Calibri"/>
                        </a:rPr>
                        <a:t>✔</a:t>
                      </a:r>
                      <a:endParaRPr lang="en" sz="1600" b="0" i="0" u="none" strike="noStrike" cap="none" dirty="0">
                        <a:solidFill>
                          <a:srgbClr val="00000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endParaRPr sz="1600" b="0" i="0" u="none" strike="noStrike" cap="none" dirty="0">
                        <a:solidFill>
                          <a:srgbClr val="00000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endParaRPr lang="en" sz="1600" b="0" i="0" u="none" strike="noStrike" cap="none" dirty="0">
                        <a:solidFill>
                          <a:srgbClr val="000000"/>
                        </a:solidFill>
                        <a:latin typeface="Calibri"/>
                        <a:ea typeface="Calibri"/>
                        <a:cs typeface="Calibri"/>
                        <a:sym typeface="Calibri"/>
                      </a:endParaRPr>
                    </a:p>
                  </a:txBody>
                  <a:tcPr marL="12711" marR="12711" marT="12711" marB="0" anchor="b">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r>
                        <a:rPr lang="en" sz="1600" u="none" strike="noStrike" cap="none" dirty="0">
                          <a:latin typeface="Calibri"/>
                          <a:ea typeface="Calibri"/>
                          <a:cs typeface="Calibri"/>
                          <a:sym typeface="Calibri"/>
                        </a:rPr>
                        <a:t>✔</a:t>
                      </a:r>
                      <a:endParaRPr lang="en" sz="1600" b="0" i="0" u="none" strike="noStrike" cap="none" dirty="0">
                        <a:solidFill>
                          <a:srgbClr val="00000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 sz="1600" u="none" strike="noStrike" cap="none" dirty="0">
                          <a:latin typeface="+mn-lt"/>
                          <a:ea typeface="Calibri"/>
                          <a:cs typeface="Calibri"/>
                          <a:sym typeface="Calibri"/>
                        </a:rPr>
                        <a:t>✔</a:t>
                      </a:r>
                      <a:endParaRPr lang="en" sz="1600" b="0" i="0" u="none" strike="noStrike" cap="none" dirty="0">
                        <a:solidFill>
                          <a:srgbClr val="92D050"/>
                        </a:solidFill>
                        <a:latin typeface="Calibri"/>
                        <a:ea typeface="Calibri"/>
                        <a:cs typeface="Calibri"/>
                        <a:sym typeface="Calibri"/>
                      </a:endParaRPr>
                    </a:p>
                  </a:txBody>
                  <a:tcPr marL="12711" marR="12711" marT="12711" marB="0" anchor="b">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extLst>
                  <a:ext uri="{0D108BD9-81ED-4DB2-BD59-A6C34878D82A}">
                    <a16:rowId xmlns:a16="http://schemas.microsoft.com/office/drawing/2014/main" val="10004"/>
                  </a:ext>
                </a:extLst>
              </a:tr>
              <a:tr h="365760">
                <a:tc>
                  <a:txBody>
                    <a:bodyPr/>
                    <a:lstStyle/>
                    <a:p>
                      <a:pPr marL="9144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de-CH" sz="1600" u="none" strike="noStrike" cap="none" dirty="0" err="1">
                          <a:solidFill>
                            <a:schemeClr val="dk1"/>
                          </a:solidFill>
                          <a:latin typeface="Calibri"/>
                          <a:ea typeface="Calibri"/>
                          <a:cs typeface="Calibri"/>
                          <a:sym typeface="Calibri"/>
                        </a:rPr>
                        <a:t>Validate</a:t>
                      </a:r>
                      <a:r>
                        <a:rPr lang="de-CH" sz="1600" u="none" strike="noStrike" cap="none" dirty="0">
                          <a:solidFill>
                            <a:schemeClr val="dk1"/>
                          </a:solidFill>
                          <a:latin typeface="Calibri"/>
                          <a:ea typeface="Calibri"/>
                          <a:cs typeface="Calibri"/>
                          <a:sym typeface="Calibri"/>
                        </a:rPr>
                        <a:t> Telemetry Message </a:t>
                      </a:r>
                      <a:r>
                        <a:rPr lang="de-CH" sz="1600" u="none" strike="noStrike" cap="none" dirty="0" err="1">
                          <a:solidFill>
                            <a:schemeClr val="dk1"/>
                          </a:solidFill>
                          <a:latin typeface="Calibri"/>
                          <a:ea typeface="Calibri"/>
                          <a:cs typeface="Calibri"/>
                          <a:sym typeface="Calibri"/>
                        </a:rPr>
                        <a:t>against</a:t>
                      </a:r>
                      <a:r>
                        <a:rPr lang="de-CH" sz="1600" u="none" strike="noStrike" cap="none" dirty="0">
                          <a:solidFill>
                            <a:schemeClr val="dk1"/>
                          </a:solidFill>
                          <a:latin typeface="Calibri"/>
                          <a:ea typeface="Calibri"/>
                          <a:cs typeface="Calibri"/>
                          <a:sym typeface="Calibri"/>
                        </a:rPr>
                        <a:t> YANG Schema</a:t>
                      </a:r>
                    </a:p>
                  </a:txBody>
                  <a:tcPr marL="12711" marR="12711" marT="12711" marB="0" anchor="b">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p>
                      <a:pPr marL="0" marR="0" lvl="0" indent="0" algn="ctr" rtl="0">
                        <a:spcBef>
                          <a:spcPts val="0"/>
                        </a:spcBef>
                        <a:spcAft>
                          <a:spcPts val="0"/>
                        </a:spcAft>
                        <a:buNone/>
                      </a:pPr>
                      <a:r>
                        <a:rPr lang="en" sz="1600" u="none" strike="noStrike" cap="none" dirty="0">
                          <a:latin typeface="+mn-lt"/>
                          <a:ea typeface="Calibri"/>
                          <a:cs typeface="Calibri"/>
                          <a:sym typeface="Calibri"/>
                        </a:rPr>
                        <a:t>✔</a:t>
                      </a:r>
                      <a:endParaRPr lang="en" sz="1600" b="0" i="0" u="none" strike="noStrike" cap="none" dirty="0">
                        <a:solidFill>
                          <a:srgbClr val="000000"/>
                        </a:solidFill>
                        <a:latin typeface="+mn-lt"/>
                        <a:ea typeface="Calibri"/>
                        <a:cs typeface="Calibri"/>
                        <a:sym typeface="Calibri"/>
                      </a:endParaRPr>
                    </a:p>
                  </a:txBody>
                  <a:tcPr marL="12711" marR="12711" marT="12711" marB="0" anchor="b">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p>
                      <a:pPr marL="0" marR="0" lvl="0" indent="0" algn="ctr" rtl="0">
                        <a:spcBef>
                          <a:spcPts val="0"/>
                        </a:spcBef>
                        <a:spcAft>
                          <a:spcPts val="0"/>
                        </a:spcAft>
                        <a:buNone/>
                      </a:pPr>
                      <a:endParaRPr lang="en" sz="1600" b="0" i="0" u="none" strike="noStrike" cap="none" dirty="0">
                        <a:solidFill>
                          <a:srgbClr val="000000"/>
                        </a:solidFill>
                        <a:latin typeface="Calibri"/>
                        <a:ea typeface="Calibri"/>
                        <a:cs typeface="Calibri"/>
                        <a:sym typeface="Calibri"/>
                      </a:endParaRPr>
                    </a:p>
                  </a:txBody>
                  <a:tcPr marL="12711" marR="12711" marT="12711" marB="0" anchor="b">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p>
                      <a:pPr marL="0" marR="0" lvl="0" indent="0" algn="ctr" rtl="0">
                        <a:spcBef>
                          <a:spcPts val="0"/>
                        </a:spcBef>
                        <a:spcAft>
                          <a:spcPts val="0"/>
                        </a:spcAft>
                        <a:buNone/>
                      </a:pPr>
                      <a:endParaRPr lang="en" sz="1600" b="0" i="0" u="none" strike="noStrike" cap="none" dirty="0">
                        <a:solidFill>
                          <a:srgbClr val="000000"/>
                        </a:solidFill>
                        <a:latin typeface="Calibri"/>
                        <a:ea typeface="Calibri"/>
                        <a:cs typeface="Calibri"/>
                        <a:sym typeface="Calibri"/>
                      </a:endParaRPr>
                    </a:p>
                  </a:txBody>
                  <a:tcPr marL="12711" marR="12711" marT="12711" marB="0" anchor="b">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p>
                      <a:pPr marL="0" marR="0" lvl="0" indent="0" algn="ctr" rtl="0">
                        <a:spcBef>
                          <a:spcPts val="0"/>
                        </a:spcBef>
                        <a:spcAft>
                          <a:spcPts val="0"/>
                        </a:spcAft>
                        <a:buNone/>
                      </a:pPr>
                      <a:r>
                        <a:rPr lang="en" sz="1600" u="none" strike="noStrike" cap="none" dirty="0">
                          <a:latin typeface="+mn-lt"/>
                          <a:ea typeface="Calibri"/>
                          <a:cs typeface="Calibri"/>
                          <a:sym typeface="Calibri"/>
                        </a:rPr>
                        <a:t>P</a:t>
                      </a:r>
                      <a:endParaRPr lang="en" sz="1600" b="0" i="0" u="none" strike="noStrike" cap="none" dirty="0">
                        <a:solidFill>
                          <a:srgbClr val="000000"/>
                        </a:solidFill>
                        <a:latin typeface="+mn-lt"/>
                        <a:ea typeface="Calibri"/>
                        <a:cs typeface="Calibri"/>
                        <a:sym typeface="Calibri"/>
                      </a:endParaRPr>
                    </a:p>
                  </a:txBody>
                  <a:tcPr marL="12711" marR="12711" marT="12711" marB="0" anchor="b">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p>
                      <a:pPr marL="0" marR="0" lvl="0" indent="0" algn="ctr" rtl="0">
                        <a:spcBef>
                          <a:spcPts val="0"/>
                        </a:spcBef>
                        <a:spcAft>
                          <a:spcPts val="0"/>
                        </a:spcAft>
                        <a:buNone/>
                      </a:pPr>
                      <a:r>
                        <a:rPr lang="en" sz="1600" u="none" strike="noStrike" cap="none" dirty="0">
                          <a:latin typeface="+mn-lt"/>
                          <a:ea typeface="Calibri"/>
                          <a:cs typeface="Calibri"/>
                          <a:sym typeface="Calibri"/>
                        </a:rPr>
                        <a:t>P</a:t>
                      </a:r>
                      <a:endParaRPr lang="en" sz="1600" b="0" i="0" u="none" strike="noStrike" cap="none" dirty="0">
                        <a:solidFill>
                          <a:srgbClr val="000000"/>
                        </a:solidFill>
                        <a:latin typeface="+mn-lt"/>
                        <a:ea typeface="Calibri"/>
                        <a:cs typeface="Calibri"/>
                        <a:sym typeface="Calibri"/>
                      </a:endParaRPr>
                    </a:p>
                  </a:txBody>
                  <a:tcPr marL="12711" marR="12711" marT="12711" marB="0" anchor="b">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extLst>
                  <a:ext uri="{0D108BD9-81ED-4DB2-BD59-A6C34878D82A}">
                    <a16:rowId xmlns:a16="http://schemas.microsoft.com/office/drawing/2014/main" val="3287172739"/>
                  </a:ext>
                </a:extLst>
              </a:tr>
              <a:tr h="36576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91440" marR="0" lvl="0" indent="0" algn="l" rtl="0">
                        <a:spcBef>
                          <a:spcPts val="0"/>
                        </a:spcBef>
                        <a:spcAft>
                          <a:spcPts val="0"/>
                        </a:spcAft>
                        <a:buNone/>
                      </a:pPr>
                      <a:r>
                        <a:rPr lang="de-CH" sz="1600" u="none" strike="noStrike" cap="none" dirty="0">
                          <a:solidFill>
                            <a:schemeClr val="dk1"/>
                          </a:solidFill>
                          <a:latin typeface="Calibri"/>
                          <a:ea typeface="Calibri"/>
                          <a:cs typeface="Calibri"/>
                          <a:sym typeface="Calibri"/>
                        </a:rPr>
                        <a:t>draft-</a:t>
                      </a:r>
                      <a:r>
                        <a:rPr lang="de-CH" sz="1600" u="none" strike="noStrike" cap="none" dirty="0" err="1">
                          <a:solidFill>
                            <a:schemeClr val="dk1"/>
                          </a:solidFill>
                          <a:latin typeface="Calibri"/>
                          <a:ea typeface="Calibri"/>
                          <a:cs typeface="Calibri"/>
                          <a:sym typeface="Calibri"/>
                        </a:rPr>
                        <a:t>ietf</a:t>
                      </a:r>
                      <a:r>
                        <a:rPr lang="de-CH" sz="1600" u="none" strike="noStrike" cap="none" dirty="0">
                          <a:solidFill>
                            <a:schemeClr val="dk1"/>
                          </a:solidFill>
                          <a:latin typeface="Calibri"/>
                          <a:ea typeface="Calibri"/>
                          <a:cs typeface="Calibri"/>
                          <a:sym typeface="Calibri"/>
                        </a:rPr>
                        <a:t>-</a:t>
                      </a:r>
                      <a:r>
                        <a:rPr lang="de-CH" sz="1600" u="none" strike="noStrike" cap="none" dirty="0" err="1">
                          <a:solidFill>
                            <a:schemeClr val="dk1"/>
                          </a:solidFill>
                          <a:latin typeface="Calibri"/>
                          <a:ea typeface="Calibri"/>
                          <a:cs typeface="Calibri"/>
                          <a:sym typeface="Calibri"/>
                        </a:rPr>
                        <a:t>netmod</a:t>
                      </a:r>
                      <a:r>
                        <a:rPr lang="de-CH" sz="1600" u="none" strike="noStrike" cap="none" dirty="0">
                          <a:solidFill>
                            <a:schemeClr val="dk1"/>
                          </a:solidFill>
                          <a:latin typeface="Calibri"/>
                          <a:ea typeface="Calibri"/>
                          <a:cs typeface="Calibri"/>
                          <a:sym typeface="Calibri"/>
                        </a:rPr>
                        <a:t>-</a:t>
                      </a:r>
                      <a:r>
                        <a:rPr lang="de-CH" sz="1600" u="none" strike="noStrike" cap="none" dirty="0" err="1">
                          <a:solidFill>
                            <a:schemeClr val="dk1"/>
                          </a:solidFill>
                          <a:latin typeface="Calibri"/>
                          <a:ea typeface="Calibri"/>
                          <a:cs typeface="Calibri"/>
                          <a:sym typeface="Calibri"/>
                        </a:rPr>
                        <a:t>yang</a:t>
                      </a:r>
                      <a:r>
                        <a:rPr lang="de-CH" sz="1600" u="none" strike="noStrike" cap="none" dirty="0">
                          <a:solidFill>
                            <a:schemeClr val="dk1"/>
                          </a:solidFill>
                          <a:latin typeface="Calibri"/>
                          <a:ea typeface="Calibri"/>
                          <a:cs typeface="Calibri"/>
                          <a:sym typeface="Calibri"/>
                        </a:rPr>
                        <a:t>-</a:t>
                      </a:r>
                      <a:r>
                        <a:rPr lang="de-CH" sz="1600" u="none" strike="noStrike" cap="none" dirty="0" err="1">
                          <a:solidFill>
                            <a:schemeClr val="dk1"/>
                          </a:solidFill>
                          <a:latin typeface="Calibri"/>
                          <a:ea typeface="Calibri"/>
                          <a:cs typeface="Calibri"/>
                          <a:sym typeface="Calibri"/>
                        </a:rPr>
                        <a:t>anydata</a:t>
                      </a:r>
                      <a:r>
                        <a:rPr lang="de-CH" sz="1600" u="none" strike="noStrike" cap="none" dirty="0">
                          <a:solidFill>
                            <a:schemeClr val="dk1"/>
                          </a:solidFill>
                          <a:latin typeface="Calibri"/>
                          <a:ea typeface="Calibri"/>
                          <a:cs typeface="Calibri"/>
                          <a:sym typeface="Calibri"/>
                        </a:rPr>
                        <a:t>-validation</a:t>
                      </a:r>
                    </a:p>
                  </a:txBody>
                  <a:tcPr marL="12711" marR="12711" marT="12711" marB="0" anchor="b">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r>
                        <a:rPr lang="en" sz="1600" u="none" strike="noStrike" cap="none" dirty="0">
                          <a:latin typeface="Calibri"/>
                          <a:ea typeface="Calibri"/>
                          <a:cs typeface="Calibri"/>
                          <a:sym typeface="Calibri"/>
                        </a:rPr>
                        <a:t>✔</a:t>
                      </a:r>
                      <a:endParaRPr lang="en" sz="1600" b="0" i="0" u="none" strike="noStrike" cap="none" dirty="0">
                        <a:solidFill>
                          <a:srgbClr val="00000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endParaRPr lang="en" sz="1600" b="0" i="0" u="none" strike="noStrike" cap="none" dirty="0">
                        <a:solidFill>
                          <a:srgbClr val="00000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endParaRPr lang="en" sz="1600" b="0" i="0" u="none" strike="noStrike" cap="none" dirty="0">
                        <a:solidFill>
                          <a:srgbClr val="000000"/>
                        </a:solidFill>
                        <a:latin typeface="Calibri"/>
                        <a:ea typeface="Calibri"/>
                        <a:cs typeface="Calibri"/>
                        <a:sym typeface="Calibri"/>
                      </a:endParaRPr>
                    </a:p>
                  </a:txBody>
                  <a:tcPr marL="12711" marR="12711" marT="12711" marB="0" anchor="b">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ctr" rtl="0">
                        <a:spcBef>
                          <a:spcPts val="0"/>
                        </a:spcBef>
                        <a:spcAft>
                          <a:spcPts val="0"/>
                        </a:spcAft>
                        <a:buNone/>
                      </a:pPr>
                      <a:endParaRPr lang="en" sz="1600" b="0" i="0" u="none" strike="noStrike" cap="none" dirty="0">
                        <a:solidFill>
                          <a:srgbClr val="92D050"/>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p>
                      <a:pPr marL="0" marR="0" lvl="0" indent="0" algn="ctr" rtl="0">
                        <a:spcBef>
                          <a:spcPts val="0"/>
                        </a:spcBef>
                        <a:spcAft>
                          <a:spcPts val="0"/>
                        </a:spcAft>
                        <a:buNone/>
                      </a:pPr>
                      <a:endParaRPr lang="en" sz="1600" b="0" i="0" u="none" strike="noStrike" cap="none" dirty="0">
                        <a:solidFill>
                          <a:srgbClr val="92D050"/>
                        </a:solidFill>
                        <a:latin typeface="Calibri"/>
                        <a:ea typeface="Calibri"/>
                        <a:cs typeface="Calibri"/>
                        <a:sym typeface="Calibri"/>
                      </a:endParaRPr>
                    </a:p>
                  </a:txBody>
                  <a:tcPr marL="12711" marR="12711" marT="12711" marB="0" anchor="b">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extLst>
                  <a:ext uri="{0D108BD9-81ED-4DB2-BD59-A6C34878D82A}">
                    <a16:rowId xmlns:a16="http://schemas.microsoft.com/office/drawing/2014/main" val="10005"/>
                  </a:ext>
                </a:extLst>
              </a:tr>
              <a:tr h="365760">
                <a:tc>
                  <a:txBody>
                    <a:bodyPr/>
                    <a:lstStyle/>
                    <a:p>
                      <a:pPr marL="91440" marR="0" lvl="0" indent="0" algn="l" rtl="0">
                        <a:spcBef>
                          <a:spcPts val="0"/>
                        </a:spcBef>
                        <a:spcAft>
                          <a:spcPts val="0"/>
                        </a:spcAft>
                        <a:buNone/>
                      </a:pPr>
                      <a:r>
                        <a:rPr lang="de-CH" sz="1600" u="none" strike="noStrike" cap="none" dirty="0">
                          <a:solidFill>
                            <a:schemeClr val="dk1"/>
                          </a:solidFill>
                          <a:latin typeface="Calibri"/>
                          <a:ea typeface="Calibri"/>
                          <a:cs typeface="Calibri"/>
                          <a:sym typeface="Calibri"/>
                        </a:rPr>
                        <a:t>YANG Schema </a:t>
                      </a:r>
                      <a:r>
                        <a:rPr lang="de-CH" sz="1600" u="none" strike="noStrike" cap="none" dirty="0" err="1">
                          <a:solidFill>
                            <a:schemeClr val="dk1"/>
                          </a:solidFill>
                          <a:latin typeface="Calibri"/>
                          <a:ea typeface="Calibri"/>
                          <a:cs typeface="Calibri"/>
                          <a:sym typeface="Calibri"/>
                        </a:rPr>
                        <a:t>Comparison</a:t>
                      </a:r>
                      <a:endParaRPr lang="de-CH" sz="1600" u="none" strike="noStrike" cap="none" dirty="0">
                        <a:solidFill>
                          <a:schemeClr val="dk1"/>
                        </a:solidFill>
                        <a:latin typeface="Calibri"/>
                        <a:ea typeface="Calibri"/>
                        <a:cs typeface="Calibri"/>
                        <a:sym typeface="Calibri"/>
                      </a:endParaRPr>
                    </a:p>
                  </a:txBody>
                  <a:tcPr marL="12711" marR="12711" marT="12711" marB="0" anchor="b">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 sz="1600" b="0" i="0" u="none" strike="noStrike" cap="none" dirty="0">
                          <a:solidFill>
                            <a:schemeClr val="tx1"/>
                          </a:solidFill>
                          <a:latin typeface="Calibri"/>
                          <a:ea typeface="Calibri"/>
                          <a:cs typeface="Calibri"/>
                          <a:sym typeface="Calibri"/>
                        </a:rPr>
                        <a:t>na</a:t>
                      </a:r>
                    </a:p>
                  </a:txBody>
                  <a:tcPr marL="12711" marR="12711" marT="12711" marB="0" anchor="b">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 sz="1600" b="0" i="0" u="none" strike="noStrike" cap="none" dirty="0">
                          <a:solidFill>
                            <a:schemeClr val="tx1"/>
                          </a:solidFill>
                          <a:latin typeface="Calibri"/>
                          <a:ea typeface="Calibri"/>
                          <a:cs typeface="Calibri"/>
                          <a:sym typeface="Calibri"/>
                        </a:rPr>
                        <a:t>na</a:t>
                      </a:r>
                    </a:p>
                  </a:txBody>
                  <a:tcPr marL="12711" marR="12711" marT="12711" marB="0" anchor="b">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 sz="1600" u="none" strike="noStrike" cap="none" dirty="0">
                          <a:latin typeface="Calibri"/>
                          <a:ea typeface="Calibri"/>
                          <a:cs typeface="Calibri"/>
                          <a:sym typeface="Calibri"/>
                        </a:rPr>
                        <a:t>✔</a:t>
                      </a:r>
                      <a:endParaRPr lang="en" sz="1600" b="0" i="0" u="none" strike="noStrike" cap="none" dirty="0">
                        <a:solidFill>
                          <a:srgbClr val="000000"/>
                        </a:solidFill>
                        <a:latin typeface="Calibri"/>
                        <a:ea typeface="Calibri"/>
                        <a:cs typeface="Calibri"/>
                        <a:sym typeface="Calibri"/>
                      </a:endParaRPr>
                    </a:p>
                  </a:txBody>
                  <a:tcPr marL="12711" marR="12711" marT="12711" marB="0" anchor="b">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 sz="1600" b="0" i="0" u="none" strike="noStrike" cap="none" dirty="0">
                          <a:solidFill>
                            <a:schemeClr val="tx1"/>
                          </a:solidFill>
                          <a:latin typeface="Calibri"/>
                          <a:ea typeface="Calibri"/>
                          <a:cs typeface="Calibri"/>
                          <a:sym typeface="Calibri"/>
                        </a:rPr>
                        <a:t>na</a:t>
                      </a:r>
                    </a:p>
                  </a:txBody>
                  <a:tcPr marL="12711" marR="12711" marT="12711" marB="0" anchor="b">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 sz="1600" b="0" i="0" u="none" strike="noStrike" cap="none" dirty="0">
                          <a:solidFill>
                            <a:schemeClr val="tx1"/>
                          </a:solidFill>
                          <a:latin typeface="Calibri"/>
                          <a:ea typeface="Calibri"/>
                          <a:cs typeface="Calibri"/>
                          <a:sym typeface="Calibri"/>
                        </a:rPr>
                        <a:t>na</a:t>
                      </a:r>
                    </a:p>
                  </a:txBody>
                  <a:tcPr marL="12711" marR="12711" marT="12711" marB="0" anchor="b">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lnTlToBr w="12700" cmpd="sng">
                      <a:noFill/>
                      <a:prstDash val="solid"/>
                    </a:lnTlToBr>
                    <a:lnBlToTr w="12700" cmpd="sng">
                      <a:noFill/>
                      <a:prstDash val="solid"/>
                    </a:lnBlToTr>
                    <a:solidFill>
                      <a:srgbClr val="ECEAF0"/>
                    </a:solidFill>
                  </a:tcPr>
                </a:tc>
                <a:extLst>
                  <a:ext uri="{0D108BD9-81ED-4DB2-BD59-A6C34878D82A}">
                    <a16:rowId xmlns:a16="http://schemas.microsoft.com/office/drawing/2014/main" val="971772358"/>
                  </a:ext>
                </a:extLst>
              </a:tr>
            </a:tbl>
          </a:graphicData>
        </a:graphic>
      </p:graphicFrame>
    </p:spTree>
    <p:extLst>
      <p:ext uri="{BB962C8B-B14F-4D97-AF65-F5344CB8AC3E}">
        <p14:creationId xmlns:p14="http://schemas.microsoft.com/office/powerpoint/2010/main" val="26550693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20">
          <a:extLst>
            <a:ext uri="{FF2B5EF4-FFF2-40B4-BE49-F238E27FC236}">
              <a16:creationId xmlns:a16="http://schemas.microsoft.com/office/drawing/2014/main" id="{A8C7286C-A9A1-4E76-AD48-2673C61113E9}"/>
            </a:ext>
          </a:extLst>
        </p:cNvPr>
        <p:cNvGrpSpPr/>
        <p:nvPr/>
      </p:nvGrpSpPr>
      <p:grpSpPr>
        <a:xfrm>
          <a:off x="0" y="0"/>
          <a:ext cx="0" cy="0"/>
          <a:chOff x="0" y="0"/>
          <a:chExt cx="0" cy="0"/>
        </a:xfrm>
      </p:grpSpPr>
      <p:sp>
        <p:nvSpPr>
          <p:cNvPr id="1521" name="Google Shape;1521;p45">
            <a:extLst>
              <a:ext uri="{FF2B5EF4-FFF2-40B4-BE49-F238E27FC236}">
                <a16:creationId xmlns:a16="http://schemas.microsoft.com/office/drawing/2014/main" id="{49DB6F02-E0BB-A29E-F028-DC4EA2F8FB1F}"/>
              </a:ext>
            </a:extLst>
          </p:cNvPr>
          <p:cNvSpPr txBox="1">
            <a:spLocks noGrp="1"/>
          </p:cNvSpPr>
          <p:nvPr>
            <p:ph type="title"/>
          </p:nvPr>
        </p:nvSpPr>
        <p:spPr>
          <a:xfrm>
            <a:off x="609600" y="274638"/>
            <a:ext cx="10972800" cy="1143001"/>
          </a:xfrm>
          <a:prstGeom prst="rect">
            <a:avLst/>
          </a:prstGeom>
          <a:noFill/>
          <a:ln>
            <a:noFill/>
          </a:ln>
        </p:spPr>
        <p:txBody>
          <a:bodyPr spcFirstLastPara="1" vert="horz" wrap="square" lIns="60933" tIns="60933" rIns="60933" bIns="60933" rtlCol="0" anchor="ctr" anchorCtr="0">
            <a:normAutofit/>
          </a:bodyPr>
          <a:lstStyle/>
          <a:p>
            <a:pPr algn="l">
              <a:buSzPts val="3800"/>
            </a:pPr>
            <a:r>
              <a:rPr lang="en" sz="4533" dirty="0"/>
              <a:t>YANG Library Feature Comparison </a:t>
            </a:r>
            <a:endParaRPr sz="4533" dirty="0"/>
          </a:p>
        </p:txBody>
      </p:sp>
      <p:sp>
        <p:nvSpPr>
          <p:cNvPr id="2" name="Rectangle 1">
            <a:extLst>
              <a:ext uri="{FF2B5EF4-FFF2-40B4-BE49-F238E27FC236}">
                <a16:creationId xmlns:a16="http://schemas.microsoft.com/office/drawing/2014/main" id="{F2749560-2E17-BB63-D897-E5D4D83B263A}"/>
              </a:ext>
            </a:extLst>
          </p:cNvPr>
          <p:cNvSpPr/>
          <p:nvPr/>
        </p:nvSpPr>
        <p:spPr>
          <a:xfrm>
            <a:off x="11450426" y="0"/>
            <a:ext cx="741575" cy="6858000"/>
          </a:xfrm>
          <a:prstGeom prst="rect">
            <a:avLst/>
          </a:prstGeom>
          <a:solidFill>
            <a:schemeClr val="bg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CH" sz="2400"/>
          </a:p>
        </p:txBody>
      </p:sp>
      <p:sp>
        <p:nvSpPr>
          <p:cNvPr id="4" name="TextBox 3">
            <a:extLst>
              <a:ext uri="{FF2B5EF4-FFF2-40B4-BE49-F238E27FC236}">
                <a16:creationId xmlns:a16="http://schemas.microsoft.com/office/drawing/2014/main" id="{B410CF7E-CB8B-5FB6-4B51-0A55BFBD8670}"/>
              </a:ext>
            </a:extLst>
          </p:cNvPr>
          <p:cNvSpPr txBox="1"/>
          <p:nvPr/>
        </p:nvSpPr>
        <p:spPr>
          <a:xfrm rot="5400000">
            <a:off x="8751239" y="2855495"/>
            <a:ext cx="6096000" cy="666786"/>
          </a:xfrm>
          <a:prstGeom prst="rect">
            <a:avLst/>
          </a:prstGeom>
          <a:noFill/>
        </p:spPr>
        <p:txBody>
          <a:bodyPr wrap="square">
            <a:spAutoFit/>
          </a:bodyPr>
          <a:lstStyle/>
          <a:p>
            <a:r>
              <a:rPr lang="en" sz="3733" dirty="0">
                <a:solidFill>
                  <a:schemeClr val="bg1"/>
                </a:solidFill>
                <a:latin typeface="Calibri"/>
                <a:ea typeface="Calibri"/>
                <a:cs typeface="Calibri"/>
                <a:sym typeface="Calibri"/>
              </a:rPr>
              <a:t>NMOP &amp; NETCONF WG</a:t>
            </a:r>
            <a:endParaRPr lang="de-CH" sz="3733" dirty="0">
              <a:solidFill>
                <a:schemeClr val="bg1"/>
              </a:solidFill>
            </a:endParaRPr>
          </a:p>
        </p:txBody>
      </p:sp>
      <p:sp>
        <p:nvSpPr>
          <p:cNvPr id="8" name="Google Shape;1523;p45">
            <a:extLst>
              <a:ext uri="{FF2B5EF4-FFF2-40B4-BE49-F238E27FC236}">
                <a16:creationId xmlns:a16="http://schemas.microsoft.com/office/drawing/2014/main" id="{99BE356F-6A9B-1323-FA07-2648D2B98396}"/>
              </a:ext>
            </a:extLst>
          </p:cNvPr>
          <p:cNvSpPr txBox="1">
            <a:spLocks noGrp="1"/>
          </p:cNvSpPr>
          <p:nvPr>
            <p:ph type="sldNum" idx="12"/>
          </p:nvPr>
        </p:nvSpPr>
        <p:spPr>
          <a:xfrm>
            <a:off x="11676531" y="6352981"/>
            <a:ext cx="245415" cy="369277"/>
          </a:xfrm>
          <a:prstGeom prst="rect">
            <a:avLst/>
          </a:prstGeom>
          <a:noFill/>
          <a:ln>
            <a:noFill/>
          </a:ln>
        </p:spPr>
        <p:txBody>
          <a:bodyPr spcFirstLastPara="1" vert="horz" wrap="square" lIns="60933" tIns="60933" rIns="60933" bIns="60933" rtlCol="0" anchor="ctr" anchorCtr="0">
            <a:spAutoFit/>
          </a:bodyPr>
          <a:lstStyle/>
          <a:p>
            <a:fld id="{00000000-1234-1234-1234-123412341234}" type="slidenum">
              <a:rPr lang="en"/>
              <a:pPr/>
              <a:t>17</a:t>
            </a:fld>
            <a:endParaRPr dirty="0"/>
          </a:p>
        </p:txBody>
      </p:sp>
      <p:sp>
        <p:nvSpPr>
          <p:cNvPr id="11" name="Google Shape;1522;p45">
            <a:extLst>
              <a:ext uri="{FF2B5EF4-FFF2-40B4-BE49-F238E27FC236}">
                <a16:creationId xmlns:a16="http://schemas.microsoft.com/office/drawing/2014/main" id="{BB8D74FA-BFBD-F2E9-6933-639CEAC7EEE1}"/>
              </a:ext>
            </a:extLst>
          </p:cNvPr>
          <p:cNvSpPr txBox="1">
            <a:spLocks noGrp="1"/>
          </p:cNvSpPr>
          <p:nvPr>
            <p:ph type="body" idx="1"/>
          </p:nvPr>
        </p:nvSpPr>
        <p:spPr>
          <a:xfrm>
            <a:off x="737163" y="1697611"/>
            <a:ext cx="3834837" cy="1294971"/>
          </a:xfrm>
          <a:prstGeom prst="rect">
            <a:avLst/>
          </a:prstGeom>
          <a:noFill/>
          <a:ln>
            <a:noFill/>
          </a:ln>
        </p:spPr>
        <p:txBody>
          <a:bodyPr spcFirstLastPara="1" vert="horz" wrap="square" lIns="60933" tIns="60933" rIns="60933" bIns="60933" rtlCol="0" anchor="t" anchorCtr="0">
            <a:noAutofit/>
          </a:bodyPr>
          <a:lstStyle/>
          <a:p>
            <a:pPr marL="435417" indent="-435417">
              <a:lnSpc>
                <a:spcPct val="90000"/>
              </a:lnSpc>
              <a:spcBef>
                <a:spcPts val="800"/>
              </a:spcBef>
              <a:buClr>
                <a:srgbClr val="FF0000"/>
              </a:buClr>
              <a:buSzPts val="1200"/>
              <a:buFont typeface="Noto Sans Symbols"/>
              <a:buChar char="⮚"/>
            </a:pPr>
            <a:r>
              <a:rPr lang="en" sz="1600" dirty="0">
                <a:ea typeface="Calibri"/>
                <a:cs typeface="Calibri"/>
                <a:sym typeface="Calibri"/>
              </a:rPr>
              <a:t>An extensive YANG feature comparison between the different YANG library open-source implementations.</a:t>
            </a:r>
          </a:p>
          <a:p>
            <a:pPr marL="435417" indent="-435417">
              <a:lnSpc>
                <a:spcPct val="90000"/>
              </a:lnSpc>
              <a:spcBef>
                <a:spcPts val="800"/>
              </a:spcBef>
              <a:buClr>
                <a:srgbClr val="FF0000"/>
              </a:buClr>
              <a:buSzPts val="1200"/>
              <a:buFont typeface="Noto Sans Symbols"/>
              <a:buChar char="⮚"/>
            </a:pPr>
            <a:r>
              <a:rPr lang="en" sz="1600" dirty="0">
                <a:ea typeface="Calibri"/>
                <a:cs typeface="Calibri"/>
                <a:sym typeface="Calibri"/>
              </a:rPr>
              <a:t>Focuses on YANG features needed to validate YANG instance data against YANG schema and performing YANG to YANG transformations.</a:t>
            </a:r>
          </a:p>
        </p:txBody>
      </p:sp>
      <p:pic>
        <p:nvPicPr>
          <p:cNvPr id="6" name="Picture 5">
            <a:extLst>
              <a:ext uri="{FF2B5EF4-FFF2-40B4-BE49-F238E27FC236}">
                <a16:creationId xmlns:a16="http://schemas.microsoft.com/office/drawing/2014/main" id="{5C075D2F-D3C6-1E3E-7B32-A3EF56A03C9C}"/>
              </a:ext>
            </a:extLst>
          </p:cNvPr>
          <p:cNvPicPr>
            <a:picLocks noChangeAspect="1"/>
          </p:cNvPicPr>
          <p:nvPr/>
        </p:nvPicPr>
        <p:blipFill>
          <a:blip r:embed="rId3"/>
          <a:stretch>
            <a:fillRect/>
          </a:stretch>
        </p:blipFill>
        <p:spPr>
          <a:xfrm>
            <a:off x="4899121" y="1551389"/>
            <a:ext cx="6224183" cy="3580075"/>
          </a:xfrm>
          <a:prstGeom prst="rect">
            <a:avLst/>
          </a:prstGeom>
        </p:spPr>
      </p:pic>
      <p:sp>
        <p:nvSpPr>
          <p:cNvPr id="9" name="TextBox 8">
            <a:extLst>
              <a:ext uri="{FF2B5EF4-FFF2-40B4-BE49-F238E27FC236}">
                <a16:creationId xmlns:a16="http://schemas.microsoft.com/office/drawing/2014/main" id="{E693BE3A-39F6-0022-F166-599CCA1463B8}"/>
              </a:ext>
            </a:extLst>
          </p:cNvPr>
          <p:cNvSpPr txBox="1"/>
          <p:nvPr/>
        </p:nvSpPr>
        <p:spPr>
          <a:xfrm>
            <a:off x="3470564" y="5706650"/>
            <a:ext cx="7652740" cy="338554"/>
          </a:xfrm>
          <a:prstGeom prst="rect">
            <a:avLst/>
          </a:prstGeom>
          <a:noFill/>
        </p:spPr>
        <p:txBody>
          <a:bodyPr wrap="square">
            <a:spAutoFit/>
          </a:bodyPr>
          <a:lstStyle/>
          <a:p>
            <a:pPr algn="r"/>
            <a:r>
              <a:rPr lang="de-CH" sz="1600" dirty="0">
                <a:hlinkClick r:id="rId4"/>
              </a:rPr>
              <a:t>https://github.com/network-analytics/yang_tests/blob/master/report_v2.pdf</a:t>
            </a:r>
            <a:endParaRPr lang="de-CH" sz="1600" dirty="0"/>
          </a:p>
        </p:txBody>
      </p:sp>
    </p:spTree>
    <p:extLst>
      <p:ext uri="{BB962C8B-B14F-4D97-AF65-F5344CB8AC3E}">
        <p14:creationId xmlns:p14="http://schemas.microsoft.com/office/powerpoint/2010/main" val="27558565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568F82-5D2F-BC90-43F9-81651D860C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A87DDB-21B5-67D8-ADB5-503A3599E15E}"/>
              </a:ext>
            </a:extLst>
          </p:cNvPr>
          <p:cNvSpPr>
            <a:spLocks noGrp="1"/>
          </p:cNvSpPr>
          <p:nvPr>
            <p:ph type="title"/>
          </p:nvPr>
        </p:nvSpPr>
        <p:spPr/>
        <p:txBody>
          <a:bodyPr>
            <a:normAutofit/>
          </a:bodyPr>
          <a:lstStyle/>
          <a:p>
            <a:pPr algn="l">
              <a:buSzPts val="3800"/>
            </a:pPr>
            <a:r>
              <a:rPr lang="en-US" sz="4533" dirty="0"/>
              <a:t>Next Steps from IETF 125 Hackathon…</a:t>
            </a:r>
          </a:p>
        </p:txBody>
      </p:sp>
      <p:sp>
        <p:nvSpPr>
          <p:cNvPr id="4" name="Content Placeholder 2">
            <a:extLst>
              <a:ext uri="{FF2B5EF4-FFF2-40B4-BE49-F238E27FC236}">
                <a16:creationId xmlns:a16="http://schemas.microsoft.com/office/drawing/2014/main" id="{BFC2B84D-0952-8FD4-2C86-DD67CE4D80B5}"/>
              </a:ext>
            </a:extLst>
          </p:cNvPr>
          <p:cNvSpPr txBox="1">
            <a:spLocks/>
          </p:cNvSpPr>
          <p:nvPr/>
        </p:nvSpPr>
        <p:spPr>
          <a:xfrm>
            <a:off x="720000" y="1825625"/>
            <a:ext cx="9761480" cy="3298744"/>
          </a:xfrm>
          <a:prstGeom prst="rect">
            <a:avLst/>
          </a:prstGeom>
          <a:noFill/>
          <a:ln>
            <a:noFill/>
          </a:ln>
        </p:spPr>
        <p:txBody>
          <a:bodyPr spcFirstLastPara="1" wrap="square" lIns="60933" tIns="60933" rIns="60933" bIns="60933"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700"/>
              </a:spcBef>
              <a:spcAft>
                <a:spcPts val="0"/>
              </a:spcAft>
              <a:buClr>
                <a:srgbClr val="000000"/>
              </a:buClr>
              <a:buSzPts val="1800"/>
              <a:buFont typeface="Arial"/>
              <a:buChar char="•"/>
              <a:defRPr sz="3200" b="0" i="0" u="none" strike="noStrike" cap="none">
                <a:solidFill>
                  <a:srgbClr val="000000"/>
                </a:solidFill>
                <a:latin typeface="Calibri"/>
                <a:ea typeface="Calibri"/>
                <a:cs typeface="Calibri"/>
                <a:sym typeface="Calibri"/>
              </a:defRPr>
            </a:lvl1pPr>
            <a:lvl2pPr marL="914400" marR="0" lvl="1" indent="-342900" algn="l" rtl="0">
              <a:lnSpc>
                <a:spcPct val="100000"/>
              </a:lnSpc>
              <a:spcBef>
                <a:spcPts val="700"/>
              </a:spcBef>
              <a:spcAft>
                <a:spcPts val="0"/>
              </a:spcAft>
              <a:buClr>
                <a:srgbClr val="000000"/>
              </a:buClr>
              <a:buSzPts val="1800"/>
              <a:buFont typeface="Arial"/>
              <a:buChar char="–"/>
              <a:defRPr sz="3200" b="0" i="0" u="none" strike="noStrike" cap="none">
                <a:solidFill>
                  <a:srgbClr val="000000"/>
                </a:solidFill>
                <a:latin typeface="Calibri"/>
                <a:ea typeface="Calibri"/>
                <a:cs typeface="Calibri"/>
                <a:sym typeface="Calibri"/>
              </a:defRPr>
            </a:lvl2pPr>
            <a:lvl3pPr marL="1371600" marR="0" lvl="2" indent="-342900" algn="l" rtl="0">
              <a:lnSpc>
                <a:spcPct val="100000"/>
              </a:lnSpc>
              <a:spcBef>
                <a:spcPts val="700"/>
              </a:spcBef>
              <a:spcAft>
                <a:spcPts val="0"/>
              </a:spcAft>
              <a:buClr>
                <a:srgbClr val="000000"/>
              </a:buClr>
              <a:buSzPts val="1800"/>
              <a:buFont typeface="Arial"/>
              <a:buChar char="•"/>
              <a:defRPr sz="3200" b="0" i="0" u="none" strike="noStrike" cap="none">
                <a:solidFill>
                  <a:srgbClr val="000000"/>
                </a:solidFill>
                <a:latin typeface="Calibri"/>
                <a:ea typeface="Calibri"/>
                <a:cs typeface="Calibri"/>
                <a:sym typeface="Calibri"/>
              </a:defRPr>
            </a:lvl3pPr>
            <a:lvl4pPr marL="1828800" marR="0" lvl="3" indent="-342900" algn="l" rtl="0">
              <a:lnSpc>
                <a:spcPct val="100000"/>
              </a:lnSpc>
              <a:spcBef>
                <a:spcPts val="700"/>
              </a:spcBef>
              <a:spcAft>
                <a:spcPts val="0"/>
              </a:spcAft>
              <a:buClr>
                <a:srgbClr val="000000"/>
              </a:buClr>
              <a:buSzPts val="1800"/>
              <a:buFont typeface="Arial"/>
              <a:buChar char="–"/>
              <a:defRPr sz="3200" b="0" i="0" u="none" strike="noStrike" cap="none">
                <a:solidFill>
                  <a:srgbClr val="000000"/>
                </a:solidFill>
                <a:latin typeface="Calibri"/>
                <a:ea typeface="Calibri"/>
                <a:cs typeface="Calibri"/>
                <a:sym typeface="Calibri"/>
              </a:defRPr>
            </a:lvl4pPr>
            <a:lvl5pPr marL="2286000" marR="0" lvl="4" indent="-342900" algn="l" rtl="0">
              <a:lnSpc>
                <a:spcPct val="100000"/>
              </a:lnSpc>
              <a:spcBef>
                <a:spcPts val="700"/>
              </a:spcBef>
              <a:spcAft>
                <a:spcPts val="0"/>
              </a:spcAft>
              <a:buClr>
                <a:srgbClr val="000000"/>
              </a:buClr>
              <a:buSzPts val="1800"/>
              <a:buFont typeface="Arial"/>
              <a:buChar char="»"/>
              <a:defRPr sz="3200" b="0" i="0" u="none" strike="noStrike" cap="none">
                <a:solidFill>
                  <a:srgbClr val="000000"/>
                </a:solidFill>
                <a:latin typeface="Calibri"/>
                <a:ea typeface="Calibri"/>
                <a:cs typeface="Calibri"/>
                <a:sym typeface="Calibri"/>
              </a:defRPr>
            </a:lvl5pPr>
            <a:lvl6pPr marL="2743200" marR="0" lvl="5" indent="-342900" algn="l" rtl="0">
              <a:lnSpc>
                <a:spcPct val="100000"/>
              </a:lnSpc>
              <a:spcBef>
                <a:spcPts val="700"/>
              </a:spcBef>
              <a:spcAft>
                <a:spcPts val="0"/>
              </a:spcAft>
              <a:buClr>
                <a:srgbClr val="000000"/>
              </a:buClr>
              <a:buSzPts val="1800"/>
              <a:buFont typeface="Arial"/>
              <a:buChar char="•"/>
              <a:defRPr sz="3200" b="0" i="0" u="none" strike="noStrike" cap="none">
                <a:solidFill>
                  <a:srgbClr val="000000"/>
                </a:solidFill>
                <a:latin typeface="Calibri"/>
                <a:ea typeface="Calibri"/>
                <a:cs typeface="Calibri"/>
                <a:sym typeface="Calibri"/>
              </a:defRPr>
            </a:lvl6pPr>
            <a:lvl7pPr marL="3200400" marR="0" lvl="6" indent="-342900" algn="l" rtl="0">
              <a:lnSpc>
                <a:spcPct val="100000"/>
              </a:lnSpc>
              <a:spcBef>
                <a:spcPts val="700"/>
              </a:spcBef>
              <a:spcAft>
                <a:spcPts val="0"/>
              </a:spcAft>
              <a:buClr>
                <a:srgbClr val="000000"/>
              </a:buClr>
              <a:buSzPts val="1800"/>
              <a:buFont typeface="Arial"/>
              <a:buChar char="•"/>
              <a:defRPr sz="3200" b="0" i="0" u="none" strike="noStrike" cap="none">
                <a:solidFill>
                  <a:srgbClr val="000000"/>
                </a:solidFill>
                <a:latin typeface="Calibri"/>
                <a:ea typeface="Calibri"/>
                <a:cs typeface="Calibri"/>
                <a:sym typeface="Calibri"/>
              </a:defRPr>
            </a:lvl7pPr>
            <a:lvl8pPr marL="3657600" marR="0" lvl="7" indent="-342900" algn="l" rtl="0">
              <a:lnSpc>
                <a:spcPct val="100000"/>
              </a:lnSpc>
              <a:spcBef>
                <a:spcPts val="700"/>
              </a:spcBef>
              <a:spcAft>
                <a:spcPts val="0"/>
              </a:spcAft>
              <a:buClr>
                <a:srgbClr val="000000"/>
              </a:buClr>
              <a:buSzPts val="1800"/>
              <a:buFont typeface="Arial"/>
              <a:buChar char="•"/>
              <a:defRPr sz="3200" b="0" i="0" u="none" strike="noStrike" cap="none">
                <a:solidFill>
                  <a:srgbClr val="000000"/>
                </a:solidFill>
                <a:latin typeface="Calibri"/>
                <a:ea typeface="Calibri"/>
                <a:cs typeface="Calibri"/>
                <a:sym typeface="Calibri"/>
              </a:defRPr>
            </a:lvl8pPr>
            <a:lvl9pPr marL="4114800" marR="0" lvl="8" indent="-342900" algn="l" rtl="0">
              <a:lnSpc>
                <a:spcPct val="100000"/>
              </a:lnSpc>
              <a:spcBef>
                <a:spcPts val="700"/>
              </a:spcBef>
              <a:spcAft>
                <a:spcPts val="0"/>
              </a:spcAft>
              <a:buClr>
                <a:srgbClr val="000000"/>
              </a:buClr>
              <a:buSzPts val="1800"/>
              <a:buFont typeface="Arial"/>
              <a:buChar char="•"/>
              <a:defRPr sz="3200" b="0" i="0" u="none" strike="noStrike" cap="none">
                <a:solidFill>
                  <a:srgbClr val="000000"/>
                </a:solidFill>
                <a:latin typeface="Calibri"/>
                <a:ea typeface="Calibri"/>
                <a:cs typeface="Calibri"/>
                <a:sym typeface="Calibri"/>
              </a:defRPr>
            </a:lvl9pPr>
          </a:lstStyle>
          <a:p>
            <a:pPr marL="380990" indent="-380990">
              <a:spcBef>
                <a:spcPts val="400"/>
              </a:spcBef>
              <a:buFont typeface="Arial" panose="020B0604020202020204" pitchFamily="34" charset="0"/>
              <a:buChar char="•"/>
            </a:pPr>
            <a:r>
              <a:rPr lang="en-US" sz="2267" dirty="0"/>
              <a:t>Re-do YANG Message Broker Consumer tests on updated testbed with Ciena Blue Planet UAA Workflow Engine</a:t>
            </a:r>
          </a:p>
          <a:p>
            <a:pPr marL="380990" indent="-380990">
              <a:spcBef>
                <a:spcPts val="400"/>
              </a:spcBef>
              <a:buFont typeface="Arial" panose="020B0604020202020204" pitchFamily="34" charset="0"/>
              <a:buChar char="•"/>
            </a:pPr>
            <a:r>
              <a:rPr lang="en-US" sz="2267" dirty="0"/>
              <a:t>Complete IETF YANG module subscription tests with 6Wind VSR</a:t>
            </a:r>
          </a:p>
          <a:p>
            <a:pPr marL="380990" indent="-380990">
              <a:spcBef>
                <a:spcPts val="400"/>
              </a:spcBef>
              <a:buFont typeface="Arial" panose="020B0604020202020204" pitchFamily="34" charset="0"/>
              <a:buChar char="•"/>
            </a:pPr>
            <a:r>
              <a:rPr lang="en-US" sz="2267" dirty="0"/>
              <a:t>Compare YANG feature coverage between </a:t>
            </a:r>
            <a:r>
              <a:rPr lang="en-US" sz="2267" dirty="0" err="1">
                <a:hlinkClick r:id="rId2"/>
              </a:rPr>
              <a:t>libyang</a:t>
            </a:r>
            <a:r>
              <a:rPr lang="en-US" sz="2267" dirty="0"/>
              <a:t>, </a:t>
            </a:r>
            <a:r>
              <a:rPr lang="en-US" sz="2267" dirty="0" err="1">
                <a:hlinkClick r:id="rId3"/>
              </a:rPr>
              <a:t>yangkit</a:t>
            </a:r>
            <a:r>
              <a:rPr lang="en-US" sz="2267" dirty="0"/>
              <a:t> and </a:t>
            </a:r>
            <a:r>
              <a:rPr lang="en-US" sz="2267" dirty="0" err="1">
                <a:hlinkClick r:id="rId4"/>
              </a:rPr>
              <a:t>yangtools</a:t>
            </a:r>
            <a:endParaRPr lang="en-US" sz="2267" dirty="0"/>
          </a:p>
          <a:p>
            <a:pPr marL="380990" indent="-380990">
              <a:spcBef>
                <a:spcPts val="400"/>
              </a:spcBef>
              <a:buFont typeface="Arial" panose="020B0604020202020204" pitchFamily="34" charset="0"/>
              <a:buChar char="•"/>
            </a:pPr>
            <a:r>
              <a:rPr lang="en-US" sz="2267" dirty="0"/>
              <a:t>Revert </a:t>
            </a:r>
            <a:r>
              <a:rPr lang="en-US" sz="2267" dirty="0">
                <a:hlinkClick r:id="rId5"/>
              </a:rPr>
              <a:t>import only modules for augmented-by </a:t>
            </a:r>
            <a:r>
              <a:rPr lang="en-US" sz="2267" dirty="0"/>
              <a:t>workaround</a:t>
            </a:r>
          </a:p>
          <a:p>
            <a:pPr marL="380990" indent="-380990">
              <a:spcBef>
                <a:spcPts val="400"/>
              </a:spcBef>
              <a:buFont typeface="Arial" panose="020B0604020202020204" pitchFamily="34" charset="0"/>
              <a:buChar char="•"/>
            </a:pPr>
            <a:r>
              <a:rPr lang="en-US" sz="2267" dirty="0">
                <a:hlinkClick r:id="rId6"/>
              </a:rPr>
              <a:t>Preserve cached YANG-Push subscription state across receiver reload</a:t>
            </a:r>
            <a:endParaRPr lang="en-US" sz="2267" dirty="0"/>
          </a:p>
          <a:p>
            <a:pPr marL="380990" indent="-380990">
              <a:spcBef>
                <a:spcPts val="400"/>
              </a:spcBef>
              <a:buFont typeface="Arial" panose="020B0604020202020204" pitchFamily="34" charset="0"/>
              <a:buChar char="•"/>
            </a:pPr>
            <a:r>
              <a:rPr lang="en-US" sz="2267" dirty="0">
                <a:hlinkClick r:id="rId7"/>
              </a:rPr>
              <a:t>Obtain YANG-Push subscription state from publisher if missing</a:t>
            </a:r>
            <a:endParaRPr lang="en-US" sz="2267" dirty="0"/>
          </a:p>
          <a:p>
            <a:pPr marL="380990" indent="-380990">
              <a:spcBef>
                <a:spcPts val="400"/>
              </a:spcBef>
              <a:buFont typeface="Arial" panose="020B0604020202020204" pitchFamily="34" charset="0"/>
              <a:buChar char="•"/>
            </a:pPr>
            <a:r>
              <a:rPr lang="en-US" sz="2267" dirty="0"/>
              <a:t>Support Netconf session queuing for schema retrieval</a:t>
            </a:r>
          </a:p>
          <a:p>
            <a:pPr marL="380990" indent="-380990">
              <a:spcBef>
                <a:spcPts val="400"/>
              </a:spcBef>
              <a:buFont typeface="Arial" panose="020B0604020202020204" pitchFamily="34" charset="0"/>
              <a:buChar char="•"/>
            </a:pPr>
            <a:r>
              <a:rPr lang="en-US" sz="2267" dirty="0"/>
              <a:t>Support </a:t>
            </a:r>
            <a:r>
              <a:rPr lang="en-US" sz="2267" dirty="0" err="1"/>
              <a:t>libyang</a:t>
            </a:r>
            <a:r>
              <a:rPr lang="en-US" sz="2267" dirty="0"/>
              <a:t> 5.4.9 in YANG-Push Receiver and Message Broker Consumer</a:t>
            </a:r>
          </a:p>
          <a:p>
            <a:pPr marL="380990" indent="-380990">
              <a:spcBef>
                <a:spcPts val="400"/>
              </a:spcBef>
              <a:buFont typeface="Arial" panose="020B0604020202020204" pitchFamily="34" charset="0"/>
              <a:buChar char="•"/>
            </a:pPr>
            <a:r>
              <a:rPr lang="en-US" sz="2267" dirty="0">
                <a:hlinkClick r:id="rId8"/>
              </a:rPr>
              <a:t>Message Key and Topic Name proof of concept</a:t>
            </a:r>
            <a:endParaRPr lang="en-US" sz="2267" dirty="0"/>
          </a:p>
        </p:txBody>
      </p:sp>
      <p:sp>
        <p:nvSpPr>
          <p:cNvPr id="6" name="Rectangle 5">
            <a:extLst>
              <a:ext uri="{FF2B5EF4-FFF2-40B4-BE49-F238E27FC236}">
                <a16:creationId xmlns:a16="http://schemas.microsoft.com/office/drawing/2014/main" id="{E5E706BA-8C31-6027-6A59-19A61A4E92F4}"/>
              </a:ext>
            </a:extLst>
          </p:cNvPr>
          <p:cNvSpPr/>
          <p:nvPr/>
        </p:nvSpPr>
        <p:spPr>
          <a:xfrm>
            <a:off x="11450426" y="0"/>
            <a:ext cx="741575" cy="6858000"/>
          </a:xfrm>
          <a:prstGeom prst="rect">
            <a:avLst/>
          </a:prstGeom>
          <a:solidFill>
            <a:schemeClr val="bg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7" name="TextBox 6">
            <a:extLst>
              <a:ext uri="{FF2B5EF4-FFF2-40B4-BE49-F238E27FC236}">
                <a16:creationId xmlns:a16="http://schemas.microsoft.com/office/drawing/2014/main" id="{0B81C530-AF29-FCB1-1AC4-4CF6DC96BEA2}"/>
              </a:ext>
            </a:extLst>
          </p:cNvPr>
          <p:cNvSpPr txBox="1"/>
          <p:nvPr/>
        </p:nvSpPr>
        <p:spPr>
          <a:xfrm rot="5400000">
            <a:off x="8751239" y="2855495"/>
            <a:ext cx="6096000" cy="666786"/>
          </a:xfrm>
          <a:prstGeom prst="rect">
            <a:avLst/>
          </a:prstGeom>
          <a:noFill/>
        </p:spPr>
        <p:txBody>
          <a:bodyPr wrap="square">
            <a:spAutoFit/>
          </a:bodyPr>
          <a:lstStyle/>
          <a:p>
            <a:r>
              <a:rPr lang="en-US" sz="3733" dirty="0">
                <a:solidFill>
                  <a:schemeClr val="bg1"/>
                </a:solidFill>
                <a:latin typeface="Calibri"/>
                <a:ea typeface="Calibri"/>
                <a:cs typeface="Calibri"/>
                <a:sym typeface="Calibri"/>
              </a:rPr>
              <a:t>NMOP &amp; NETCONF WG</a:t>
            </a:r>
            <a:endParaRPr lang="en-US" sz="3733" dirty="0">
              <a:solidFill>
                <a:schemeClr val="bg1"/>
              </a:solidFill>
            </a:endParaRPr>
          </a:p>
        </p:txBody>
      </p:sp>
      <p:sp>
        <p:nvSpPr>
          <p:cNvPr id="9" name="Google Shape;1523;p45">
            <a:extLst>
              <a:ext uri="{FF2B5EF4-FFF2-40B4-BE49-F238E27FC236}">
                <a16:creationId xmlns:a16="http://schemas.microsoft.com/office/drawing/2014/main" id="{4278CCB4-5174-944F-86E2-7562992D428F}"/>
              </a:ext>
            </a:extLst>
          </p:cNvPr>
          <p:cNvSpPr txBox="1">
            <a:spLocks noGrp="1"/>
          </p:cNvSpPr>
          <p:nvPr>
            <p:ph type="sldNum" idx="12"/>
          </p:nvPr>
        </p:nvSpPr>
        <p:spPr>
          <a:xfrm>
            <a:off x="11582401" y="6352981"/>
            <a:ext cx="339545" cy="369277"/>
          </a:xfrm>
          <a:prstGeom prst="rect">
            <a:avLst/>
          </a:prstGeom>
          <a:noFill/>
          <a:ln>
            <a:noFill/>
          </a:ln>
        </p:spPr>
        <p:txBody>
          <a:bodyPr spcFirstLastPara="1" vert="horz" wrap="square" lIns="60933" tIns="60933" rIns="60933" bIns="60933" rtlCol="0" anchor="ctr" anchorCtr="0">
            <a:spAutoFit/>
          </a:bodyPr>
          <a:lstStyle/>
          <a:p>
            <a:fld id="{00000000-1234-1234-1234-123412341234}" type="slidenum">
              <a:rPr lang="en-US" smtClean="0"/>
              <a:pPr/>
              <a:t>18</a:t>
            </a:fld>
            <a:endParaRPr lang="en-US" dirty="0"/>
          </a:p>
        </p:txBody>
      </p:sp>
      <p:pic>
        <p:nvPicPr>
          <p:cNvPr id="3" name="Picture 2" descr="A green check mark in a circle&#10;&#10;AI-generated content may be incorrect.">
            <a:extLst>
              <a:ext uri="{FF2B5EF4-FFF2-40B4-BE49-F238E27FC236}">
                <a16:creationId xmlns:a16="http://schemas.microsoft.com/office/drawing/2014/main" id="{14E3782D-487C-5895-C400-7CFF02FE9C0E}"/>
              </a:ext>
            </a:extLst>
          </p:cNvPr>
          <p:cNvPicPr>
            <a:picLocks noChangeAspect="1"/>
          </p:cNvPicPr>
          <p:nvPr/>
        </p:nvPicPr>
        <p:blipFill>
          <a:blip r:embed="rId9"/>
          <a:stretch>
            <a:fillRect/>
          </a:stretch>
        </p:blipFill>
        <p:spPr>
          <a:xfrm>
            <a:off x="10519705" y="1802044"/>
            <a:ext cx="548203" cy="548203"/>
          </a:xfrm>
          <a:prstGeom prst="rect">
            <a:avLst/>
          </a:prstGeom>
        </p:spPr>
      </p:pic>
      <p:pic>
        <p:nvPicPr>
          <p:cNvPr id="5" name="Picture 4" descr="A green check mark in a circle&#10;&#10;AI-generated content may be incorrect.">
            <a:extLst>
              <a:ext uri="{FF2B5EF4-FFF2-40B4-BE49-F238E27FC236}">
                <a16:creationId xmlns:a16="http://schemas.microsoft.com/office/drawing/2014/main" id="{27627A04-5ACB-2493-F722-488169BA1AA6}"/>
              </a:ext>
            </a:extLst>
          </p:cNvPr>
          <p:cNvPicPr>
            <a:picLocks noChangeAspect="1"/>
          </p:cNvPicPr>
          <p:nvPr/>
        </p:nvPicPr>
        <p:blipFill>
          <a:blip r:embed="rId9"/>
          <a:stretch>
            <a:fillRect/>
          </a:stretch>
        </p:blipFill>
        <p:spPr>
          <a:xfrm>
            <a:off x="10494901" y="2307028"/>
            <a:ext cx="548203" cy="548203"/>
          </a:xfrm>
          <a:prstGeom prst="rect">
            <a:avLst/>
          </a:prstGeom>
        </p:spPr>
      </p:pic>
      <p:pic>
        <p:nvPicPr>
          <p:cNvPr id="8" name="Picture 7" descr="A green check mark in a circle&#10;&#10;AI-generated content may be incorrect.">
            <a:extLst>
              <a:ext uri="{FF2B5EF4-FFF2-40B4-BE49-F238E27FC236}">
                <a16:creationId xmlns:a16="http://schemas.microsoft.com/office/drawing/2014/main" id="{B9EAFCCD-78F9-ED7E-C5F6-4CDC0A91112C}"/>
              </a:ext>
            </a:extLst>
          </p:cNvPr>
          <p:cNvPicPr>
            <a:picLocks noChangeAspect="1"/>
          </p:cNvPicPr>
          <p:nvPr/>
        </p:nvPicPr>
        <p:blipFill>
          <a:blip r:embed="rId9"/>
          <a:stretch>
            <a:fillRect/>
          </a:stretch>
        </p:blipFill>
        <p:spPr>
          <a:xfrm>
            <a:off x="10481480" y="2810655"/>
            <a:ext cx="548203" cy="548203"/>
          </a:xfrm>
          <a:prstGeom prst="rect">
            <a:avLst/>
          </a:prstGeom>
        </p:spPr>
      </p:pic>
      <p:pic>
        <p:nvPicPr>
          <p:cNvPr id="10" name="Picture 9" descr="A green check mark in a circle&#10;&#10;AI-generated content may be incorrect.">
            <a:extLst>
              <a:ext uri="{FF2B5EF4-FFF2-40B4-BE49-F238E27FC236}">
                <a16:creationId xmlns:a16="http://schemas.microsoft.com/office/drawing/2014/main" id="{244EEFF8-28EB-AABD-B98B-022445B5DEE3}"/>
              </a:ext>
            </a:extLst>
          </p:cNvPr>
          <p:cNvPicPr>
            <a:picLocks noChangeAspect="1"/>
          </p:cNvPicPr>
          <p:nvPr/>
        </p:nvPicPr>
        <p:blipFill>
          <a:blip r:embed="rId9"/>
          <a:stretch>
            <a:fillRect/>
          </a:stretch>
        </p:blipFill>
        <p:spPr>
          <a:xfrm>
            <a:off x="10481480" y="3348625"/>
            <a:ext cx="548203" cy="548203"/>
          </a:xfrm>
          <a:prstGeom prst="rect">
            <a:avLst/>
          </a:prstGeom>
        </p:spPr>
      </p:pic>
      <p:pic>
        <p:nvPicPr>
          <p:cNvPr id="11" name="Picture 10" descr="A green check mark in a circle&#10;&#10;AI-generated content may be incorrect.">
            <a:extLst>
              <a:ext uri="{FF2B5EF4-FFF2-40B4-BE49-F238E27FC236}">
                <a16:creationId xmlns:a16="http://schemas.microsoft.com/office/drawing/2014/main" id="{28E9142F-731D-24E6-01FD-F7E525BD8425}"/>
              </a:ext>
            </a:extLst>
          </p:cNvPr>
          <p:cNvPicPr>
            <a:picLocks noChangeAspect="1"/>
          </p:cNvPicPr>
          <p:nvPr/>
        </p:nvPicPr>
        <p:blipFill>
          <a:blip r:embed="rId9"/>
          <a:stretch>
            <a:fillRect/>
          </a:stretch>
        </p:blipFill>
        <p:spPr>
          <a:xfrm>
            <a:off x="10481480" y="3962396"/>
            <a:ext cx="548203" cy="548203"/>
          </a:xfrm>
          <a:prstGeom prst="rect">
            <a:avLst/>
          </a:prstGeom>
        </p:spPr>
      </p:pic>
      <p:pic>
        <p:nvPicPr>
          <p:cNvPr id="12" name="Picture 11" descr="A green check mark in a circle&#10;&#10;AI-generated content may be incorrect.">
            <a:extLst>
              <a:ext uri="{FF2B5EF4-FFF2-40B4-BE49-F238E27FC236}">
                <a16:creationId xmlns:a16="http://schemas.microsoft.com/office/drawing/2014/main" id="{78661CE5-AB28-C054-5975-391B82CC0D79}"/>
              </a:ext>
            </a:extLst>
          </p:cNvPr>
          <p:cNvPicPr>
            <a:picLocks noChangeAspect="1"/>
          </p:cNvPicPr>
          <p:nvPr/>
        </p:nvPicPr>
        <p:blipFill>
          <a:blip r:embed="rId9"/>
          <a:stretch>
            <a:fillRect/>
          </a:stretch>
        </p:blipFill>
        <p:spPr>
          <a:xfrm>
            <a:off x="10481480" y="4434799"/>
            <a:ext cx="548203" cy="548203"/>
          </a:xfrm>
          <a:prstGeom prst="rect">
            <a:avLst/>
          </a:prstGeom>
        </p:spPr>
      </p:pic>
      <p:pic>
        <p:nvPicPr>
          <p:cNvPr id="13" name="Picture 12" descr="A green check mark in a circle&#10;&#10;AI-generated content may be incorrect.">
            <a:extLst>
              <a:ext uri="{FF2B5EF4-FFF2-40B4-BE49-F238E27FC236}">
                <a16:creationId xmlns:a16="http://schemas.microsoft.com/office/drawing/2014/main" id="{5FDC4080-7DA9-34E9-74B9-93D13734B4AC}"/>
              </a:ext>
            </a:extLst>
          </p:cNvPr>
          <p:cNvPicPr>
            <a:picLocks noChangeAspect="1"/>
          </p:cNvPicPr>
          <p:nvPr/>
        </p:nvPicPr>
        <p:blipFill>
          <a:blip r:embed="rId9"/>
          <a:stretch>
            <a:fillRect/>
          </a:stretch>
        </p:blipFill>
        <p:spPr>
          <a:xfrm>
            <a:off x="10475584" y="4915835"/>
            <a:ext cx="548203" cy="548203"/>
          </a:xfrm>
          <a:prstGeom prst="rect">
            <a:avLst/>
          </a:prstGeom>
        </p:spPr>
      </p:pic>
      <p:pic>
        <p:nvPicPr>
          <p:cNvPr id="14" name="Picture 13" descr="A green check mark in a circle&#10;&#10;AI-generated content may be incorrect.">
            <a:extLst>
              <a:ext uri="{FF2B5EF4-FFF2-40B4-BE49-F238E27FC236}">
                <a16:creationId xmlns:a16="http://schemas.microsoft.com/office/drawing/2014/main" id="{6AEFD3DE-2F2A-33DA-E787-B482BC94EC9D}"/>
              </a:ext>
            </a:extLst>
          </p:cNvPr>
          <p:cNvPicPr>
            <a:picLocks noChangeAspect="1"/>
          </p:cNvPicPr>
          <p:nvPr/>
        </p:nvPicPr>
        <p:blipFill>
          <a:blip r:embed="rId9"/>
          <a:stretch>
            <a:fillRect/>
          </a:stretch>
        </p:blipFill>
        <p:spPr>
          <a:xfrm>
            <a:off x="10475583" y="5365949"/>
            <a:ext cx="548203" cy="548203"/>
          </a:xfrm>
          <a:prstGeom prst="rect">
            <a:avLst/>
          </a:prstGeom>
        </p:spPr>
      </p:pic>
    </p:spTree>
    <p:extLst>
      <p:ext uri="{BB962C8B-B14F-4D97-AF65-F5344CB8AC3E}">
        <p14:creationId xmlns:p14="http://schemas.microsoft.com/office/powerpoint/2010/main" val="19523133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0D01D8-A137-56E2-7F33-BDDF3DF71F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869892-8D71-893A-C801-A1A881544976}"/>
              </a:ext>
            </a:extLst>
          </p:cNvPr>
          <p:cNvSpPr>
            <a:spLocks noGrp="1"/>
          </p:cNvSpPr>
          <p:nvPr>
            <p:ph type="title"/>
          </p:nvPr>
        </p:nvSpPr>
        <p:spPr/>
        <p:txBody>
          <a:bodyPr>
            <a:normAutofit/>
          </a:bodyPr>
          <a:lstStyle/>
          <a:p>
            <a:pPr algn="l">
              <a:buSzPts val="3800"/>
            </a:pPr>
            <a:r>
              <a:rPr lang="en-US" sz="4533" dirty="0"/>
              <a:t>Next Steps for IETF 127 Hackathon…</a:t>
            </a:r>
          </a:p>
        </p:txBody>
      </p:sp>
      <p:sp>
        <p:nvSpPr>
          <p:cNvPr id="4" name="Content Placeholder 2">
            <a:extLst>
              <a:ext uri="{FF2B5EF4-FFF2-40B4-BE49-F238E27FC236}">
                <a16:creationId xmlns:a16="http://schemas.microsoft.com/office/drawing/2014/main" id="{53414349-C8F0-A8B2-1397-DF24059FF38F}"/>
              </a:ext>
            </a:extLst>
          </p:cNvPr>
          <p:cNvSpPr txBox="1">
            <a:spLocks/>
          </p:cNvSpPr>
          <p:nvPr/>
        </p:nvSpPr>
        <p:spPr>
          <a:xfrm>
            <a:off x="720000" y="1825625"/>
            <a:ext cx="9761480" cy="3298744"/>
          </a:xfrm>
          <a:prstGeom prst="rect">
            <a:avLst/>
          </a:prstGeom>
          <a:noFill/>
          <a:ln>
            <a:noFill/>
          </a:ln>
        </p:spPr>
        <p:txBody>
          <a:bodyPr spcFirstLastPara="1" wrap="square" lIns="60933" tIns="60933" rIns="60933" bIns="60933"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700"/>
              </a:spcBef>
              <a:spcAft>
                <a:spcPts val="0"/>
              </a:spcAft>
              <a:buClr>
                <a:srgbClr val="000000"/>
              </a:buClr>
              <a:buSzPts val="1800"/>
              <a:buFont typeface="Arial"/>
              <a:buChar char="•"/>
              <a:defRPr sz="3200" b="0" i="0" u="none" strike="noStrike" cap="none">
                <a:solidFill>
                  <a:srgbClr val="000000"/>
                </a:solidFill>
                <a:latin typeface="Calibri"/>
                <a:ea typeface="Calibri"/>
                <a:cs typeface="Calibri"/>
                <a:sym typeface="Calibri"/>
              </a:defRPr>
            </a:lvl1pPr>
            <a:lvl2pPr marL="914400" marR="0" lvl="1" indent="-342900" algn="l" rtl="0">
              <a:lnSpc>
                <a:spcPct val="100000"/>
              </a:lnSpc>
              <a:spcBef>
                <a:spcPts val="700"/>
              </a:spcBef>
              <a:spcAft>
                <a:spcPts val="0"/>
              </a:spcAft>
              <a:buClr>
                <a:srgbClr val="000000"/>
              </a:buClr>
              <a:buSzPts val="1800"/>
              <a:buFont typeface="Arial"/>
              <a:buChar char="–"/>
              <a:defRPr sz="3200" b="0" i="0" u="none" strike="noStrike" cap="none">
                <a:solidFill>
                  <a:srgbClr val="000000"/>
                </a:solidFill>
                <a:latin typeface="Calibri"/>
                <a:ea typeface="Calibri"/>
                <a:cs typeface="Calibri"/>
                <a:sym typeface="Calibri"/>
              </a:defRPr>
            </a:lvl2pPr>
            <a:lvl3pPr marL="1371600" marR="0" lvl="2" indent="-342900" algn="l" rtl="0">
              <a:lnSpc>
                <a:spcPct val="100000"/>
              </a:lnSpc>
              <a:spcBef>
                <a:spcPts val="700"/>
              </a:spcBef>
              <a:spcAft>
                <a:spcPts val="0"/>
              </a:spcAft>
              <a:buClr>
                <a:srgbClr val="000000"/>
              </a:buClr>
              <a:buSzPts val="1800"/>
              <a:buFont typeface="Arial"/>
              <a:buChar char="•"/>
              <a:defRPr sz="3200" b="0" i="0" u="none" strike="noStrike" cap="none">
                <a:solidFill>
                  <a:srgbClr val="000000"/>
                </a:solidFill>
                <a:latin typeface="Calibri"/>
                <a:ea typeface="Calibri"/>
                <a:cs typeface="Calibri"/>
                <a:sym typeface="Calibri"/>
              </a:defRPr>
            </a:lvl3pPr>
            <a:lvl4pPr marL="1828800" marR="0" lvl="3" indent="-342900" algn="l" rtl="0">
              <a:lnSpc>
                <a:spcPct val="100000"/>
              </a:lnSpc>
              <a:spcBef>
                <a:spcPts val="700"/>
              </a:spcBef>
              <a:spcAft>
                <a:spcPts val="0"/>
              </a:spcAft>
              <a:buClr>
                <a:srgbClr val="000000"/>
              </a:buClr>
              <a:buSzPts val="1800"/>
              <a:buFont typeface="Arial"/>
              <a:buChar char="–"/>
              <a:defRPr sz="3200" b="0" i="0" u="none" strike="noStrike" cap="none">
                <a:solidFill>
                  <a:srgbClr val="000000"/>
                </a:solidFill>
                <a:latin typeface="Calibri"/>
                <a:ea typeface="Calibri"/>
                <a:cs typeface="Calibri"/>
                <a:sym typeface="Calibri"/>
              </a:defRPr>
            </a:lvl4pPr>
            <a:lvl5pPr marL="2286000" marR="0" lvl="4" indent="-342900" algn="l" rtl="0">
              <a:lnSpc>
                <a:spcPct val="100000"/>
              </a:lnSpc>
              <a:spcBef>
                <a:spcPts val="700"/>
              </a:spcBef>
              <a:spcAft>
                <a:spcPts val="0"/>
              </a:spcAft>
              <a:buClr>
                <a:srgbClr val="000000"/>
              </a:buClr>
              <a:buSzPts val="1800"/>
              <a:buFont typeface="Arial"/>
              <a:buChar char="»"/>
              <a:defRPr sz="3200" b="0" i="0" u="none" strike="noStrike" cap="none">
                <a:solidFill>
                  <a:srgbClr val="000000"/>
                </a:solidFill>
                <a:latin typeface="Calibri"/>
                <a:ea typeface="Calibri"/>
                <a:cs typeface="Calibri"/>
                <a:sym typeface="Calibri"/>
              </a:defRPr>
            </a:lvl5pPr>
            <a:lvl6pPr marL="2743200" marR="0" lvl="5" indent="-342900" algn="l" rtl="0">
              <a:lnSpc>
                <a:spcPct val="100000"/>
              </a:lnSpc>
              <a:spcBef>
                <a:spcPts val="700"/>
              </a:spcBef>
              <a:spcAft>
                <a:spcPts val="0"/>
              </a:spcAft>
              <a:buClr>
                <a:srgbClr val="000000"/>
              </a:buClr>
              <a:buSzPts val="1800"/>
              <a:buFont typeface="Arial"/>
              <a:buChar char="•"/>
              <a:defRPr sz="3200" b="0" i="0" u="none" strike="noStrike" cap="none">
                <a:solidFill>
                  <a:srgbClr val="000000"/>
                </a:solidFill>
                <a:latin typeface="Calibri"/>
                <a:ea typeface="Calibri"/>
                <a:cs typeface="Calibri"/>
                <a:sym typeface="Calibri"/>
              </a:defRPr>
            </a:lvl6pPr>
            <a:lvl7pPr marL="3200400" marR="0" lvl="6" indent="-342900" algn="l" rtl="0">
              <a:lnSpc>
                <a:spcPct val="100000"/>
              </a:lnSpc>
              <a:spcBef>
                <a:spcPts val="700"/>
              </a:spcBef>
              <a:spcAft>
                <a:spcPts val="0"/>
              </a:spcAft>
              <a:buClr>
                <a:srgbClr val="000000"/>
              </a:buClr>
              <a:buSzPts val="1800"/>
              <a:buFont typeface="Arial"/>
              <a:buChar char="•"/>
              <a:defRPr sz="3200" b="0" i="0" u="none" strike="noStrike" cap="none">
                <a:solidFill>
                  <a:srgbClr val="000000"/>
                </a:solidFill>
                <a:latin typeface="Calibri"/>
                <a:ea typeface="Calibri"/>
                <a:cs typeface="Calibri"/>
                <a:sym typeface="Calibri"/>
              </a:defRPr>
            </a:lvl7pPr>
            <a:lvl8pPr marL="3657600" marR="0" lvl="7" indent="-342900" algn="l" rtl="0">
              <a:lnSpc>
                <a:spcPct val="100000"/>
              </a:lnSpc>
              <a:spcBef>
                <a:spcPts val="700"/>
              </a:spcBef>
              <a:spcAft>
                <a:spcPts val="0"/>
              </a:spcAft>
              <a:buClr>
                <a:srgbClr val="000000"/>
              </a:buClr>
              <a:buSzPts val="1800"/>
              <a:buFont typeface="Arial"/>
              <a:buChar char="•"/>
              <a:defRPr sz="3200" b="0" i="0" u="none" strike="noStrike" cap="none">
                <a:solidFill>
                  <a:srgbClr val="000000"/>
                </a:solidFill>
                <a:latin typeface="Calibri"/>
                <a:ea typeface="Calibri"/>
                <a:cs typeface="Calibri"/>
                <a:sym typeface="Calibri"/>
              </a:defRPr>
            </a:lvl8pPr>
            <a:lvl9pPr marL="4114800" marR="0" lvl="8" indent="-342900" algn="l" rtl="0">
              <a:lnSpc>
                <a:spcPct val="100000"/>
              </a:lnSpc>
              <a:spcBef>
                <a:spcPts val="700"/>
              </a:spcBef>
              <a:spcAft>
                <a:spcPts val="0"/>
              </a:spcAft>
              <a:buClr>
                <a:srgbClr val="000000"/>
              </a:buClr>
              <a:buSzPts val="1800"/>
              <a:buFont typeface="Arial"/>
              <a:buChar char="•"/>
              <a:defRPr sz="3200" b="0" i="0" u="none" strike="noStrike" cap="none">
                <a:solidFill>
                  <a:srgbClr val="000000"/>
                </a:solidFill>
                <a:latin typeface="Calibri"/>
                <a:ea typeface="Calibri"/>
                <a:cs typeface="Calibri"/>
                <a:sym typeface="Calibri"/>
              </a:defRPr>
            </a:lvl9pPr>
          </a:lstStyle>
          <a:p>
            <a:pPr marL="380990" indent="-380990">
              <a:spcBef>
                <a:spcPts val="400"/>
              </a:spcBef>
              <a:buFont typeface="Arial" panose="020B0604020202020204" pitchFamily="34" charset="0"/>
              <a:buChar char="•"/>
            </a:pPr>
            <a:r>
              <a:rPr lang="en-US" sz="2267" dirty="0"/>
              <a:t>Support building </a:t>
            </a:r>
            <a:r>
              <a:rPr lang="en-US" sz="2267" dirty="0">
                <a:hlinkClick r:id="rId2"/>
              </a:rPr>
              <a:t>RFC 8525 YANG Library in Java Message Broker Consumer</a:t>
            </a:r>
            <a:endParaRPr lang="en-US" sz="2267" dirty="0"/>
          </a:p>
          <a:p>
            <a:pPr marL="380990" indent="-380990">
              <a:spcBef>
                <a:spcPts val="400"/>
              </a:spcBef>
              <a:buFont typeface="Arial" panose="020B0604020202020204" pitchFamily="34" charset="0"/>
              <a:buChar char="•"/>
            </a:pPr>
            <a:r>
              <a:rPr lang="en-US" sz="2267" dirty="0"/>
              <a:t>Support </a:t>
            </a:r>
            <a:r>
              <a:rPr lang="de-CH" sz="2400" dirty="0">
                <a:solidFill>
                  <a:schemeClr val="dk1"/>
                </a:solidFill>
                <a:hlinkClick r:id="rId3"/>
              </a:rPr>
              <a:t>draft-</a:t>
            </a:r>
            <a:r>
              <a:rPr lang="de-CH" sz="2400" dirty="0" err="1">
                <a:solidFill>
                  <a:schemeClr val="dk1"/>
                </a:solidFill>
                <a:hlinkClick r:id="rId3"/>
              </a:rPr>
              <a:t>netana</a:t>
            </a:r>
            <a:r>
              <a:rPr lang="de-CH" sz="2400" dirty="0">
                <a:solidFill>
                  <a:schemeClr val="dk1"/>
                </a:solidFill>
                <a:hlinkClick r:id="rId3"/>
              </a:rPr>
              <a:t>-</a:t>
            </a:r>
            <a:r>
              <a:rPr lang="de-CH" sz="2400" dirty="0" err="1">
                <a:solidFill>
                  <a:schemeClr val="dk1"/>
                </a:solidFill>
                <a:hlinkClick r:id="rId3"/>
              </a:rPr>
              <a:t>nmop</a:t>
            </a:r>
            <a:r>
              <a:rPr lang="de-CH" sz="2400" dirty="0">
                <a:solidFill>
                  <a:schemeClr val="dk1"/>
                </a:solidFill>
                <a:hlinkClick r:id="rId3"/>
              </a:rPr>
              <a:t>-</a:t>
            </a:r>
            <a:r>
              <a:rPr lang="de-CH" sz="2400" dirty="0" err="1">
                <a:solidFill>
                  <a:schemeClr val="dk1"/>
                </a:solidFill>
                <a:hlinkClick r:id="rId3"/>
              </a:rPr>
              <a:t>yang</a:t>
            </a:r>
            <a:r>
              <a:rPr lang="de-CH" sz="2400" dirty="0">
                <a:solidFill>
                  <a:schemeClr val="dk1"/>
                </a:solidFill>
                <a:hlinkClick r:id="rId3"/>
              </a:rPr>
              <a:t>-</a:t>
            </a:r>
            <a:r>
              <a:rPr lang="de-CH" sz="2400" dirty="0" err="1">
                <a:solidFill>
                  <a:schemeClr val="dk1"/>
                </a:solidFill>
                <a:hlinkClick r:id="rId3"/>
              </a:rPr>
              <a:t>anydata</a:t>
            </a:r>
            <a:r>
              <a:rPr lang="de-CH" sz="2400" dirty="0">
                <a:solidFill>
                  <a:schemeClr val="dk1"/>
                </a:solidFill>
                <a:hlinkClick r:id="rId3"/>
              </a:rPr>
              <a:t>-validation</a:t>
            </a:r>
            <a:r>
              <a:rPr lang="de-CH" sz="2400" dirty="0">
                <a:solidFill>
                  <a:schemeClr val="dk1"/>
                </a:solidFill>
              </a:rPr>
              <a:t> and RFC 8525 YANG </a:t>
            </a:r>
            <a:r>
              <a:rPr lang="de-CH" sz="2400" dirty="0" err="1">
                <a:solidFill>
                  <a:schemeClr val="dk1"/>
                </a:solidFill>
              </a:rPr>
              <a:t>library</a:t>
            </a:r>
            <a:r>
              <a:rPr lang="de-CH" sz="2400" dirty="0">
                <a:solidFill>
                  <a:schemeClr val="dk1"/>
                </a:solidFill>
              </a:rPr>
              <a:t> in </a:t>
            </a:r>
            <a:r>
              <a:rPr lang="de-CH" sz="2400" dirty="0" err="1">
                <a:solidFill>
                  <a:schemeClr val="dk1"/>
                </a:solidFill>
              </a:rPr>
              <a:t>yangkit</a:t>
            </a:r>
            <a:endParaRPr lang="en-US" sz="2267" dirty="0"/>
          </a:p>
          <a:p>
            <a:pPr marL="380990" indent="-380990">
              <a:spcBef>
                <a:spcPts val="400"/>
              </a:spcBef>
              <a:buFont typeface="Arial" panose="020B0604020202020204" pitchFamily="34" charset="0"/>
              <a:buChar char="•"/>
            </a:pPr>
            <a:r>
              <a:rPr lang="en-US" sz="2267" dirty="0"/>
              <a:t>Support </a:t>
            </a:r>
            <a:r>
              <a:rPr lang="en-US" sz="2267" dirty="0">
                <a:hlinkClick r:id="rId4"/>
              </a:rPr>
              <a:t>YANG-Push Message Broker Topic Naming</a:t>
            </a:r>
            <a:r>
              <a:rPr lang="en-US" sz="2267" dirty="0"/>
              <a:t> with </a:t>
            </a:r>
            <a:r>
              <a:rPr lang="en-US" sz="2267" dirty="0">
                <a:hlinkClick r:id="rId5"/>
              </a:rPr>
              <a:t>dynamic Apache Kafka topic creation API</a:t>
            </a:r>
            <a:endParaRPr lang="en-US" sz="2267" dirty="0"/>
          </a:p>
        </p:txBody>
      </p:sp>
      <p:sp>
        <p:nvSpPr>
          <p:cNvPr id="6" name="Rectangle 5">
            <a:extLst>
              <a:ext uri="{FF2B5EF4-FFF2-40B4-BE49-F238E27FC236}">
                <a16:creationId xmlns:a16="http://schemas.microsoft.com/office/drawing/2014/main" id="{973CAD4D-8FC5-C49E-F033-C474E654B659}"/>
              </a:ext>
            </a:extLst>
          </p:cNvPr>
          <p:cNvSpPr/>
          <p:nvPr/>
        </p:nvSpPr>
        <p:spPr>
          <a:xfrm>
            <a:off x="11450426" y="0"/>
            <a:ext cx="741575" cy="6858000"/>
          </a:xfrm>
          <a:prstGeom prst="rect">
            <a:avLst/>
          </a:prstGeom>
          <a:solidFill>
            <a:schemeClr val="bg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7" name="TextBox 6">
            <a:extLst>
              <a:ext uri="{FF2B5EF4-FFF2-40B4-BE49-F238E27FC236}">
                <a16:creationId xmlns:a16="http://schemas.microsoft.com/office/drawing/2014/main" id="{26AEDFAF-1252-2FB9-75AD-DB4EA57D699F}"/>
              </a:ext>
            </a:extLst>
          </p:cNvPr>
          <p:cNvSpPr txBox="1"/>
          <p:nvPr/>
        </p:nvSpPr>
        <p:spPr>
          <a:xfrm rot="5400000">
            <a:off x="8751239" y="2855495"/>
            <a:ext cx="6096000" cy="666786"/>
          </a:xfrm>
          <a:prstGeom prst="rect">
            <a:avLst/>
          </a:prstGeom>
          <a:noFill/>
        </p:spPr>
        <p:txBody>
          <a:bodyPr wrap="square">
            <a:spAutoFit/>
          </a:bodyPr>
          <a:lstStyle/>
          <a:p>
            <a:r>
              <a:rPr lang="en-US" sz="3733" dirty="0">
                <a:solidFill>
                  <a:schemeClr val="bg1"/>
                </a:solidFill>
                <a:latin typeface="Calibri"/>
                <a:ea typeface="Calibri"/>
                <a:cs typeface="Calibri"/>
                <a:sym typeface="Calibri"/>
              </a:rPr>
              <a:t>NMOP &amp; NETCONF WG</a:t>
            </a:r>
            <a:endParaRPr lang="en-US" sz="3733" dirty="0">
              <a:solidFill>
                <a:schemeClr val="bg1"/>
              </a:solidFill>
            </a:endParaRPr>
          </a:p>
        </p:txBody>
      </p:sp>
      <p:sp>
        <p:nvSpPr>
          <p:cNvPr id="9" name="Google Shape;1523;p45">
            <a:extLst>
              <a:ext uri="{FF2B5EF4-FFF2-40B4-BE49-F238E27FC236}">
                <a16:creationId xmlns:a16="http://schemas.microsoft.com/office/drawing/2014/main" id="{8AE562E4-22AE-A59B-0126-FD13715431A7}"/>
              </a:ext>
            </a:extLst>
          </p:cNvPr>
          <p:cNvSpPr txBox="1">
            <a:spLocks noGrp="1"/>
          </p:cNvSpPr>
          <p:nvPr>
            <p:ph type="sldNum" idx="12"/>
          </p:nvPr>
        </p:nvSpPr>
        <p:spPr>
          <a:xfrm>
            <a:off x="11582401" y="6352981"/>
            <a:ext cx="339545" cy="369277"/>
          </a:xfrm>
          <a:prstGeom prst="rect">
            <a:avLst/>
          </a:prstGeom>
          <a:noFill/>
          <a:ln>
            <a:noFill/>
          </a:ln>
        </p:spPr>
        <p:txBody>
          <a:bodyPr spcFirstLastPara="1" vert="horz" wrap="square" lIns="60933" tIns="60933" rIns="60933" bIns="60933" rtlCol="0" anchor="ctr" anchorCtr="0">
            <a:spAutoFit/>
          </a:bodyPr>
          <a:lstStyle/>
          <a:p>
            <a:fld id="{00000000-1234-1234-1234-123412341234}" type="slidenum">
              <a:rPr lang="en-US" smtClean="0"/>
              <a:pPr/>
              <a:t>19</a:t>
            </a:fld>
            <a:endParaRPr lang="en-US" dirty="0"/>
          </a:p>
        </p:txBody>
      </p:sp>
    </p:spTree>
    <p:extLst>
      <p:ext uri="{BB962C8B-B14F-4D97-AF65-F5344CB8AC3E}">
        <p14:creationId xmlns:p14="http://schemas.microsoft.com/office/powerpoint/2010/main" val="29937950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650"/>
        <p:cNvGrpSpPr/>
        <p:nvPr/>
      </p:nvGrpSpPr>
      <p:grpSpPr>
        <a:xfrm>
          <a:off x="0" y="0"/>
          <a:ext cx="0" cy="0"/>
          <a:chOff x="0" y="0"/>
          <a:chExt cx="0" cy="0"/>
        </a:xfrm>
      </p:grpSpPr>
      <p:sp>
        <p:nvSpPr>
          <p:cNvPr id="1651" name="Google Shape;1651;p59"/>
          <p:cNvSpPr txBox="1">
            <a:spLocks noGrp="1"/>
          </p:cNvSpPr>
          <p:nvPr>
            <p:ph type="title"/>
          </p:nvPr>
        </p:nvSpPr>
        <p:spPr>
          <a:xfrm>
            <a:off x="609600" y="274638"/>
            <a:ext cx="10972800" cy="1143001"/>
          </a:xfrm>
          <a:prstGeom prst="rect">
            <a:avLst/>
          </a:prstGeom>
          <a:noFill/>
          <a:ln>
            <a:noFill/>
          </a:ln>
        </p:spPr>
        <p:txBody>
          <a:bodyPr spcFirstLastPara="1" vert="horz" wrap="square" lIns="60933" tIns="60933" rIns="60933" bIns="60933" rtlCol="0" anchor="ctr" anchorCtr="0">
            <a:normAutofit/>
          </a:bodyPr>
          <a:lstStyle/>
          <a:p>
            <a:pPr algn="l">
              <a:buSzPts val="4400"/>
            </a:pPr>
            <a:r>
              <a:rPr lang="en-US" dirty="0"/>
              <a:t>Thanks to…</a:t>
            </a:r>
          </a:p>
        </p:txBody>
      </p:sp>
      <p:sp>
        <p:nvSpPr>
          <p:cNvPr id="1652" name="Google Shape;1652;p59"/>
          <p:cNvSpPr txBox="1">
            <a:spLocks noGrp="1"/>
          </p:cNvSpPr>
          <p:nvPr>
            <p:ph type="body" idx="1"/>
          </p:nvPr>
        </p:nvSpPr>
        <p:spPr>
          <a:xfrm>
            <a:off x="719434" y="1417640"/>
            <a:ext cx="4939687" cy="5300769"/>
          </a:xfrm>
          <a:prstGeom prst="rect">
            <a:avLst/>
          </a:prstGeom>
          <a:noFill/>
          <a:ln>
            <a:noFill/>
          </a:ln>
        </p:spPr>
        <p:txBody>
          <a:bodyPr spcFirstLastPara="1" vert="horz" wrap="square" lIns="60933" tIns="60933" rIns="60933" bIns="60933" rtlCol="0" anchor="t" anchorCtr="0">
            <a:noAutofit/>
          </a:bodyPr>
          <a:lstStyle/>
          <a:p>
            <a:pPr marL="304792" indent="-304792">
              <a:lnSpc>
                <a:spcPct val="90000"/>
              </a:lnSpc>
              <a:spcBef>
                <a:spcPts val="0"/>
              </a:spcBef>
              <a:buSzPts val="1300"/>
              <a:buFont typeface="Calibri"/>
              <a:buChar char="•"/>
            </a:pPr>
            <a:r>
              <a:rPr lang="en-US" sz="1800" dirty="0"/>
              <a:t>Jiaxin PAN – Huawei</a:t>
            </a:r>
          </a:p>
          <a:p>
            <a:pPr marL="304792" indent="-304792">
              <a:lnSpc>
                <a:spcPct val="90000"/>
              </a:lnSpc>
              <a:spcBef>
                <a:spcPts val="0"/>
              </a:spcBef>
              <a:buSzPts val="1300"/>
              <a:buFont typeface="Calibri"/>
              <a:buChar char="•"/>
            </a:pPr>
            <a:r>
              <a:rPr lang="de-CH" sz="1800" dirty="0" err="1"/>
              <a:t>Zhengliang</a:t>
            </a:r>
            <a:r>
              <a:rPr lang="de-CH" sz="1800" dirty="0"/>
              <a:t> Li – Huawei</a:t>
            </a:r>
          </a:p>
          <a:p>
            <a:pPr marL="304792" indent="-304792">
              <a:lnSpc>
                <a:spcPct val="90000"/>
              </a:lnSpc>
              <a:spcBef>
                <a:spcPts val="0"/>
              </a:spcBef>
              <a:buSzPts val="1300"/>
              <a:buFont typeface="Calibri"/>
              <a:buChar char="•"/>
            </a:pPr>
            <a:r>
              <a:rPr lang="de-CH" sz="1800" dirty="0"/>
              <a:t>Xiao Chen - Huawei</a:t>
            </a:r>
            <a:endParaRPr lang="en-US" sz="1800" dirty="0"/>
          </a:p>
          <a:p>
            <a:pPr marL="304792" indent="-304792">
              <a:lnSpc>
                <a:spcPct val="90000"/>
              </a:lnSpc>
              <a:spcBef>
                <a:spcPts val="0"/>
              </a:spcBef>
              <a:buSzPts val="1300"/>
              <a:buFont typeface="Calibri"/>
              <a:buChar char="•"/>
            </a:pPr>
            <a:r>
              <a:rPr lang="en-US" sz="1800" dirty="0"/>
              <a:t>Rob Wilton – Cisco</a:t>
            </a:r>
          </a:p>
          <a:p>
            <a:pPr marL="304792" indent="-304792">
              <a:lnSpc>
                <a:spcPct val="90000"/>
              </a:lnSpc>
              <a:spcBef>
                <a:spcPts val="0"/>
              </a:spcBef>
              <a:buSzPts val="1300"/>
              <a:buFont typeface="Calibri"/>
              <a:buChar char="•"/>
            </a:pPr>
            <a:r>
              <a:rPr lang="en-US" sz="1800" dirty="0"/>
              <a:t>Dan Voyer – Cisco</a:t>
            </a:r>
          </a:p>
          <a:p>
            <a:pPr marL="304792" indent="-304792">
              <a:lnSpc>
                <a:spcPct val="90000"/>
              </a:lnSpc>
              <a:spcBef>
                <a:spcPts val="0"/>
              </a:spcBef>
              <a:buSzPts val="1300"/>
              <a:buFont typeface="Calibri"/>
              <a:buChar char="•"/>
            </a:pPr>
            <a:r>
              <a:rPr lang="de-CH" sz="1800" dirty="0"/>
              <a:t>Muthumayan Madhayyan </a:t>
            </a:r>
            <a:r>
              <a:rPr lang="en-US" sz="1800" dirty="0"/>
              <a:t>- Cisco</a:t>
            </a:r>
          </a:p>
          <a:p>
            <a:pPr marL="304792" indent="-304792">
              <a:lnSpc>
                <a:spcPct val="90000"/>
              </a:lnSpc>
              <a:spcBef>
                <a:spcPts val="0"/>
              </a:spcBef>
              <a:buSzPts val="1300"/>
              <a:buFont typeface="Calibri"/>
              <a:buChar char="•"/>
            </a:pPr>
            <a:r>
              <a:rPr lang="en-US" sz="1800" dirty="0"/>
              <a:t>Jérémie Leska – 6Wind</a:t>
            </a:r>
          </a:p>
          <a:p>
            <a:pPr marL="304792" indent="-304792">
              <a:lnSpc>
                <a:spcPct val="90000"/>
              </a:lnSpc>
              <a:spcBef>
                <a:spcPts val="0"/>
              </a:spcBef>
              <a:buSzPts val="1300"/>
              <a:buFont typeface="Calibri"/>
              <a:buChar char="•"/>
            </a:pPr>
            <a:r>
              <a:rPr lang="en-US" sz="1800" dirty="0"/>
              <a:t>Per Anderson - Ductus</a:t>
            </a:r>
          </a:p>
          <a:p>
            <a:pPr marL="304792" indent="-304792">
              <a:lnSpc>
                <a:spcPct val="90000"/>
              </a:lnSpc>
              <a:spcBef>
                <a:spcPts val="0"/>
              </a:spcBef>
              <a:buSzPts val="1300"/>
              <a:buFont typeface="Calibri"/>
              <a:buChar char="•"/>
            </a:pPr>
            <a:r>
              <a:rPr lang="en-US" sz="1800" dirty="0"/>
              <a:t>Deepya Mandadi – Ciena</a:t>
            </a:r>
          </a:p>
          <a:p>
            <a:pPr marL="304792" indent="-304792">
              <a:lnSpc>
                <a:spcPct val="90000"/>
              </a:lnSpc>
              <a:spcBef>
                <a:spcPts val="0"/>
              </a:spcBef>
              <a:buSzPts val="1300"/>
              <a:buFont typeface="Calibri"/>
              <a:buChar char="•"/>
            </a:pPr>
            <a:r>
              <a:rPr lang="en-US" sz="1800" dirty="0"/>
              <a:t>Sivakumar Sundaravadivel – Ciena</a:t>
            </a:r>
          </a:p>
          <a:p>
            <a:pPr marL="304792" indent="-304792">
              <a:lnSpc>
                <a:spcPct val="90000"/>
              </a:lnSpc>
              <a:spcBef>
                <a:spcPts val="0"/>
              </a:spcBef>
              <a:buSzPts val="1300"/>
              <a:buFont typeface="Calibri"/>
              <a:buChar char="•"/>
            </a:pPr>
            <a:r>
              <a:rPr lang="de-CH" sz="1800" dirty="0"/>
              <a:t>IJsbrand Wijnands – </a:t>
            </a:r>
            <a:r>
              <a:rPr lang="de-CH" sz="1800" dirty="0" err="1"/>
              <a:t>Arrcus</a:t>
            </a:r>
            <a:endParaRPr lang="de-CH" sz="1800" dirty="0"/>
          </a:p>
          <a:p>
            <a:pPr marL="304792" indent="-304792">
              <a:lnSpc>
                <a:spcPct val="90000"/>
              </a:lnSpc>
              <a:spcBef>
                <a:spcPts val="0"/>
              </a:spcBef>
              <a:buSzPts val="1300"/>
              <a:buFont typeface="Calibri"/>
              <a:buChar char="•"/>
            </a:pPr>
            <a:r>
              <a:rPr lang="de-CH" sz="1800" dirty="0"/>
              <a:t>Irfan Mohammad – </a:t>
            </a:r>
            <a:r>
              <a:rPr lang="de-CH" sz="1800" dirty="0" err="1"/>
              <a:t>Arrcus</a:t>
            </a:r>
            <a:endParaRPr lang="de-CH" sz="1800" dirty="0"/>
          </a:p>
          <a:p>
            <a:pPr marL="304792" indent="-304792">
              <a:lnSpc>
                <a:spcPct val="90000"/>
              </a:lnSpc>
              <a:spcBef>
                <a:spcPts val="0"/>
              </a:spcBef>
              <a:buSzPts val="1300"/>
              <a:buFont typeface="Calibri"/>
              <a:buChar char="•"/>
            </a:pPr>
            <a:r>
              <a:rPr lang="en-US" sz="1800" dirty="0"/>
              <a:t>Benoit Claise - Everything OPS</a:t>
            </a:r>
          </a:p>
          <a:p>
            <a:pPr marL="304792" indent="-304792">
              <a:lnSpc>
                <a:spcPct val="90000"/>
              </a:lnSpc>
              <a:spcBef>
                <a:spcPts val="0"/>
              </a:spcBef>
              <a:buSzPts val="1300"/>
              <a:buFont typeface="Calibri"/>
              <a:buChar char="•"/>
            </a:pPr>
            <a:r>
              <a:rPr lang="en-US" sz="1800" dirty="0"/>
              <a:t>Paolo Lucente – </a:t>
            </a:r>
            <a:r>
              <a:rPr lang="en-US" sz="1800" dirty="0" err="1"/>
              <a:t>Pmacct</a:t>
            </a:r>
            <a:endParaRPr lang="en-US" sz="1800" dirty="0"/>
          </a:p>
          <a:p>
            <a:pPr marL="304792" indent="-304792">
              <a:lnSpc>
                <a:spcPct val="90000"/>
              </a:lnSpc>
              <a:spcBef>
                <a:spcPts val="0"/>
              </a:spcBef>
              <a:buSzPts val="1300"/>
              <a:buFont typeface="Calibri"/>
              <a:buChar char="•"/>
            </a:pPr>
            <a:r>
              <a:rPr lang="de-CH" sz="1800" dirty="0"/>
              <a:t>Vivekananda Boudia – INSA Lyon</a:t>
            </a:r>
          </a:p>
          <a:p>
            <a:pPr marL="304792" indent="-304792">
              <a:lnSpc>
                <a:spcPct val="90000"/>
              </a:lnSpc>
              <a:spcBef>
                <a:spcPts val="0"/>
              </a:spcBef>
              <a:buSzPts val="1300"/>
              <a:buFont typeface="Calibri"/>
              <a:buChar char="•"/>
            </a:pPr>
            <a:r>
              <a:rPr lang="de-CH" sz="1800" dirty="0"/>
              <a:t>Alex Huang Feng – INSA Lyon/T-Systems</a:t>
            </a:r>
          </a:p>
          <a:p>
            <a:pPr marL="304792" indent="-304792">
              <a:lnSpc>
                <a:spcPct val="90000"/>
              </a:lnSpc>
              <a:spcBef>
                <a:spcPts val="0"/>
              </a:spcBef>
              <a:buSzPts val="1300"/>
              <a:buFont typeface="Calibri"/>
              <a:buChar char="•"/>
            </a:pPr>
            <a:r>
              <a:rPr lang="en-US" sz="1800" dirty="0"/>
              <a:t>Maxence Younsi – INSA Lyon/Swisscom</a:t>
            </a:r>
          </a:p>
          <a:p>
            <a:pPr marL="304792" indent="-304792">
              <a:lnSpc>
                <a:spcPct val="90000"/>
              </a:lnSpc>
              <a:spcBef>
                <a:spcPts val="0"/>
              </a:spcBef>
              <a:buSzPts val="1300"/>
              <a:buFont typeface="Calibri"/>
              <a:buChar char="•"/>
            </a:pPr>
            <a:r>
              <a:rPr lang="de-CH" sz="1800" dirty="0"/>
              <a:t>Ashvanth Kumar Selvakumaran - Telus</a:t>
            </a:r>
            <a:endParaRPr lang="en-US" sz="1800" dirty="0"/>
          </a:p>
          <a:p>
            <a:pPr marL="304792" indent="-304792">
              <a:lnSpc>
                <a:spcPct val="90000"/>
              </a:lnSpc>
              <a:spcBef>
                <a:spcPts val="0"/>
              </a:spcBef>
              <a:buSzPts val="1300"/>
              <a:buFont typeface="Calibri"/>
              <a:buChar char="•"/>
            </a:pPr>
            <a:r>
              <a:rPr lang="en-US" sz="1800" dirty="0"/>
              <a:t>Leonardo Rodoni - Swisscom</a:t>
            </a:r>
          </a:p>
          <a:p>
            <a:pPr marL="304792" indent="-304792">
              <a:lnSpc>
                <a:spcPct val="90000"/>
              </a:lnSpc>
              <a:spcBef>
                <a:spcPts val="0"/>
              </a:spcBef>
              <a:buSzPts val="1300"/>
              <a:buFont typeface="Calibri"/>
              <a:buChar char="•"/>
            </a:pPr>
            <a:r>
              <a:rPr lang="en-US" sz="1800" dirty="0"/>
              <a:t>Ahmed Elhassany – Swisscom</a:t>
            </a:r>
          </a:p>
          <a:p>
            <a:pPr marL="304792" indent="-304792">
              <a:lnSpc>
                <a:spcPct val="90000"/>
              </a:lnSpc>
              <a:spcBef>
                <a:spcPts val="0"/>
              </a:spcBef>
              <a:buSzPts val="1300"/>
              <a:buFont typeface="Calibri"/>
              <a:buChar char="•"/>
            </a:pPr>
            <a:r>
              <a:rPr lang="en-US" sz="1800" dirty="0"/>
              <a:t>Thomas Graf – Swisscom</a:t>
            </a:r>
          </a:p>
        </p:txBody>
      </p:sp>
      <p:sp>
        <p:nvSpPr>
          <p:cNvPr id="2" name="Rectangle 1">
            <a:extLst>
              <a:ext uri="{FF2B5EF4-FFF2-40B4-BE49-F238E27FC236}">
                <a16:creationId xmlns:a16="http://schemas.microsoft.com/office/drawing/2014/main" id="{93B85942-4EFE-2A7C-6BC7-685C09AA3452}"/>
              </a:ext>
            </a:extLst>
          </p:cNvPr>
          <p:cNvSpPr/>
          <p:nvPr/>
        </p:nvSpPr>
        <p:spPr>
          <a:xfrm>
            <a:off x="11450426" y="0"/>
            <a:ext cx="741575" cy="6858000"/>
          </a:xfrm>
          <a:prstGeom prst="rect">
            <a:avLst/>
          </a:prstGeom>
          <a:solidFill>
            <a:schemeClr val="bg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3" name="Google Shape;1523;p45">
            <a:extLst>
              <a:ext uri="{FF2B5EF4-FFF2-40B4-BE49-F238E27FC236}">
                <a16:creationId xmlns:a16="http://schemas.microsoft.com/office/drawing/2014/main" id="{57606C87-9C1E-6457-318F-CEFD173CD57E}"/>
              </a:ext>
            </a:extLst>
          </p:cNvPr>
          <p:cNvSpPr txBox="1">
            <a:spLocks noGrp="1"/>
          </p:cNvSpPr>
          <p:nvPr>
            <p:ph type="sldNum" idx="12"/>
          </p:nvPr>
        </p:nvSpPr>
        <p:spPr>
          <a:xfrm>
            <a:off x="11582401" y="6352982"/>
            <a:ext cx="339545" cy="369277"/>
          </a:xfrm>
          <a:prstGeom prst="rect">
            <a:avLst/>
          </a:prstGeom>
          <a:noFill/>
          <a:ln>
            <a:noFill/>
          </a:ln>
        </p:spPr>
        <p:txBody>
          <a:bodyPr spcFirstLastPara="1" vert="horz" wrap="square" lIns="60933" tIns="60933" rIns="60933" bIns="60933" rtlCol="0" anchor="ctr" anchorCtr="0">
            <a:spAutoFit/>
          </a:bodyPr>
          <a:lstStyle/>
          <a:p>
            <a:fld id="{00000000-1234-1234-1234-123412341234}" type="slidenum">
              <a:rPr lang="en-US" smtClean="0"/>
              <a:pPr/>
              <a:t>20</a:t>
            </a:fld>
            <a:endParaRPr lang="en-US" dirty="0"/>
          </a:p>
        </p:txBody>
      </p:sp>
      <p:sp>
        <p:nvSpPr>
          <p:cNvPr id="4" name="TextBox 3">
            <a:extLst>
              <a:ext uri="{FF2B5EF4-FFF2-40B4-BE49-F238E27FC236}">
                <a16:creationId xmlns:a16="http://schemas.microsoft.com/office/drawing/2014/main" id="{8D2130D3-D5E4-140D-AC74-7554E8B5290B}"/>
              </a:ext>
            </a:extLst>
          </p:cNvPr>
          <p:cNvSpPr txBox="1"/>
          <p:nvPr/>
        </p:nvSpPr>
        <p:spPr>
          <a:xfrm rot="5400000">
            <a:off x="8751239" y="2855495"/>
            <a:ext cx="6096000" cy="666786"/>
          </a:xfrm>
          <a:prstGeom prst="rect">
            <a:avLst/>
          </a:prstGeom>
          <a:noFill/>
        </p:spPr>
        <p:txBody>
          <a:bodyPr wrap="square">
            <a:spAutoFit/>
          </a:bodyPr>
          <a:lstStyle/>
          <a:p>
            <a:r>
              <a:rPr lang="en-US" sz="3733" dirty="0">
                <a:solidFill>
                  <a:schemeClr val="bg1"/>
                </a:solidFill>
                <a:latin typeface="Calibri"/>
                <a:ea typeface="Calibri"/>
                <a:cs typeface="Calibri"/>
                <a:sym typeface="Calibri"/>
              </a:rPr>
              <a:t>NMOP &amp; NETCONF WG</a:t>
            </a:r>
            <a:endParaRPr lang="en-US" sz="3733" dirty="0">
              <a:solidFill>
                <a:schemeClr val="bg1"/>
              </a:solidFill>
            </a:endParaRPr>
          </a:p>
        </p:txBody>
      </p:sp>
      <p:sp>
        <p:nvSpPr>
          <p:cNvPr id="5" name="Google Shape;1652;p59">
            <a:extLst>
              <a:ext uri="{FF2B5EF4-FFF2-40B4-BE49-F238E27FC236}">
                <a16:creationId xmlns:a16="http://schemas.microsoft.com/office/drawing/2014/main" id="{7AC0F6D0-09C7-5DA3-2396-EC6BDBBAFEDC}"/>
              </a:ext>
            </a:extLst>
          </p:cNvPr>
          <p:cNvSpPr txBox="1">
            <a:spLocks/>
          </p:cNvSpPr>
          <p:nvPr/>
        </p:nvSpPr>
        <p:spPr>
          <a:xfrm>
            <a:off x="5247760" y="4707082"/>
            <a:ext cx="5789512" cy="1830538"/>
          </a:xfrm>
          <a:prstGeom prst="rect">
            <a:avLst/>
          </a:prstGeom>
          <a:noFill/>
          <a:ln>
            <a:noFill/>
          </a:ln>
        </p:spPr>
        <p:txBody>
          <a:bodyPr spcFirstLastPara="1" wrap="square" lIns="60933" tIns="60933" rIns="60933" bIns="60933"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700"/>
              </a:spcBef>
              <a:spcAft>
                <a:spcPts val="0"/>
              </a:spcAft>
              <a:buClr>
                <a:srgbClr val="000000"/>
              </a:buClr>
              <a:buSzPts val="1800"/>
              <a:buFont typeface="Arial"/>
              <a:buChar char="•"/>
              <a:defRPr sz="3200" b="0" i="0" u="none" strike="noStrike" cap="none">
                <a:solidFill>
                  <a:srgbClr val="000000"/>
                </a:solidFill>
                <a:latin typeface="Calibri"/>
                <a:ea typeface="Calibri"/>
                <a:cs typeface="Calibri"/>
                <a:sym typeface="Calibri"/>
              </a:defRPr>
            </a:lvl1pPr>
            <a:lvl2pPr marL="914400" marR="0" lvl="1" indent="-342900" algn="l" rtl="0">
              <a:lnSpc>
                <a:spcPct val="100000"/>
              </a:lnSpc>
              <a:spcBef>
                <a:spcPts val="700"/>
              </a:spcBef>
              <a:spcAft>
                <a:spcPts val="0"/>
              </a:spcAft>
              <a:buClr>
                <a:srgbClr val="000000"/>
              </a:buClr>
              <a:buSzPts val="1800"/>
              <a:buFont typeface="Arial"/>
              <a:buChar char="–"/>
              <a:defRPr sz="3200" b="0" i="0" u="none" strike="noStrike" cap="none">
                <a:solidFill>
                  <a:srgbClr val="000000"/>
                </a:solidFill>
                <a:latin typeface="Calibri"/>
                <a:ea typeface="Calibri"/>
                <a:cs typeface="Calibri"/>
                <a:sym typeface="Calibri"/>
              </a:defRPr>
            </a:lvl2pPr>
            <a:lvl3pPr marL="1371600" marR="0" lvl="2" indent="-342900" algn="l" rtl="0">
              <a:lnSpc>
                <a:spcPct val="100000"/>
              </a:lnSpc>
              <a:spcBef>
                <a:spcPts val="700"/>
              </a:spcBef>
              <a:spcAft>
                <a:spcPts val="0"/>
              </a:spcAft>
              <a:buClr>
                <a:srgbClr val="000000"/>
              </a:buClr>
              <a:buSzPts val="1800"/>
              <a:buFont typeface="Arial"/>
              <a:buChar char="•"/>
              <a:defRPr sz="3200" b="0" i="0" u="none" strike="noStrike" cap="none">
                <a:solidFill>
                  <a:srgbClr val="000000"/>
                </a:solidFill>
                <a:latin typeface="Calibri"/>
                <a:ea typeface="Calibri"/>
                <a:cs typeface="Calibri"/>
                <a:sym typeface="Calibri"/>
              </a:defRPr>
            </a:lvl3pPr>
            <a:lvl4pPr marL="1828800" marR="0" lvl="3" indent="-342900" algn="l" rtl="0">
              <a:lnSpc>
                <a:spcPct val="100000"/>
              </a:lnSpc>
              <a:spcBef>
                <a:spcPts val="700"/>
              </a:spcBef>
              <a:spcAft>
                <a:spcPts val="0"/>
              </a:spcAft>
              <a:buClr>
                <a:srgbClr val="000000"/>
              </a:buClr>
              <a:buSzPts val="1800"/>
              <a:buFont typeface="Arial"/>
              <a:buChar char="–"/>
              <a:defRPr sz="3200" b="0" i="0" u="none" strike="noStrike" cap="none">
                <a:solidFill>
                  <a:srgbClr val="000000"/>
                </a:solidFill>
                <a:latin typeface="Calibri"/>
                <a:ea typeface="Calibri"/>
                <a:cs typeface="Calibri"/>
                <a:sym typeface="Calibri"/>
              </a:defRPr>
            </a:lvl4pPr>
            <a:lvl5pPr marL="2286000" marR="0" lvl="4" indent="-342900" algn="l" rtl="0">
              <a:lnSpc>
                <a:spcPct val="100000"/>
              </a:lnSpc>
              <a:spcBef>
                <a:spcPts val="700"/>
              </a:spcBef>
              <a:spcAft>
                <a:spcPts val="0"/>
              </a:spcAft>
              <a:buClr>
                <a:srgbClr val="000000"/>
              </a:buClr>
              <a:buSzPts val="1800"/>
              <a:buFont typeface="Arial"/>
              <a:buChar char="»"/>
              <a:defRPr sz="3200" b="0" i="0" u="none" strike="noStrike" cap="none">
                <a:solidFill>
                  <a:srgbClr val="000000"/>
                </a:solidFill>
                <a:latin typeface="Calibri"/>
                <a:ea typeface="Calibri"/>
                <a:cs typeface="Calibri"/>
                <a:sym typeface="Calibri"/>
              </a:defRPr>
            </a:lvl5pPr>
            <a:lvl6pPr marL="2743200" marR="0" lvl="5" indent="-342900" algn="l" rtl="0">
              <a:lnSpc>
                <a:spcPct val="100000"/>
              </a:lnSpc>
              <a:spcBef>
                <a:spcPts val="700"/>
              </a:spcBef>
              <a:spcAft>
                <a:spcPts val="0"/>
              </a:spcAft>
              <a:buClr>
                <a:srgbClr val="000000"/>
              </a:buClr>
              <a:buSzPts val="1800"/>
              <a:buFont typeface="Arial"/>
              <a:buChar char="•"/>
              <a:defRPr sz="3200" b="0" i="0" u="none" strike="noStrike" cap="none">
                <a:solidFill>
                  <a:srgbClr val="000000"/>
                </a:solidFill>
                <a:latin typeface="Calibri"/>
                <a:ea typeface="Calibri"/>
                <a:cs typeface="Calibri"/>
                <a:sym typeface="Calibri"/>
              </a:defRPr>
            </a:lvl6pPr>
            <a:lvl7pPr marL="3200400" marR="0" lvl="6" indent="-342900" algn="l" rtl="0">
              <a:lnSpc>
                <a:spcPct val="100000"/>
              </a:lnSpc>
              <a:spcBef>
                <a:spcPts val="700"/>
              </a:spcBef>
              <a:spcAft>
                <a:spcPts val="0"/>
              </a:spcAft>
              <a:buClr>
                <a:srgbClr val="000000"/>
              </a:buClr>
              <a:buSzPts val="1800"/>
              <a:buFont typeface="Arial"/>
              <a:buChar char="•"/>
              <a:defRPr sz="3200" b="0" i="0" u="none" strike="noStrike" cap="none">
                <a:solidFill>
                  <a:srgbClr val="000000"/>
                </a:solidFill>
                <a:latin typeface="Calibri"/>
                <a:ea typeface="Calibri"/>
                <a:cs typeface="Calibri"/>
                <a:sym typeface="Calibri"/>
              </a:defRPr>
            </a:lvl7pPr>
            <a:lvl8pPr marL="3657600" marR="0" lvl="7" indent="-342900" algn="l" rtl="0">
              <a:lnSpc>
                <a:spcPct val="100000"/>
              </a:lnSpc>
              <a:spcBef>
                <a:spcPts val="700"/>
              </a:spcBef>
              <a:spcAft>
                <a:spcPts val="0"/>
              </a:spcAft>
              <a:buClr>
                <a:srgbClr val="000000"/>
              </a:buClr>
              <a:buSzPts val="1800"/>
              <a:buFont typeface="Arial"/>
              <a:buChar char="•"/>
              <a:defRPr sz="3200" b="0" i="0" u="none" strike="noStrike" cap="none">
                <a:solidFill>
                  <a:srgbClr val="000000"/>
                </a:solidFill>
                <a:latin typeface="Calibri"/>
                <a:ea typeface="Calibri"/>
                <a:cs typeface="Calibri"/>
                <a:sym typeface="Calibri"/>
              </a:defRPr>
            </a:lvl8pPr>
            <a:lvl9pPr marL="4114800" marR="0" lvl="8" indent="-342900" algn="l" rtl="0">
              <a:lnSpc>
                <a:spcPct val="100000"/>
              </a:lnSpc>
              <a:spcBef>
                <a:spcPts val="700"/>
              </a:spcBef>
              <a:spcAft>
                <a:spcPts val="0"/>
              </a:spcAft>
              <a:buClr>
                <a:srgbClr val="000000"/>
              </a:buClr>
              <a:buSzPts val="1800"/>
              <a:buFont typeface="Arial"/>
              <a:buChar char="•"/>
              <a:defRPr sz="3200" b="0" i="0" u="none" strike="noStrike" cap="none">
                <a:solidFill>
                  <a:srgbClr val="000000"/>
                </a:solidFill>
                <a:latin typeface="Calibri"/>
                <a:ea typeface="Calibri"/>
                <a:cs typeface="Calibri"/>
                <a:sym typeface="Calibri"/>
              </a:defRPr>
            </a:lvl9pPr>
          </a:lstStyle>
          <a:p>
            <a:pPr marL="0" indent="0">
              <a:lnSpc>
                <a:spcPct val="90000"/>
              </a:lnSpc>
              <a:spcBef>
                <a:spcPts val="0"/>
              </a:spcBef>
              <a:buSzPts val="1300"/>
              <a:buNone/>
            </a:pPr>
            <a:r>
              <a:rPr lang="en-US" sz="2667" b="1" dirty="0">
                <a:solidFill>
                  <a:schemeClr val="tx1"/>
                </a:solidFill>
              </a:rPr>
              <a:t>Want to know more then join us at…</a:t>
            </a:r>
            <a:br>
              <a:rPr lang="en-US" sz="2667" b="1" dirty="0">
                <a:solidFill>
                  <a:schemeClr val="tx1"/>
                </a:solidFill>
              </a:rPr>
            </a:br>
            <a:r>
              <a:rPr lang="en-US" sz="1733" dirty="0"/>
              <a:t> </a:t>
            </a:r>
          </a:p>
          <a:p>
            <a:pPr marL="380990" indent="-380990">
              <a:lnSpc>
                <a:spcPct val="90000"/>
              </a:lnSpc>
              <a:spcBef>
                <a:spcPts val="0"/>
              </a:spcBef>
              <a:buSzPts val="1300"/>
            </a:pPr>
            <a:r>
              <a:rPr lang="en-US" sz="1733" dirty="0"/>
              <a:t>NMOP on </a:t>
            </a:r>
            <a:r>
              <a:rPr lang="en-US" sz="1733" b="1" dirty="0"/>
              <a:t>Monday 09:00 – 11:00</a:t>
            </a:r>
            <a:r>
              <a:rPr lang="en-US" sz="1733" dirty="0"/>
              <a:t> at the Grand Klimt Hall 2 for Message Broker, Message Key, BMP Telemetry Message document updates and hackathon related details.</a:t>
            </a:r>
          </a:p>
          <a:p>
            <a:pPr marL="380990" indent="-380990">
              <a:lnSpc>
                <a:spcPct val="90000"/>
              </a:lnSpc>
              <a:spcBef>
                <a:spcPts val="0"/>
              </a:spcBef>
              <a:buSzPts val="1300"/>
            </a:pPr>
            <a:r>
              <a:rPr lang="en-US" sz="1733" dirty="0"/>
              <a:t>NETMOD on </a:t>
            </a:r>
            <a:r>
              <a:rPr lang="en-US" sz="1733" b="1" dirty="0"/>
              <a:t>Thursday 09:00 – 11:00</a:t>
            </a:r>
            <a:r>
              <a:rPr lang="en-US" sz="1733" dirty="0"/>
              <a:t> at the Grand Klimt Hall 1 for YANG Library feature comparison related details.</a:t>
            </a:r>
          </a:p>
        </p:txBody>
      </p:sp>
      <p:pic>
        <p:nvPicPr>
          <p:cNvPr id="6" name="4CD1093B-8C30-41C2-B696-A1EDA3707D17" descr="IMG_6121.JPG">
            <a:extLst>
              <a:ext uri="{FF2B5EF4-FFF2-40B4-BE49-F238E27FC236}">
                <a16:creationId xmlns:a16="http://schemas.microsoft.com/office/drawing/2014/main" id="{30939E68-6BFE-E6C4-8E19-753DAFCA620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335" t="25786" r="9350" b="23175"/>
          <a:stretch>
            <a:fillRect/>
          </a:stretch>
        </p:blipFill>
        <p:spPr bwMode="auto">
          <a:xfrm>
            <a:off x="4666150" y="1417639"/>
            <a:ext cx="6249464" cy="2871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2e1fccfb-80ca-4fe1-a574-1516544edb53}" enabled="1" method="Standard" siteId="{364e5b87-c1c7-420d-9bee-c35d19b557a1}" removed="0"/>
</clbl:labelList>
</file>

<file path=docProps/app.xml><?xml version="1.0" encoding="utf-8"?>
<Properties xmlns="http://schemas.openxmlformats.org/officeDocument/2006/extended-properties" xmlns:vt="http://schemas.openxmlformats.org/officeDocument/2006/docPropsVTypes">
  <Template/>
  <TotalTime>0</TotalTime>
  <Words>2183</Words>
  <Application>Microsoft Office PowerPoint</Application>
  <PresentationFormat>Widescreen</PresentationFormat>
  <Paragraphs>399</Paragraphs>
  <Slides>20</Slides>
  <Notes>13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Arial</vt:lpstr>
      <vt:lpstr>Calibri</vt:lpstr>
      <vt:lpstr>Calibri Body</vt:lpstr>
      <vt:lpstr>Calibri Light</vt:lpstr>
      <vt:lpstr>Courier New</vt:lpstr>
      <vt:lpstr>Noto Sans Symbols</vt:lpstr>
      <vt:lpstr>Wingdings</vt:lpstr>
      <vt:lpstr>Office Theme</vt:lpstr>
      <vt:lpstr>PowerPoint Presentation</vt:lpstr>
      <vt:lpstr>An Architecture for YANG-Push to Message Broker Integration Operational and Considerations Sections in -12</vt:lpstr>
      <vt:lpstr>An Architecture for YANG-Push to Message Broker Integration Changes in -13 and Next Steps</vt:lpstr>
      <vt:lpstr>An Architecture for YANG-Push to Message Broker Integration Normative References, State and Reviewers</vt:lpstr>
      <vt:lpstr>An Architecture for YANG-Push to Message Broker Integration Informative References, State and Reviewers</vt:lpstr>
      <vt:lpstr>Validate YANG-Push to Message Broker End-To-End Data Processing Chain IETF 126 Hackathon, July 18/19th 2026</vt:lpstr>
      <vt:lpstr>Hackathon Plan, Software and Website</vt:lpstr>
      <vt:lpstr>Hackathon – Repositories</vt:lpstr>
      <vt:lpstr>An Architecture for YANG-Push  to Message Broker Integration  draft-ietf-nmop-yang-message-broker-integration draft-ietf-nmop-message-broker-telemetry-message draft-ietf-nmop-yang-message-broker-message-key draft-netana-nmop-message-broker-bmp-telemetry-message </vt:lpstr>
      <vt:lpstr>YANG-Push Publisher - Subscription</vt:lpstr>
      <vt:lpstr>YANG-Push Publisher - Notifications</vt:lpstr>
      <vt:lpstr>YANG-Push UDP-Notif – DTLS and CBOR</vt:lpstr>
      <vt:lpstr>YANG-Push Capabilities &amp; YANG Library - RPC</vt:lpstr>
      <vt:lpstr>PowerPoint Presentation</vt:lpstr>
      <vt:lpstr>PowerPoint Presentation</vt:lpstr>
      <vt:lpstr>PowerPoint Presentation</vt:lpstr>
      <vt:lpstr>YANG Library Feature Comparison </vt:lpstr>
      <vt:lpstr>Next Steps from IETF 125 Hackathon…</vt:lpstr>
      <vt:lpstr>Next Steps for IETF 127 Hackathon…</vt:lpstr>
      <vt:lpstr>Thanks to…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Titel der  Präsentation</dc:title>
  <dc:creator>Graf Thomas, INI-ONE-WSN-DCF</dc:creator>
  <cp:lastModifiedBy>Graf Thomas, SCS-INI-NET-VNC-E2E</cp:lastModifiedBy>
  <cp:revision>265</cp:revision>
  <dcterms:created xsi:type="dcterms:W3CDTF">2019-11-29T14:22:02Z</dcterms:created>
  <dcterms:modified xsi:type="dcterms:W3CDTF">2026-11-01T14:13:29Z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e1fccfb-80ca-4fe1-a574-1516544edb53_Enabled">
    <vt:lpwstr>true</vt:lpwstr>
  </property>
  <property fmtid="{D5CDD505-2E9C-101B-9397-08002B2CF9AE}" pid="3" name="MSIP_Label_2e1fccfb-80ca-4fe1-a574-1516544edb53_SetDate">
    <vt:lpwstr>2023-03-20T10:46:29Z</vt:lpwstr>
  </property>
  <property fmtid="{D5CDD505-2E9C-101B-9397-08002B2CF9AE}" pid="4" name="MSIP_Label_2e1fccfb-80ca-4fe1-a574-1516544edb53_Method">
    <vt:lpwstr>Standard</vt:lpwstr>
  </property>
  <property fmtid="{D5CDD505-2E9C-101B-9397-08002B2CF9AE}" pid="5" name="MSIP_Label_2e1fccfb-80ca-4fe1-a574-1516544edb53_Name">
    <vt:lpwstr>C2 Internal</vt:lpwstr>
  </property>
  <property fmtid="{D5CDD505-2E9C-101B-9397-08002B2CF9AE}" pid="6" name="MSIP_Label_2e1fccfb-80ca-4fe1-a574-1516544edb53_SiteId">
    <vt:lpwstr>364e5b87-c1c7-420d-9bee-c35d19b557a1</vt:lpwstr>
  </property>
  <property fmtid="{D5CDD505-2E9C-101B-9397-08002B2CF9AE}" pid="7" name="MSIP_Label_2e1fccfb-80ca-4fe1-a574-1516544edb53_ActionId">
    <vt:lpwstr>f20e7325-fc30-45a7-a02f-991797c0d813</vt:lpwstr>
  </property>
  <property fmtid="{D5CDD505-2E9C-101B-9397-08002B2CF9AE}" pid="8" name="MSIP_Label_2e1fccfb-80ca-4fe1-a574-1516544edb53_ContentBits">
    <vt:lpwstr>0</vt:lpwstr>
  </property>
  <property fmtid="{D5CDD505-2E9C-101B-9397-08002B2CF9AE}" pid="9" name="Sensitivity">
    <vt:lpwstr>C2 General</vt:lpwstr>
  </property>
</Properties>
</file>