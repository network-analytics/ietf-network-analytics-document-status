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handoutMasterIdLst>
    <p:handoutMasterId r:id="rId15"/>
  </p:handoutMasterIdLst>
  <p:sldIdLst>
    <p:sldId id="1041" r:id="rId2"/>
    <p:sldId id="2145706287" r:id="rId3"/>
    <p:sldId id="2145706314" r:id="rId4"/>
    <p:sldId id="2145706297" r:id="rId5"/>
    <p:sldId id="2145706306" r:id="rId6"/>
    <p:sldId id="2145706316" r:id="rId7"/>
    <p:sldId id="2145706305" r:id="rId8"/>
    <p:sldId id="2145706307" r:id="rId9"/>
    <p:sldId id="2145706317" r:id="rId10"/>
    <p:sldId id="2145706298" r:id="rId11"/>
    <p:sldId id="2145706308" r:id="rId12"/>
    <p:sldId id="214570631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ting Du" initials="WD" lastIdx="1" clrIdx="0">
    <p:extLst>
      <p:ext uri="{19B8F6BF-5375-455C-9EA6-DF929625EA0E}">
        <p15:presenceInfo xmlns:p15="http://schemas.microsoft.com/office/powerpoint/2012/main" userId="6645cbcc430c37f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D322F0-B64B-49A1-B7C6-4FDEC2911437}" v="39" dt="2026-07-11T08:34:52.8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53"/>
    <p:restoredTop sz="75082"/>
  </p:normalViewPr>
  <p:slideViewPr>
    <p:cSldViewPr snapToGrid="0" snapToObjects="1">
      <p:cViewPr>
        <p:scale>
          <a:sx n="80" d="100"/>
          <a:sy n="80" d="100"/>
        </p:scale>
        <p:origin x="1843" y="-317"/>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121" d="100"/>
          <a:sy n="121" d="100"/>
        </p:scale>
        <p:origin x="2320"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SCS-INI-NET-VNC-E2E" userId="487bc3e3-9ce7-4cdd-b7b4-8899ea88d289" providerId="ADAL" clId="{ADEEF08A-D719-4B50-A383-4105EDA2C206}"/>
    <pc:docChg chg="undo redo custSel delSld modSld">
      <pc:chgData name="Graf Thomas, SCS-INI-NET-VNC-E2E" userId="487bc3e3-9ce7-4cdd-b7b4-8899ea88d289" providerId="ADAL" clId="{ADEEF08A-D719-4B50-A383-4105EDA2C206}" dt="2026-07-11T08:34:58.302" v="1249" actId="20577"/>
      <pc:docMkLst>
        <pc:docMk/>
      </pc:docMkLst>
      <pc:sldChg chg="modSp mod">
        <pc:chgData name="Graf Thomas, SCS-INI-NET-VNC-E2E" userId="487bc3e3-9ce7-4cdd-b7b4-8899ea88d289" providerId="ADAL" clId="{ADEEF08A-D719-4B50-A383-4105EDA2C206}" dt="2026-07-11T08:33:29.462" v="1235" actId="20577"/>
        <pc:sldMkLst>
          <pc:docMk/>
          <pc:sldMk cId="3578665336" sldId="1041"/>
        </pc:sldMkLst>
        <pc:spChg chg="mod">
          <ac:chgData name="Graf Thomas, SCS-INI-NET-VNC-E2E" userId="487bc3e3-9ce7-4cdd-b7b4-8899ea88d289" providerId="ADAL" clId="{ADEEF08A-D719-4B50-A383-4105EDA2C206}" dt="2026-07-11T07:53:08.295" v="4" actId="20577"/>
          <ac:spMkLst>
            <pc:docMk/>
            <pc:sldMk cId="3578665336" sldId="1041"/>
            <ac:spMk id="5" creationId="{C26208B2-0D10-4C23-B2DE-372A62E98644}"/>
          </ac:spMkLst>
        </pc:spChg>
        <pc:spChg chg="mod">
          <ac:chgData name="Graf Thomas, SCS-INI-NET-VNC-E2E" userId="487bc3e3-9ce7-4cdd-b7b4-8899ea88d289" providerId="ADAL" clId="{ADEEF08A-D719-4B50-A383-4105EDA2C206}" dt="2026-07-11T07:52:03.618" v="1" actId="113"/>
          <ac:spMkLst>
            <pc:docMk/>
            <pc:sldMk cId="3578665336" sldId="1041"/>
            <ac:spMk id="6" creationId="{6CAA0765-1318-4A03-8F91-D3ECC43D8FA7}"/>
          </ac:spMkLst>
        </pc:spChg>
        <pc:spChg chg="mod">
          <ac:chgData name="Graf Thomas, SCS-INI-NET-VNC-E2E" userId="487bc3e3-9ce7-4cdd-b7b4-8899ea88d289" providerId="ADAL" clId="{ADEEF08A-D719-4B50-A383-4105EDA2C206}" dt="2026-07-11T08:33:29.462" v="1235" actId="20577"/>
          <ac:spMkLst>
            <pc:docMk/>
            <pc:sldMk cId="3578665336" sldId="1041"/>
            <ac:spMk id="8" creationId="{9FA697C2-2EA5-AEF9-84DD-75D8C1F5B0E8}"/>
          </ac:spMkLst>
        </pc:spChg>
      </pc:sldChg>
      <pc:sldChg chg="modSp mod">
        <pc:chgData name="Graf Thomas, SCS-INI-NET-VNC-E2E" userId="487bc3e3-9ce7-4cdd-b7b4-8899ea88d289" providerId="ADAL" clId="{ADEEF08A-D719-4B50-A383-4105EDA2C206}" dt="2026-07-11T08:34:54.988" v="1248" actId="20577"/>
        <pc:sldMkLst>
          <pc:docMk/>
          <pc:sldMk cId="3476293507" sldId="2145706306"/>
        </pc:sldMkLst>
        <pc:spChg chg="mod">
          <ac:chgData name="Graf Thomas, SCS-INI-NET-VNC-E2E" userId="487bc3e3-9ce7-4cdd-b7b4-8899ea88d289" providerId="ADAL" clId="{ADEEF08A-D719-4B50-A383-4105EDA2C206}" dt="2026-07-11T08:34:54.988" v="1248" actId="20577"/>
          <ac:spMkLst>
            <pc:docMk/>
            <pc:sldMk cId="3476293507" sldId="2145706306"/>
            <ac:spMk id="2" creationId="{3219CA57-C4F2-8E12-EB3C-B9496482903B}"/>
          </ac:spMkLst>
        </pc:spChg>
        <pc:spChg chg="mod">
          <ac:chgData name="Graf Thomas, SCS-INI-NET-VNC-E2E" userId="487bc3e3-9ce7-4cdd-b7b4-8899ea88d289" providerId="ADAL" clId="{ADEEF08A-D719-4B50-A383-4105EDA2C206}" dt="2026-07-11T08:04:22.456" v="402" actId="20577"/>
          <ac:spMkLst>
            <pc:docMk/>
            <pc:sldMk cId="3476293507" sldId="2145706306"/>
            <ac:spMk id="3" creationId="{AA209B5F-12F6-9A75-A5C8-FB699F15D6EB}"/>
          </ac:spMkLst>
        </pc:spChg>
      </pc:sldChg>
      <pc:sldChg chg="modSp mod">
        <pc:chgData name="Graf Thomas, SCS-INI-NET-VNC-E2E" userId="487bc3e3-9ce7-4cdd-b7b4-8899ea88d289" providerId="ADAL" clId="{ADEEF08A-D719-4B50-A383-4105EDA2C206}" dt="2026-07-11T08:34:41.081" v="1245" actId="20577"/>
        <pc:sldMkLst>
          <pc:docMk/>
          <pc:sldMk cId="3767000517" sldId="2145706307"/>
        </pc:sldMkLst>
        <pc:spChg chg="mod">
          <ac:chgData name="Graf Thomas, SCS-INI-NET-VNC-E2E" userId="487bc3e3-9ce7-4cdd-b7b4-8899ea88d289" providerId="ADAL" clId="{ADEEF08A-D719-4B50-A383-4105EDA2C206}" dt="2026-07-11T08:34:41.081" v="1245" actId="20577"/>
          <ac:spMkLst>
            <pc:docMk/>
            <pc:sldMk cId="3767000517" sldId="2145706307"/>
            <ac:spMk id="2" creationId="{D089D996-32CC-F1DF-7AF4-6649A3C8B347}"/>
          </ac:spMkLst>
        </pc:spChg>
        <pc:spChg chg="mod">
          <ac:chgData name="Graf Thomas, SCS-INI-NET-VNC-E2E" userId="487bc3e3-9ce7-4cdd-b7b4-8899ea88d289" providerId="ADAL" clId="{ADEEF08A-D719-4B50-A383-4105EDA2C206}" dt="2026-07-11T08:30:44.802" v="1215" actId="1076"/>
          <ac:spMkLst>
            <pc:docMk/>
            <pc:sldMk cId="3767000517" sldId="2145706307"/>
            <ac:spMk id="6" creationId="{61FD69DD-927F-F130-C46D-D0FFD67FE037}"/>
          </ac:spMkLst>
        </pc:spChg>
        <pc:spChg chg="mod">
          <ac:chgData name="Graf Thomas, SCS-INI-NET-VNC-E2E" userId="487bc3e3-9ce7-4cdd-b7b4-8899ea88d289" providerId="ADAL" clId="{ADEEF08A-D719-4B50-A383-4105EDA2C206}" dt="2026-07-11T08:30:40.850" v="1214" actId="14100"/>
          <ac:spMkLst>
            <pc:docMk/>
            <pc:sldMk cId="3767000517" sldId="2145706307"/>
            <ac:spMk id="9" creationId="{E66745F8-8734-CD2B-509C-DCDC9D85D36B}"/>
          </ac:spMkLst>
        </pc:spChg>
      </pc:sldChg>
      <pc:sldChg chg="addSp delSp modSp mod">
        <pc:chgData name="Graf Thomas, SCS-INI-NET-VNC-E2E" userId="487bc3e3-9ce7-4cdd-b7b4-8899ea88d289" providerId="ADAL" clId="{ADEEF08A-D719-4B50-A383-4105EDA2C206}" dt="2026-07-11T08:34:58.302" v="1249" actId="20577"/>
        <pc:sldMkLst>
          <pc:docMk/>
          <pc:sldMk cId="1375384195" sldId="2145706308"/>
        </pc:sldMkLst>
        <pc:spChg chg="mod">
          <ac:chgData name="Graf Thomas, SCS-INI-NET-VNC-E2E" userId="487bc3e3-9ce7-4cdd-b7b4-8899ea88d289" providerId="ADAL" clId="{ADEEF08A-D719-4B50-A383-4105EDA2C206}" dt="2026-07-11T08:34:58.302" v="1249" actId="20577"/>
          <ac:spMkLst>
            <pc:docMk/>
            <pc:sldMk cId="1375384195" sldId="2145706308"/>
            <ac:spMk id="2" creationId="{FB1E4305-F060-2A08-29F5-1983A414A45C}"/>
          </ac:spMkLst>
        </pc:spChg>
        <pc:spChg chg="add mod">
          <ac:chgData name="Graf Thomas, SCS-INI-NET-VNC-E2E" userId="487bc3e3-9ce7-4cdd-b7b4-8899ea88d289" providerId="ADAL" clId="{ADEEF08A-D719-4B50-A383-4105EDA2C206}" dt="2026-07-11T08:29:36.517" v="1209" actId="13926"/>
          <ac:spMkLst>
            <pc:docMk/>
            <pc:sldMk cId="1375384195" sldId="2145706308"/>
            <ac:spMk id="4" creationId="{E93C743C-40E4-EE34-0A19-EE62CEC5C173}"/>
          </ac:spMkLst>
        </pc:spChg>
        <pc:spChg chg="del">
          <ac:chgData name="Graf Thomas, SCS-INI-NET-VNC-E2E" userId="487bc3e3-9ce7-4cdd-b7b4-8899ea88d289" providerId="ADAL" clId="{ADEEF08A-D719-4B50-A383-4105EDA2C206}" dt="2026-07-11T08:27:54.046" v="1194" actId="478"/>
          <ac:spMkLst>
            <pc:docMk/>
            <pc:sldMk cId="1375384195" sldId="2145706308"/>
            <ac:spMk id="6" creationId="{2746E83B-FC33-8190-614F-A34B744F7994}"/>
          </ac:spMkLst>
        </pc:spChg>
        <pc:spChg chg="mod">
          <ac:chgData name="Graf Thomas, SCS-INI-NET-VNC-E2E" userId="487bc3e3-9ce7-4cdd-b7b4-8899ea88d289" providerId="ADAL" clId="{ADEEF08A-D719-4B50-A383-4105EDA2C206}" dt="2026-07-11T08:30:53.218" v="1216" actId="20577"/>
          <ac:spMkLst>
            <pc:docMk/>
            <pc:sldMk cId="1375384195" sldId="2145706308"/>
            <ac:spMk id="11" creationId="{17AA7596-3EB8-6B14-C59D-54776921B0FC}"/>
          </ac:spMkLst>
        </pc:spChg>
      </pc:sldChg>
      <pc:sldChg chg="del">
        <pc:chgData name="Graf Thomas, SCS-INI-NET-VNC-E2E" userId="487bc3e3-9ce7-4cdd-b7b4-8899ea88d289" providerId="ADAL" clId="{ADEEF08A-D719-4B50-A383-4105EDA2C206}" dt="2026-07-11T08:04:39.656" v="403" actId="47"/>
        <pc:sldMkLst>
          <pc:docMk/>
          <pc:sldMk cId="665221514" sldId="2145706309"/>
        </pc:sldMkLst>
      </pc:sldChg>
      <pc:sldChg chg="del">
        <pc:chgData name="Graf Thomas, SCS-INI-NET-VNC-E2E" userId="487bc3e3-9ce7-4cdd-b7b4-8899ea88d289" providerId="ADAL" clId="{ADEEF08A-D719-4B50-A383-4105EDA2C206}" dt="2026-07-11T08:17:20.622" v="679" actId="47"/>
        <pc:sldMkLst>
          <pc:docMk/>
          <pc:sldMk cId="245411282" sldId="2145706310"/>
        </pc:sldMkLst>
      </pc:sldChg>
      <pc:sldChg chg="modSp mod">
        <pc:chgData name="Graf Thomas, SCS-INI-NET-VNC-E2E" userId="487bc3e3-9ce7-4cdd-b7b4-8899ea88d289" providerId="ADAL" clId="{ADEEF08A-D719-4B50-A383-4105EDA2C206}" dt="2026-07-11T08:33:01.569" v="1229" actId="6549"/>
        <pc:sldMkLst>
          <pc:docMk/>
          <pc:sldMk cId="3265965671" sldId="2145706312"/>
        </pc:sldMkLst>
        <pc:spChg chg="mod">
          <ac:chgData name="Graf Thomas, SCS-INI-NET-VNC-E2E" userId="487bc3e3-9ce7-4cdd-b7b4-8899ea88d289" providerId="ADAL" clId="{ADEEF08A-D719-4B50-A383-4105EDA2C206}" dt="2026-07-11T08:33:01.569" v="1229" actId="6549"/>
          <ac:spMkLst>
            <pc:docMk/>
            <pc:sldMk cId="3265965671" sldId="2145706312"/>
            <ac:spMk id="5" creationId="{FEB173FE-15D3-C438-10E8-FA80EB751145}"/>
          </ac:spMkLst>
        </pc:spChg>
      </pc:sldChg>
      <pc:sldChg chg="del">
        <pc:chgData name="Graf Thomas, SCS-INI-NET-VNC-E2E" userId="487bc3e3-9ce7-4cdd-b7b4-8899ea88d289" providerId="ADAL" clId="{ADEEF08A-D719-4B50-A383-4105EDA2C206}" dt="2026-07-11T08:04:39.656" v="403" actId="47"/>
        <pc:sldMkLst>
          <pc:docMk/>
          <pc:sldMk cId="1548702660" sldId="2145706313"/>
        </pc:sldMkLst>
      </pc:sldChg>
      <pc:sldChg chg="modSp mod">
        <pc:chgData name="Graf Thomas, SCS-INI-NET-VNC-E2E" userId="487bc3e3-9ce7-4cdd-b7b4-8899ea88d289" providerId="ADAL" clId="{ADEEF08A-D719-4B50-A383-4105EDA2C206}" dt="2026-07-11T07:53:30.026" v="5" actId="20577"/>
        <pc:sldMkLst>
          <pc:docMk/>
          <pc:sldMk cId="34230008" sldId="2145706314"/>
        </pc:sldMkLst>
        <pc:spChg chg="mod">
          <ac:chgData name="Graf Thomas, SCS-INI-NET-VNC-E2E" userId="487bc3e3-9ce7-4cdd-b7b4-8899ea88d289" providerId="ADAL" clId="{ADEEF08A-D719-4B50-A383-4105EDA2C206}" dt="2026-07-11T07:53:30.026" v="5" actId="20577"/>
          <ac:spMkLst>
            <pc:docMk/>
            <pc:sldMk cId="34230008" sldId="2145706314"/>
            <ac:spMk id="2" creationId="{63B1D337-A87D-6A31-8BFF-B7502D2E9D13}"/>
          </ac:spMkLst>
        </pc:spChg>
      </pc:sldChg>
      <pc:sldChg chg="modSp mod">
        <pc:chgData name="Graf Thomas, SCS-INI-NET-VNC-E2E" userId="487bc3e3-9ce7-4cdd-b7b4-8899ea88d289" providerId="ADAL" clId="{ADEEF08A-D719-4B50-A383-4105EDA2C206}" dt="2026-07-11T08:04:43.602" v="404" actId="20577"/>
        <pc:sldMkLst>
          <pc:docMk/>
          <pc:sldMk cId="491232743" sldId="2145706316"/>
        </pc:sldMkLst>
        <pc:spChg chg="mod">
          <ac:chgData name="Graf Thomas, SCS-INI-NET-VNC-E2E" userId="487bc3e3-9ce7-4cdd-b7b4-8899ea88d289" providerId="ADAL" clId="{ADEEF08A-D719-4B50-A383-4105EDA2C206}" dt="2026-07-11T08:04:43.602" v="404" actId="20577"/>
          <ac:spMkLst>
            <pc:docMk/>
            <pc:sldMk cId="491232743" sldId="2145706316"/>
            <ac:spMk id="2" creationId="{32ED7D68-AE35-F253-F991-5FB07AD4D934}"/>
          </ac:spMkLst>
        </pc:spChg>
      </pc:sldChg>
      <pc:sldChg chg="modSp mod">
        <pc:chgData name="Graf Thomas, SCS-INI-NET-VNC-E2E" userId="487bc3e3-9ce7-4cdd-b7b4-8899ea88d289" providerId="ADAL" clId="{ADEEF08A-D719-4B50-A383-4105EDA2C206}" dt="2026-07-11T08:05:10.377" v="406" actId="20577"/>
        <pc:sldMkLst>
          <pc:docMk/>
          <pc:sldMk cId="2225636989" sldId="2145706317"/>
        </pc:sldMkLst>
        <pc:spChg chg="mod">
          <ac:chgData name="Graf Thomas, SCS-INI-NET-VNC-E2E" userId="487bc3e3-9ce7-4cdd-b7b4-8899ea88d289" providerId="ADAL" clId="{ADEEF08A-D719-4B50-A383-4105EDA2C206}" dt="2026-07-11T08:05:10.377" v="406" actId="20577"/>
          <ac:spMkLst>
            <pc:docMk/>
            <pc:sldMk cId="2225636989" sldId="2145706317"/>
            <ac:spMk id="2" creationId="{120B56FE-6C11-BDBC-C87D-B21C6988B31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C66A2B-7AAE-2E17-9A2D-60576A7608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a:extLst>
              <a:ext uri="{FF2B5EF4-FFF2-40B4-BE49-F238E27FC236}">
                <a16:creationId xmlns:a16="http://schemas.microsoft.com/office/drawing/2014/main" id="{5795258A-E119-6F74-6A5C-71806DDE2A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C04DF18-294A-1942-9DCF-44575627E94A}" type="datetimeFigureOut">
              <a:rPr lang="en-CH" smtClean="0"/>
              <a:t>07/11/2026</a:t>
            </a:fld>
            <a:endParaRPr lang="en-CH"/>
          </a:p>
        </p:txBody>
      </p:sp>
      <p:sp>
        <p:nvSpPr>
          <p:cNvPr id="4" name="Footer Placeholder 3">
            <a:extLst>
              <a:ext uri="{FF2B5EF4-FFF2-40B4-BE49-F238E27FC236}">
                <a16:creationId xmlns:a16="http://schemas.microsoft.com/office/drawing/2014/main" id="{903C5252-208C-77D5-3947-763A030589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5" name="Slide Number Placeholder 4">
            <a:extLst>
              <a:ext uri="{FF2B5EF4-FFF2-40B4-BE49-F238E27FC236}">
                <a16:creationId xmlns:a16="http://schemas.microsoft.com/office/drawing/2014/main" id="{45DED27D-694F-F828-9F2C-667E99DB01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5B7031-5F2E-A04D-86E5-4936D048E87B}" type="slidenum">
              <a:rPr lang="en-CH" smtClean="0"/>
              <a:t>‹#›</a:t>
            </a:fld>
            <a:endParaRPr lang="en-CH"/>
          </a:p>
        </p:txBody>
      </p:sp>
    </p:spTree>
    <p:extLst>
      <p:ext uri="{BB962C8B-B14F-4D97-AF65-F5344CB8AC3E}">
        <p14:creationId xmlns:p14="http://schemas.microsoft.com/office/powerpoint/2010/main" val="29066602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3D56C8-71B6-624F-AE43-15F6568A2909}" type="datetimeFigureOut">
              <a:rPr lang="en-CH" smtClean="0"/>
              <a:t>07/11/2026</a:t>
            </a:fld>
            <a:endParaRPr lang="en-CH"/>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DE7E3-6817-D34F-9F2D-16E920BB51A9}" type="slidenum">
              <a:rPr lang="en-CH" smtClean="0"/>
              <a:t>‹#›</a:t>
            </a:fld>
            <a:endParaRPr lang="en-CH"/>
          </a:p>
        </p:txBody>
      </p:sp>
    </p:spTree>
    <p:extLst>
      <p:ext uri="{BB962C8B-B14F-4D97-AF65-F5344CB8AC3E}">
        <p14:creationId xmlns:p14="http://schemas.microsoft.com/office/powerpoint/2010/main" val="3930486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4C0DE7E3-6817-D34F-9F2D-16E920BB51A9}" type="slidenum">
              <a:rPr lang="en-CH" smtClean="0"/>
              <a:t>1</a:t>
            </a:fld>
            <a:endParaRPr lang="en-CH"/>
          </a:p>
        </p:txBody>
      </p:sp>
    </p:spTree>
    <p:extLst>
      <p:ext uri="{BB962C8B-B14F-4D97-AF65-F5344CB8AC3E}">
        <p14:creationId xmlns:p14="http://schemas.microsoft.com/office/powerpoint/2010/main" val="3594752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4C0DE7E3-6817-D34F-9F2D-16E920BB51A9}" type="slidenum">
              <a:rPr lang="en-CH" smtClean="0"/>
              <a:t>4</a:t>
            </a:fld>
            <a:endParaRPr lang="en-CH"/>
          </a:p>
        </p:txBody>
      </p:sp>
    </p:spTree>
    <p:extLst>
      <p:ext uri="{BB962C8B-B14F-4D97-AF65-F5344CB8AC3E}">
        <p14:creationId xmlns:p14="http://schemas.microsoft.com/office/powerpoint/2010/main" val="89408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Out-scoping: </a:t>
            </a:r>
            <a:r>
              <a:rPr lang="en-US" sz="1200" dirty="0"/>
              <a:t>Rüdiger Geib</a:t>
            </a:r>
            <a:endParaRPr lang="en-CH" dirty="0"/>
          </a:p>
        </p:txBody>
      </p:sp>
      <p:sp>
        <p:nvSpPr>
          <p:cNvPr id="4" name="Slide Number Placeholder 3"/>
          <p:cNvSpPr>
            <a:spLocks noGrp="1"/>
          </p:cNvSpPr>
          <p:nvPr>
            <p:ph type="sldNum" sz="quarter" idx="5"/>
          </p:nvPr>
        </p:nvSpPr>
        <p:spPr/>
        <p:txBody>
          <a:bodyPr/>
          <a:lstStyle/>
          <a:p>
            <a:fld id="{4C0DE7E3-6817-D34F-9F2D-16E920BB51A9}" type="slidenum">
              <a:rPr lang="en-CH" smtClean="0"/>
              <a:t>5</a:t>
            </a:fld>
            <a:endParaRPr lang="en-CH"/>
          </a:p>
        </p:txBody>
      </p:sp>
    </p:spTree>
    <p:extLst>
      <p:ext uri="{BB962C8B-B14F-4D97-AF65-F5344CB8AC3E}">
        <p14:creationId xmlns:p14="http://schemas.microsoft.com/office/powerpoint/2010/main" val="4110580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5"/>
          </p:nvPr>
        </p:nvSpPr>
        <p:spPr/>
        <p:txBody>
          <a:bodyPr/>
          <a:lstStyle/>
          <a:p>
            <a:fld id="{2BBC52A0-2F3F-497F-8536-39D60282E9C2}" type="slidenum">
              <a:rPr lang="de-CH" smtClean="0"/>
              <a:t>7</a:t>
            </a:fld>
            <a:endParaRPr lang="de-CH"/>
          </a:p>
        </p:txBody>
      </p:sp>
    </p:spTree>
    <p:extLst>
      <p:ext uri="{BB962C8B-B14F-4D97-AF65-F5344CB8AC3E}">
        <p14:creationId xmlns:p14="http://schemas.microsoft.com/office/powerpoint/2010/main" val="1705007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EA172-0CFE-BA31-FB30-9E1C336B5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0438D-2CDA-51AD-6A85-5BE4EF145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F49488-6AF3-FD2D-65A3-98B7B1847E3B}"/>
              </a:ext>
            </a:extLst>
          </p:cNvPr>
          <p:cNvSpPr>
            <a:spLocks noGrp="1"/>
          </p:cNvSpPr>
          <p:nvPr>
            <p:ph type="body" idx="1"/>
          </p:nvPr>
        </p:nvSpPr>
        <p:spPr/>
        <p:txBody>
          <a:bodyPr/>
          <a:lstStyle/>
          <a:p>
            <a:endParaRPr lang="de-CH" dirty="0"/>
          </a:p>
        </p:txBody>
      </p:sp>
      <p:sp>
        <p:nvSpPr>
          <p:cNvPr id="4" name="Slide Number Placeholder 3">
            <a:extLst>
              <a:ext uri="{FF2B5EF4-FFF2-40B4-BE49-F238E27FC236}">
                <a16:creationId xmlns:a16="http://schemas.microsoft.com/office/drawing/2014/main" id="{B8A45EA2-E8CB-F34E-E281-ABF88AC905EB}"/>
              </a:ext>
            </a:extLst>
          </p:cNvPr>
          <p:cNvSpPr>
            <a:spLocks noGrp="1"/>
          </p:cNvSpPr>
          <p:nvPr>
            <p:ph type="sldNum" sz="quarter" idx="5"/>
          </p:nvPr>
        </p:nvSpPr>
        <p:spPr/>
        <p:txBody>
          <a:bodyPr/>
          <a:lstStyle/>
          <a:p>
            <a:fld id="{2BBC52A0-2F3F-497F-8536-39D60282E9C2}" type="slidenum">
              <a:rPr lang="de-CH" smtClean="0"/>
              <a:t>8</a:t>
            </a:fld>
            <a:endParaRPr lang="de-CH"/>
          </a:p>
        </p:txBody>
      </p:sp>
    </p:spTree>
    <p:extLst>
      <p:ext uri="{BB962C8B-B14F-4D97-AF65-F5344CB8AC3E}">
        <p14:creationId xmlns:p14="http://schemas.microsoft.com/office/powerpoint/2010/main" val="3866752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4C0DE7E3-6817-D34F-9F2D-16E920BB51A9}" type="slidenum">
              <a:rPr lang="en-CH" smtClean="0"/>
              <a:t>12</a:t>
            </a:fld>
            <a:endParaRPr lang="en-CH"/>
          </a:p>
        </p:txBody>
      </p:sp>
    </p:spTree>
    <p:extLst>
      <p:ext uri="{BB962C8B-B14F-4D97-AF65-F5344CB8AC3E}">
        <p14:creationId xmlns:p14="http://schemas.microsoft.com/office/powerpoint/2010/main" val="2412726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E003D89-8BCB-CD45-BFFB-53322C8FC40E}" type="datetime1">
              <a:rPr lang="de-CH" smtClean="0"/>
              <a:t>11.07.2026</a:t>
            </a:fld>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9D91F7-C961-8C44-9299-BF84FF39514E}" type="datetime1">
              <a:rPr lang="de-CH" smtClean="0"/>
              <a:t>11.07.2026</a:t>
            </a:fld>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FEC2240F-8AA3-2746-9A51-9D1A136F1E49}" type="datetime1">
              <a:rPr lang="de-CH" smtClean="0"/>
              <a:t>11.07.2026</a:t>
            </a:fld>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3314D2E-D8E2-384B-82FD-655D508953A3}" type="datetime1">
              <a:rPr lang="de-CH" smtClean="0"/>
              <a:t>11.07.2026</a:t>
            </a:fld>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A34BA8-55CE-D34A-9C2D-BEEE7446B5FC}" type="datetime1">
              <a:rPr lang="de-CH" smtClean="0"/>
              <a:t>11.07.2026</a:t>
            </a:fld>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0431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469DC1D-08EC-344C-AFC6-70566B114C19}" type="datetime1">
              <a:rPr lang="de-CH" smtClean="0"/>
              <a:t>11.07.2026</a:t>
            </a:fld>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0EF599-0014-1B46-9369-317248A83AAA}" type="datetime1">
              <a:rPr lang="de-CH" smtClean="0"/>
              <a:t>11.07.2026</a:t>
            </a:fld>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1C5E05-3C90-7247-87A0-D89349E8E13C}" type="datetime1">
              <a:rPr lang="de-CH" smtClean="0"/>
              <a:t>11.07.2026</a:t>
            </a:fld>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65A632-B168-4E45-8147-A4CCCC7F8728}" type="datetime1">
              <a:rPr lang="de-CH" smtClean="0"/>
              <a:t>11.07.2026</a:t>
            </a:fld>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121205-D078-FD46-AF85-0EF064AD968E}" type="datetime1">
              <a:rPr lang="de-CH" smtClean="0"/>
              <a:t>11.07.2026</a:t>
            </a:fld>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8CCE81-C62E-2040-8EF1-B2DD76AF35C8}" type="datetime1">
              <a:rPr lang="de-CH" smtClean="0"/>
              <a:t>11.07.2026</a:t>
            </a:fld>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black">
          <a:xfrm>
            <a:off x="899592" y="1484784"/>
            <a:ext cx="7884000" cy="4896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Click to edit text. Use the buttons “Increase List Level” and “Decrease List Level” for copytext or bullet levels.</a:t>
            </a:r>
          </a:p>
          <a:p>
            <a:pPr lvl="1"/>
            <a:r>
              <a:rPr lang="en-GB"/>
              <a:t>Level 2</a:t>
            </a:r>
          </a:p>
          <a:p>
            <a:pPr lvl="2"/>
            <a:r>
              <a:rPr lang="en-GB"/>
              <a:t>Level 3</a:t>
            </a:r>
          </a:p>
          <a:p>
            <a:pPr lvl="3"/>
            <a:r>
              <a:rPr lang="en-GB"/>
              <a:t>Level 4</a:t>
            </a:r>
          </a:p>
          <a:p>
            <a:pPr lvl="4"/>
            <a:r>
              <a:rPr lang="en-GB"/>
              <a:t>Level 5</a:t>
            </a:r>
          </a:p>
          <a:p>
            <a:pPr lvl="5"/>
            <a:r>
              <a:rPr lang="en-GB"/>
              <a:t>Level 6</a:t>
            </a:r>
          </a:p>
          <a:p>
            <a:pPr lvl="6"/>
            <a:r>
              <a:rPr lang="en-GB"/>
              <a:t>Level 7</a:t>
            </a:r>
          </a:p>
          <a:p>
            <a:pPr lvl="7"/>
            <a:r>
              <a:rPr lang="en-GB"/>
              <a:t>Level 8</a:t>
            </a:r>
          </a:p>
          <a:p>
            <a:pPr lvl="8"/>
            <a:r>
              <a:rPr lang="en-GB"/>
              <a:t>Level 9</a:t>
            </a:r>
          </a:p>
        </p:txBody>
      </p:sp>
      <p:sp>
        <p:nvSpPr>
          <p:cNvPr id="5" name="Fußzeilenplatzhalter 4"/>
          <p:cNvSpPr>
            <a:spLocks noGrp="1"/>
          </p:cNvSpPr>
          <p:nvPr>
            <p:ph type="ftr" sz="quarter" idx="11"/>
          </p:nvPr>
        </p:nvSpPr>
        <p:spPr bwMode="black">
          <a:xfrm rot="16200000">
            <a:off x="-1747160" y="3428988"/>
            <a:ext cx="4105278" cy="215927"/>
          </a:xfrm>
          <a:prstGeom prst="rect">
            <a:avLst/>
          </a:prstGeom>
        </p:spPr>
        <p:txBody>
          <a:bodyPr/>
          <a:lstStyle/>
          <a:p>
            <a:r>
              <a:rPr lang="en-US"/>
              <a:t>Introduction to Telemetry </a:t>
            </a:r>
            <a:endParaRPr lang="en-GB"/>
          </a:p>
        </p:txBody>
      </p:sp>
      <p:sp>
        <p:nvSpPr>
          <p:cNvPr id="12" name="Titel 11"/>
          <p:cNvSpPr>
            <a:spLocks noGrp="1"/>
          </p:cNvSpPr>
          <p:nvPr>
            <p:ph type="title" hasCustomPrompt="1"/>
          </p:nvPr>
        </p:nvSpPr>
        <p:spPr bwMode="black">
          <a:xfrm>
            <a:off x="899592" y="332656"/>
            <a:ext cx="7884000" cy="720000"/>
          </a:xfrm>
        </p:spPr>
        <p:txBody>
          <a:bodyPr/>
          <a:lstStyle>
            <a:lvl1pPr>
              <a:defRPr/>
            </a:lvl1pPr>
          </a:lstStyle>
          <a:p>
            <a:r>
              <a:rPr lang="en-GB"/>
              <a:t>Click to edit title</a:t>
            </a:r>
          </a:p>
        </p:txBody>
      </p:sp>
      <p:sp>
        <p:nvSpPr>
          <p:cNvPr id="8" name="Date Placeholder 3">
            <a:extLst>
              <a:ext uri="{FF2B5EF4-FFF2-40B4-BE49-F238E27FC236}">
                <a16:creationId xmlns:a16="http://schemas.microsoft.com/office/drawing/2014/main" id="{5A066266-3B90-9ACF-0B7C-027471A09E14}"/>
              </a:ext>
            </a:extLst>
          </p:cNvPr>
          <p:cNvSpPr>
            <a:spLocks noGrp="1"/>
          </p:cNvSpPr>
          <p:nvPr>
            <p:ph type="dt" sz="half" idx="10"/>
          </p:nvPr>
        </p:nvSpPr>
        <p:spPr>
          <a:xfrm>
            <a:off x="457200" y="6356350"/>
            <a:ext cx="2133600" cy="365125"/>
          </a:xfrm>
        </p:spPr>
        <p:txBody>
          <a:bodyPr/>
          <a:lstStyle/>
          <a:p>
            <a:fld id="{79121205-D078-FD46-AF85-0EF064AD968E}" type="datetime1">
              <a:rPr lang="de-CH" smtClean="0"/>
              <a:t>11.07.2026</a:t>
            </a:fld>
            <a:endParaRPr lang="en-US"/>
          </a:p>
        </p:txBody>
      </p:sp>
      <p:sp>
        <p:nvSpPr>
          <p:cNvPr id="10" name="Slide Number Placeholder 5">
            <a:extLst>
              <a:ext uri="{FF2B5EF4-FFF2-40B4-BE49-F238E27FC236}">
                <a16:creationId xmlns:a16="http://schemas.microsoft.com/office/drawing/2014/main" id="{9470299E-69B1-CFB1-806F-43D43F417629}"/>
              </a:ext>
            </a:extLst>
          </p:cNvPr>
          <p:cNvSpPr>
            <a:spLocks noGrp="1"/>
          </p:cNvSpPr>
          <p:nvPr>
            <p:ph type="sldNum" sz="quarter" idx="12"/>
          </p:nvPr>
        </p:nvSpPr>
        <p:spPr>
          <a:xfrm>
            <a:off x="6553200" y="6356350"/>
            <a:ext cx="21336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259858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91580A-F933-684E-A19D-31DC6358EE9E}" type="datetime1">
              <a:rPr lang="de-CH" smtClean="0"/>
              <a:t>11.07.2026</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1"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datatracker.ietf.org/doc/html/draft-ietf-nmop-network-anomaly-semantics" TargetMode="External"/><Relationship Id="rId2" Type="http://schemas.openxmlformats.org/officeDocument/2006/relationships/hyperlink" Target="https://datatracker.ietf.org/doc/html/draft-ietf-nmop-network-anomaly-architecture" TargetMode="Externa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hyperlink" Target="https://datatracker.ietf.org/doc/html/draft-ietf-nmop-network-anomaly-lifecycl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datatracker.ietf.org/doc/html/draft-ietf-nmop-network-anomaly-architectur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datatracker.ietf.org/doc/html/draft-ietf-nmop-simap-concep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datatracker.ietf.org/doc/html/draft-ietf-nmop-network-incident-yang-10#section-9.5" TargetMode="External"/><Relationship Id="rId5" Type="http://schemas.openxmlformats.org/officeDocument/2006/relationships/hyperlink" Target="https://datatracker.ietf.org/doc/html/draft-mackey-nmop-kg-for-netops" TargetMode="External"/><Relationship Id="rId4" Type="http://schemas.openxmlformats.org/officeDocument/2006/relationships/hyperlink" Target="https://datatracker.ietf.org/doc/html/draft-havel-nmop-simap-ya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atatracker.ietf.org/doc/html/draft-ietf-nmop-network-anomaly-semantics-06#section-4.4.2"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datatracker.ietf.org/meeting/125/materials/slides-125-onsen-proposed-charter-discussion-0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datatracker.ietf.org/doc/html/draft-ietf-nmop-yang-message-broker-message-key"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atatracker.ietf.org/doc/html/draft-ietf-nmop-network-anomaly-semantics-06"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hyperlink" Target="https://datatracker.ietf.org/doc/html/draft-ietf-nmop-network-anomaly-lifecycle-0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C26208B2-0D10-4C23-B2DE-372A62E98644}"/>
              </a:ext>
            </a:extLst>
          </p:cNvPr>
          <p:cNvSpPr txBox="1">
            <a:spLocks/>
          </p:cNvSpPr>
          <p:nvPr/>
        </p:nvSpPr>
        <p:spPr>
          <a:xfrm>
            <a:off x="455122" y="1881579"/>
            <a:ext cx="8546486" cy="2429252"/>
          </a:xfrm>
          <a:prstGeom prst="rect">
            <a:avLst/>
          </a:prstGeom>
        </p:spPr>
        <p:txBody>
          <a:bodyPr vert="horz" lIns="68580" tIns="34290" rIns="68580" bIns="3429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50" b="1" dirty="0"/>
              <a:t>An Architecture for a </a:t>
            </a:r>
            <a:r>
              <a:rPr lang="en-US" sz="2550" b="1" dirty="0">
                <a:solidFill>
                  <a:srgbClr val="FF0000"/>
                </a:solidFill>
              </a:rPr>
              <a:t>Network Anomaly Detection </a:t>
            </a:r>
            <a:r>
              <a:rPr lang="en-US" sz="2550" b="1" dirty="0"/>
              <a:t>Framework </a:t>
            </a:r>
            <a:br>
              <a:rPr lang="en-US" sz="2700" b="1" dirty="0"/>
            </a:br>
            <a:r>
              <a:rPr lang="en-US" sz="2100" dirty="0"/>
              <a:t>draft-ietf-nmop-network-anomaly-architecture-08</a:t>
            </a:r>
          </a:p>
          <a:p>
            <a:r>
              <a:rPr lang="en-US" sz="2100" dirty="0"/>
              <a:t>draft-ietf-nmop-network-anomaly-semantics-06</a:t>
            </a:r>
          </a:p>
          <a:p>
            <a:r>
              <a:rPr lang="en-US" sz="2100" dirty="0"/>
              <a:t>draft-ietf-nmop-network-anomaly-lifecycle-06</a:t>
            </a:r>
          </a:p>
          <a:p>
            <a:endParaRPr lang="en-US" sz="2100" dirty="0"/>
          </a:p>
          <a:p>
            <a:r>
              <a:rPr lang="en-US" sz="2100" dirty="0">
                <a:solidFill>
                  <a:schemeClr val="bg2">
                    <a:lumMod val="75000"/>
                  </a:schemeClr>
                </a:solidFill>
              </a:rPr>
              <a:t>Motivation and architecture of a Network Anomaly Detection Framework</a:t>
            </a:r>
          </a:p>
          <a:p>
            <a:r>
              <a:rPr lang="en-US" sz="2100" dirty="0">
                <a:solidFill>
                  <a:schemeClr val="bg2">
                    <a:lumMod val="75000"/>
                  </a:schemeClr>
                </a:solidFill>
              </a:rPr>
              <a:t>    and the relationships to other documents describing</a:t>
            </a:r>
          </a:p>
          <a:p>
            <a:r>
              <a:rPr lang="en-US" sz="2100" dirty="0">
                <a:solidFill>
                  <a:schemeClr val="bg2">
                    <a:lumMod val="75000"/>
                  </a:schemeClr>
                </a:solidFill>
              </a:rPr>
              <a:t>        network symptom semantics and network incident lifecycle</a:t>
            </a:r>
          </a:p>
        </p:txBody>
      </p:sp>
      <p:sp>
        <p:nvSpPr>
          <p:cNvPr id="6" name="Subtitle 4">
            <a:extLst>
              <a:ext uri="{FF2B5EF4-FFF2-40B4-BE49-F238E27FC236}">
                <a16:creationId xmlns:a16="http://schemas.microsoft.com/office/drawing/2014/main" id="{6CAA0765-1318-4A03-8F91-D3ECC43D8FA7}"/>
              </a:ext>
            </a:extLst>
          </p:cNvPr>
          <p:cNvSpPr txBox="1">
            <a:spLocks/>
          </p:cNvSpPr>
          <p:nvPr/>
        </p:nvSpPr>
        <p:spPr>
          <a:xfrm>
            <a:off x="628651" y="4825093"/>
            <a:ext cx="8372957" cy="803384"/>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225"/>
              </a:spcBef>
              <a:buNone/>
              <a:defRPr sz="1782"/>
            </a:pPr>
            <a:r>
              <a:rPr lang="de-CH" sz="1200" dirty="0">
                <a:latin typeface="+mj-lt"/>
              </a:rPr>
              <a:t>wanting.du@swisscom.com</a:t>
            </a:r>
          </a:p>
          <a:p>
            <a:pPr marL="0" indent="0" algn="r">
              <a:spcBef>
                <a:spcPts val="225"/>
              </a:spcBef>
              <a:buNone/>
              <a:defRPr sz="1782"/>
            </a:pPr>
            <a:r>
              <a:rPr lang="de-CH" sz="1200" b="1" dirty="0" err="1"/>
              <a:t>thomas.graf@swisscom.com</a:t>
            </a:r>
            <a:br>
              <a:rPr lang="de-CH" sz="1200" b="1" dirty="0">
                <a:latin typeface="+mj-lt"/>
              </a:rPr>
            </a:br>
            <a:r>
              <a:rPr lang="de-CH" sz="1200" dirty="0" err="1">
                <a:latin typeface="+mj-lt"/>
              </a:rPr>
              <a:t>pierre.francois@insa-lyon.fr</a:t>
            </a:r>
            <a:br>
              <a:rPr lang="de-CH" sz="1200" dirty="0">
                <a:latin typeface="+mj-lt"/>
              </a:rPr>
            </a:br>
            <a:r>
              <a:rPr lang="de-CH" sz="1200" dirty="0">
                <a:latin typeface="+mj-lt"/>
              </a:rPr>
              <a:t>vincenzo.riccobene@huawei-partners.com</a:t>
            </a:r>
            <a:br>
              <a:rPr lang="de-CH" sz="1200" dirty="0">
                <a:latin typeface="+mj-lt"/>
              </a:rPr>
            </a:br>
            <a:r>
              <a:rPr lang="de-CH" sz="1200" dirty="0">
                <a:latin typeface="+mj-lt"/>
              </a:rPr>
              <a:t>alex.huang-feng@insa-lyon.fr</a:t>
            </a:r>
            <a:br>
              <a:rPr lang="de-CH" sz="1200" dirty="0">
                <a:latin typeface="+mj-lt"/>
              </a:rPr>
            </a:br>
            <a:endParaRPr lang="de-CH" sz="1200" dirty="0">
              <a:latin typeface="+mj-lt"/>
            </a:endParaRPr>
          </a:p>
        </p:txBody>
      </p:sp>
      <p:sp>
        <p:nvSpPr>
          <p:cNvPr id="8" name="Date Placeholder 7">
            <a:extLst>
              <a:ext uri="{FF2B5EF4-FFF2-40B4-BE49-F238E27FC236}">
                <a16:creationId xmlns:a16="http://schemas.microsoft.com/office/drawing/2014/main" id="{9FA697C2-2EA5-AEF9-84DD-75D8C1F5B0E8}"/>
              </a:ext>
            </a:extLst>
          </p:cNvPr>
          <p:cNvSpPr>
            <a:spLocks noGrp="1"/>
          </p:cNvSpPr>
          <p:nvPr>
            <p:ph type="dt" sz="half" idx="10"/>
          </p:nvPr>
        </p:nvSpPr>
        <p:spPr/>
        <p:txBody>
          <a:bodyPr/>
          <a:lstStyle/>
          <a:p>
            <a:r>
              <a:rPr lang="de-CH" dirty="0"/>
              <a:t>11.07.2026</a:t>
            </a:r>
            <a:endParaRPr lang="en-US" dirty="0"/>
          </a:p>
        </p:txBody>
      </p:sp>
      <p:sp>
        <p:nvSpPr>
          <p:cNvPr id="9" name="Slide Number Placeholder 8">
            <a:extLst>
              <a:ext uri="{FF2B5EF4-FFF2-40B4-BE49-F238E27FC236}">
                <a16:creationId xmlns:a16="http://schemas.microsoft.com/office/drawing/2014/main" id="{EEEED876-F545-3795-B19C-92945234B7A7}"/>
              </a:ext>
            </a:extLst>
          </p:cNvPr>
          <p:cNvSpPr>
            <a:spLocks noGrp="1"/>
          </p:cNvSpPr>
          <p:nvPr>
            <p:ph type="sldNum" sz="quarter" idx="12"/>
          </p:nvPr>
        </p:nvSpPr>
        <p:spPr/>
        <p:txBody>
          <a:bodyPr/>
          <a:lstStyle/>
          <a:p>
            <a:fld id="{C1FF6DA9-008F-8B48-92A6-B652298478BF}" type="slidenum">
              <a:rPr lang="en-US" smtClean="0"/>
              <a:t>1</a:t>
            </a:fld>
            <a:endParaRPr lang="en-US"/>
          </a:p>
        </p:txBody>
      </p:sp>
      <p:sp>
        <p:nvSpPr>
          <p:cNvPr id="2" name="TextBox 1">
            <a:extLst>
              <a:ext uri="{FF2B5EF4-FFF2-40B4-BE49-F238E27FC236}">
                <a16:creationId xmlns:a16="http://schemas.microsoft.com/office/drawing/2014/main" id="{B96F14DD-DA49-5D8A-34C3-1676818C68D0}"/>
              </a:ext>
            </a:extLst>
          </p:cNvPr>
          <p:cNvSpPr txBox="1"/>
          <p:nvPr/>
        </p:nvSpPr>
        <p:spPr>
          <a:xfrm>
            <a:off x="3911600" y="5346700"/>
            <a:ext cx="184731" cy="369332"/>
          </a:xfrm>
          <a:prstGeom prst="rect">
            <a:avLst/>
          </a:prstGeom>
          <a:noFill/>
        </p:spPr>
        <p:txBody>
          <a:bodyPr wrap="none" rtlCol="0">
            <a:spAutoFit/>
          </a:bodyPr>
          <a:lstStyle/>
          <a:p>
            <a:endParaRPr lang="en-CH"/>
          </a:p>
        </p:txBody>
      </p:sp>
    </p:spTree>
    <p:extLst>
      <p:ext uri="{BB962C8B-B14F-4D97-AF65-F5344CB8AC3E}">
        <p14:creationId xmlns:p14="http://schemas.microsoft.com/office/powerpoint/2010/main" val="3578665336"/>
      </p:ext>
    </p:extLst>
  </p:cSld>
  <p:clrMapOvr>
    <a:masterClrMapping/>
  </p:clrMapOvr>
  <mc:AlternateContent xmlns:mc="http://schemas.openxmlformats.org/markup-compatibility/2006" xmlns:p14="http://schemas.microsoft.com/office/powerpoint/2010/main">
    <mc:Choice Requires="p14">
      <p:transition spd="slow" p14:dur="2000" advTm="8774"/>
    </mc:Choice>
    <mc:Fallback xmlns="">
      <p:transition spd="slow" advTm="877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0194B37B-813A-99FE-7B78-4D87D8C30D44}"/>
              </a:ext>
            </a:extLst>
          </p:cNvPr>
          <p:cNvSpPr txBox="1">
            <a:spLocks/>
          </p:cNvSpPr>
          <p:nvPr/>
        </p:nvSpPr>
        <p:spPr bwMode="black">
          <a:xfrm>
            <a:off x="720000" y="1742312"/>
            <a:ext cx="7965650" cy="3963163"/>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r>
              <a:rPr lang="en-GB" sz="1600" dirty="0"/>
              <a:t>To </a:t>
            </a:r>
            <a:r>
              <a:rPr lang="en-GB" sz="1600" b="1" dirty="0">
                <a:solidFill>
                  <a:schemeClr val="accent4"/>
                </a:solidFill>
              </a:rPr>
              <a:t>detect service interruptions</a:t>
            </a:r>
            <a:r>
              <a:rPr lang="en-GB" sz="1600" dirty="0"/>
              <a:t> before users do, network operations must use </a:t>
            </a:r>
            <a:r>
              <a:rPr lang="en-GB" sz="1600" b="1" dirty="0"/>
              <a:t>automated</a:t>
            </a:r>
            <a:r>
              <a:rPr lang="en-GB" sz="1600" dirty="0"/>
              <a:t>, </a:t>
            </a:r>
            <a:r>
              <a:rPr lang="en-GB" sz="1600" b="1" dirty="0"/>
              <a:t>holistic</a:t>
            </a:r>
            <a:r>
              <a:rPr lang="en-GB" sz="1600" dirty="0"/>
              <a:t> monitoring across all </a:t>
            </a:r>
            <a:r>
              <a:rPr lang="en-GB" sz="1600" b="1" dirty="0"/>
              <a:t>three network planes</a:t>
            </a:r>
            <a:r>
              <a:rPr lang="en-GB" sz="1600" dirty="0"/>
              <a:t>. </a:t>
            </a:r>
          </a:p>
          <a:p>
            <a:pPr marL="285750" indent="-285750">
              <a:buFont typeface="Wingdings" pitchFamily="2" charset="2"/>
              <a:buChar char="Ø"/>
            </a:pPr>
            <a:r>
              <a:rPr lang="en-US" sz="1600" dirty="0">
                <a:solidFill>
                  <a:schemeClr val="accent4"/>
                </a:solidFill>
                <a:hlinkClick r:id="rId2">
                  <a:extLst>
                    <a:ext uri="{A12FA001-AC4F-418D-AE19-62706E023703}">
                      <ahyp:hlinkClr xmlns:ahyp="http://schemas.microsoft.com/office/drawing/2018/hyperlinkcolor" val="tx"/>
                    </a:ext>
                  </a:extLst>
                </a:hlinkClick>
              </a:rPr>
              <a:t>draft-ietf-nmop-network-anomaly-architecture</a:t>
            </a:r>
            <a:r>
              <a:rPr lang="en-US" sz="1600" dirty="0"/>
              <a:t> describes the </a:t>
            </a:r>
            <a:r>
              <a:rPr lang="en-US" sz="1600" b="1" dirty="0"/>
              <a:t>motivation</a:t>
            </a:r>
            <a:r>
              <a:rPr lang="en-US" sz="1600" dirty="0"/>
              <a:t>, </a:t>
            </a:r>
            <a:r>
              <a:rPr lang="en-US" sz="1600" b="1" dirty="0"/>
              <a:t>architecture</a:t>
            </a:r>
            <a:r>
              <a:rPr lang="en-US" sz="1600" dirty="0"/>
              <a:t> and the </a:t>
            </a:r>
            <a:r>
              <a:rPr lang="en-US" sz="1600" b="1" dirty="0"/>
              <a:t>relationship</a:t>
            </a:r>
            <a:r>
              <a:rPr lang="en-US" sz="1600" dirty="0"/>
              <a:t> to other two documents.</a:t>
            </a:r>
            <a:endParaRPr lang="en-GB" sz="1600" dirty="0"/>
          </a:p>
          <a:p>
            <a:r>
              <a:rPr lang="en-GB" sz="1600" dirty="0"/>
              <a:t>By </a:t>
            </a:r>
            <a:r>
              <a:rPr lang="en-GB" sz="1600" b="1" dirty="0">
                <a:solidFill>
                  <a:schemeClr val="accent1"/>
                </a:solidFill>
              </a:rPr>
              <a:t>standardizing </a:t>
            </a:r>
            <a:r>
              <a:rPr lang="en-GB" sz="1600" b="1" dirty="0" err="1">
                <a:solidFill>
                  <a:schemeClr val="accent1"/>
                </a:solidFill>
              </a:rPr>
              <a:t>labeled</a:t>
            </a:r>
            <a:r>
              <a:rPr lang="en-GB" sz="1600" b="1" dirty="0">
                <a:solidFill>
                  <a:schemeClr val="accent1"/>
                </a:solidFill>
              </a:rPr>
              <a:t> incident data </a:t>
            </a:r>
            <a:r>
              <a:rPr lang="en-GB" sz="1600" dirty="0"/>
              <a:t>and </a:t>
            </a:r>
            <a:r>
              <a:rPr lang="en-GB" sz="1600" b="1" dirty="0">
                <a:solidFill>
                  <a:schemeClr val="accent6"/>
                </a:solidFill>
              </a:rPr>
              <a:t>automating the </a:t>
            </a:r>
            <a:r>
              <a:rPr lang="en-GB" sz="1600" b="1">
                <a:solidFill>
                  <a:schemeClr val="accent6"/>
                </a:solidFill>
              </a:rPr>
              <a:t>postmortem process</a:t>
            </a:r>
            <a:r>
              <a:rPr lang="en-GB" sz="1600" b="1"/>
              <a:t>, </a:t>
            </a:r>
            <a:r>
              <a:rPr lang="en-GB" sz="1600" dirty="0"/>
              <a:t>operators can</a:t>
            </a:r>
            <a:r>
              <a:rPr lang="en-GB" sz="1600" b="1" dirty="0"/>
              <a:t> improve machine learning </a:t>
            </a:r>
            <a:r>
              <a:rPr lang="en-GB" sz="1600" dirty="0"/>
              <a:t>models continuously and </a:t>
            </a:r>
            <a:r>
              <a:rPr lang="en-GB" sz="1600" b="1" dirty="0"/>
              <a:t>foster better collaboration </a:t>
            </a:r>
            <a:r>
              <a:rPr lang="en-GB" sz="1600" dirty="0"/>
              <a:t>between vendors and academia.</a:t>
            </a:r>
          </a:p>
          <a:p>
            <a:pPr marL="214313" indent="-214313">
              <a:buFont typeface="Wingdings" panose="05000000000000000000" pitchFamily="2" charset="2"/>
              <a:buChar char="Ø"/>
            </a:pPr>
            <a:r>
              <a:rPr lang="en-US" sz="1600" dirty="0">
                <a:solidFill>
                  <a:schemeClr val="accent1"/>
                </a:solidFill>
                <a:hlinkClick r:id="rId3">
                  <a:extLst>
                    <a:ext uri="{A12FA001-AC4F-418D-AE19-62706E023703}">
                      <ahyp:hlinkClr xmlns:ahyp="http://schemas.microsoft.com/office/drawing/2018/hyperlinkcolor" val="tx"/>
                    </a:ext>
                  </a:extLst>
                </a:hlinkClick>
              </a:rPr>
              <a:t>draft-ietf-nmop-network-anomaly-semantics</a:t>
            </a:r>
            <a:r>
              <a:rPr lang="en-US" sz="1600" dirty="0"/>
              <a:t> defines Symptom semantics to enable </a:t>
            </a:r>
            <a:r>
              <a:rPr lang="en-US" sz="1600" b="1" dirty="0"/>
              <a:t>standardized data exchange </a:t>
            </a:r>
            <a:r>
              <a:rPr lang="en-US" sz="1600" dirty="0"/>
              <a:t>to </a:t>
            </a:r>
            <a:r>
              <a:rPr lang="en-US" sz="1600" b="1" dirty="0"/>
              <a:t>validate results</a:t>
            </a:r>
            <a:r>
              <a:rPr lang="en-US" sz="1600" dirty="0"/>
              <a:t> with network engineers and improve supervised and semi-supervised machine learning systems. </a:t>
            </a:r>
          </a:p>
          <a:p>
            <a:pPr marL="214313" indent="-214313">
              <a:buFont typeface="Wingdings" panose="05000000000000000000" pitchFamily="2" charset="2"/>
              <a:buChar char="Ø"/>
            </a:pPr>
            <a:r>
              <a:rPr lang="en-US" sz="1600" dirty="0">
                <a:solidFill>
                  <a:schemeClr val="accent6"/>
                </a:solidFill>
                <a:hlinkClick r:id="rId4">
                  <a:extLst>
                    <a:ext uri="{A12FA001-AC4F-418D-AE19-62706E023703}">
                      <ahyp:hlinkClr xmlns:ahyp="http://schemas.microsoft.com/office/drawing/2018/hyperlinkcolor" val="tx"/>
                    </a:ext>
                  </a:extLst>
                </a:hlinkClick>
              </a:rPr>
              <a:t>draft-ietf-nmop-network-anomaly-lifecycle</a:t>
            </a:r>
            <a:r>
              <a:rPr lang="en-US" sz="1600" dirty="0"/>
              <a:t> describes the lifecycle process, enabling network engineers to </a:t>
            </a:r>
            <a:r>
              <a:rPr lang="en-US" sz="1600" b="1" dirty="0"/>
              <a:t>interact</a:t>
            </a:r>
            <a:r>
              <a:rPr lang="en-US" sz="1600" dirty="0"/>
              <a:t> with the network anomaly detection system to </a:t>
            </a:r>
            <a:r>
              <a:rPr lang="en-US" sz="1600" b="1" dirty="0"/>
              <a:t>refine the detection abilities</a:t>
            </a:r>
            <a:r>
              <a:rPr lang="en-US" sz="1600" dirty="0"/>
              <a:t> over time. </a:t>
            </a:r>
            <a:endParaRPr lang="en-GB" sz="1600" dirty="0"/>
          </a:p>
          <a:p>
            <a:br>
              <a:rPr lang="en-GB" sz="1600" dirty="0"/>
            </a:br>
            <a:endParaRPr lang="en-GB" sz="1600" dirty="0"/>
          </a:p>
        </p:txBody>
      </p:sp>
      <p:sp>
        <p:nvSpPr>
          <p:cNvPr id="2" name="Inhaltsplatzhalter 2">
            <a:extLst>
              <a:ext uri="{FF2B5EF4-FFF2-40B4-BE49-F238E27FC236}">
                <a16:creationId xmlns:a16="http://schemas.microsoft.com/office/drawing/2014/main" id="{40698F20-E35A-7859-BBD7-0DF9260329A7}"/>
              </a:ext>
            </a:extLst>
          </p:cNvPr>
          <p:cNvSpPr txBox="1">
            <a:spLocks/>
          </p:cNvSpPr>
          <p:nvPr/>
        </p:nvSpPr>
        <p:spPr bwMode="black">
          <a:xfrm>
            <a:off x="5451411" y="1641514"/>
            <a:ext cx="3484984" cy="3125923"/>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marL="214313" indent="-214313">
              <a:buFont typeface="Wingdings" panose="05000000000000000000" pitchFamily="2" charset="2"/>
              <a:buChar char="Ø"/>
            </a:pPr>
            <a:endParaRPr lang="en-US" sz="1400" dirty="0"/>
          </a:p>
        </p:txBody>
      </p:sp>
      <p:sp>
        <p:nvSpPr>
          <p:cNvPr id="3" name="Text Placeholder 10">
            <a:extLst>
              <a:ext uri="{FF2B5EF4-FFF2-40B4-BE49-F238E27FC236}">
                <a16:creationId xmlns:a16="http://schemas.microsoft.com/office/drawing/2014/main" id="{AC32D27E-E01A-131C-C4B7-9A918341F560}"/>
              </a:ext>
            </a:extLst>
          </p:cNvPr>
          <p:cNvSpPr txBox="1">
            <a:spLocks/>
          </p:cNvSpPr>
          <p:nvPr/>
        </p:nvSpPr>
        <p:spPr bwMode="black">
          <a:xfrm>
            <a:off x="5451411" y="498514"/>
            <a:ext cx="1987421" cy="695247"/>
          </a:xfrm>
          <a:prstGeom prst="rect">
            <a:avLst/>
          </a:prstGeom>
        </p:spPr>
        <p:txBody>
          <a:bodyPr lIns="0" tIns="21600" rIns="0" bIns="21600" anchor="b"/>
          <a:lstStyle>
            <a:lvl1pPr marL="0" indent="0" algn="l" defTabSz="914400" rtl="0" eaLnBrk="1" latinLnBrk="0" hangingPunct="1">
              <a:lnSpc>
                <a:spcPct val="90000"/>
              </a:lnSpc>
              <a:spcBef>
                <a:spcPts val="0"/>
              </a:spcBef>
              <a:spcAft>
                <a:spcPts val="0"/>
              </a:spcAft>
              <a:buFont typeface="Arial" panose="020B0604020202020204" pitchFamily="34" charset="0"/>
              <a:buNone/>
              <a:defRPr sz="3200" b="1" kern="1200">
                <a:solidFill>
                  <a:schemeClr val="tx1"/>
                </a:solidFill>
                <a:latin typeface="+mj-lt"/>
                <a:ea typeface="+mn-ea"/>
                <a:cs typeface="+mn-cs"/>
              </a:defRPr>
            </a:lvl1pPr>
            <a:lvl2pPr marL="0" indent="0" algn="l" defTabSz="914400" rtl="0" eaLnBrk="1" latinLnBrk="0" hangingPunct="1">
              <a:lnSpc>
                <a:spcPct val="90000"/>
              </a:lnSpc>
              <a:spcBef>
                <a:spcPts val="0"/>
              </a:spcBef>
              <a:spcAft>
                <a:spcPts val="0"/>
              </a:spcAft>
              <a:buFont typeface="Arial" panose="020B0604020202020204" pitchFamily="34" charset="0"/>
              <a:buNone/>
              <a:defRPr sz="3200" b="1" kern="1200">
                <a:solidFill>
                  <a:schemeClr val="tx1"/>
                </a:solidFill>
                <a:latin typeface="+mj-lt"/>
                <a:ea typeface="+mn-ea"/>
                <a:cs typeface="+mn-cs"/>
              </a:defRPr>
            </a:lvl2pPr>
            <a:lvl3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3pPr>
            <a:lvl4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4pPr>
            <a:lvl5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5pPr>
            <a:lvl6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6pPr>
            <a:lvl7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7pPr>
            <a:lvl8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8pPr>
            <a:lvl9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9pPr>
          </a:lstStyle>
          <a:p>
            <a:pPr algn="r" defTabSz="685800">
              <a:defRPr/>
            </a:pPr>
            <a:r>
              <a:rPr lang="en-US" sz="2100" spc="-38">
                <a:solidFill>
                  <a:prstClr val="black"/>
                </a:solidFill>
                <a:latin typeface="Calibri Light" panose="020F0302020204030204"/>
              </a:rPr>
              <a:t>Network Anomaly Detection</a:t>
            </a:r>
            <a:endParaRPr lang="en-US" sz="2100" spc="-38" dirty="0">
              <a:solidFill>
                <a:prstClr val="black"/>
              </a:solidFill>
              <a:latin typeface="Calibri Light" panose="020F0302020204030204"/>
            </a:endParaRPr>
          </a:p>
        </p:txBody>
      </p:sp>
      <p:pic>
        <p:nvPicPr>
          <p:cNvPr id="4" name="Picture 3">
            <a:extLst>
              <a:ext uri="{FF2B5EF4-FFF2-40B4-BE49-F238E27FC236}">
                <a16:creationId xmlns:a16="http://schemas.microsoft.com/office/drawing/2014/main" id="{A10DB6D2-AE41-F640-9B4A-96205F1AB05E}"/>
              </a:ext>
            </a:extLst>
          </p:cNvPr>
          <p:cNvPicPr>
            <a:picLocks noChangeAspect="1"/>
          </p:cNvPicPr>
          <p:nvPr/>
        </p:nvPicPr>
        <p:blipFill>
          <a:blip r:embed="rId5"/>
          <a:stretch>
            <a:fillRect/>
          </a:stretch>
        </p:blipFill>
        <p:spPr>
          <a:xfrm>
            <a:off x="7581820" y="425441"/>
            <a:ext cx="1264444" cy="1092994"/>
          </a:xfrm>
          <a:prstGeom prst="rect">
            <a:avLst/>
          </a:prstGeom>
        </p:spPr>
      </p:pic>
      <p:sp>
        <p:nvSpPr>
          <p:cNvPr id="7" name="Title 1">
            <a:extLst>
              <a:ext uri="{FF2B5EF4-FFF2-40B4-BE49-F238E27FC236}">
                <a16:creationId xmlns:a16="http://schemas.microsoft.com/office/drawing/2014/main" id="{97C4EA3D-200C-4259-0358-FFA150A6CCE2}"/>
              </a:ext>
            </a:extLst>
          </p:cNvPr>
          <p:cNvSpPr txBox="1">
            <a:spLocks/>
          </p:cNvSpPr>
          <p:nvPr/>
        </p:nvSpPr>
        <p:spPr bwMode="black">
          <a:xfrm>
            <a:off x="457200" y="274638"/>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a:t>Problem Statement and Motivation</a:t>
            </a:r>
            <a:br>
              <a:rPr lang="en-US" sz="2700" dirty="0"/>
            </a:br>
            <a:r>
              <a:rPr lang="en-US" sz="2000" dirty="0">
                <a:solidFill>
                  <a:schemeClr val="bg2">
                    <a:lumMod val="75000"/>
                  </a:schemeClr>
                </a:solidFill>
              </a:rPr>
              <a:t>How it is being addressed in each document</a:t>
            </a:r>
          </a:p>
        </p:txBody>
      </p:sp>
      <p:sp>
        <p:nvSpPr>
          <p:cNvPr id="13" name="Slide Number Placeholder 12">
            <a:extLst>
              <a:ext uri="{FF2B5EF4-FFF2-40B4-BE49-F238E27FC236}">
                <a16:creationId xmlns:a16="http://schemas.microsoft.com/office/drawing/2014/main" id="{5DA7F251-DE10-E6ED-95F7-B1F0A94BE153}"/>
              </a:ext>
            </a:extLst>
          </p:cNvPr>
          <p:cNvSpPr>
            <a:spLocks noGrp="1"/>
          </p:cNvSpPr>
          <p:nvPr>
            <p:ph type="sldNum" sz="quarter" idx="12"/>
          </p:nvPr>
        </p:nvSpPr>
        <p:spPr>
          <a:xfrm>
            <a:off x="6553200" y="6356350"/>
            <a:ext cx="2133600" cy="365125"/>
          </a:xfrm>
        </p:spPr>
        <p:txBody>
          <a:bodyPr/>
          <a:lstStyle/>
          <a:p>
            <a:fld id="{8FF9B0DE-3FEB-4AA0-B465-B80EF7C1333D}" type="slidenum">
              <a:rPr lang="en-GB" smtClean="0"/>
              <a:t>2</a:t>
            </a:fld>
            <a:endParaRPr lang="en-GB"/>
          </a:p>
        </p:txBody>
      </p:sp>
    </p:spTree>
    <p:extLst>
      <p:ext uri="{BB962C8B-B14F-4D97-AF65-F5344CB8AC3E}">
        <p14:creationId xmlns:p14="http://schemas.microsoft.com/office/powerpoint/2010/main" val="428523796"/>
      </p:ext>
    </p:extLst>
  </p:cSld>
  <p:clrMapOvr>
    <a:masterClrMapping/>
  </p:clrMapOvr>
  <mc:AlternateContent xmlns:mc="http://schemas.openxmlformats.org/markup-compatibility/2006" xmlns:p14="http://schemas.microsoft.com/office/powerpoint/2010/main">
    <mc:Choice Requires="p14">
      <p:transition spd="slow" p14:dur="2000" advTm="2903"/>
    </mc:Choice>
    <mc:Fallback xmlns="">
      <p:transition spd="slow" advTm="290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1D337-A87D-6A31-8BFF-B7502D2E9D13}"/>
              </a:ext>
            </a:extLst>
          </p:cNvPr>
          <p:cNvSpPr>
            <a:spLocks noGrp="1"/>
          </p:cNvSpPr>
          <p:nvPr>
            <p:ph type="title"/>
          </p:nvPr>
        </p:nvSpPr>
        <p:spPr/>
        <p:txBody>
          <a:bodyPr>
            <a:normAutofit fontScale="90000"/>
          </a:bodyPr>
          <a:lstStyle/>
          <a:p>
            <a:r>
              <a:rPr lang="en-US" dirty="0"/>
              <a:t>draft-ietf-nmop-network-anomaly-architecture-08</a:t>
            </a:r>
            <a:br>
              <a:rPr lang="en-CH" dirty="0"/>
            </a:br>
            <a:endParaRPr lang="en-CH" dirty="0"/>
          </a:p>
        </p:txBody>
      </p:sp>
      <p:sp>
        <p:nvSpPr>
          <p:cNvPr id="3" name="Text Placeholder 2">
            <a:extLst>
              <a:ext uri="{FF2B5EF4-FFF2-40B4-BE49-F238E27FC236}">
                <a16:creationId xmlns:a16="http://schemas.microsoft.com/office/drawing/2014/main" id="{397C8812-E8AA-5178-B95B-CD0E7BB287BA}"/>
              </a:ext>
            </a:extLst>
          </p:cNvPr>
          <p:cNvSpPr>
            <a:spLocks noGrp="1"/>
          </p:cNvSpPr>
          <p:nvPr>
            <p:ph type="body" idx="1"/>
          </p:nvPr>
        </p:nvSpPr>
        <p:spPr/>
        <p:txBody>
          <a:bodyPr/>
          <a:lstStyle/>
          <a:p>
            <a:r>
              <a:rPr lang="en-US" b="1" dirty="0"/>
              <a:t>Network Anomaly Detection Architecture</a:t>
            </a:r>
            <a:endParaRPr lang="en-CH" dirty="0"/>
          </a:p>
        </p:txBody>
      </p:sp>
      <p:sp>
        <p:nvSpPr>
          <p:cNvPr id="5" name="Slide Number Placeholder 4">
            <a:extLst>
              <a:ext uri="{FF2B5EF4-FFF2-40B4-BE49-F238E27FC236}">
                <a16:creationId xmlns:a16="http://schemas.microsoft.com/office/drawing/2014/main" id="{9663B77D-4946-EFAA-2DE6-7E277F6AC942}"/>
              </a:ext>
            </a:extLst>
          </p:cNvPr>
          <p:cNvSpPr>
            <a:spLocks noGrp="1"/>
          </p:cNvSpPr>
          <p:nvPr>
            <p:ph type="sldNum" sz="quarter" idx="12"/>
          </p:nvPr>
        </p:nvSpPr>
        <p:spPr/>
        <p:txBody>
          <a:bodyPr/>
          <a:lstStyle/>
          <a:p>
            <a:fld id="{C1FF6DA9-008F-8B48-92A6-B652298478BF}" type="slidenum">
              <a:rPr lang="en-US" smtClean="0"/>
              <a:t>3</a:t>
            </a:fld>
            <a:endParaRPr lang="en-US"/>
          </a:p>
        </p:txBody>
      </p:sp>
    </p:spTree>
    <p:extLst>
      <p:ext uri="{BB962C8B-B14F-4D97-AF65-F5344CB8AC3E}">
        <p14:creationId xmlns:p14="http://schemas.microsoft.com/office/powerpoint/2010/main" val="34230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F271-6F0D-4AC0-BB1D-F5C338165C13}"/>
              </a:ext>
            </a:extLst>
          </p:cNvPr>
          <p:cNvSpPr>
            <a:spLocks noGrp="1"/>
          </p:cNvSpPr>
          <p:nvPr>
            <p:ph type="title"/>
          </p:nvPr>
        </p:nvSpPr>
        <p:spPr/>
        <p:txBody>
          <a:bodyPr>
            <a:normAutofit/>
          </a:bodyPr>
          <a:lstStyle/>
          <a:p>
            <a:pPr algn="l"/>
            <a:r>
              <a:rPr lang="en-US" sz="2400" b="1" dirty="0"/>
              <a:t>Network Anomaly Detection Architecture</a:t>
            </a:r>
            <a:br>
              <a:rPr lang="en-US" sz="3200" dirty="0"/>
            </a:br>
            <a:r>
              <a:rPr lang="en-US" sz="2000" dirty="0">
                <a:solidFill>
                  <a:schemeClr val="bg2">
                    <a:lumMod val="75000"/>
                  </a:schemeClr>
                </a:solidFill>
              </a:rPr>
              <a:t>Document summary</a:t>
            </a:r>
          </a:p>
        </p:txBody>
      </p:sp>
      <p:sp>
        <p:nvSpPr>
          <p:cNvPr id="3" name="Content Placeholder 2">
            <a:extLst>
              <a:ext uri="{FF2B5EF4-FFF2-40B4-BE49-F238E27FC236}">
                <a16:creationId xmlns:a16="http://schemas.microsoft.com/office/drawing/2014/main" id="{29C0DFD4-432D-4B0C-93DF-790441DCF5B9}"/>
              </a:ext>
            </a:extLst>
          </p:cNvPr>
          <p:cNvSpPr>
            <a:spLocks noGrp="1"/>
          </p:cNvSpPr>
          <p:nvPr>
            <p:ph idx="1"/>
          </p:nvPr>
        </p:nvSpPr>
        <p:spPr>
          <a:xfrm>
            <a:off x="720000" y="1800000"/>
            <a:ext cx="3382389" cy="3997755"/>
          </a:xfrm>
        </p:spPr>
        <p:txBody>
          <a:bodyPr>
            <a:noAutofit/>
          </a:bodyPr>
          <a:lstStyle/>
          <a:p>
            <a:pPr marL="0" indent="0">
              <a:spcBef>
                <a:spcPts val="225"/>
              </a:spcBef>
              <a:spcAft>
                <a:spcPts val="225"/>
              </a:spcAft>
              <a:buNone/>
            </a:pPr>
            <a:r>
              <a:rPr lang="en-GB" sz="1600" b="1" dirty="0"/>
              <a:t>Motivation</a:t>
            </a:r>
            <a:r>
              <a:rPr lang="en-GB" sz="1600" dirty="0"/>
              <a:t>: </a:t>
            </a:r>
          </a:p>
          <a:p>
            <a:pPr marL="0" indent="0">
              <a:spcBef>
                <a:spcPts val="225"/>
              </a:spcBef>
              <a:spcAft>
                <a:spcPts val="225"/>
              </a:spcAft>
              <a:buNone/>
            </a:pPr>
            <a:r>
              <a:rPr lang="en-GB" sz="1600" dirty="0"/>
              <a:t>Human‑driven troubleshooting does not </a:t>
            </a:r>
            <a:r>
              <a:rPr lang="en-GB" sz="1600" dirty="0">
                <a:solidFill>
                  <a:schemeClr val="accent2"/>
                </a:solidFill>
              </a:rPr>
              <a:t>scale</a:t>
            </a:r>
            <a:r>
              <a:rPr lang="en-GB" sz="1600" dirty="0"/>
              <a:t> due to the growing number of dependencies</a:t>
            </a:r>
          </a:p>
          <a:p>
            <a:pPr marL="0" indent="0">
              <a:spcBef>
                <a:spcPts val="225"/>
              </a:spcBef>
              <a:spcAft>
                <a:spcPts val="225"/>
              </a:spcAft>
              <a:buNone/>
            </a:pPr>
            <a:endParaRPr lang="en-GB" sz="1600" dirty="0"/>
          </a:p>
          <a:p>
            <a:pPr marL="0" indent="0">
              <a:spcBef>
                <a:spcPts val="225"/>
              </a:spcBef>
              <a:spcAft>
                <a:spcPts val="225"/>
              </a:spcAft>
              <a:buNone/>
            </a:pPr>
            <a:r>
              <a:rPr lang="en-GB" sz="1600" b="1" dirty="0"/>
              <a:t>Approach:</a:t>
            </a:r>
          </a:p>
          <a:p>
            <a:pPr marL="0" indent="0">
              <a:spcBef>
                <a:spcPts val="225"/>
              </a:spcBef>
              <a:spcAft>
                <a:spcPts val="225"/>
              </a:spcAft>
              <a:buNone/>
            </a:pPr>
            <a:r>
              <a:rPr lang="en-GB" sz="1600" dirty="0"/>
              <a:t>This draft defines a </a:t>
            </a:r>
            <a:r>
              <a:rPr lang="en-GB" sz="1600" dirty="0">
                <a:solidFill>
                  <a:schemeClr val="accent2"/>
                </a:solidFill>
              </a:rPr>
              <a:t>standardized, architecture‑level framework</a:t>
            </a:r>
          </a:p>
          <a:p>
            <a:pPr marL="0" indent="0">
              <a:spcBef>
                <a:spcPts val="225"/>
              </a:spcBef>
              <a:spcAft>
                <a:spcPts val="225"/>
              </a:spcAft>
              <a:buNone/>
            </a:pPr>
            <a:endParaRPr lang="en-GB" sz="1600" dirty="0">
              <a:solidFill>
                <a:schemeClr val="accent2"/>
              </a:solidFill>
            </a:endParaRPr>
          </a:p>
          <a:p>
            <a:pPr marL="0" indent="0">
              <a:spcBef>
                <a:spcPts val="225"/>
              </a:spcBef>
              <a:spcAft>
                <a:spcPts val="225"/>
              </a:spcAft>
              <a:buNone/>
            </a:pPr>
            <a:r>
              <a:rPr lang="en-GB" sz="1600" b="1" dirty="0"/>
              <a:t>Outcome</a:t>
            </a:r>
            <a:r>
              <a:rPr lang="en-GB" sz="1600" dirty="0"/>
              <a:t>:</a:t>
            </a:r>
          </a:p>
          <a:p>
            <a:pPr marL="0" indent="0">
              <a:spcBef>
                <a:spcPts val="225"/>
              </a:spcBef>
              <a:spcAft>
                <a:spcPts val="225"/>
              </a:spcAft>
              <a:buNone/>
            </a:pPr>
            <a:r>
              <a:rPr lang="en-GB" sz="1600" dirty="0"/>
              <a:t>Enable </a:t>
            </a:r>
            <a:r>
              <a:rPr lang="en-GB" sz="1600" dirty="0">
                <a:solidFill>
                  <a:schemeClr val="accent2"/>
                </a:solidFill>
              </a:rPr>
              <a:t>automated service disruption detection</a:t>
            </a:r>
            <a:endParaRPr lang="en-US" sz="1600" dirty="0">
              <a:solidFill>
                <a:schemeClr val="accent2"/>
              </a:solidFill>
            </a:endParaRPr>
          </a:p>
        </p:txBody>
      </p:sp>
      <p:sp>
        <p:nvSpPr>
          <p:cNvPr id="4" name="Title 1">
            <a:extLst>
              <a:ext uri="{FF2B5EF4-FFF2-40B4-BE49-F238E27FC236}">
                <a16:creationId xmlns:a16="http://schemas.microsoft.com/office/drawing/2014/main" id="{DF201438-AEE1-9346-3506-A4640812DA37}"/>
              </a:ext>
            </a:extLst>
          </p:cNvPr>
          <p:cNvSpPr txBox="1">
            <a:spLocks/>
          </p:cNvSpPr>
          <p:nvPr/>
        </p:nvSpPr>
        <p:spPr>
          <a:xfrm>
            <a:off x="628650" y="458592"/>
            <a:ext cx="7886700" cy="99417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n-US" sz="1950" dirty="0">
              <a:solidFill>
                <a:schemeClr val="bg2">
                  <a:lumMod val="75000"/>
                </a:schemeClr>
              </a:solidFill>
            </a:endParaRPr>
          </a:p>
        </p:txBody>
      </p:sp>
      <p:pic>
        <p:nvPicPr>
          <p:cNvPr id="5" name="Picture 4">
            <a:extLst>
              <a:ext uri="{FF2B5EF4-FFF2-40B4-BE49-F238E27FC236}">
                <a16:creationId xmlns:a16="http://schemas.microsoft.com/office/drawing/2014/main" id="{6F71B775-5030-10FF-6E64-5FE9ACC04F78}"/>
              </a:ext>
            </a:extLst>
          </p:cNvPr>
          <p:cNvPicPr>
            <a:picLocks noChangeAspect="1"/>
          </p:cNvPicPr>
          <p:nvPr/>
        </p:nvPicPr>
        <p:blipFill>
          <a:blip r:embed="rId3"/>
          <a:stretch>
            <a:fillRect/>
          </a:stretch>
        </p:blipFill>
        <p:spPr>
          <a:xfrm>
            <a:off x="4413048" y="1176005"/>
            <a:ext cx="3823213" cy="5223403"/>
          </a:xfrm>
          <a:prstGeom prst="rect">
            <a:avLst/>
          </a:prstGeom>
        </p:spPr>
      </p:pic>
      <p:sp>
        <p:nvSpPr>
          <p:cNvPr id="7" name="Slide Number Placeholder 6">
            <a:extLst>
              <a:ext uri="{FF2B5EF4-FFF2-40B4-BE49-F238E27FC236}">
                <a16:creationId xmlns:a16="http://schemas.microsoft.com/office/drawing/2014/main" id="{C7D5667A-3B98-E7BC-B5FB-5FA45380074F}"/>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10" name="TextBox 9">
            <a:extLst>
              <a:ext uri="{FF2B5EF4-FFF2-40B4-BE49-F238E27FC236}">
                <a16:creationId xmlns:a16="http://schemas.microsoft.com/office/drawing/2014/main" id="{70F02209-FFEC-E5F1-046B-29DC3FB03908}"/>
              </a:ext>
            </a:extLst>
          </p:cNvPr>
          <p:cNvSpPr txBox="1"/>
          <p:nvPr/>
        </p:nvSpPr>
        <p:spPr>
          <a:xfrm>
            <a:off x="5162604" y="6323468"/>
            <a:ext cx="2324100" cy="215444"/>
          </a:xfrm>
          <a:prstGeom prst="rect">
            <a:avLst/>
          </a:prstGeom>
          <a:noFill/>
        </p:spPr>
        <p:txBody>
          <a:bodyPr wrap="square" rtlCol="0">
            <a:spAutoFit/>
          </a:bodyPr>
          <a:lstStyle/>
          <a:p>
            <a:r>
              <a:rPr lang="en-US" sz="800" dirty="0">
                <a:hlinkClick r:id="rId4"/>
              </a:rPr>
              <a:t>draft-ietf-nmop-network-anomaly-architecture</a:t>
            </a:r>
            <a:endParaRPr lang="en-CH" sz="800" dirty="0"/>
          </a:p>
        </p:txBody>
      </p:sp>
    </p:spTree>
    <p:extLst>
      <p:ext uri="{BB962C8B-B14F-4D97-AF65-F5344CB8AC3E}">
        <p14:creationId xmlns:p14="http://schemas.microsoft.com/office/powerpoint/2010/main" val="650935492"/>
      </p:ext>
    </p:extLst>
  </p:cSld>
  <p:clrMapOvr>
    <a:masterClrMapping/>
  </p:clrMapOvr>
  <mc:AlternateContent xmlns:mc="http://schemas.openxmlformats.org/markup-compatibility/2006" xmlns:p14="http://schemas.microsoft.com/office/powerpoint/2010/main">
    <mc:Choice Requires="p14">
      <p:transition spd="slow" p14:dur="2000" advTm="2658"/>
    </mc:Choice>
    <mc:Fallback xmlns="">
      <p:transition spd="slow" advTm="265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6F9E6-44E5-6FAF-A0CF-82C0B55D4F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209B5F-12F6-9A75-A5C8-FB699F15D6EB}"/>
              </a:ext>
            </a:extLst>
          </p:cNvPr>
          <p:cNvSpPr>
            <a:spLocks noGrp="1"/>
          </p:cNvSpPr>
          <p:nvPr>
            <p:ph idx="1"/>
          </p:nvPr>
        </p:nvSpPr>
        <p:spPr>
          <a:xfrm>
            <a:off x="576000" y="1440000"/>
            <a:ext cx="7939350" cy="4551726"/>
          </a:xfrm>
        </p:spPr>
        <p:txBody>
          <a:bodyPr>
            <a:noAutofit/>
          </a:bodyPr>
          <a:lstStyle/>
          <a:p>
            <a:pPr>
              <a:spcBef>
                <a:spcPts val="225"/>
              </a:spcBef>
              <a:spcAft>
                <a:spcPts val="225"/>
              </a:spcAft>
            </a:pPr>
            <a:r>
              <a:rPr lang="en-US" sz="1400" b="1" dirty="0"/>
              <a:t>Changes in References</a:t>
            </a:r>
          </a:p>
          <a:p>
            <a:pPr lvl="1">
              <a:spcBef>
                <a:spcPts val="225"/>
              </a:spcBef>
              <a:spcAft>
                <a:spcPts val="225"/>
              </a:spcAft>
            </a:pPr>
            <a:r>
              <a:rPr lang="en-US" sz="1400" dirty="0"/>
              <a:t>SIMAP documents downstream references, </a:t>
            </a:r>
            <a:r>
              <a:rPr lang="en-US" sz="1400" dirty="0">
                <a:hlinkClick r:id="rId3"/>
              </a:rPr>
              <a:t>draft-</a:t>
            </a:r>
            <a:r>
              <a:rPr lang="en-US" sz="1400" dirty="0" err="1">
                <a:hlinkClick r:id="rId3"/>
              </a:rPr>
              <a:t>ietf</a:t>
            </a:r>
            <a:r>
              <a:rPr lang="en-US" sz="1400" dirty="0">
                <a:hlinkClick r:id="rId3"/>
              </a:rPr>
              <a:t>-</a:t>
            </a:r>
            <a:r>
              <a:rPr lang="en-US" sz="1400" dirty="0" err="1">
                <a:hlinkClick r:id="rId3"/>
              </a:rPr>
              <a:t>nmop</a:t>
            </a:r>
            <a:r>
              <a:rPr lang="en-US" sz="1400" dirty="0">
                <a:hlinkClick r:id="rId3"/>
              </a:rPr>
              <a:t>-</a:t>
            </a:r>
            <a:r>
              <a:rPr lang="en-US" sz="1400" dirty="0" err="1">
                <a:hlinkClick r:id="rId3"/>
              </a:rPr>
              <a:t>simap</a:t>
            </a:r>
            <a:r>
              <a:rPr lang="en-US" sz="1400" dirty="0">
                <a:hlinkClick r:id="rId3"/>
              </a:rPr>
              <a:t>-concept</a:t>
            </a:r>
            <a:r>
              <a:rPr lang="en-US" sz="1400" dirty="0"/>
              <a:t> and </a:t>
            </a:r>
            <a:r>
              <a:rPr lang="en-US" sz="1400" dirty="0">
                <a:hlinkClick r:id="rId4"/>
              </a:rPr>
              <a:t>draft-</a:t>
            </a:r>
            <a:r>
              <a:rPr lang="en-US" sz="1400" dirty="0" err="1">
                <a:hlinkClick r:id="rId4"/>
              </a:rPr>
              <a:t>havel</a:t>
            </a:r>
            <a:r>
              <a:rPr lang="en-US" sz="1400" dirty="0">
                <a:hlinkClick r:id="rId4"/>
              </a:rPr>
              <a:t>-</a:t>
            </a:r>
            <a:r>
              <a:rPr lang="en-US" sz="1400" dirty="0" err="1">
                <a:hlinkClick r:id="rId4"/>
              </a:rPr>
              <a:t>nmop</a:t>
            </a:r>
            <a:r>
              <a:rPr lang="en-US" sz="1400" dirty="0">
                <a:hlinkClick r:id="rId4"/>
              </a:rPr>
              <a:t>-</a:t>
            </a:r>
            <a:r>
              <a:rPr lang="en-US" sz="1400" dirty="0" err="1">
                <a:hlinkClick r:id="rId4"/>
              </a:rPr>
              <a:t>simap</a:t>
            </a:r>
            <a:r>
              <a:rPr lang="en-US" sz="1400" dirty="0">
                <a:hlinkClick r:id="rId4"/>
              </a:rPr>
              <a:t>-yang</a:t>
            </a:r>
            <a:r>
              <a:rPr lang="en-US" sz="1400" dirty="0"/>
              <a:t>, changed from normative to informative.</a:t>
            </a:r>
          </a:p>
          <a:p>
            <a:pPr lvl="1">
              <a:spcBef>
                <a:spcPts val="225"/>
              </a:spcBef>
              <a:spcAft>
                <a:spcPts val="225"/>
              </a:spcAft>
            </a:pPr>
            <a:r>
              <a:rPr lang="en-US" sz="1400" dirty="0"/>
              <a:t>Knowledge Graph downstream references, </a:t>
            </a:r>
            <a:r>
              <a:rPr lang="en-US" sz="1400" dirty="0">
                <a:hlinkClick r:id="rId5"/>
              </a:rPr>
              <a:t>draft-</a:t>
            </a:r>
            <a:r>
              <a:rPr lang="en-US" sz="1400" dirty="0" err="1">
                <a:hlinkClick r:id="rId5"/>
              </a:rPr>
              <a:t>mackey</a:t>
            </a:r>
            <a:r>
              <a:rPr lang="en-US" sz="1400" dirty="0">
                <a:hlinkClick r:id="rId5"/>
              </a:rPr>
              <a:t>-</a:t>
            </a:r>
            <a:r>
              <a:rPr lang="en-US" sz="1400" dirty="0" err="1">
                <a:hlinkClick r:id="rId5"/>
              </a:rPr>
              <a:t>nmop</a:t>
            </a:r>
            <a:r>
              <a:rPr lang="en-US" sz="1400" dirty="0">
                <a:hlinkClick r:id="rId5"/>
              </a:rPr>
              <a:t>-kg-for-netops</a:t>
            </a:r>
            <a:r>
              <a:rPr lang="en-US" sz="1400" dirty="0"/>
              <a:t>, changed from normative to informative.</a:t>
            </a:r>
          </a:p>
          <a:p>
            <a:pPr>
              <a:spcBef>
                <a:spcPts val="225"/>
              </a:spcBef>
              <a:spcAft>
                <a:spcPts val="225"/>
              </a:spcAft>
            </a:pPr>
            <a:r>
              <a:rPr lang="en-US" sz="1400" b="1" dirty="0"/>
              <a:t>Network Incident Contribution</a:t>
            </a:r>
          </a:p>
          <a:p>
            <a:pPr lvl="1">
              <a:spcBef>
                <a:spcPts val="225"/>
              </a:spcBef>
              <a:spcAft>
                <a:spcPts val="225"/>
              </a:spcAft>
            </a:pPr>
            <a:r>
              <a:rPr lang="en-GB" sz="1400" dirty="0"/>
              <a:t>Updated Network Anomaly Detection relationship in </a:t>
            </a:r>
            <a:r>
              <a:rPr lang="en-GB" sz="1400" dirty="0">
                <a:hlinkClick r:id="rId6"/>
              </a:rPr>
              <a:t>draft-ietf-nmop-network-incident-yang-10#section-9.5</a:t>
            </a:r>
            <a:endParaRPr lang="en-GB" sz="1400" dirty="0"/>
          </a:p>
        </p:txBody>
      </p:sp>
      <p:sp>
        <p:nvSpPr>
          <p:cNvPr id="2" name="Title 1">
            <a:extLst>
              <a:ext uri="{FF2B5EF4-FFF2-40B4-BE49-F238E27FC236}">
                <a16:creationId xmlns:a16="http://schemas.microsoft.com/office/drawing/2014/main" id="{3219CA57-C4F2-8E12-EB3C-B9496482903B}"/>
              </a:ext>
            </a:extLst>
          </p:cNvPr>
          <p:cNvSpPr>
            <a:spLocks noGrp="1"/>
          </p:cNvSpPr>
          <p:nvPr>
            <p:ph type="title"/>
          </p:nvPr>
        </p:nvSpPr>
        <p:spPr/>
        <p:txBody>
          <a:bodyPr>
            <a:normAutofit/>
          </a:bodyPr>
          <a:lstStyle/>
          <a:p>
            <a:pPr algn="l"/>
            <a:r>
              <a:rPr lang="en-US" sz="2400" b="1" dirty="0"/>
              <a:t>Network Anomaly Detection Architecture</a:t>
            </a:r>
            <a:br>
              <a:rPr lang="en-US" sz="3200" dirty="0"/>
            </a:br>
            <a:r>
              <a:rPr lang="en-US" sz="2000" dirty="0">
                <a:solidFill>
                  <a:schemeClr val="bg2">
                    <a:lumMod val="75000"/>
                  </a:schemeClr>
                </a:solidFill>
              </a:rPr>
              <a:t>Key draft updates since v-07, IETF 125</a:t>
            </a:r>
          </a:p>
        </p:txBody>
      </p:sp>
      <p:sp>
        <p:nvSpPr>
          <p:cNvPr id="4" name="Title 1">
            <a:extLst>
              <a:ext uri="{FF2B5EF4-FFF2-40B4-BE49-F238E27FC236}">
                <a16:creationId xmlns:a16="http://schemas.microsoft.com/office/drawing/2014/main" id="{BD683859-82C2-A142-ED34-82FDB4B6D333}"/>
              </a:ext>
            </a:extLst>
          </p:cNvPr>
          <p:cNvSpPr txBox="1">
            <a:spLocks/>
          </p:cNvSpPr>
          <p:nvPr/>
        </p:nvSpPr>
        <p:spPr>
          <a:xfrm>
            <a:off x="628650" y="458592"/>
            <a:ext cx="7886700" cy="99417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n-US" sz="1950" dirty="0">
              <a:solidFill>
                <a:schemeClr val="bg2">
                  <a:lumMod val="75000"/>
                </a:schemeClr>
              </a:solidFill>
            </a:endParaRPr>
          </a:p>
        </p:txBody>
      </p:sp>
      <p:sp>
        <p:nvSpPr>
          <p:cNvPr id="6" name="Slide Number Placeholder 5">
            <a:extLst>
              <a:ext uri="{FF2B5EF4-FFF2-40B4-BE49-F238E27FC236}">
                <a16:creationId xmlns:a16="http://schemas.microsoft.com/office/drawing/2014/main" id="{CD4F497C-A7FD-B42B-DEBC-3C43CBD64062}"/>
              </a:ext>
            </a:extLst>
          </p:cNvPr>
          <p:cNvSpPr>
            <a:spLocks noGrp="1"/>
          </p:cNvSpPr>
          <p:nvPr>
            <p:ph type="sldNum" sz="quarter" idx="12"/>
          </p:nvPr>
        </p:nvSpPr>
        <p:spPr/>
        <p:txBody>
          <a:bodyPr/>
          <a:lstStyle/>
          <a:p>
            <a:fld id="{C1FF6DA9-008F-8B48-92A6-B652298478BF}" type="slidenum">
              <a:rPr lang="en-US" smtClean="0"/>
              <a:t>5</a:t>
            </a:fld>
            <a:endParaRPr lang="en-US"/>
          </a:p>
        </p:txBody>
      </p:sp>
    </p:spTree>
    <p:extLst>
      <p:ext uri="{BB962C8B-B14F-4D97-AF65-F5344CB8AC3E}">
        <p14:creationId xmlns:p14="http://schemas.microsoft.com/office/powerpoint/2010/main" val="3476293507"/>
      </p:ext>
    </p:extLst>
  </p:cSld>
  <p:clrMapOvr>
    <a:masterClrMapping/>
  </p:clrMapOvr>
  <mc:AlternateContent xmlns:mc="http://schemas.openxmlformats.org/markup-compatibility/2006" xmlns:p14="http://schemas.microsoft.com/office/powerpoint/2010/main">
    <mc:Choice Requires="p14">
      <p:transition spd="slow" p14:dur="2000" advTm="7225"/>
    </mc:Choice>
    <mc:Fallback xmlns="">
      <p:transition spd="slow" advTm="722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B2249-8EA3-AD1B-F541-4AB026F92A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D7D68-AE35-F253-F991-5FB07AD4D934}"/>
              </a:ext>
            </a:extLst>
          </p:cNvPr>
          <p:cNvSpPr>
            <a:spLocks noGrp="1"/>
          </p:cNvSpPr>
          <p:nvPr>
            <p:ph type="title"/>
          </p:nvPr>
        </p:nvSpPr>
        <p:spPr/>
        <p:txBody>
          <a:bodyPr>
            <a:normAutofit fontScale="90000"/>
          </a:bodyPr>
          <a:lstStyle/>
          <a:p>
            <a:r>
              <a:rPr lang="en-US" dirty="0"/>
              <a:t>draft-ietf-nmop-network-anomaly-semantics-06</a:t>
            </a:r>
            <a:br>
              <a:rPr lang="en-CH" dirty="0"/>
            </a:br>
            <a:endParaRPr lang="en-CH" dirty="0"/>
          </a:p>
        </p:txBody>
      </p:sp>
      <p:sp>
        <p:nvSpPr>
          <p:cNvPr id="3" name="Text Placeholder 2">
            <a:extLst>
              <a:ext uri="{FF2B5EF4-FFF2-40B4-BE49-F238E27FC236}">
                <a16:creationId xmlns:a16="http://schemas.microsoft.com/office/drawing/2014/main" id="{46C4AD15-ADF2-CD3D-4115-04FBB7986E44}"/>
              </a:ext>
            </a:extLst>
          </p:cNvPr>
          <p:cNvSpPr>
            <a:spLocks noGrp="1"/>
          </p:cNvSpPr>
          <p:nvPr>
            <p:ph type="body" idx="1"/>
          </p:nvPr>
        </p:nvSpPr>
        <p:spPr/>
        <p:txBody>
          <a:bodyPr/>
          <a:lstStyle/>
          <a:p>
            <a:r>
              <a:rPr lang="en-US" b="1" dirty="0"/>
              <a:t>Semantic Metadata Annotation</a:t>
            </a:r>
          </a:p>
        </p:txBody>
      </p:sp>
      <p:sp>
        <p:nvSpPr>
          <p:cNvPr id="5" name="Slide Number Placeholder 4">
            <a:extLst>
              <a:ext uri="{FF2B5EF4-FFF2-40B4-BE49-F238E27FC236}">
                <a16:creationId xmlns:a16="http://schemas.microsoft.com/office/drawing/2014/main" id="{1025E98F-3AAC-47C5-95F2-2F537AA5445A}"/>
              </a:ext>
            </a:extLst>
          </p:cNvPr>
          <p:cNvSpPr>
            <a:spLocks noGrp="1"/>
          </p:cNvSpPr>
          <p:nvPr>
            <p:ph type="sldNum" sz="quarter" idx="12"/>
          </p:nvPr>
        </p:nvSpPr>
        <p:spPr/>
        <p:txBody>
          <a:bodyPr/>
          <a:lstStyle/>
          <a:p>
            <a:fld id="{C1FF6DA9-008F-8B48-92A6-B652298478BF}" type="slidenum">
              <a:rPr lang="en-US" smtClean="0"/>
              <a:t>6</a:t>
            </a:fld>
            <a:endParaRPr lang="en-US"/>
          </a:p>
        </p:txBody>
      </p:sp>
    </p:spTree>
    <p:extLst>
      <p:ext uri="{BB962C8B-B14F-4D97-AF65-F5344CB8AC3E}">
        <p14:creationId xmlns:p14="http://schemas.microsoft.com/office/powerpoint/2010/main" val="491232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F271-6F0D-4AC0-BB1D-F5C338165C13}"/>
              </a:ext>
            </a:extLst>
          </p:cNvPr>
          <p:cNvSpPr>
            <a:spLocks noGrp="1"/>
          </p:cNvSpPr>
          <p:nvPr>
            <p:ph type="title"/>
          </p:nvPr>
        </p:nvSpPr>
        <p:spPr/>
        <p:txBody>
          <a:bodyPr>
            <a:normAutofit/>
          </a:bodyPr>
          <a:lstStyle/>
          <a:p>
            <a:pPr algn="l"/>
            <a:r>
              <a:rPr lang="en-US" sz="2400" b="1" dirty="0"/>
              <a:t>Semantic Metadata Annotation</a:t>
            </a:r>
            <a:br>
              <a:rPr lang="en-GB" sz="2700" dirty="0"/>
            </a:br>
            <a:r>
              <a:rPr lang="de-CH" sz="2000" dirty="0" err="1">
                <a:solidFill>
                  <a:schemeClr val="bg2">
                    <a:lumMod val="75000"/>
                  </a:schemeClr>
                </a:solidFill>
              </a:rPr>
              <a:t>Document</a:t>
            </a:r>
            <a:r>
              <a:rPr lang="de-CH" sz="2000" dirty="0">
                <a:solidFill>
                  <a:schemeClr val="bg2">
                    <a:lumMod val="75000"/>
                  </a:schemeClr>
                </a:solidFill>
              </a:rPr>
              <a:t> </a:t>
            </a:r>
            <a:r>
              <a:rPr lang="de-CH" sz="2000" dirty="0" err="1">
                <a:solidFill>
                  <a:schemeClr val="bg2">
                    <a:lumMod val="75000"/>
                  </a:schemeClr>
                </a:solidFill>
              </a:rPr>
              <a:t>summary</a:t>
            </a:r>
            <a:endParaRPr lang="en-US" sz="2000" dirty="0">
              <a:solidFill>
                <a:schemeClr val="bg2">
                  <a:lumMod val="75000"/>
                </a:schemeClr>
              </a:solidFill>
            </a:endParaRPr>
          </a:p>
        </p:txBody>
      </p:sp>
      <p:sp>
        <p:nvSpPr>
          <p:cNvPr id="7" name="Content Placeholder 2">
            <a:extLst>
              <a:ext uri="{FF2B5EF4-FFF2-40B4-BE49-F238E27FC236}">
                <a16:creationId xmlns:a16="http://schemas.microsoft.com/office/drawing/2014/main" id="{EA228C44-AD06-2820-5E3C-FF8DEA10453D}"/>
              </a:ext>
            </a:extLst>
          </p:cNvPr>
          <p:cNvSpPr txBox="1">
            <a:spLocks/>
          </p:cNvSpPr>
          <p:nvPr/>
        </p:nvSpPr>
        <p:spPr>
          <a:xfrm>
            <a:off x="720000" y="1800000"/>
            <a:ext cx="3634050" cy="42540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1600" b="1" dirty="0"/>
              <a:t>Motivation:</a:t>
            </a:r>
          </a:p>
          <a:p>
            <a:pPr marL="0" indent="0">
              <a:buNone/>
            </a:pPr>
            <a:r>
              <a:rPr lang="en-GB" sz="1600" dirty="0"/>
              <a:t>Enable the </a:t>
            </a:r>
            <a:r>
              <a:rPr lang="en-GB" sz="1600" dirty="0">
                <a:solidFill>
                  <a:schemeClr val="accent2"/>
                </a:solidFill>
              </a:rPr>
              <a:t>exchange</a:t>
            </a:r>
            <a:r>
              <a:rPr lang="en-GB" sz="1600" dirty="0"/>
              <a:t> of network anomaly data across diverse systems and support </a:t>
            </a:r>
            <a:r>
              <a:rPr lang="en-GB" sz="1600" dirty="0">
                <a:solidFill>
                  <a:schemeClr val="accent2"/>
                </a:solidFill>
              </a:rPr>
              <a:t>benchmarking</a:t>
            </a:r>
            <a:r>
              <a:rPr lang="en-GB" sz="1600" dirty="0"/>
              <a:t> of anomaly detection solutions</a:t>
            </a:r>
          </a:p>
          <a:p>
            <a:pPr marL="0" indent="0">
              <a:buNone/>
            </a:pPr>
            <a:endParaRPr lang="en-GB" sz="1600" dirty="0"/>
          </a:p>
          <a:p>
            <a:pPr marL="0" indent="0">
              <a:buNone/>
            </a:pPr>
            <a:r>
              <a:rPr lang="en-GB" sz="1600" b="1" dirty="0"/>
              <a:t>Approach:</a:t>
            </a:r>
          </a:p>
          <a:p>
            <a:pPr marL="0" indent="0">
              <a:buNone/>
            </a:pPr>
            <a:r>
              <a:rPr lang="en-GB" sz="1600" dirty="0"/>
              <a:t>Define a </a:t>
            </a:r>
            <a:r>
              <a:rPr lang="en-GB" sz="1600" dirty="0">
                <a:solidFill>
                  <a:schemeClr val="accent2"/>
                </a:solidFill>
              </a:rPr>
              <a:t>standardized semantic metadata schema</a:t>
            </a:r>
            <a:r>
              <a:rPr lang="en-GB" sz="1600" dirty="0"/>
              <a:t> and a set of </a:t>
            </a:r>
            <a:r>
              <a:rPr lang="en-GB" sz="1600" dirty="0">
                <a:solidFill>
                  <a:schemeClr val="accent2"/>
                </a:solidFill>
              </a:rPr>
              <a:t>semantically structured terms</a:t>
            </a:r>
          </a:p>
          <a:p>
            <a:pPr marL="0" indent="0">
              <a:buNone/>
            </a:pPr>
            <a:endParaRPr lang="en-GB" sz="1600" dirty="0"/>
          </a:p>
          <a:p>
            <a:pPr marL="0" indent="0">
              <a:buNone/>
            </a:pPr>
            <a:r>
              <a:rPr lang="en-GB" sz="1600" b="1" dirty="0"/>
              <a:t>Outcome:</a:t>
            </a:r>
          </a:p>
          <a:p>
            <a:pPr marL="0" indent="0">
              <a:buNone/>
            </a:pPr>
            <a:r>
              <a:rPr lang="en-GB" sz="1600" dirty="0"/>
              <a:t>Provide </a:t>
            </a:r>
            <a:r>
              <a:rPr lang="en-GB" sz="1600" dirty="0">
                <a:solidFill>
                  <a:schemeClr val="accent2"/>
                </a:solidFill>
              </a:rPr>
              <a:t>human‑readable context </a:t>
            </a:r>
            <a:r>
              <a:rPr lang="en-GB" sz="1600" dirty="0"/>
              <a:t>for describing and understanding network anomalies</a:t>
            </a:r>
          </a:p>
          <a:p>
            <a:pPr marL="0" indent="0">
              <a:buNone/>
            </a:pPr>
            <a:endParaRPr lang="en-GB" sz="1600" dirty="0"/>
          </a:p>
        </p:txBody>
      </p:sp>
      <p:sp>
        <p:nvSpPr>
          <p:cNvPr id="4" name="Slide Number Placeholder 3">
            <a:extLst>
              <a:ext uri="{FF2B5EF4-FFF2-40B4-BE49-F238E27FC236}">
                <a16:creationId xmlns:a16="http://schemas.microsoft.com/office/drawing/2014/main" id="{BFD17BF7-8839-A366-6517-3CD75407F2B2}"/>
              </a:ext>
            </a:extLst>
          </p:cNvPr>
          <p:cNvSpPr>
            <a:spLocks noGrp="1"/>
          </p:cNvSpPr>
          <p:nvPr>
            <p:ph type="sldNum" sz="quarter" idx="12"/>
          </p:nvPr>
        </p:nvSpPr>
        <p:spPr/>
        <p:txBody>
          <a:bodyPr/>
          <a:lstStyle/>
          <a:p>
            <a:fld id="{C1FF6DA9-008F-8B48-92A6-B652298478BF}" type="slidenum">
              <a:rPr lang="en-US" smtClean="0"/>
              <a:t>7</a:t>
            </a:fld>
            <a:endParaRPr lang="en-US"/>
          </a:p>
        </p:txBody>
      </p:sp>
      <p:pic>
        <p:nvPicPr>
          <p:cNvPr id="9" name="Picture 8">
            <a:extLst>
              <a:ext uri="{FF2B5EF4-FFF2-40B4-BE49-F238E27FC236}">
                <a16:creationId xmlns:a16="http://schemas.microsoft.com/office/drawing/2014/main" id="{C9EE802A-AAC0-3970-5D1D-8C06FC499A02}"/>
              </a:ext>
            </a:extLst>
          </p:cNvPr>
          <p:cNvPicPr>
            <a:picLocks noChangeAspect="1"/>
          </p:cNvPicPr>
          <p:nvPr/>
        </p:nvPicPr>
        <p:blipFill>
          <a:blip r:embed="rId3"/>
          <a:stretch>
            <a:fillRect/>
          </a:stretch>
        </p:blipFill>
        <p:spPr>
          <a:xfrm>
            <a:off x="4879975" y="2314575"/>
            <a:ext cx="3346450" cy="2228850"/>
          </a:xfrm>
          <a:prstGeom prst="rect">
            <a:avLst/>
          </a:prstGeom>
        </p:spPr>
      </p:pic>
    </p:spTree>
    <p:extLst>
      <p:ext uri="{BB962C8B-B14F-4D97-AF65-F5344CB8AC3E}">
        <p14:creationId xmlns:p14="http://schemas.microsoft.com/office/powerpoint/2010/main" val="1376393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9A088-43F4-675F-55B8-F900E67E7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89D996-32CC-F1DF-7AF4-6649A3C8B347}"/>
              </a:ext>
            </a:extLst>
          </p:cNvPr>
          <p:cNvSpPr>
            <a:spLocks noGrp="1"/>
          </p:cNvSpPr>
          <p:nvPr>
            <p:ph type="title"/>
          </p:nvPr>
        </p:nvSpPr>
        <p:spPr/>
        <p:txBody>
          <a:bodyPr>
            <a:normAutofit/>
          </a:bodyPr>
          <a:lstStyle/>
          <a:p>
            <a:pPr algn="l"/>
            <a:r>
              <a:rPr lang="en-US" sz="2400" b="1" dirty="0"/>
              <a:t>Semantic Metadata Annotation</a:t>
            </a:r>
            <a:br>
              <a:rPr lang="en-GB" sz="2700" dirty="0"/>
            </a:br>
            <a:r>
              <a:rPr lang="en-US" sz="2000" dirty="0">
                <a:solidFill>
                  <a:schemeClr val="bg2">
                    <a:lumMod val="75000"/>
                  </a:schemeClr>
                </a:solidFill>
              </a:rPr>
              <a:t>Key draft updates since v-06, IETF 125</a:t>
            </a:r>
          </a:p>
        </p:txBody>
      </p:sp>
      <p:sp>
        <p:nvSpPr>
          <p:cNvPr id="6" name="TextBox 5">
            <a:extLst>
              <a:ext uri="{FF2B5EF4-FFF2-40B4-BE49-F238E27FC236}">
                <a16:creationId xmlns:a16="http://schemas.microsoft.com/office/drawing/2014/main" id="{61FD69DD-927F-F130-C46D-D0FFD67FE037}"/>
              </a:ext>
            </a:extLst>
          </p:cNvPr>
          <p:cNvSpPr txBox="1"/>
          <p:nvPr/>
        </p:nvSpPr>
        <p:spPr>
          <a:xfrm>
            <a:off x="5886450" y="428178"/>
            <a:ext cx="2998552" cy="6001643"/>
          </a:xfrm>
          <a:prstGeom prst="rect">
            <a:avLst/>
          </a:prstGeom>
          <a:noFill/>
        </p:spPr>
        <p:txBody>
          <a:bodyPr wrap="square">
            <a:spAutoFit/>
          </a:bodyPr>
          <a:lstStyle/>
          <a:p>
            <a:r>
              <a:rPr lang="de-CH" sz="640" dirty="0" err="1">
                <a:latin typeface="Courier New" panose="02070309020205020404" pitchFamily="49" charset="0"/>
                <a:cs typeface="Courier New" panose="02070309020205020404" pitchFamily="49" charset="0"/>
              </a:rPr>
              <a:t>module</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ietf</a:t>
            </a:r>
            <a:r>
              <a:rPr lang="de-CH" sz="640" dirty="0">
                <a:latin typeface="Courier New" panose="02070309020205020404" pitchFamily="49" charset="0"/>
                <a:cs typeface="Courier New" panose="02070309020205020404" pitchFamily="49" charset="0"/>
              </a:rPr>
              <a:t>-network-</a:t>
            </a:r>
            <a:r>
              <a:rPr lang="de-CH" sz="640" dirty="0" err="1">
                <a:latin typeface="Courier New" panose="02070309020205020404" pitchFamily="49" charset="0"/>
                <a:cs typeface="Courier New" panose="02070309020205020404" pitchFamily="49" charset="0"/>
              </a:rPr>
              <a:t>anomaly</a:t>
            </a:r>
            <a:r>
              <a:rPr lang="de-CH" sz="640" dirty="0">
                <a:latin typeface="Courier New" panose="02070309020205020404" pitchFamily="49" charset="0"/>
                <a:cs typeface="Courier New" panose="02070309020205020404" pitchFamily="49" charset="0"/>
              </a:rPr>
              <a:t>-service-</a:t>
            </a:r>
            <a:r>
              <a:rPr lang="de-CH" sz="640" dirty="0" err="1">
                <a:latin typeface="Courier New" panose="02070309020205020404" pitchFamily="49" charset="0"/>
                <a:cs typeface="Courier New" panose="02070309020205020404" pitchFamily="49" charset="0"/>
              </a:rPr>
              <a:t>topology</a:t>
            </a:r>
            <a:endParaRPr lang="de-CH" sz="640" dirty="0">
              <a:latin typeface="Courier New" panose="02070309020205020404" pitchFamily="49" charset="0"/>
              <a:cs typeface="Courier New" panose="02070309020205020404" pitchFamily="49" charset="0"/>
            </a:endParaRPr>
          </a:p>
          <a:p>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augment</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rsn:relevant-state</a:t>
            </a:r>
            <a:r>
              <a:rPr lang="de-CH" sz="640" dirty="0">
                <a:latin typeface="Courier New" panose="02070309020205020404" pitchFamily="49" charset="0"/>
                <a:cs typeface="Courier New" panose="02070309020205020404" pitchFamily="49" charset="0"/>
              </a:rPr>
              <a:t>/</a:t>
            </a:r>
            <a:r>
              <a:rPr lang="de-CH" sz="640" dirty="0" err="1">
                <a:latin typeface="Courier New" panose="02070309020205020404" pitchFamily="49" charset="0"/>
                <a:cs typeface="Courier New" panose="02070309020205020404" pitchFamily="49" charset="0"/>
              </a:rPr>
              <a:t>rsn:service</a:t>
            </a:r>
            <a:r>
              <a:rPr lang="de-CH" sz="640" dirty="0">
                <a:latin typeface="Courier New" panose="02070309020205020404" pitchFamily="49" charset="0"/>
                <a:cs typeface="Courier New" panose="02070309020205020404" pitchFamily="49" charset="0"/>
              </a:rPr>
              <a:t>:</a:t>
            </a:r>
          </a:p>
          <a:p>
            <a:r>
              <a:rPr lang="de-CH" sz="640" dirty="0">
                <a:latin typeface="Courier New" panose="02070309020205020404" pitchFamily="49" charset="0"/>
                <a:cs typeface="Courier New" panose="02070309020205020404" pitchFamily="49" charset="0"/>
              </a:rPr>
              <a:t>    +--:(l2vpn)</a:t>
            </a: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l2vpn-service* [</a:t>
            </a:r>
            <a:r>
              <a:rPr lang="de-CH" sz="640" dirty="0" err="1">
                <a:latin typeface="Courier New" panose="02070309020205020404" pitchFamily="49" charset="0"/>
                <a:cs typeface="Courier New" panose="02070309020205020404" pitchFamily="49" charset="0"/>
              </a:rPr>
              <a:t>vpn-id</a:t>
            </a:r>
            <a:r>
              <a:rPr lang="de-CH" sz="640" dirty="0">
                <a:latin typeface="Courier New" panose="02070309020205020404" pitchFamily="49" charset="0"/>
                <a:cs typeface="Courier New" panose="02070309020205020404" pitchFamily="49" charset="0"/>
              </a:rPr>
              <a:t>]</a:t>
            </a: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vpn-id</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uri</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inet:uri</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vpn</a:t>
            </a:r>
            <a:r>
              <a:rPr lang="de-CH" sz="640" dirty="0">
                <a:latin typeface="Courier New" panose="02070309020205020404" pitchFamily="49" charset="0"/>
                <a:cs typeface="Courier New" panose="02070309020205020404" pitchFamily="49" charset="0"/>
              </a:rPr>
              <a:t>-name?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site-</a:t>
            </a:r>
            <a:r>
              <a:rPr lang="de-CH" sz="640" dirty="0" err="1">
                <a:latin typeface="Courier New" panose="02070309020205020404" pitchFamily="49" charset="0"/>
                <a:cs typeface="Courier New" panose="02070309020205020404" pitchFamily="49" charset="0"/>
              </a:rPr>
              <a:t>ids</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change-id</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yang:uuid</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change</a:t>
            </a:r>
            <a:r>
              <a:rPr lang="de-CH" sz="640" dirty="0">
                <a:latin typeface="Courier New" panose="02070309020205020404" pitchFamily="49" charset="0"/>
                <a:cs typeface="Courier New" panose="02070309020205020404" pitchFamily="49" charset="0"/>
              </a:rPr>
              <a:t>-start-time?   </a:t>
            </a:r>
            <a:r>
              <a:rPr lang="de-CH" sz="640" dirty="0" err="1">
                <a:latin typeface="Courier New" panose="02070309020205020404" pitchFamily="49" charset="0"/>
                <a:cs typeface="Courier New" panose="02070309020205020404" pitchFamily="49" charset="0"/>
              </a:rPr>
              <a:t>yang:date-and-time</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change</a:t>
            </a:r>
            <a:r>
              <a:rPr lang="de-CH" sz="640" dirty="0">
                <a:latin typeface="Courier New" panose="02070309020205020404" pitchFamily="49" charset="0"/>
                <a:cs typeface="Courier New" panose="02070309020205020404" pitchFamily="49" charset="0"/>
              </a:rPr>
              <a:t>-end-time?     </a:t>
            </a:r>
            <a:r>
              <a:rPr lang="de-CH" sz="640" dirty="0" err="1">
                <a:latin typeface="Courier New" panose="02070309020205020404" pitchFamily="49" charset="0"/>
                <a:cs typeface="Courier New" panose="02070309020205020404" pitchFamily="49" charset="0"/>
              </a:rPr>
              <a:t>yang:date-and-time</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+--:(l3vpn)</a:t>
            </a: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l3vpn-service* [</a:t>
            </a:r>
            <a:r>
              <a:rPr lang="de-CH" sz="640" dirty="0" err="1">
                <a:latin typeface="Courier New" panose="02070309020205020404" pitchFamily="49" charset="0"/>
                <a:cs typeface="Courier New" panose="02070309020205020404" pitchFamily="49" charset="0"/>
              </a:rPr>
              <a:t>vpn-id</a:t>
            </a:r>
            <a:r>
              <a:rPr lang="de-CH" sz="640" dirty="0">
                <a:latin typeface="Courier New" panose="02070309020205020404" pitchFamily="49" charset="0"/>
                <a:cs typeface="Courier New" panose="02070309020205020404" pitchFamily="49" charset="0"/>
              </a:rPr>
              <a:t>]</a:t>
            </a: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vpn-id</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uri</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inet:uri</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vpn</a:t>
            </a:r>
            <a:r>
              <a:rPr lang="de-CH" sz="640" dirty="0">
                <a:latin typeface="Courier New" panose="02070309020205020404" pitchFamily="49" charset="0"/>
                <a:cs typeface="Courier New" panose="02070309020205020404" pitchFamily="49" charset="0"/>
              </a:rPr>
              <a:t>-name?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site-</a:t>
            </a:r>
            <a:r>
              <a:rPr lang="de-CH" sz="640" dirty="0" err="1">
                <a:latin typeface="Courier New" panose="02070309020205020404" pitchFamily="49" charset="0"/>
                <a:cs typeface="Courier New" panose="02070309020205020404" pitchFamily="49" charset="0"/>
              </a:rPr>
              <a:t>ids</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change-id</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yang:uuid</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change</a:t>
            </a:r>
            <a:r>
              <a:rPr lang="de-CH" sz="640" dirty="0">
                <a:latin typeface="Courier New" panose="02070309020205020404" pitchFamily="49" charset="0"/>
                <a:cs typeface="Courier New" panose="02070309020205020404" pitchFamily="49" charset="0"/>
              </a:rPr>
              <a:t>-start-time?   </a:t>
            </a:r>
            <a:r>
              <a:rPr lang="de-CH" sz="640" dirty="0" err="1">
                <a:latin typeface="Courier New" panose="02070309020205020404" pitchFamily="49" charset="0"/>
                <a:cs typeface="Courier New" panose="02070309020205020404" pitchFamily="49" charset="0"/>
              </a:rPr>
              <a:t>yang:date-and-time</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change</a:t>
            </a:r>
            <a:r>
              <a:rPr lang="de-CH" sz="640" dirty="0">
                <a:latin typeface="Courier New" panose="02070309020205020404" pitchFamily="49" charset="0"/>
                <a:cs typeface="Courier New" panose="02070309020205020404" pitchFamily="49" charset="0"/>
              </a:rPr>
              <a:t>-end-time?     </a:t>
            </a:r>
            <a:r>
              <a:rPr lang="de-CH" sz="640" dirty="0" err="1">
                <a:latin typeface="Courier New" panose="02070309020205020404" pitchFamily="49" charset="0"/>
                <a:cs typeface="Courier New" panose="02070309020205020404" pitchFamily="49" charset="0"/>
              </a:rPr>
              <a:t>yang:date-and-time</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augment</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rsn:relevant-state-notification</a:t>
            </a:r>
            <a:r>
              <a:rPr lang="de-CH" sz="640" dirty="0">
                <a:latin typeface="Courier New" panose="02070309020205020404" pitchFamily="49" charset="0"/>
                <a:cs typeface="Courier New" panose="02070309020205020404" pitchFamily="49" charset="0"/>
              </a:rPr>
              <a:t>/</a:t>
            </a:r>
            <a:r>
              <a:rPr lang="de-CH" sz="640" dirty="0" err="1">
                <a:latin typeface="Courier New" panose="02070309020205020404" pitchFamily="49" charset="0"/>
                <a:cs typeface="Courier New" panose="02070309020205020404" pitchFamily="49" charset="0"/>
              </a:rPr>
              <a:t>rsn:service</a:t>
            </a:r>
            <a:r>
              <a:rPr lang="de-CH" sz="640" dirty="0">
                <a:latin typeface="Courier New" panose="02070309020205020404" pitchFamily="49" charset="0"/>
                <a:cs typeface="Courier New" panose="02070309020205020404" pitchFamily="49" charset="0"/>
              </a:rPr>
              <a:t>:</a:t>
            </a:r>
          </a:p>
          <a:p>
            <a:r>
              <a:rPr lang="de-CH" sz="640" dirty="0">
                <a:latin typeface="Courier New" panose="02070309020205020404" pitchFamily="49" charset="0"/>
                <a:cs typeface="Courier New" panose="02070309020205020404" pitchFamily="49" charset="0"/>
              </a:rPr>
              <a:t>    +--:(l2vpn)</a:t>
            </a:r>
          </a:p>
          <a:p>
            <a:r>
              <a:rPr lang="de-CH" sz="640" dirty="0">
                <a:latin typeface="Courier New" panose="02070309020205020404" pitchFamily="49" charset="0"/>
                <a:cs typeface="Courier New" panose="02070309020205020404" pitchFamily="49" charset="0"/>
              </a:rPr>
              <a:t>    |  +-- l2vpn-service* [</a:t>
            </a:r>
            <a:r>
              <a:rPr lang="de-CH" sz="640" dirty="0" err="1">
                <a:latin typeface="Courier New" panose="02070309020205020404" pitchFamily="49" charset="0"/>
                <a:cs typeface="Courier New" panose="02070309020205020404" pitchFamily="49" charset="0"/>
              </a:rPr>
              <a:t>vpn-id</a:t>
            </a:r>
            <a:r>
              <a:rPr lang="de-CH" sz="640" dirty="0">
                <a:latin typeface="Courier New" panose="02070309020205020404" pitchFamily="49" charset="0"/>
                <a:cs typeface="Courier New" panose="02070309020205020404" pitchFamily="49" charset="0"/>
              </a:rPr>
              <a:t>]</a:t>
            </a:r>
          </a:p>
          <a:p>
            <a:r>
              <a:rPr lang="de-CH" sz="640" dirty="0">
                <a:latin typeface="Courier New" panose="02070309020205020404" pitchFamily="49" charset="0"/>
                <a:cs typeface="Courier New" panose="02070309020205020404" pitchFamily="49" charset="0"/>
              </a:rPr>
              <a:t>    |     +-- </a:t>
            </a:r>
            <a:r>
              <a:rPr lang="de-CH" sz="640" dirty="0" err="1">
                <a:latin typeface="Courier New" panose="02070309020205020404" pitchFamily="49" charset="0"/>
                <a:cs typeface="Courier New" panose="02070309020205020404" pitchFamily="49" charset="0"/>
              </a:rPr>
              <a:t>vpn-id</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 </a:t>
            </a:r>
            <a:r>
              <a:rPr lang="de-CH" sz="640" dirty="0" err="1">
                <a:latin typeface="Courier New" panose="02070309020205020404" pitchFamily="49" charset="0"/>
                <a:cs typeface="Courier New" panose="02070309020205020404" pitchFamily="49" charset="0"/>
              </a:rPr>
              <a:t>uri</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inet:uri</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 </a:t>
            </a:r>
            <a:r>
              <a:rPr lang="de-CH" sz="640" dirty="0" err="1">
                <a:latin typeface="Courier New" panose="02070309020205020404" pitchFamily="49" charset="0"/>
                <a:cs typeface="Courier New" panose="02070309020205020404" pitchFamily="49" charset="0"/>
              </a:rPr>
              <a:t>vpn</a:t>
            </a:r>
            <a:r>
              <a:rPr lang="de-CH" sz="640" dirty="0">
                <a:latin typeface="Courier New" panose="02070309020205020404" pitchFamily="49" charset="0"/>
                <a:cs typeface="Courier New" panose="02070309020205020404" pitchFamily="49" charset="0"/>
              </a:rPr>
              <a:t>-name?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 site-</a:t>
            </a:r>
            <a:r>
              <a:rPr lang="de-CH" sz="640" dirty="0" err="1">
                <a:latin typeface="Courier New" panose="02070309020205020404" pitchFamily="49" charset="0"/>
                <a:cs typeface="Courier New" panose="02070309020205020404" pitchFamily="49" charset="0"/>
              </a:rPr>
              <a:t>ids</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 </a:t>
            </a:r>
            <a:r>
              <a:rPr lang="de-CH" sz="640" dirty="0" err="1">
                <a:latin typeface="Courier New" panose="02070309020205020404" pitchFamily="49" charset="0"/>
                <a:cs typeface="Courier New" panose="02070309020205020404" pitchFamily="49" charset="0"/>
              </a:rPr>
              <a:t>change-id</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yang:uuid</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 </a:t>
            </a:r>
            <a:r>
              <a:rPr lang="de-CH" sz="640" dirty="0" err="1">
                <a:latin typeface="Courier New" panose="02070309020205020404" pitchFamily="49" charset="0"/>
                <a:cs typeface="Courier New" panose="02070309020205020404" pitchFamily="49" charset="0"/>
              </a:rPr>
              <a:t>change</a:t>
            </a:r>
            <a:r>
              <a:rPr lang="de-CH" sz="640" dirty="0">
                <a:latin typeface="Courier New" panose="02070309020205020404" pitchFamily="49" charset="0"/>
                <a:cs typeface="Courier New" panose="02070309020205020404" pitchFamily="49" charset="0"/>
              </a:rPr>
              <a:t>-start-time?   </a:t>
            </a:r>
            <a:r>
              <a:rPr lang="de-CH" sz="640" dirty="0" err="1">
                <a:latin typeface="Courier New" panose="02070309020205020404" pitchFamily="49" charset="0"/>
                <a:cs typeface="Courier New" panose="02070309020205020404" pitchFamily="49" charset="0"/>
              </a:rPr>
              <a:t>yang:date-and-time</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 </a:t>
            </a:r>
            <a:r>
              <a:rPr lang="de-CH" sz="640" dirty="0" err="1">
                <a:latin typeface="Courier New" panose="02070309020205020404" pitchFamily="49" charset="0"/>
                <a:cs typeface="Courier New" panose="02070309020205020404" pitchFamily="49" charset="0"/>
              </a:rPr>
              <a:t>change</a:t>
            </a:r>
            <a:r>
              <a:rPr lang="de-CH" sz="640" dirty="0">
                <a:latin typeface="Courier New" panose="02070309020205020404" pitchFamily="49" charset="0"/>
                <a:cs typeface="Courier New" panose="02070309020205020404" pitchFamily="49" charset="0"/>
              </a:rPr>
              <a:t>-end-time?     </a:t>
            </a:r>
            <a:r>
              <a:rPr lang="de-CH" sz="640" dirty="0" err="1">
                <a:latin typeface="Courier New" panose="02070309020205020404" pitchFamily="49" charset="0"/>
                <a:cs typeface="Courier New" panose="02070309020205020404" pitchFamily="49" charset="0"/>
              </a:rPr>
              <a:t>yang:date-and-time</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+--:(l3vpn)</a:t>
            </a:r>
          </a:p>
          <a:p>
            <a:r>
              <a:rPr lang="de-CH" sz="640" dirty="0">
                <a:latin typeface="Courier New" panose="02070309020205020404" pitchFamily="49" charset="0"/>
                <a:cs typeface="Courier New" panose="02070309020205020404" pitchFamily="49" charset="0"/>
              </a:rPr>
              <a:t>       +-- l3vpn-service* [</a:t>
            </a:r>
            <a:r>
              <a:rPr lang="de-CH" sz="640" dirty="0" err="1">
                <a:latin typeface="Courier New" panose="02070309020205020404" pitchFamily="49" charset="0"/>
                <a:cs typeface="Courier New" panose="02070309020205020404" pitchFamily="49" charset="0"/>
              </a:rPr>
              <a:t>vpn-id</a:t>
            </a:r>
            <a:r>
              <a:rPr lang="de-CH" sz="640" dirty="0">
                <a:latin typeface="Courier New" panose="02070309020205020404" pitchFamily="49" charset="0"/>
                <a:cs typeface="Courier New" panose="02070309020205020404" pitchFamily="49" charset="0"/>
              </a:rPr>
              <a:t>]</a:t>
            </a: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vpn-id</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uri</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inet:uri</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vpn</a:t>
            </a:r>
            <a:r>
              <a:rPr lang="de-CH" sz="640" dirty="0">
                <a:latin typeface="Courier New" panose="02070309020205020404" pitchFamily="49" charset="0"/>
                <a:cs typeface="Courier New" panose="02070309020205020404" pitchFamily="49" charset="0"/>
              </a:rPr>
              <a:t>-name?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site-</a:t>
            </a:r>
            <a:r>
              <a:rPr lang="de-CH" sz="640" dirty="0" err="1">
                <a:latin typeface="Courier New" panose="02070309020205020404" pitchFamily="49" charset="0"/>
                <a:cs typeface="Courier New" panose="02070309020205020404" pitchFamily="49" charset="0"/>
              </a:rPr>
              <a:t>ids</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change-id</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yang:uuid</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change</a:t>
            </a:r>
            <a:r>
              <a:rPr lang="de-CH" sz="640" dirty="0">
                <a:latin typeface="Courier New" panose="02070309020205020404" pitchFamily="49" charset="0"/>
                <a:cs typeface="Courier New" panose="02070309020205020404" pitchFamily="49" charset="0"/>
              </a:rPr>
              <a:t>-start-time?   </a:t>
            </a:r>
            <a:r>
              <a:rPr lang="de-CH" sz="640" dirty="0" err="1">
                <a:latin typeface="Courier New" panose="02070309020205020404" pitchFamily="49" charset="0"/>
                <a:cs typeface="Courier New" panose="02070309020205020404" pitchFamily="49" charset="0"/>
              </a:rPr>
              <a:t>yang:date-and-time</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change</a:t>
            </a:r>
            <a:r>
              <a:rPr lang="de-CH" sz="640" dirty="0">
                <a:latin typeface="Courier New" panose="02070309020205020404" pitchFamily="49" charset="0"/>
                <a:cs typeface="Courier New" panose="02070309020205020404" pitchFamily="49" charset="0"/>
              </a:rPr>
              <a:t>-end-time?     </a:t>
            </a:r>
            <a:r>
              <a:rPr lang="de-CH" sz="640" dirty="0" err="1">
                <a:latin typeface="Courier New" panose="02070309020205020404" pitchFamily="49" charset="0"/>
                <a:cs typeface="Courier New" panose="02070309020205020404" pitchFamily="49" charset="0"/>
              </a:rPr>
              <a:t>yang:date-and-time</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augment</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rsn:relevant-state</a:t>
            </a:r>
            <a:r>
              <a:rPr lang="de-CH" sz="640" dirty="0">
                <a:latin typeface="Courier New" panose="02070309020205020404" pitchFamily="49" charset="0"/>
                <a:cs typeface="Courier New" panose="02070309020205020404" pitchFamily="49" charset="0"/>
              </a:rPr>
              <a:t>/</a:t>
            </a:r>
            <a:r>
              <a:rPr lang="de-CH" sz="640" dirty="0" err="1">
                <a:latin typeface="Courier New" panose="02070309020205020404" pitchFamily="49" charset="0"/>
                <a:cs typeface="Courier New" panose="02070309020205020404" pitchFamily="49" charset="0"/>
              </a:rPr>
              <a:t>rsn:anomaly</a:t>
            </a:r>
            <a:r>
              <a:rPr lang="de-CH" sz="640" dirty="0">
                <a:latin typeface="Courier New" panose="02070309020205020404" pitchFamily="49" charset="0"/>
                <a:cs typeface="Courier New" panose="02070309020205020404" pitchFamily="49" charset="0"/>
              </a:rPr>
              <a:t>:</a:t>
            </a: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vpn-node-terminations</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hostname</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vrf</a:t>
            </a:r>
            <a:r>
              <a:rPr lang="de-CH" sz="640" dirty="0">
                <a:latin typeface="Courier New" panose="02070309020205020404" pitchFamily="49" charset="0"/>
                <a:cs typeface="Courier New" panose="02070309020205020404" pitchFamily="49" charset="0"/>
              </a:rPr>
              <a:t>-name]</a:t>
            </a: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hostname</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inet:host</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vrf-id</a:t>
            </a:r>
            <a:r>
              <a:rPr lang="de-CH" sz="640" dirty="0">
                <a:latin typeface="Courier New" panose="02070309020205020404" pitchFamily="49" charset="0"/>
                <a:cs typeface="Courier New" panose="02070309020205020404" pitchFamily="49" charset="0"/>
              </a:rPr>
              <a:t>?                uint32</a:t>
            </a: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vrf</a:t>
            </a:r>
            <a:r>
              <a:rPr lang="de-CH" sz="640" dirty="0">
                <a:latin typeface="Courier New" panose="02070309020205020404" pitchFamily="49" charset="0"/>
                <a:cs typeface="Courier New" panose="02070309020205020404" pitchFamily="49" charset="0"/>
              </a:rPr>
              <a:t>-name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route-</a:t>
            </a:r>
            <a:r>
              <a:rPr lang="de-CH" sz="640" dirty="0" err="1">
                <a:latin typeface="Courier New" panose="02070309020205020404" pitchFamily="49" charset="0"/>
                <a:cs typeface="Courier New" panose="02070309020205020404" pitchFamily="49" charset="0"/>
              </a:rPr>
              <a:t>distinguisher</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interface-</a:t>
            </a:r>
            <a:r>
              <a:rPr lang="de-CH" sz="640" dirty="0" err="1">
                <a:latin typeface="Courier New" panose="02070309020205020404" pitchFamily="49" charset="0"/>
                <a:cs typeface="Courier New" panose="02070309020205020404" pitchFamily="49" charset="0"/>
              </a:rPr>
              <a:t>id</a:t>
            </a:r>
            <a:r>
              <a:rPr lang="de-CH" sz="640" dirty="0">
                <a:latin typeface="Courier New" panose="02070309020205020404" pitchFamily="49" charset="0"/>
                <a:cs typeface="Courier New" panose="02070309020205020404" pitchFamily="49" charset="0"/>
              </a:rPr>
              <a:t>*          uint32</a:t>
            </a: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interface-name*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peer-</a:t>
            </a:r>
            <a:r>
              <a:rPr lang="de-CH" sz="640" dirty="0" err="1">
                <a:latin typeface="Courier New" panose="02070309020205020404" pitchFamily="49" charset="0"/>
                <a:cs typeface="Courier New" panose="02070309020205020404" pitchFamily="49" charset="0"/>
              </a:rPr>
              <a:t>ip</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inet:ip-address</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rw</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next-hop</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inet:ip-address</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augment</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rsn:relevant-state-notification</a:t>
            </a:r>
            <a:r>
              <a:rPr lang="de-CH" sz="640" dirty="0">
                <a:latin typeface="Courier New" panose="02070309020205020404" pitchFamily="49" charset="0"/>
                <a:cs typeface="Courier New" panose="02070309020205020404" pitchFamily="49" charset="0"/>
              </a:rPr>
              <a:t>/</a:t>
            </a:r>
            <a:r>
              <a:rPr lang="de-CH" sz="640" dirty="0" err="1">
                <a:latin typeface="Courier New" panose="02070309020205020404" pitchFamily="49" charset="0"/>
                <a:cs typeface="Courier New" panose="02070309020205020404" pitchFamily="49" charset="0"/>
              </a:rPr>
              <a:t>rsn:anomaly</a:t>
            </a:r>
            <a:r>
              <a:rPr lang="de-CH" sz="640" dirty="0">
                <a:latin typeface="Courier New" panose="02070309020205020404" pitchFamily="49" charset="0"/>
                <a:cs typeface="Courier New" panose="02070309020205020404" pitchFamily="49" charset="0"/>
              </a:rPr>
              <a:t>:</a:t>
            </a: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vpn-node-terminations</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hostname</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vrf</a:t>
            </a:r>
            <a:r>
              <a:rPr lang="de-CH" sz="640" dirty="0">
                <a:latin typeface="Courier New" panose="02070309020205020404" pitchFamily="49" charset="0"/>
                <a:cs typeface="Courier New" panose="02070309020205020404" pitchFamily="49" charset="0"/>
              </a:rPr>
              <a:t>-name]</a:t>
            </a: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hostname</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inet:host</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vrf-id</a:t>
            </a:r>
            <a:r>
              <a:rPr lang="de-CH" sz="640" dirty="0">
                <a:latin typeface="Courier New" panose="02070309020205020404" pitchFamily="49" charset="0"/>
                <a:cs typeface="Courier New" panose="02070309020205020404" pitchFamily="49" charset="0"/>
              </a:rPr>
              <a:t>?                uint32</a:t>
            </a: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vrf</a:t>
            </a:r>
            <a:r>
              <a:rPr lang="de-CH" sz="640" dirty="0">
                <a:latin typeface="Courier New" panose="02070309020205020404" pitchFamily="49" charset="0"/>
                <a:cs typeface="Courier New" panose="02070309020205020404" pitchFamily="49" charset="0"/>
              </a:rPr>
              <a:t>-name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route-</a:t>
            </a:r>
            <a:r>
              <a:rPr lang="de-CH" sz="640" dirty="0" err="1">
                <a:latin typeface="Courier New" panose="02070309020205020404" pitchFamily="49" charset="0"/>
                <a:cs typeface="Courier New" panose="02070309020205020404" pitchFamily="49" charset="0"/>
              </a:rPr>
              <a:t>distinguisher</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interface-</a:t>
            </a:r>
            <a:r>
              <a:rPr lang="de-CH" sz="640" dirty="0" err="1">
                <a:latin typeface="Courier New" panose="02070309020205020404" pitchFamily="49" charset="0"/>
                <a:cs typeface="Courier New" panose="02070309020205020404" pitchFamily="49" charset="0"/>
              </a:rPr>
              <a:t>id</a:t>
            </a:r>
            <a:r>
              <a:rPr lang="de-CH" sz="640" dirty="0">
                <a:latin typeface="Courier New" panose="02070309020205020404" pitchFamily="49" charset="0"/>
                <a:cs typeface="Courier New" panose="02070309020205020404" pitchFamily="49" charset="0"/>
              </a:rPr>
              <a:t>*          uint32</a:t>
            </a:r>
          </a:p>
          <a:p>
            <a:r>
              <a:rPr lang="de-CH" sz="640" dirty="0">
                <a:latin typeface="Courier New" panose="02070309020205020404" pitchFamily="49" charset="0"/>
                <a:cs typeface="Courier New" panose="02070309020205020404" pitchFamily="49" charset="0"/>
              </a:rPr>
              <a:t>       +-- interface-name*        </a:t>
            </a:r>
            <a:r>
              <a:rPr lang="de-CH" sz="640" dirty="0" err="1">
                <a:latin typeface="Courier New" panose="02070309020205020404" pitchFamily="49" charset="0"/>
                <a:cs typeface="Courier New" panose="02070309020205020404" pitchFamily="49" charset="0"/>
              </a:rPr>
              <a:t>string</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peer-</a:t>
            </a:r>
            <a:r>
              <a:rPr lang="de-CH" sz="640" dirty="0" err="1">
                <a:latin typeface="Courier New" panose="02070309020205020404" pitchFamily="49" charset="0"/>
                <a:cs typeface="Courier New" panose="02070309020205020404" pitchFamily="49" charset="0"/>
              </a:rPr>
              <a:t>ip</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inet:ip-address</a:t>
            </a:r>
            <a:endParaRPr lang="de-CH" sz="640" dirty="0">
              <a:latin typeface="Courier New" panose="02070309020205020404" pitchFamily="49" charset="0"/>
              <a:cs typeface="Courier New" panose="02070309020205020404" pitchFamily="49" charset="0"/>
            </a:endParaRPr>
          </a:p>
          <a:p>
            <a:r>
              <a:rPr lang="de-CH" sz="640" dirty="0">
                <a:latin typeface="Courier New" panose="02070309020205020404" pitchFamily="49" charset="0"/>
                <a:cs typeface="Courier New" panose="02070309020205020404" pitchFamily="49" charset="0"/>
              </a:rPr>
              <a:t>       +-- </a:t>
            </a:r>
            <a:r>
              <a:rPr lang="de-CH" sz="640" dirty="0" err="1">
                <a:latin typeface="Courier New" panose="02070309020205020404" pitchFamily="49" charset="0"/>
                <a:cs typeface="Courier New" panose="02070309020205020404" pitchFamily="49" charset="0"/>
              </a:rPr>
              <a:t>next-hop</a:t>
            </a:r>
            <a:r>
              <a:rPr lang="de-CH" sz="640" dirty="0">
                <a:latin typeface="Courier New" panose="02070309020205020404" pitchFamily="49" charset="0"/>
                <a:cs typeface="Courier New" panose="02070309020205020404" pitchFamily="49" charset="0"/>
              </a:rPr>
              <a:t>*              </a:t>
            </a:r>
            <a:r>
              <a:rPr lang="de-CH" sz="640" dirty="0" err="1">
                <a:latin typeface="Courier New" panose="02070309020205020404" pitchFamily="49" charset="0"/>
                <a:cs typeface="Courier New" panose="02070309020205020404" pitchFamily="49" charset="0"/>
              </a:rPr>
              <a:t>inet:ip-address</a:t>
            </a:r>
            <a:endParaRPr lang="de-CH" sz="640"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310EB04B-BEBD-7B2E-9239-4C3E98F6A464}"/>
              </a:ext>
            </a:extLst>
          </p:cNvPr>
          <p:cNvSpPr>
            <a:spLocks noGrp="1"/>
          </p:cNvSpPr>
          <p:nvPr>
            <p:ph type="sldNum" sz="quarter" idx="12"/>
          </p:nvPr>
        </p:nvSpPr>
        <p:spPr/>
        <p:txBody>
          <a:bodyPr/>
          <a:lstStyle/>
          <a:p>
            <a:fld id="{C1FF6DA9-008F-8B48-92A6-B652298478BF}" type="slidenum">
              <a:rPr lang="en-US" smtClean="0"/>
              <a:t>8</a:t>
            </a:fld>
            <a:endParaRPr lang="en-US"/>
          </a:p>
        </p:txBody>
      </p:sp>
      <p:sp>
        <p:nvSpPr>
          <p:cNvPr id="9" name="Content Placeholder 2">
            <a:extLst>
              <a:ext uri="{FF2B5EF4-FFF2-40B4-BE49-F238E27FC236}">
                <a16:creationId xmlns:a16="http://schemas.microsoft.com/office/drawing/2014/main" id="{E66745F8-8734-CD2B-509C-DCDC9D85D36B}"/>
              </a:ext>
            </a:extLst>
          </p:cNvPr>
          <p:cNvSpPr>
            <a:spLocks noGrp="1"/>
          </p:cNvSpPr>
          <p:nvPr>
            <p:ph idx="1"/>
          </p:nvPr>
        </p:nvSpPr>
        <p:spPr>
          <a:xfrm>
            <a:off x="576000" y="1440000"/>
            <a:ext cx="5272350" cy="4551726"/>
          </a:xfrm>
        </p:spPr>
        <p:txBody>
          <a:bodyPr>
            <a:noAutofit/>
          </a:bodyPr>
          <a:lstStyle/>
          <a:p>
            <a:pPr>
              <a:spcBef>
                <a:spcPts val="225"/>
              </a:spcBef>
              <a:spcAft>
                <a:spcPts val="225"/>
              </a:spcAft>
            </a:pPr>
            <a:r>
              <a:rPr lang="en-US" sz="1400" b="1" dirty="0"/>
              <a:t>Abstract</a:t>
            </a:r>
          </a:p>
          <a:p>
            <a:pPr lvl="1">
              <a:spcBef>
                <a:spcPts val="225"/>
              </a:spcBef>
              <a:spcAft>
                <a:spcPts val="225"/>
              </a:spcAft>
            </a:pPr>
            <a:r>
              <a:rPr lang="de-CH" sz="1400" dirty="0" err="1"/>
              <a:t>Simplified</a:t>
            </a:r>
            <a:r>
              <a:rPr lang="de-CH" sz="1400" dirty="0"/>
              <a:t>.</a:t>
            </a:r>
            <a:endParaRPr lang="en-US" sz="1400" dirty="0"/>
          </a:p>
          <a:p>
            <a:pPr>
              <a:spcBef>
                <a:spcPts val="225"/>
              </a:spcBef>
              <a:spcAft>
                <a:spcPts val="225"/>
              </a:spcAft>
            </a:pPr>
            <a:r>
              <a:rPr lang="en-US" sz="1400" b="1" dirty="0"/>
              <a:t>Schema change</a:t>
            </a:r>
          </a:p>
          <a:p>
            <a:pPr lvl="1">
              <a:spcBef>
                <a:spcPts val="225"/>
              </a:spcBef>
              <a:spcAft>
                <a:spcPts val="225"/>
              </a:spcAft>
              <a:buFontTx/>
              <a:buChar char="-"/>
            </a:pPr>
            <a:r>
              <a:rPr lang="en-US" sz="1400" dirty="0"/>
              <a:t>Term "</a:t>
            </a:r>
            <a:r>
              <a:rPr lang="en-US" sz="1400" dirty="0" err="1"/>
              <a:t>cbl</a:t>
            </a:r>
            <a:r>
              <a:rPr lang="en-US" sz="1400" dirty="0"/>
              <a:t>" removed from YANG module and grouping names.</a:t>
            </a:r>
          </a:p>
          <a:p>
            <a:pPr lvl="1">
              <a:spcBef>
                <a:spcPts val="225"/>
              </a:spcBef>
              <a:spcAft>
                <a:spcPts val="225"/>
              </a:spcAft>
              <a:buFontTx/>
              <a:buChar char="-"/>
            </a:pPr>
            <a:r>
              <a:rPr lang="en-US" sz="1400" dirty="0"/>
              <a:t>Updated YANG prefix names.</a:t>
            </a:r>
          </a:p>
          <a:p>
            <a:pPr>
              <a:spcBef>
                <a:spcPts val="225"/>
              </a:spcBef>
              <a:spcAft>
                <a:spcPts val="225"/>
              </a:spcAft>
            </a:pPr>
            <a:r>
              <a:rPr lang="en-GB" sz="1400" b="1" dirty="0"/>
              <a:t>Examples</a:t>
            </a:r>
          </a:p>
          <a:p>
            <a:pPr lvl="1">
              <a:spcBef>
                <a:spcPts val="225"/>
              </a:spcBef>
              <a:spcAft>
                <a:spcPts val="225"/>
              </a:spcAft>
            </a:pPr>
            <a:r>
              <a:rPr lang="en-US" sz="1400" dirty="0"/>
              <a:t>Added relevant state instance data example </a:t>
            </a:r>
            <a:r>
              <a:rPr lang="en-US" sz="1400" dirty="0">
                <a:hlinkClick r:id="rId3"/>
              </a:rPr>
              <a:t>draft-ietf-nmop-network-anomaly-semantics-06#section-4.4.2</a:t>
            </a:r>
            <a:r>
              <a:rPr lang="en-US" sz="1400" dirty="0"/>
              <a:t>.</a:t>
            </a:r>
            <a:r>
              <a:rPr lang="en-GB" sz="1400" dirty="0"/>
              <a:t> </a:t>
            </a:r>
          </a:p>
          <a:p>
            <a:pPr>
              <a:spcBef>
                <a:spcPts val="225"/>
              </a:spcBef>
              <a:spcAft>
                <a:spcPts val="225"/>
              </a:spcAft>
            </a:pPr>
            <a:r>
              <a:rPr lang="de-CH" sz="1400" b="1" dirty="0" err="1"/>
              <a:t>ietf</a:t>
            </a:r>
            <a:r>
              <a:rPr lang="de-CH" sz="1400" b="1" dirty="0"/>
              <a:t>-network-</a:t>
            </a:r>
            <a:r>
              <a:rPr lang="de-CH" sz="1400" b="1" dirty="0" err="1"/>
              <a:t>anomaly</a:t>
            </a:r>
            <a:r>
              <a:rPr lang="de-CH" sz="1400" b="1" dirty="0"/>
              <a:t>-service-</a:t>
            </a:r>
            <a:r>
              <a:rPr lang="de-CH" sz="1400" b="1" dirty="0" err="1"/>
              <a:t>topology</a:t>
            </a:r>
            <a:endParaRPr lang="en-GB" sz="1400" b="1" dirty="0"/>
          </a:p>
          <a:p>
            <a:pPr lvl="1"/>
            <a:r>
              <a:rPr lang="en-GB" sz="1400" dirty="0"/>
              <a:t>Detailed on reasoning why this YANG module is needed. </a:t>
            </a:r>
          </a:p>
          <a:p>
            <a:pPr lvl="1"/>
            <a:r>
              <a:rPr lang="en-US" sz="1400" dirty="0"/>
              <a:t>At the IETF 125 ONSEN discussions (</a:t>
            </a:r>
            <a:r>
              <a:rPr lang="en-US" sz="1400" dirty="0">
                <a:hlinkClick r:id="rId4"/>
              </a:rPr>
              <a:t>slides-125-onsen-proposed-charter-discussion</a:t>
            </a:r>
            <a:r>
              <a:rPr lang="en-US" sz="1400" dirty="0"/>
              <a:t>), the point on that the existing L2 and L3 service models lack certain attributes and map ability to SIMAP resp. RFC 8345 was raised. Therefore, therefore opted for having dedicated service and network groupings in </a:t>
            </a:r>
            <a:r>
              <a:rPr lang="en-US" sz="1400" dirty="0" err="1"/>
              <a:t>ietf</a:t>
            </a:r>
            <a:r>
              <a:rPr lang="en-US" sz="1400" dirty="0"/>
              <a:t>-network-anomaly-service-topology. This document is classified experimental. We expect that the IETF NMOP, ONSEN is advancing in these areas so that </a:t>
            </a:r>
            <a:r>
              <a:rPr lang="en-US" sz="1400" dirty="0" err="1"/>
              <a:t>ietf</a:t>
            </a:r>
            <a:r>
              <a:rPr lang="en-US" sz="1400" dirty="0"/>
              <a:t>-network-anomaly-service-topology no longer is needed.</a:t>
            </a:r>
          </a:p>
          <a:p>
            <a:pPr lvl="1"/>
            <a:endParaRPr lang="en-GB" sz="1400" dirty="0"/>
          </a:p>
        </p:txBody>
      </p:sp>
    </p:spTree>
    <p:extLst>
      <p:ext uri="{BB962C8B-B14F-4D97-AF65-F5344CB8AC3E}">
        <p14:creationId xmlns:p14="http://schemas.microsoft.com/office/powerpoint/2010/main" val="3767000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94BD5-D92F-4B95-2C77-9E2BF00751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B56FE-6C11-BDBC-C87D-B21C6988B310}"/>
              </a:ext>
            </a:extLst>
          </p:cNvPr>
          <p:cNvSpPr>
            <a:spLocks noGrp="1"/>
          </p:cNvSpPr>
          <p:nvPr>
            <p:ph type="title"/>
          </p:nvPr>
        </p:nvSpPr>
        <p:spPr/>
        <p:txBody>
          <a:bodyPr>
            <a:normAutofit fontScale="90000"/>
          </a:bodyPr>
          <a:lstStyle/>
          <a:p>
            <a:r>
              <a:rPr lang="en-US" dirty="0"/>
              <a:t>draft-ietf-nmop-network-anomaly-lifecycle-06</a:t>
            </a:r>
            <a:br>
              <a:rPr lang="en-CH" dirty="0"/>
            </a:br>
            <a:endParaRPr lang="en-CH" dirty="0"/>
          </a:p>
        </p:txBody>
      </p:sp>
      <p:sp>
        <p:nvSpPr>
          <p:cNvPr id="3" name="Text Placeholder 2">
            <a:extLst>
              <a:ext uri="{FF2B5EF4-FFF2-40B4-BE49-F238E27FC236}">
                <a16:creationId xmlns:a16="http://schemas.microsoft.com/office/drawing/2014/main" id="{119261CC-53EB-79C2-D4DF-F5B369E5F560}"/>
              </a:ext>
            </a:extLst>
          </p:cNvPr>
          <p:cNvSpPr>
            <a:spLocks noGrp="1"/>
          </p:cNvSpPr>
          <p:nvPr>
            <p:ph type="body" idx="1"/>
          </p:nvPr>
        </p:nvSpPr>
        <p:spPr/>
        <p:txBody>
          <a:bodyPr/>
          <a:lstStyle/>
          <a:p>
            <a:r>
              <a:rPr lang="en-US" b="1" dirty="0"/>
              <a:t>Network Anomaly Lifecycle</a:t>
            </a:r>
          </a:p>
        </p:txBody>
      </p:sp>
      <p:sp>
        <p:nvSpPr>
          <p:cNvPr id="5" name="Slide Number Placeholder 4">
            <a:extLst>
              <a:ext uri="{FF2B5EF4-FFF2-40B4-BE49-F238E27FC236}">
                <a16:creationId xmlns:a16="http://schemas.microsoft.com/office/drawing/2014/main" id="{D4EABDAC-EB10-9093-C91E-3C35A88DF6E9}"/>
              </a:ext>
            </a:extLst>
          </p:cNvPr>
          <p:cNvSpPr>
            <a:spLocks noGrp="1"/>
          </p:cNvSpPr>
          <p:nvPr>
            <p:ph type="sldNum" sz="quarter" idx="12"/>
          </p:nvPr>
        </p:nvSpPr>
        <p:spPr/>
        <p:txBody>
          <a:bodyPr/>
          <a:lstStyle/>
          <a:p>
            <a:fld id="{C1FF6DA9-008F-8B48-92A6-B652298478BF}" type="slidenum">
              <a:rPr lang="en-US" smtClean="0"/>
              <a:t>9</a:t>
            </a:fld>
            <a:endParaRPr lang="en-US"/>
          </a:p>
        </p:txBody>
      </p:sp>
    </p:spTree>
    <p:extLst>
      <p:ext uri="{BB962C8B-B14F-4D97-AF65-F5344CB8AC3E}">
        <p14:creationId xmlns:p14="http://schemas.microsoft.com/office/powerpoint/2010/main" val="2225636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F271-6F0D-4AC0-BB1D-F5C338165C13}"/>
              </a:ext>
            </a:extLst>
          </p:cNvPr>
          <p:cNvSpPr>
            <a:spLocks noGrp="1"/>
          </p:cNvSpPr>
          <p:nvPr>
            <p:ph type="title"/>
          </p:nvPr>
        </p:nvSpPr>
        <p:spPr/>
        <p:txBody>
          <a:bodyPr>
            <a:normAutofit/>
          </a:bodyPr>
          <a:lstStyle/>
          <a:p>
            <a:pPr algn="l"/>
            <a:r>
              <a:rPr lang="en-US" sz="2400" b="1" dirty="0"/>
              <a:t>Network Anomaly Lifecycle</a:t>
            </a:r>
            <a:br>
              <a:rPr lang="en-GB" sz="2700" dirty="0"/>
            </a:br>
            <a:r>
              <a:rPr lang="de-CH" sz="2000" dirty="0" err="1">
                <a:solidFill>
                  <a:schemeClr val="bg2">
                    <a:lumMod val="75000"/>
                  </a:schemeClr>
                </a:solidFill>
              </a:rPr>
              <a:t>Document</a:t>
            </a:r>
            <a:r>
              <a:rPr lang="de-CH" sz="2000" dirty="0">
                <a:solidFill>
                  <a:schemeClr val="bg2">
                    <a:lumMod val="75000"/>
                  </a:schemeClr>
                </a:solidFill>
              </a:rPr>
              <a:t> </a:t>
            </a:r>
            <a:r>
              <a:rPr lang="de-CH" sz="2000" dirty="0" err="1">
                <a:solidFill>
                  <a:schemeClr val="bg2">
                    <a:lumMod val="75000"/>
                  </a:schemeClr>
                </a:solidFill>
              </a:rPr>
              <a:t>summary</a:t>
            </a:r>
            <a:endParaRPr lang="en-US" sz="2000" dirty="0">
              <a:solidFill>
                <a:schemeClr val="bg2">
                  <a:lumMod val="75000"/>
                </a:schemeClr>
              </a:solidFill>
            </a:endParaRPr>
          </a:p>
        </p:txBody>
      </p:sp>
      <p:sp>
        <p:nvSpPr>
          <p:cNvPr id="3" name="Content Placeholder 2">
            <a:extLst>
              <a:ext uri="{FF2B5EF4-FFF2-40B4-BE49-F238E27FC236}">
                <a16:creationId xmlns:a16="http://schemas.microsoft.com/office/drawing/2014/main" id="{29C0DFD4-432D-4B0C-93DF-790441DCF5B9}"/>
              </a:ext>
            </a:extLst>
          </p:cNvPr>
          <p:cNvSpPr>
            <a:spLocks noGrp="1"/>
          </p:cNvSpPr>
          <p:nvPr>
            <p:ph idx="1"/>
          </p:nvPr>
        </p:nvSpPr>
        <p:spPr>
          <a:xfrm>
            <a:off x="720000" y="1800000"/>
            <a:ext cx="4544034" cy="3503212"/>
          </a:xfrm>
        </p:spPr>
        <p:txBody>
          <a:bodyPr>
            <a:noAutofit/>
          </a:bodyPr>
          <a:lstStyle/>
          <a:p>
            <a:pPr marL="0" indent="0">
              <a:spcBef>
                <a:spcPts val="225"/>
              </a:spcBef>
              <a:spcAft>
                <a:spcPts val="225"/>
              </a:spcAft>
              <a:buNone/>
            </a:pPr>
            <a:r>
              <a:rPr lang="en-GB" sz="1600" b="1" dirty="0"/>
              <a:t>Motivation:</a:t>
            </a:r>
          </a:p>
          <a:p>
            <a:pPr marL="0" indent="0">
              <a:spcBef>
                <a:spcPts val="225"/>
              </a:spcBef>
              <a:spcAft>
                <a:spcPts val="225"/>
              </a:spcAft>
              <a:buNone/>
            </a:pPr>
            <a:r>
              <a:rPr lang="en-GB" sz="1600" dirty="0">
                <a:solidFill>
                  <a:schemeClr val="accent2"/>
                </a:solidFill>
              </a:rPr>
              <a:t>Bridge the gap </a:t>
            </a:r>
            <a:r>
              <a:rPr lang="en-GB" sz="1600" dirty="0"/>
              <a:t>between automated network anomaly detection and actionable operational tasks</a:t>
            </a:r>
          </a:p>
          <a:p>
            <a:pPr marL="0" indent="0">
              <a:spcBef>
                <a:spcPts val="225"/>
              </a:spcBef>
              <a:spcAft>
                <a:spcPts val="225"/>
              </a:spcAft>
              <a:buNone/>
            </a:pPr>
            <a:endParaRPr lang="en-GB" sz="1600" dirty="0"/>
          </a:p>
          <a:p>
            <a:pPr marL="0" indent="0">
              <a:spcBef>
                <a:spcPts val="225"/>
              </a:spcBef>
              <a:spcAft>
                <a:spcPts val="225"/>
              </a:spcAft>
              <a:buNone/>
            </a:pPr>
            <a:r>
              <a:rPr lang="en-GB" sz="1600" b="1" dirty="0"/>
              <a:t>Approach:</a:t>
            </a:r>
          </a:p>
          <a:p>
            <a:pPr marL="0" indent="0">
              <a:spcBef>
                <a:spcPts val="225"/>
              </a:spcBef>
              <a:spcAft>
                <a:spcPts val="225"/>
              </a:spcAft>
              <a:buNone/>
            </a:pPr>
            <a:r>
              <a:rPr lang="en-GB" sz="1600" dirty="0"/>
              <a:t>Define a </a:t>
            </a:r>
            <a:r>
              <a:rPr lang="en-GB" sz="1600" dirty="0">
                <a:solidFill>
                  <a:schemeClr val="accent2"/>
                </a:solidFill>
              </a:rPr>
              <a:t>standardized, iterative lifecycle </a:t>
            </a:r>
            <a:r>
              <a:rPr lang="en-GB" sz="1600" dirty="0"/>
              <a:t>for Network anomaly</a:t>
            </a:r>
          </a:p>
          <a:p>
            <a:pPr marL="0" indent="0">
              <a:spcBef>
                <a:spcPts val="225"/>
              </a:spcBef>
              <a:spcAft>
                <a:spcPts val="225"/>
              </a:spcAft>
              <a:buNone/>
            </a:pPr>
            <a:endParaRPr lang="en-GB" sz="1600" dirty="0"/>
          </a:p>
          <a:p>
            <a:pPr marL="0" indent="0">
              <a:spcBef>
                <a:spcPts val="225"/>
              </a:spcBef>
              <a:spcAft>
                <a:spcPts val="225"/>
              </a:spcAft>
              <a:buNone/>
            </a:pPr>
            <a:r>
              <a:rPr lang="en-GB" sz="1600" b="1" dirty="0"/>
              <a:t>Outcome:</a:t>
            </a:r>
          </a:p>
          <a:p>
            <a:pPr marL="0" indent="0">
              <a:spcBef>
                <a:spcPts val="225"/>
              </a:spcBef>
              <a:spcAft>
                <a:spcPts val="225"/>
              </a:spcAft>
              <a:buNone/>
            </a:pPr>
            <a:r>
              <a:rPr lang="en-GB" sz="1600" dirty="0">
                <a:solidFill>
                  <a:schemeClr val="accent2"/>
                </a:solidFill>
              </a:rPr>
              <a:t>Continuously Improve</a:t>
            </a:r>
            <a:r>
              <a:rPr lang="en-GB" sz="1600" dirty="0"/>
              <a:t> the correctness of anomaly detection through</a:t>
            </a:r>
            <a:r>
              <a:rPr lang="en-GB" sz="1600" dirty="0">
                <a:solidFill>
                  <a:schemeClr val="accent2"/>
                </a:solidFill>
              </a:rPr>
              <a:t> human‑in‑the‑loop feedback</a:t>
            </a:r>
            <a:endParaRPr lang="en-US" sz="1600" dirty="0">
              <a:solidFill>
                <a:schemeClr val="accent2"/>
              </a:solidFill>
            </a:endParaRPr>
          </a:p>
        </p:txBody>
      </p:sp>
      <p:sp>
        <p:nvSpPr>
          <p:cNvPr id="5" name="Slide Number Placeholder 4">
            <a:extLst>
              <a:ext uri="{FF2B5EF4-FFF2-40B4-BE49-F238E27FC236}">
                <a16:creationId xmlns:a16="http://schemas.microsoft.com/office/drawing/2014/main" id="{69F1143A-71BD-E359-AE27-BB85FCCC9B54}"/>
              </a:ext>
            </a:extLst>
          </p:cNvPr>
          <p:cNvSpPr>
            <a:spLocks noGrp="1"/>
          </p:cNvSpPr>
          <p:nvPr>
            <p:ph type="sldNum" sz="quarter" idx="12"/>
          </p:nvPr>
        </p:nvSpPr>
        <p:spPr/>
        <p:txBody>
          <a:bodyPr/>
          <a:lstStyle/>
          <a:p>
            <a:fld id="{C1FF6DA9-008F-8B48-92A6-B652298478BF}" type="slidenum">
              <a:rPr lang="en-US" smtClean="0"/>
              <a:t>10</a:t>
            </a:fld>
            <a:endParaRPr lang="en-US"/>
          </a:p>
        </p:txBody>
      </p:sp>
      <p:pic>
        <p:nvPicPr>
          <p:cNvPr id="7" name="Picture 6">
            <a:extLst>
              <a:ext uri="{FF2B5EF4-FFF2-40B4-BE49-F238E27FC236}">
                <a16:creationId xmlns:a16="http://schemas.microsoft.com/office/drawing/2014/main" id="{CB6AD072-B820-6E90-CA35-2B0B76F9B4EB}"/>
              </a:ext>
            </a:extLst>
          </p:cNvPr>
          <p:cNvPicPr>
            <a:picLocks noChangeAspect="1"/>
          </p:cNvPicPr>
          <p:nvPr/>
        </p:nvPicPr>
        <p:blipFill>
          <a:blip r:embed="rId2"/>
          <a:stretch>
            <a:fillRect/>
          </a:stretch>
        </p:blipFill>
        <p:spPr>
          <a:xfrm>
            <a:off x="5292000" y="1440000"/>
            <a:ext cx="3321049" cy="1546958"/>
          </a:xfrm>
          <a:prstGeom prst="rect">
            <a:avLst/>
          </a:prstGeom>
        </p:spPr>
      </p:pic>
      <p:pic>
        <p:nvPicPr>
          <p:cNvPr id="9" name="Picture 8">
            <a:extLst>
              <a:ext uri="{FF2B5EF4-FFF2-40B4-BE49-F238E27FC236}">
                <a16:creationId xmlns:a16="http://schemas.microsoft.com/office/drawing/2014/main" id="{2C1EDB0B-25E9-9264-451E-C0ADA3DF6932}"/>
              </a:ext>
            </a:extLst>
          </p:cNvPr>
          <p:cNvPicPr>
            <a:picLocks noChangeAspect="1"/>
          </p:cNvPicPr>
          <p:nvPr/>
        </p:nvPicPr>
        <p:blipFill>
          <a:blip r:embed="rId3"/>
          <a:stretch>
            <a:fillRect/>
          </a:stretch>
        </p:blipFill>
        <p:spPr>
          <a:xfrm>
            <a:off x="5292000" y="3240000"/>
            <a:ext cx="3265312" cy="3240000"/>
          </a:xfrm>
          <a:prstGeom prst="rect">
            <a:avLst/>
          </a:prstGeom>
        </p:spPr>
      </p:pic>
    </p:spTree>
    <p:extLst>
      <p:ext uri="{BB962C8B-B14F-4D97-AF65-F5344CB8AC3E}">
        <p14:creationId xmlns:p14="http://schemas.microsoft.com/office/powerpoint/2010/main" val="76189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E09DB-FA49-2C8F-6C4C-6FEF76491F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E4305-F060-2A08-29F5-1983A414A45C}"/>
              </a:ext>
            </a:extLst>
          </p:cNvPr>
          <p:cNvSpPr>
            <a:spLocks noGrp="1"/>
          </p:cNvSpPr>
          <p:nvPr>
            <p:ph type="title"/>
          </p:nvPr>
        </p:nvSpPr>
        <p:spPr/>
        <p:txBody>
          <a:bodyPr>
            <a:normAutofit/>
          </a:bodyPr>
          <a:lstStyle/>
          <a:p>
            <a:pPr algn="l"/>
            <a:r>
              <a:rPr lang="en-US" sz="2400" b="1" dirty="0"/>
              <a:t>Network Anomaly Lifecycle</a:t>
            </a:r>
            <a:br>
              <a:rPr lang="en-GB" sz="2700" dirty="0"/>
            </a:br>
            <a:r>
              <a:rPr lang="en-US" sz="2000" dirty="0">
                <a:solidFill>
                  <a:schemeClr val="bg2">
                    <a:lumMod val="75000"/>
                  </a:schemeClr>
                </a:solidFill>
              </a:rPr>
              <a:t>Key draft updates </a:t>
            </a:r>
            <a:r>
              <a:rPr lang="en-US" sz="2000">
                <a:solidFill>
                  <a:schemeClr val="bg2">
                    <a:lumMod val="75000"/>
                  </a:schemeClr>
                </a:solidFill>
              </a:rPr>
              <a:t>since v-05, </a:t>
            </a:r>
            <a:r>
              <a:rPr lang="en-US" sz="2000" dirty="0">
                <a:solidFill>
                  <a:schemeClr val="bg2">
                    <a:lumMod val="75000"/>
                  </a:schemeClr>
                </a:solidFill>
              </a:rPr>
              <a:t>IETF 125</a:t>
            </a:r>
          </a:p>
        </p:txBody>
      </p:sp>
      <p:sp>
        <p:nvSpPr>
          <p:cNvPr id="5" name="Slide Number Placeholder 4">
            <a:extLst>
              <a:ext uri="{FF2B5EF4-FFF2-40B4-BE49-F238E27FC236}">
                <a16:creationId xmlns:a16="http://schemas.microsoft.com/office/drawing/2014/main" id="{9AE189ED-E1D8-59EB-2FE7-640253AF808F}"/>
              </a:ext>
            </a:extLst>
          </p:cNvPr>
          <p:cNvSpPr>
            <a:spLocks noGrp="1"/>
          </p:cNvSpPr>
          <p:nvPr>
            <p:ph type="sldNum" sz="quarter" idx="12"/>
          </p:nvPr>
        </p:nvSpPr>
        <p:spPr/>
        <p:txBody>
          <a:bodyPr/>
          <a:lstStyle/>
          <a:p>
            <a:fld id="{C1FF6DA9-008F-8B48-92A6-B652298478BF}" type="slidenum">
              <a:rPr lang="en-US" smtClean="0"/>
              <a:t>11</a:t>
            </a:fld>
            <a:endParaRPr lang="en-US" dirty="0"/>
          </a:p>
        </p:txBody>
      </p:sp>
      <p:sp>
        <p:nvSpPr>
          <p:cNvPr id="11" name="Content Placeholder 2">
            <a:extLst>
              <a:ext uri="{FF2B5EF4-FFF2-40B4-BE49-F238E27FC236}">
                <a16:creationId xmlns:a16="http://schemas.microsoft.com/office/drawing/2014/main" id="{17AA7596-3EB8-6B14-C59D-54776921B0FC}"/>
              </a:ext>
            </a:extLst>
          </p:cNvPr>
          <p:cNvSpPr txBox="1">
            <a:spLocks/>
          </p:cNvSpPr>
          <p:nvPr/>
        </p:nvSpPr>
        <p:spPr>
          <a:xfrm>
            <a:off x="576000" y="1440000"/>
            <a:ext cx="4900875" cy="455172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225"/>
              </a:spcBef>
              <a:spcAft>
                <a:spcPts val="225"/>
              </a:spcAft>
            </a:pPr>
            <a:r>
              <a:rPr lang="en-US" sz="1400" b="1" dirty="0"/>
              <a:t>Abstract and Introduction</a:t>
            </a:r>
          </a:p>
          <a:p>
            <a:pPr lvl="1">
              <a:spcBef>
                <a:spcPts val="225"/>
              </a:spcBef>
              <a:spcAft>
                <a:spcPts val="225"/>
              </a:spcAft>
            </a:pPr>
            <a:r>
              <a:rPr lang="de-CH" sz="1400" dirty="0" err="1"/>
              <a:t>Refactored</a:t>
            </a:r>
            <a:r>
              <a:rPr lang="de-CH" sz="1400" dirty="0"/>
              <a:t> and </a:t>
            </a:r>
            <a:r>
              <a:rPr lang="de-CH" sz="1400" dirty="0" err="1"/>
              <a:t>simplified</a:t>
            </a:r>
            <a:r>
              <a:rPr lang="de-CH" sz="1400" dirty="0"/>
              <a:t> </a:t>
            </a:r>
            <a:r>
              <a:rPr lang="de-CH" sz="1400" dirty="0" err="1"/>
              <a:t>abstraction</a:t>
            </a:r>
            <a:r>
              <a:rPr lang="de-CH" sz="1400" dirty="0"/>
              <a:t> and </a:t>
            </a:r>
            <a:r>
              <a:rPr lang="de-CH" sz="1400" dirty="0" err="1"/>
              <a:t>introduction</a:t>
            </a:r>
            <a:r>
              <a:rPr lang="de-CH" sz="1400" dirty="0"/>
              <a:t> </a:t>
            </a:r>
            <a:r>
              <a:rPr lang="de-CH" sz="1400" dirty="0" err="1"/>
              <a:t>sections</a:t>
            </a:r>
            <a:r>
              <a:rPr lang="de-CH" sz="1400" dirty="0"/>
              <a:t>.</a:t>
            </a:r>
          </a:p>
          <a:p>
            <a:pPr lvl="1">
              <a:spcBef>
                <a:spcPts val="225"/>
              </a:spcBef>
              <a:spcAft>
                <a:spcPts val="225"/>
              </a:spcAft>
            </a:pPr>
            <a:r>
              <a:rPr lang="en-US" sz="1400" dirty="0"/>
              <a:t>Make better use of abstract and introduction section by moving the reasoning from abstract to introduction.</a:t>
            </a:r>
          </a:p>
          <a:p>
            <a:pPr>
              <a:spcBef>
                <a:spcPts val="225"/>
              </a:spcBef>
              <a:spcAft>
                <a:spcPts val="225"/>
              </a:spcAft>
            </a:pPr>
            <a:r>
              <a:rPr lang="en-US" sz="1400" b="1" dirty="0"/>
              <a:t>Lifecycle Process</a:t>
            </a:r>
          </a:p>
          <a:p>
            <a:pPr lvl="1">
              <a:spcBef>
                <a:spcPts val="225"/>
              </a:spcBef>
              <a:spcAft>
                <a:spcPts val="225"/>
              </a:spcAft>
            </a:pPr>
            <a:r>
              <a:rPr lang="en-US" sz="1400" dirty="0"/>
              <a:t>Detailed on when lifecycle process when it changes from validation to refinement stage.</a:t>
            </a:r>
            <a:endParaRPr lang="en-US" sz="1400" b="1" dirty="0"/>
          </a:p>
          <a:p>
            <a:pPr>
              <a:spcBef>
                <a:spcPts val="225"/>
              </a:spcBef>
              <a:spcAft>
                <a:spcPts val="225"/>
              </a:spcAft>
            </a:pPr>
            <a:r>
              <a:rPr lang="en-US" sz="1400" b="1" dirty="0"/>
              <a:t>Schema change</a:t>
            </a:r>
          </a:p>
          <a:p>
            <a:pPr lvl="1">
              <a:spcBef>
                <a:spcPts val="225"/>
              </a:spcBef>
              <a:spcAft>
                <a:spcPts val="225"/>
              </a:spcAft>
              <a:buFontTx/>
              <a:buChar char="-"/>
            </a:pPr>
            <a:r>
              <a:rPr lang="en-GB" sz="1400" dirty="0"/>
              <a:t>“ </a:t>
            </a:r>
            <a:r>
              <a:rPr lang="en-US" sz="1400" dirty="0"/>
              <a:t>topic-name</a:t>
            </a:r>
            <a:r>
              <a:rPr lang="en-GB" sz="1400" dirty="0"/>
              <a:t> “</a:t>
            </a:r>
            <a:r>
              <a:rPr lang="en-US" sz="1400" dirty="0"/>
              <a:t> and </a:t>
            </a:r>
            <a:r>
              <a:rPr lang="en-GB" sz="1400" dirty="0"/>
              <a:t>“ </a:t>
            </a:r>
            <a:r>
              <a:rPr lang="en-US" sz="1400" dirty="0"/>
              <a:t>subject-name</a:t>
            </a:r>
            <a:r>
              <a:rPr lang="en-GB" sz="1400" dirty="0"/>
              <a:t> “</a:t>
            </a:r>
            <a:r>
              <a:rPr lang="en-US" sz="1400" dirty="0"/>
              <a:t> leaves have now their own message broker typedefs aligning with </a:t>
            </a:r>
            <a:r>
              <a:rPr lang="en-US" sz="1400" dirty="0">
                <a:hlinkClick r:id="rId2"/>
              </a:rPr>
              <a:t>draft-</a:t>
            </a:r>
            <a:r>
              <a:rPr lang="en-US" sz="1400" dirty="0" err="1">
                <a:hlinkClick r:id="rId2"/>
              </a:rPr>
              <a:t>ietf</a:t>
            </a:r>
            <a:r>
              <a:rPr lang="en-US" sz="1400" dirty="0">
                <a:hlinkClick r:id="rId2"/>
              </a:rPr>
              <a:t>-</a:t>
            </a:r>
            <a:r>
              <a:rPr lang="en-US" sz="1400" dirty="0" err="1">
                <a:hlinkClick r:id="rId2"/>
              </a:rPr>
              <a:t>nmop</a:t>
            </a:r>
            <a:r>
              <a:rPr lang="en-US" sz="1400" dirty="0">
                <a:hlinkClick r:id="rId2"/>
              </a:rPr>
              <a:t>-yang-message-broker-message-key</a:t>
            </a:r>
            <a:endParaRPr lang="en-GB" sz="1400" dirty="0"/>
          </a:p>
        </p:txBody>
      </p:sp>
      <p:sp>
        <p:nvSpPr>
          <p:cNvPr id="4" name="TextBox 3">
            <a:extLst>
              <a:ext uri="{FF2B5EF4-FFF2-40B4-BE49-F238E27FC236}">
                <a16:creationId xmlns:a16="http://schemas.microsoft.com/office/drawing/2014/main" id="{E93C743C-40E4-EE34-0A19-EE62CEC5C173}"/>
              </a:ext>
            </a:extLst>
          </p:cNvPr>
          <p:cNvSpPr txBox="1"/>
          <p:nvPr/>
        </p:nvSpPr>
        <p:spPr>
          <a:xfrm>
            <a:off x="5709920" y="1757773"/>
            <a:ext cx="3200400" cy="3342453"/>
          </a:xfrm>
          <a:prstGeom prst="rect">
            <a:avLst/>
          </a:prstGeom>
          <a:noFill/>
        </p:spPr>
        <p:txBody>
          <a:bodyPr wrap="square">
            <a:spAutoFit/>
          </a:bodyPr>
          <a:lstStyle/>
          <a:p>
            <a:pPr>
              <a:buNone/>
            </a:pPr>
            <a:r>
              <a:rPr lang="de-CH" sz="640" dirty="0" err="1">
                <a:latin typeface="Courier New" panose="02070309020205020404" pitchFamily="49" charset="0"/>
              </a:rPr>
              <a:t>module</a:t>
            </a:r>
            <a:r>
              <a:rPr lang="de-CH" sz="640" dirty="0">
                <a:latin typeface="Courier New" panose="02070309020205020404" pitchFamily="49" charset="0"/>
              </a:rPr>
              <a:t>: </a:t>
            </a:r>
            <a:r>
              <a:rPr lang="de-CH" sz="640" dirty="0" err="1">
                <a:latin typeface="Courier New" panose="02070309020205020404" pitchFamily="49" charset="0"/>
              </a:rPr>
              <a:t>ietf</a:t>
            </a:r>
            <a:r>
              <a:rPr lang="de-CH" sz="640" dirty="0">
                <a:latin typeface="Courier New" panose="02070309020205020404" pitchFamily="49" charset="0"/>
              </a:rPr>
              <a:t>-relevant-</a:t>
            </a:r>
            <a:r>
              <a:rPr lang="de-CH" sz="640" dirty="0" err="1">
                <a:latin typeface="Courier New" panose="02070309020205020404" pitchFamily="49" charset="0"/>
              </a:rPr>
              <a:t>state</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relevant-</a:t>
            </a:r>
            <a:r>
              <a:rPr lang="de-CH" sz="640" dirty="0" err="1">
                <a:latin typeface="Courier New" panose="02070309020205020404" pitchFamily="49" charset="0"/>
              </a:rPr>
              <a:t>state</a:t>
            </a:r>
            <a:r>
              <a:rPr lang="de-CH" sz="640" dirty="0">
                <a:latin typeface="Courier New" panose="02070309020205020404" pitchFamily="49" charset="0"/>
              </a:rPr>
              <a:t>!</a:t>
            </a: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id</a:t>
            </a:r>
            <a:r>
              <a:rPr lang="de-CH" sz="640" dirty="0">
                <a:latin typeface="Courier New" panose="02070309020205020404" pitchFamily="49" charset="0"/>
              </a:rPr>
              <a:t>                  </a:t>
            </a:r>
            <a:r>
              <a:rPr lang="de-CH" sz="640" dirty="0" err="1">
                <a:latin typeface="Courier New" panose="02070309020205020404" pitchFamily="49" charset="0"/>
              </a:rPr>
              <a:t>yang:uuid</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uri</a:t>
            </a:r>
            <a:r>
              <a:rPr lang="de-CH" sz="640" dirty="0">
                <a:latin typeface="Courier New" panose="02070309020205020404" pitchFamily="49" charset="0"/>
              </a:rPr>
              <a:t>?                </a:t>
            </a:r>
            <a:r>
              <a:rPr lang="de-CH" sz="640" dirty="0" err="1">
                <a:latin typeface="Courier New" panose="02070309020205020404" pitchFamily="49" charset="0"/>
              </a:rPr>
              <a:t>inet:uri</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description</a:t>
            </a:r>
            <a:r>
              <a:rPr lang="de-CH" sz="640" dirty="0">
                <a:latin typeface="Courier New" panose="02070309020205020404" pitchFamily="49" charset="0"/>
              </a:rPr>
              <a:t>?        </a:t>
            </a:r>
            <a:r>
              <a:rPr lang="de-CH" sz="640" dirty="0" err="1">
                <a:latin typeface="Courier New" panose="02070309020205020404" pitchFamily="49" charset="0"/>
              </a:rPr>
              <a:t>string</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start-time          </a:t>
            </a:r>
            <a:r>
              <a:rPr lang="de-CH" sz="640" dirty="0" err="1">
                <a:latin typeface="Courier New" panose="02070309020205020404" pitchFamily="49" charset="0"/>
              </a:rPr>
              <a:t>yang:date-and-time</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end-time?           </a:t>
            </a:r>
            <a:r>
              <a:rPr lang="de-CH" sz="640" dirty="0" err="1">
                <a:latin typeface="Courier New" panose="02070309020205020404" pitchFamily="49" charset="0"/>
              </a:rPr>
              <a:t>yang:date-and-time</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strategy</a:t>
            </a:r>
            <a:r>
              <a:rPr lang="de-CH" sz="640" dirty="0">
                <a:latin typeface="Courier New" panose="02070309020205020404" pitchFamily="49" charset="0"/>
              </a:rPr>
              <a:t>?           </a:t>
            </a:r>
            <a:r>
              <a:rPr lang="de-CH" sz="640" dirty="0" err="1">
                <a:latin typeface="Courier New" panose="02070309020205020404" pitchFamily="49" charset="0"/>
              </a:rPr>
              <a:t>string</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confidence</a:t>
            </a:r>
            <a:r>
              <a:rPr lang="de-CH" sz="640" dirty="0">
                <a:latin typeface="Courier New" panose="02070309020205020404" pitchFamily="49" charset="0"/>
              </a:rPr>
              <a:t>-score?   score</a:t>
            </a: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concern</a:t>
            </a:r>
            <a:r>
              <a:rPr lang="de-CH" sz="640" dirty="0">
                <a:latin typeface="Courier New" panose="02070309020205020404" pitchFamily="49" charset="0"/>
              </a:rPr>
              <a:t>-score       </a:t>
            </a:r>
            <a:r>
              <a:rPr lang="de-CH" sz="640" dirty="0" err="1">
                <a:latin typeface="Courier New" panose="02070309020205020404" pitchFamily="49" charset="0"/>
              </a:rPr>
              <a:t>score</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stage</a:t>
            </a:r>
            <a:r>
              <a:rPr lang="de-CH" sz="640" dirty="0">
                <a:latin typeface="Courier New" panose="02070309020205020404" pitchFamily="49" charset="0"/>
              </a:rPr>
              <a:t>               </a:t>
            </a:r>
            <a:r>
              <a:rPr lang="de-CH" sz="640" dirty="0" err="1">
                <a:latin typeface="Courier New" panose="02070309020205020404" pitchFamily="49" charset="0"/>
              </a:rPr>
              <a:t>identityref</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service</a:t>
            </a:r>
            <a:r>
              <a:rPr lang="de-CH" sz="640" dirty="0">
                <a:latin typeface="Courier New" panose="02070309020205020404" pitchFamily="49" charset="0"/>
              </a:rPr>
              <a:t>)?</a:t>
            </a: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anomaly</a:t>
            </a:r>
            <a:r>
              <a:rPr lang="de-CH" sz="640" dirty="0">
                <a:latin typeface="Courier New" panose="02070309020205020404" pitchFamily="49" charset="0"/>
              </a:rPr>
              <a:t>* [</a:t>
            </a:r>
            <a:r>
              <a:rPr lang="de-CH" sz="640" dirty="0" err="1">
                <a:latin typeface="Courier New" panose="02070309020205020404" pitchFamily="49" charset="0"/>
              </a:rPr>
              <a:t>id</a:t>
            </a:r>
            <a:r>
              <a:rPr lang="de-CH" sz="640" dirty="0">
                <a:latin typeface="Courier New" panose="02070309020205020404" pitchFamily="49" charset="0"/>
              </a:rPr>
              <a:t> </a:t>
            </a:r>
            <a:r>
              <a:rPr lang="de-CH" sz="640" dirty="0" err="1">
                <a:latin typeface="Courier New" panose="02070309020205020404" pitchFamily="49" charset="0"/>
              </a:rPr>
              <a:t>revision</a:t>
            </a:r>
            <a:r>
              <a:rPr lang="de-CH" sz="640" dirty="0">
                <a:latin typeface="Courier New" panose="02070309020205020404" pitchFamily="49" charset="0"/>
              </a:rPr>
              <a:t>]</a:t>
            </a: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id</a:t>
            </a:r>
            <a:r>
              <a:rPr lang="de-CH" sz="640" dirty="0">
                <a:latin typeface="Courier New" panose="02070309020205020404" pitchFamily="49" charset="0"/>
              </a:rPr>
              <a:t>                  </a:t>
            </a:r>
            <a:r>
              <a:rPr lang="de-CH" sz="640" dirty="0" err="1">
                <a:latin typeface="Courier New" panose="02070309020205020404" pitchFamily="49" charset="0"/>
              </a:rPr>
              <a:t>yang:uuid</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revision</a:t>
            </a:r>
            <a:r>
              <a:rPr lang="de-CH" sz="640" dirty="0">
                <a:latin typeface="Courier New" panose="02070309020205020404" pitchFamily="49" charset="0"/>
              </a:rPr>
              <a:t>            yang:counter32</a:t>
            </a: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uri</a:t>
            </a:r>
            <a:r>
              <a:rPr lang="de-CH" sz="640" dirty="0">
                <a:latin typeface="Courier New" panose="02070309020205020404" pitchFamily="49" charset="0"/>
              </a:rPr>
              <a:t>?                </a:t>
            </a:r>
            <a:r>
              <a:rPr lang="de-CH" sz="640" dirty="0" err="1">
                <a:latin typeface="Courier New" panose="02070309020205020404" pitchFamily="49" charset="0"/>
              </a:rPr>
              <a:t>inet:uri</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stage</a:t>
            </a:r>
            <a:r>
              <a:rPr lang="de-CH" sz="640" dirty="0">
                <a:latin typeface="Courier New" panose="02070309020205020404" pitchFamily="49" charset="0"/>
              </a:rPr>
              <a:t>               </a:t>
            </a:r>
            <a:r>
              <a:rPr lang="de-CH" sz="640" dirty="0" err="1">
                <a:latin typeface="Courier New" panose="02070309020205020404" pitchFamily="49" charset="0"/>
              </a:rPr>
              <a:t>identityref</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description</a:t>
            </a:r>
            <a:r>
              <a:rPr lang="de-CH" sz="640" dirty="0">
                <a:latin typeface="Courier New" panose="02070309020205020404" pitchFamily="49" charset="0"/>
              </a:rPr>
              <a:t>?        </a:t>
            </a:r>
            <a:r>
              <a:rPr lang="de-CH" sz="640" dirty="0" err="1">
                <a:latin typeface="Courier New" panose="02070309020205020404" pitchFamily="49" charset="0"/>
              </a:rPr>
              <a:t>string</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start-time          </a:t>
            </a:r>
            <a:r>
              <a:rPr lang="de-CH" sz="640" dirty="0" err="1">
                <a:latin typeface="Courier New" panose="02070309020205020404" pitchFamily="49" charset="0"/>
              </a:rPr>
              <a:t>yang:date-and-time</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end-time?           </a:t>
            </a:r>
            <a:r>
              <a:rPr lang="de-CH" sz="640" dirty="0" err="1">
                <a:latin typeface="Courier New" panose="02070309020205020404" pitchFamily="49" charset="0"/>
              </a:rPr>
              <a:t>yang:date-and-time</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confidence</a:t>
            </a:r>
            <a:r>
              <a:rPr lang="de-CH" sz="640" dirty="0">
                <a:latin typeface="Courier New" panose="02070309020205020404" pitchFamily="49" charset="0"/>
              </a:rPr>
              <a:t>-score?   score</a:t>
            </a: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pattern</a:t>
            </a:r>
            <a:r>
              <a:rPr lang="de-CH" sz="640" dirty="0">
                <a:latin typeface="Courier New" panose="02070309020205020404" pitchFamily="49" charset="0"/>
              </a:rPr>
              <a:t>?            </a:t>
            </a:r>
            <a:r>
              <a:rPr lang="de-CH" sz="640" dirty="0" err="1">
                <a:latin typeface="Courier New" panose="02070309020205020404" pitchFamily="49" charset="0"/>
              </a:rPr>
              <a:t>identityref</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annotator</a:t>
            </a:r>
            <a:endParaRPr lang="de-CH" sz="640" dirty="0">
              <a:latin typeface="Courier New" panose="02070309020205020404" pitchFamily="49" charset="0"/>
            </a:endParaRPr>
          </a:p>
          <a:p>
            <a:pPr>
              <a:buNone/>
            </a:pPr>
            <a:r>
              <a:rPr lang="de-CH" sz="640" dirty="0">
                <a:latin typeface="Courier New" panose="02070309020205020404" pitchFamily="49" charset="0"/>
              </a:rPr>
              <a:t>        |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id</a:t>
            </a:r>
            <a:r>
              <a:rPr lang="de-CH" sz="640" dirty="0">
                <a:latin typeface="Courier New" panose="02070309020205020404" pitchFamily="49" charset="0"/>
              </a:rPr>
              <a:t>?               </a:t>
            </a:r>
            <a:r>
              <a:rPr lang="de-CH" sz="640" dirty="0" err="1">
                <a:latin typeface="Courier New" panose="02070309020205020404" pitchFamily="49" charset="0"/>
              </a:rPr>
              <a:t>yang:uuid</a:t>
            </a:r>
            <a:endParaRPr lang="de-CH" sz="640" dirty="0">
              <a:latin typeface="Courier New" panose="02070309020205020404" pitchFamily="49" charset="0"/>
            </a:endParaRPr>
          </a:p>
          <a:p>
            <a:pPr>
              <a:buNone/>
            </a:pPr>
            <a:r>
              <a:rPr lang="de-CH" sz="640" dirty="0">
                <a:latin typeface="Courier New" panose="02070309020205020404" pitchFamily="49" charset="0"/>
              </a:rPr>
              <a:t>        |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name</a:t>
            </a:r>
            <a:r>
              <a:rPr lang="de-CH" sz="640" dirty="0">
                <a:latin typeface="Courier New" panose="02070309020205020404" pitchFamily="49" charset="0"/>
              </a:rPr>
              <a:t>              </a:t>
            </a:r>
            <a:r>
              <a:rPr lang="de-CH" sz="640" dirty="0" err="1">
                <a:latin typeface="Courier New" panose="02070309020205020404" pitchFamily="49" charset="0"/>
              </a:rPr>
              <a:t>string</a:t>
            </a:r>
            <a:endParaRPr lang="de-CH" sz="640" dirty="0">
              <a:latin typeface="Courier New" panose="02070309020205020404" pitchFamily="49" charset="0"/>
            </a:endParaRPr>
          </a:p>
          <a:p>
            <a:pPr>
              <a:buNone/>
            </a:pPr>
            <a:r>
              <a:rPr lang="de-CH" sz="640" dirty="0">
                <a:latin typeface="Courier New" panose="02070309020205020404" pitchFamily="49" charset="0"/>
              </a:rPr>
              <a:t>        |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version</a:t>
            </a:r>
            <a:r>
              <a:rPr lang="de-CH" sz="640" dirty="0">
                <a:latin typeface="Courier New" panose="02070309020205020404" pitchFamily="49" charset="0"/>
              </a:rPr>
              <a:t>?          </a:t>
            </a:r>
            <a:r>
              <a:rPr lang="de-CH" sz="640" dirty="0" err="1">
                <a:latin typeface="Courier New" panose="02070309020205020404" pitchFamily="49" charset="0"/>
              </a:rPr>
              <a:t>string</a:t>
            </a:r>
            <a:endParaRPr lang="de-CH" sz="640" dirty="0">
              <a:latin typeface="Courier New" panose="02070309020205020404" pitchFamily="49" charset="0"/>
            </a:endParaRPr>
          </a:p>
          <a:p>
            <a:pPr>
              <a:buNone/>
            </a:pPr>
            <a:r>
              <a:rPr lang="de-CH" sz="640" dirty="0">
                <a:latin typeface="Courier New" panose="02070309020205020404" pitchFamily="49" charset="0"/>
              </a:rPr>
              <a:t>        |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annotator</a:t>
            </a:r>
            <a:r>
              <a:rPr lang="de-CH" sz="640" dirty="0">
                <a:latin typeface="Courier New" panose="02070309020205020404" pitchFamily="49" charset="0"/>
              </a:rPr>
              <a:t>-type?   </a:t>
            </a:r>
            <a:r>
              <a:rPr lang="de-CH" sz="640" dirty="0" err="1">
                <a:latin typeface="Courier New" panose="02070309020205020404" pitchFamily="49" charset="0"/>
              </a:rPr>
              <a:t>enumeration</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operational-</a:t>
            </a:r>
            <a:r>
              <a:rPr lang="de-CH" sz="640" dirty="0" err="1">
                <a:latin typeface="Courier New" panose="02070309020205020404" pitchFamily="49" charset="0"/>
              </a:rPr>
              <a:t>data</a:t>
            </a:r>
            <a:endParaRPr lang="de-CH" sz="640" dirty="0">
              <a:latin typeface="Courier New" panose="02070309020205020404" pitchFamily="49" charset="0"/>
            </a:endParaRPr>
          </a:p>
          <a:p>
            <a:pPr>
              <a:buNone/>
            </a:pPr>
            <a:r>
              <a:rPr lang="de-CH" sz="640" dirty="0">
                <a:highlight>
                  <a:srgbClr val="FFFF00"/>
                </a:highlight>
                <a:latin typeface="Courier New" panose="02070309020205020404" pitchFamily="49" charset="0"/>
              </a:rPr>
              <a:t>        |  +--</a:t>
            </a:r>
            <a:r>
              <a:rPr lang="de-CH" sz="640" dirty="0" err="1">
                <a:highlight>
                  <a:srgbClr val="FFFF00"/>
                </a:highlight>
                <a:latin typeface="Courier New" panose="02070309020205020404" pitchFamily="49" charset="0"/>
              </a:rPr>
              <a:t>rw</a:t>
            </a:r>
            <a:r>
              <a:rPr lang="de-CH" sz="640" dirty="0">
                <a:highlight>
                  <a:srgbClr val="FFFF00"/>
                </a:highlight>
                <a:latin typeface="Courier New" panose="02070309020205020404" pitchFamily="49" charset="0"/>
              </a:rPr>
              <a:t> </a:t>
            </a:r>
            <a:r>
              <a:rPr lang="de-CH" sz="640" dirty="0" err="1">
                <a:highlight>
                  <a:srgbClr val="FFFF00"/>
                </a:highlight>
                <a:latin typeface="Courier New" panose="02070309020205020404" pitchFamily="49" charset="0"/>
              </a:rPr>
              <a:t>topic</a:t>
            </a:r>
            <a:r>
              <a:rPr lang="de-CH" sz="640" dirty="0">
                <a:highlight>
                  <a:srgbClr val="FFFF00"/>
                </a:highlight>
                <a:latin typeface="Courier New" panose="02070309020205020404" pitchFamily="49" charset="0"/>
              </a:rPr>
              <a:t>-name?     </a:t>
            </a:r>
            <a:r>
              <a:rPr lang="de-CH" sz="640" dirty="0" err="1">
                <a:highlight>
                  <a:srgbClr val="FFFF00"/>
                </a:highlight>
                <a:latin typeface="Courier New" panose="02070309020205020404" pitchFamily="49" charset="0"/>
              </a:rPr>
              <a:t>message</a:t>
            </a:r>
            <a:r>
              <a:rPr lang="de-CH" sz="640" dirty="0">
                <a:highlight>
                  <a:srgbClr val="FFFF00"/>
                </a:highlight>
                <a:latin typeface="Courier New" panose="02070309020205020404" pitchFamily="49" charset="0"/>
              </a:rPr>
              <a:t>-broker-topic</a:t>
            </a:r>
          </a:p>
          <a:p>
            <a:pPr>
              <a:buNone/>
            </a:pPr>
            <a:r>
              <a:rPr lang="de-CH" sz="640" dirty="0">
                <a:highlight>
                  <a:srgbClr val="FFFF00"/>
                </a:highlight>
                <a:latin typeface="Courier New" panose="02070309020205020404" pitchFamily="49" charset="0"/>
              </a:rPr>
              <a:t>        |  +--</a:t>
            </a:r>
            <a:r>
              <a:rPr lang="de-CH" sz="640" dirty="0" err="1">
                <a:highlight>
                  <a:srgbClr val="FFFF00"/>
                </a:highlight>
                <a:latin typeface="Courier New" panose="02070309020205020404" pitchFamily="49" charset="0"/>
              </a:rPr>
              <a:t>rw</a:t>
            </a:r>
            <a:r>
              <a:rPr lang="de-CH" sz="640" dirty="0">
                <a:highlight>
                  <a:srgbClr val="FFFF00"/>
                </a:highlight>
                <a:latin typeface="Courier New" panose="02070309020205020404" pitchFamily="49" charset="0"/>
              </a:rPr>
              <a:t> </a:t>
            </a:r>
            <a:r>
              <a:rPr lang="de-CH" sz="640" dirty="0" err="1">
                <a:highlight>
                  <a:srgbClr val="FFFF00"/>
                </a:highlight>
                <a:latin typeface="Courier New" panose="02070309020205020404" pitchFamily="49" charset="0"/>
              </a:rPr>
              <a:t>subject</a:t>
            </a:r>
            <a:r>
              <a:rPr lang="de-CH" sz="640" dirty="0">
                <a:highlight>
                  <a:srgbClr val="FFFF00"/>
                </a:highlight>
                <a:latin typeface="Courier New" panose="02070309020205020404" pitchFamily="49" charset="0"/>
              </a:rPr>
              <a:t>-name?   </a:t>
            </a:r>
            <a:r>
              <a:rPr lang="de-CH" sz="640" dirty="0" err="1">
                <a:highlight>
                  <a:srgbClr val="FFFF00"/>
                </a:highlight>
                <a:latin typeface="Courier New" panose="02070309020205020404" pitchFamily="49" charset="0"/>
              </a:rPr>
              <a:t>message</a:t>
            </a:r>
            <a:r>
              <a:rPr lang="de-CH" sz="640" dirty="0">
                <a:highlight>
                  <a:srgbClr val="FFFF00"/>
                </a:highlight>
                <a:latin typeface="Courier New" panose="02070309020205020404" pitchFamily="49" charset="0"/>
              </a:rPr>
              <a:t>-broker-</a:t>
            </a:r>
            <a:r>
              <a:rPr lang="de-CH" sz="640" dirty="0" err="1">
                <a:highlight>
                  <a:srgbClr val="FFFF00"/>
                </a:highlight>
                <a:latin typeface="Courier New" panose="02070309020205020404" pitchFamily="49" charset="0"/>
              </a:rPr>
              <a:t>subject</a:t>
            </a:r>
            <a:endParaRPr lang="de-CH" sz="640" dirty="0">
              <a:highlight>
                <a:srgbClr val="FFFF00"/>
              </a:highlight>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symptom</a:t>
            </a:r>
            <a:r>
              <a:rPr lang="de-CH" sz="640" dirty="0">
                <a:latin typeface="Courier New" panose="02070309020205020404" pitchFamily="49" charset="0"/>
              </a:rPr>
              <a:t>!</a:t>
            </a: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id</a:t>
            </a:r>
            <a:r>
              <a:rPr lang="de-CH" sz="640" dirty="0">
                <a:latin typeface="Courier New" panose="02070309020205020404" pitchFamily="49" charset="0"/>
              </a:rPr>
              <a:t>               </a:t>
            </a:r>
            <a:r>
              <a:rPr lang="de-CH" sz="640" dirty="0" err="1">
                <a:latin typeface="Courier New" panose="02070309020205020404" pitchFamily="49" charset="0"/>
              </a:rPr>
              <a:t>yang:uuid</a:t>
            </a:r>
            <a:endParaRPr lang="de-CH" sz="640" dirty="0">
              <a:latin typeface="Courier New" panose="02070309020205020404" pitchFamily="49" charset="0"/>
            </a:endParaRPr>
          </a:p>
          <a:p>
            <a:pPr>
              <a:buNone/>
            </a:pPr>
            <a:r>
              <a:rPr lang="de-CH" sz="640" dirty="0">
                <a:latin typeface="Courier New" panose="02070309020205020404" pitchFamily="49" charset="0"/>
              </a:rPr>
              <a:t>           +--</a:t>
            </a:r>
            <a:r>
              <a:rPr lang="de-CH" sz="640" dirty="0" err="1">
                <a:latin typeface="Courier New" panose="02070309020205020404" pitchFamily="49" charset="0"/>
              </a:rPr>
              <a:t>rw</a:t>
            </a:r>
            <a:r>
              <a:rPr lang="de-CH" sz="640" dirty="0">
                <a:latin typeface="Courier New" panose="02070309020205020404" pitchFamily="49" charset="0"/>
              </a:rPr>
              <a:t> </a:t>
            </a:r>
            <a:r>
              <a:rPr lang="de-CH" sz="640" dirty="0" err="1">
                <a:latin typeface="Courier New" panose="02070309020205020404" pitchFamily="49" charset="0"/>
              </a:rPr>
              <a:t>concern</a:t>
            </a:r>
            <a:r>
              <a:rPr lang="de-CH" sz="640" dirty="0">
                <a:latin typeface="Courier New" panose="02070309020205020404" pitchFamily="49" charset="0"/>
              </a:rPr>
              <a:t>-score    </a:t>
            </a:r>
            <a:r>
              <a:rPr lang="de-CH" sz="640" dirty="0" err="1">
                <a:latin typeface="Courier New" panose="02070309020205020404" pitchFamily="49" charset="0"/>
              </a:rPr>
              <a:t>score</a:t>
            </a:r>
            <a:endParaRPr lang="de-CH" sz="640" dirty="0">
              <a:latin typeface="Courier New" panose="02070309020205020404" pitchFamily="49" charset="0"/>
            </a:endParaRPr>
          </a:p>
        </p:txBody>
      </p:sp>
    </p:spTree>
    <p:extLst>
      <p:ext uri="{BB962C8B-B14F-4D97-AF65-F5344CB8AC3E}">
        <p14:creationId xmlns:p14="http://schemas.microsoft.com/office/powerpoint/2010/main" val="1375384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93B7D-8769-06BB-617E-4C764D7FD084}"/>
            </a:ext>
          </a:extLst>
        </p:cNvPr>
        <p:cNvGrpSpPr/>
        <p:nvPr/>
      </p:nvGrpSpPr>
      <p:grpSpPr>
        <a:xfrm>
          <a:off x="0" y="0"/>
          <a:ext cx="0" cy="0"/>
          <a:chOff x="0" y="0"/>
          <a:chExt cx="0" cy="0"/>
        </a:xfrm>
      </p:grpSpPr>
      <p:sp>
        <p:nvSpPr>
          <p:cNvPr id="5" name="Inhaltsplatzhalter 2">
            <a:extLst>
              <a:ext uri="{FF2B5EF4-FFF2-40B4-BE49-F238E27FC236}">
                <a16:creationId xmlns:a16="http://schemas.microsoft.com/office/drawing/2014/main" id="{FEB173FE-15D3-C438-10E8-FA80EB751145}"/>
              </a:ext>
            </a:extLst>
          </p:cNvPr>
          <p:cNvSpPr txBox="1">
            <a:spLocks/>
          </p:cNvSpPr>
          <p:nvPr/>
        </p:nvSpPr>
        <p:spPr bwMode="black">
          <a:xfrm>
            <a:off x="721150" y="1518435"/>
            <a:ext cx="7965650" cy="3976297"/>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Bef>
                <a:spcPts val="0"/>
              </a:spcBef>
            </a:pPr>
            <a:r>
              <a:rPr lang="en-IE" sz="1400" b="1" dirty="0"/>
              <a:t>Next Steps</a:t>
            </a:r>
          </a:p>
          <a:p>
            <a:pPr marL="285750" indent="-285750">
              <a:spcBef>
                <a:spcPts val="300"/>
              </a:spcBef>
              <a:spcAft>
                <a:spcPts val="300"/>
              </a:spcAft>
              <a:buFont typeface="Arial" panose="020B0604020202020204" pitchFamily="34" charset="0"/>
              <a:buChar char="•"/>
            </a:pPr>
            <a:r>
              <a:rPr lang="en-IE" sz="1600" dirty="0"/>
              <a:t>Request YANG doctors review for </a:t>
            </a:r>
            <a:r>
              <a:rPr lang="en-US" sz="1600" dirty="0">
                <a:hlinkClick r:id="rId3"/>
              </a:rPr>
              <a:t>draft-ietf-nmop-network-anomaly-semantics-06</a:t>
            </a:r>
            <a:r>
              <a:rPr lang="en-US" sz="1600" dirty="0"/>
              <a:t> and </a:t>
            </a:r>
            <a:r>
              <a:rPr lang="en-US" sz="1600" dirty="0">
                <a:hlinkClick r:id="rId4"/>
              </a:rPr>
              <a:t>draft-ietf-nmop-network-anomaly-lifecycle-06</a:t>
            </a:r>
            <a:r>
              <a:rPr lang="en-US" sz="1600" dirty="0"/>
              <a:t>.</a:t>
            </a:r>
          </a:p>
          <a:p>
            <a:pPr marL="285750" indent="-285750">
              <a:spcBef>
                <a:spcPts val="300"/>
              </a:spcBef>
              <a:spcAft>
                <a:spcPts val="300"/>
              </a:spcAft>
              <a:buFont typeface="Arial" panose="020B0604020202020204" pitchFamily="34" charset="0"/>
              <a:buChar char="•"/>
            </a:pPr>
            <a:r>
              <a:rPr lang="en-US" sz="1600" dirty="0"/>
              <a:t>Extend the postmortem system requirements, accompanied by an implementation PoC</a:t>
            </a:r>
          </a:p>
          <a:p>
            <a:pPr>
              <a:spcBef>
                <a:spcPts val="300"/>
              </a:spcBef>
              <a:spcAft>
                <a:spcPts val="300"/>
              </a:spcAft>
            </a:pPr>
            <a:r>
              <a:rPr lang="en-IE" sz="1400" b="1" dirty="0"/>
              <a:t>Remaining Issues</a:t>
            </a:r>
          </a:p>
          <a:p>
            <a:pPr marL="285750" indent="-285750">
              <a:spcBef>
                <a:spcPts val="300"/>
              </a:spcBef>
              <a:spcAft>
                <a:spcPts val="300"/>
              </a:spcAft>
              <a:buFont typeface="Arial" panose="020B0604020202020204" pitchFamily="34" charset="0"/>
              <a:buChar char="•"/>
            </a:pPr>
            <a:r>
              <a:rPr lang="en-IE" sz="1600" dirty="0"/>
              <a:t>No known remaining issues at this time.</a:t>
            </a:r>
            <a:br>
              <a:rPr lang="en-IE" sz="1600" dirty="0"/>
            </a:br>
            <a:endParaRPr lang="en-IE" sz="1600" dirty="0"/>
          </a:p>
        </p:txBody>
      </p:sp>
      <p:sp>
        <p:nvSpPr>
          <p:cNvPr id="7" name="Title 1">
            <a:extLst>
              <a:ext uri="{FF2B5EF4-FFF2-40B4-BE49-F238E27FC236}">
                <a16:creationId xmlns:a16="http://schemas.microsoft.com/office/drawing/2014/main" id="{BE669A8B-8750-6573-9218-FF05D7A684B0}"/>
              </a:ext>
            </a:extLst>
          </p:cNvPr>
          <p:cNvSpPr txBox="1">
            <a:spLocks/>
          </p:cNvSpPr>
          <p:nvPr/>
        </p:nvSpPr>
        <p:spPr bwMode="black">
          <a:xfrm>
            <a:off x="457200" y="274638"/>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a:t>Next Steps and Remaining Issues</a:t>
            </a:r>
            <a:br>
              <a:rPr lang="en-US" sz="2700"/>
            </a:br>
            <a:r>
              <a:rPr lang="en-GB" sz="2000">
                <a:solidFill>
                  <a:schemeClr val="bg2">
                    <a:lumMod val="75000"/>
                  </a:schemeClr>
                </a:solidFill>
              </a:rPr>
              <a:t>Feedback on latest changes</a:t>
            </a:r>
            <a:endParaRPr lang="en-US" sz="2000" dirty="0">
              <a:solidFill>
                <a:schemeClr val="bg2">
                  <a:lumMod val="75000"/>
                </a:schemeClr>
              </a:solidFill>
            </a:endParaRPr>
          </a:p>
        </p:txBody>
      </p:sp>
      <p:sp>
        <p:nvSpPr>
          <p:cNvPr id="2" name="Slide Number Placeholder 1">
            <a:extLst>
              <a:ext uri="{FF2B5EF4-FFF2-40B4-BE49-F238E27FC236}">
                <a16:creationId xmlns:a16="http://schemas.microsoft.com/office/drawing/2014/main" id="{2F3DAF01-F8AD-FBFA-8AD7-90E91E64BEC7}"/>
              </a:ext>
            </a:extLst>
          </p:cNvPr>
          <p:cNvSpPr>
            <a:spLocks noGrp="1"/>
          </p:cNvSpPr>
          <p:nvPr>
            <p:ph type="sldNum" sz="quarter" idx="12"/>
          </p:nvPr>
        </p:nvSpPr>
        <p:spPr>
          <a:xfrm>
            <a:off x="6553200" y="6356350"/>
            <a:ext cx="2133600" cy="365125"/>
          </a:xfrm>
        </p:spPr>
        <p:txBody>
          <a:bodyPr/>
          <a:lstStyle/>
          <a:p>
            <a:fld id="{8FF9B0DE-3FEB-4AA0-B465-B80EF7C1333D}" type="slidenum">
              <a:rPr lang="en-GB" smtClean="0"/>
              <a:t>12</a:t>
            </a:fld>
            <a:endParaRPr lang="en-GB" dirty="0"/>
          </a:p>
        </p:txBody>
      </p:sp>
    </p:spTree>
    <p:extLst>
      <p:ext uri="{BB962C8B-B14F-4D97-AF65-F5344CB8AC3E}">
        <p14:creationId xmlns:p14="http://schemas.microsoft.com/office/powerpoint/2010/main" val="3265965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5FACCA9-DB5D-E94E-BDB7-FEA6F1649668}">
  <we:reference id="wa200006067" version="1.0.0.9" store="en-GB" storeType="OMEX"/>
  <we:alternateReferences>
    <we:reference id="WA200006067" version="1.0.0.9" store="" storeType="OMEX"/>
  </we:alternateReferences>
  <we:properties/>
  <we:bindings/>
  <we:snapshot xmlns:r="http://schemas.openxmlformats.org/officeDocument/2006/relationships"/>
  <we:extLst>
    <a:ext xmlns:a="http://schemas.openxmlformats.org/drawingml/2006/main" uri="{0858819E-0033-43BF-8937-05EC82904868}">
      <we:backgroundApp state="1" runtimeId=""/>
    </a:ext>
  </we:extLst>
</we:webextension>
</file>

<file path=ppt/webextensions/webextension2.xml><?xml version="1.0" encoding="utf-8"?>
<we:webextension xmlns:we="http://schemas.microsoft.com/office/webextensions/webextension/2010/11" id="{5E6A533A-1FC7-FC42-A858-BD2D2D09E659}">
  <we:reference id="wa200007884" version="1.0.0.1" store="en-GB" storeType="OMEX"/>
  <we:alternateReferences>
    <we:reference id="WA200007884" version="1.0.0.1" store="" storeType="OMEX"/>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2e1fccfb-80ca-4fe1-a574-1516544edb53}" enabled="1" method="Standard" siteId="{364e5b87-c1c7-420d-9bee-c35d19b557a1}" contentBits="0" removed="0"/>
</clbl:labelList>
</file>

<file path=docProps/app.xml><?xml version="1.0" encoding="utf-8"?>
<Properties xmlns="http://schemas.openxmlformats.org/officeDocument/2006/extended-properties" xmlns:vt="http://schemas.openxmlformats.org/officeDocument/2006/docPropsVTypes">
  <TotalTime>0</TotalTime>
  <Words>1309</Words>
  <Application>Microsoft Office PowerPoint</Application>
  <PresentationFormat>On-screen Show (4:3)</PresentationFormat>
  <Paragraphs>195</Paragraphs>
  <Slides>12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Calibri</vt:lpstr>
      <vt:lpstr>Calibri Light</vt:lpstr>
      <vt:lpstr>Courier New</vt:lpstr>
      <vt:lpstr>Wingdings</vt:lpstr>
      <vt:lpstr>Office Theme</vt:lpstr>
      <vt:lpstr>PowerPoint Presentation</vt:lpstr>
      <vt:lpstr>PowerPoint Presentation</vt:lpstr>
      <vt:lpstr>draft-ietf-nmop-network-anomaly-architecture-08 </vt:lpstr>
      <vt:lpstr>Network Anomaly Detection Architecture Document summary</vt:lpstr>
      <vt:lpstr>Network Anomaly Detection Architecture Key draft updates since v-07, IETF 125</vt:lpstr>
      <vt:lpstr>draft-ietf-nmop-network-anomaly-semantics-06 </vt:lpstr>
      <vt:lpstr>Semantic Metadata Annotation Document summary</vt:lpstr>
      <vt:lpstr>Semantic Metadata Annotation Key draft updates since v-06, IETF 125</vt:lpstr>
      <vt:lpstr>draft-ietf-nmop-network-anomaly-lifecycle-06 </vt:lpstr>
      <vt:lpstr>Network Anomaly Lifecycle Document summary</vt:lpstr>
      <vt:lpstr>Network Anomaly Lifecycle Key draft updates since v-05, IETF 125</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Graf Thomas, SCS-INI-NET-VNC-E2E</cp:lastModifiedBy>
  <cp:revision>39</cp:revision>
  <dcterms:created xsi:type="dcterms:W3CDTF">2013-01-27T09:14:16Z</dcterms:created>
  <dcterms:modified xsi:type="dcterms:W3CDTF">2026-07-11T08:34:59Z</dcterms:modified>
  <cp:category/>
</cp:coreProperties>
</file>