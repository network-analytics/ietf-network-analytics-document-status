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1041" r:id="rId2"/>
    <p:sldId id="2145706243" r:id="rId3"/>
    <p:sldId id="2145706298" r:id="rId4"/>
    <p:sldId id="2145706303" r:id="rId5"/>
    <p:sldId id="2145706313" r:id="rId6"/>
    <p:sldId id="2145706311" r:id="rId7"/>
    <p:sldId id="2145706312" r:id="rId8"/>
    <p:sldId id="2145706310" r:id="rId9"/>
    <p:sldId id="2145706302" r:id="rId10"/>
    <p:sldId id="2145706306" r:id="rId11"/>
    <p:sldId id="2145706309" r:id="rId12"/>
    <p:sldId id="2145706220" r:id="rId1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AB2929-1981-471E-A8B6-57E934419350}" v="24" dt="2026-07-14T13:24:33.8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53" autoAdjust="0"/>
    <p:restoredTop sz="91695" autoAdjust="0"/>
  </p:normalViewPr>
  <p:slideViewPr>
    <p:cSldViewPr snapToGrid="0">
      <p:cViewPr>
        <p:scale>
          <a:sx n="70" d="100"/>
          <a:sy n="70" d="100"/>
        </p:scale>
        <p:origin x="1075" y="437"/>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ldChg>
      <pc:sldChg chg="modSp add mod">
        <pc:chgData name="Graf Thomas, SCS-INI-NET-VNC-E2E" userId="487bc3e3-9ce7-4cdd-b7b4-8899ea88d289" providerId="ADAL" clId="{54A39940-08FA-4A7E-9BB9-600FEA25ABAF}" dt="2025-10-18T06:09:55.667" v="6164" actId="20577"/>
        <pc:sldMkLst>
          <pc:docMk/>
          <pc:sldMk cId="4251917088" sldId="2145706303"/>
        </pc:sldMkLst>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ldChg>
    </pc:docChg>
  </pc:docChgLst>
  <pc:docChgLst>
    <pc:chgData name="Graf Thomas, SCS-INI-NET-VNC-E2E" userId="487bc3e3-9ce7-4cdd-b7b4-8899ea88d289" providerId="ADAL" clId="{ADEEF08A-D719-4B50-A383-4105EDA2C206}"/>
    <pc:docChg chg="undo redo custSel addSld delSld modSld sldOrd">
      <pc:chgData name="Graf Thomas, SCS-INI-NET-VNC-E2E" userId="487bc3e3-9ce7-4cdd-b7b4-8899ea88d289" providerId="ADAL" clId="{ADEEF08A-D719-4B50-A383-4105EDA2C206}" dt="2026-07-14T13:29:47.977" v="7257" actId="400"/>
      <pc:docMkLst>
        <pc:docMk/>
      </pc:docMkLst>
      <pc:sldChg chg="modSp mod">
        <pc:chgData name="Graf Thomas, SCS-INI-NET-VNC-E2E" userId="487bc3e3-9ce7-4cdd-b7b4-8899ea88d289" providerId="ADAL" clId="{ADEEF08A-D719-4B50-A383-4105EDA2C206}" dt="2026-07-14T12:41:35.171" v="6121" actId="20577"/>
        <pc:sldMkLst>
          <pc:docMk/>
          <pc:sldMk cId="3578665336" sldId="1041"/>
        </pc:sldMkLst>
        <pc:spChg chg="mod">
          <ac:chgData name="Graf Thomas, SCS-INI-NET-VNC-E2E" userId="487bc3e3-9ce7-4cdd-b7b4-8899ea88d289" providerId="ADAL" clId="{ADEEF08A-D719-4B50-A383-4105EDA2C206}" dt="2026-07-14T12:41:23.213" v="6114"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7-14T12:41:35.171" v="6121" actId="20577"/>
          <ac:spMkLst>
            <pc:docMk/>
            <pc:sldMk cId="3578665336" sldId="1041"/>
            <ac:spMk id="6" creationId="{6CAA0765-1318-4A03-8F91-D3ECC43D8FA7}"/>
          </ac:spMkLst>
        </pc:spChg>
      </pc:sldChg>
      <pc:sldChg chg="modSp del mod">
        <pc:chgData name="Graf Thomas, SCS-INI-NET-VNC-E2E" userId="487bc3e3-9ce7-4cdd-b7b4-8899ea88d289" providerId="ADAL" clId="{ADEEF08A-D719-4B50-A383-4105EDA2C206}" dt="2026-07-14T12:55:18.417" v="6196" actId="47"/>
        <pc:sldMkLst>
          <pc:docMk/>
          <pc:sldMk cId="1088069469" sldId="26422"/>
        </pc:sldMkLst>
      </pc:sldChg>
      <pc:sldChg chg="addSp modSp mod">
        <pc:chgData name="Graf Thomas, SCS-INI-NET-VNC-E2E" userId="487bc3e3-9ce7-4cdd-b7b4-8899ea88d289" providerId="ADAL" clId="{ADEEF08A-D719-4B50-A383-4105EDA2C206}" dt="2026-03-06T15:14:32.681" v="6011" actId="14100"/>
        <pc:sldMkLst>
          <pc:docMk/>
          <pc:sldMk cId="670772560" sldId="2145706220"/>
        </pc:sldMkLst>
      </pc:sldChg>
      <pc:sldChg chg="delSp modSp add mod">
        <pc:chgData name="Graf Thomas, SCS-INI-NET-VNC-E2E" userId="487bc3e3-9ce7-4cdd-b7b4-8899ea88d289" providerId="ADAL" clId="{ADEEF08A-D719-4B50-A383-4105EDA2C206}" dt="2026-07-14T12:41:55.778" v="6133"/>
        <pc:sldMkLst>
          <pc:docMk/>
          <pc:sldMk cId="2750719351" sldId="2145706243"/>
        </pc:sldMkLst>
        <pc:spChg chg="mod">
          <ac:chgData name="Graf Thomas, SCS-INI-NET-VNC-E2E" userId="487bc3e3-9ce7-4cdd-b7b4-8899ea88d289" providerId="ADAL" clId="{ADEEF08A-D719-4B50-A383-4105EDA2C206}" dt="2026-07-14T12:41:55.778" v="6133"/>
          <ac:spMkLst>
            <pc:docMk/>
            <pc:sldMk cId="2750719351" sldId="2145706243"/>
            <ac:spMk id="3" creationId="{E1C8AC62-B5C5-ADE4-1957-88D3A14E964A}"/>
          </ac:spMkLst>
        </pc:spChg>
      </pc:sldChg>
      <pc:sldChg chg="addSp delSp modSp del mod">
        <pc:chgData name="Graf Thomas, SCS-INI-NET-VNC-E2E" userId="487bc3e3-9ce7-4cdd-b7b4-8899ea88d289" providerId="ADAL" clId="{ADEEF08A-D719-4B50-A383-4105EDA2C206}" dt="2026-07-14T12:55:56.511" v="6197" actId="47"/>
        <pc:sldMkLst>
          <pc:docMk/>
          <pc:sldMk cId="1315775908" sldId="2145706280"/>
        </pc:sldMkLst>
      </pc:sldChg>
      <pc:sldChg chg="addSp delSp modSp del mod">
        <pc:chgData name="Graf Thomas, SCS-INI-NET-VNC-E2E" userId="487bc3e3-9ce7-4cdd-b7b4-8899ea88d289" providerId="ADAL" clId="{ADEEF08A-D719-4B50-A383-4105EDA2C206}" dt="2026-07-14T12:55:56.511" v="6197" actId="47"/>
        <pc:sldMkLst>
          <pc:docMk/>
          <pc:sldMk cId="3685482022" sldId="2145706295"/>
        </pc:sldMkLst>
        <pc:spChg chg="mod">
          <ac:chgData name="Graf Thomas, SCS-INI-NET-VNC-E2E" userId="487bc3e3-9ce7-4cdd-b7b4-8899ea88d289" providerId="ADAL" clId="{ADEEF08A-D719-4B50-A383-4105EDA2C206}" dt="2026-07-14T12:48:43.491" v="6138" actId="1076"/>
          <ac:spMkLst>
            <pc:docMk/>
            <pc:sldMk cId="3685482022" sldId="2145706295"/>
            <ac:spMk id="9" creationId="{B59BD151-8C28-BD0B-5959-748ED326249A}"/>
          </ac:spMkLst>
        </pc:spChg>
      </pc:sldChg>
      <pc:sldChg chg="addSp delSp modSp del mod">
        <pc:chgData name="Graf Thomas, SCS-INI-NET-VNC-E2E" userId="487bc3e3-9ce7-4cdd-b7b4-8899ea88d289" providerId="ADAL" clId="{ADEEF08A-D719-4B50-A383-4105EDA2C206}" dt="2026-07-14T12:56:53.974" v="6205" actId="47"/>
        <pc:sldMkLst>
          <pc:docMk/>
          <pc:sldMk cId="1475201924" sldId="2145706296"/>
        </pc:sldMkLst>
        <pc:picChg chg="mod">
          <ac:chgData name="Graf Thomas, SCS-INI-NET-VNC-E2E" userId="487bc3e3-9ce7-4cdd-b7b4-8899ea88d289" providerId="ADAL" clId="{ADEEF08A-D719-4B50-A383-4105EDA2C206}" dt="2026-07-14T12:49:12.783" v="6139" actId="14826"/>
          <ac:picMkLst>
            <pc:docMk/>
            <pc:sldMk cId="1475201924" sldId="2145706296"/>
            <ac:picMk id="3" creationId="{7FE1D9BE-38E0-66CE-DDC0-29019F670C04}"/>
          </ac:picMkLst>
        </pc:picChg>
      </pc:sldChg>
      <pc:sldChg chg="addSp delSp modSp del mod">
        <pc:chgData name="Graf Thomas, SCS-INI-NET-VNC-E2E" userId="487bc3e3-9ce7-4cdd-b7b4-8899ea88d289" providerId="ADAL" clId="{ADEEF08A-D719-4B50-A383-4105EDA2C206}" dt="2026-07-14T12:56:44.698" v="6204" actId="47"/>
        <pc:sldMkLst>
          <pc:docMk/>
          <pc:sldMk cId="710783608" sldId="2145706297"/>
        </pc:sldMkLst>
        <pc:spChg chg="mod">
          <ac:chgData name="Graf Thomas, SCS-INI-NET-VNC-E2E" userId="487bc3e3-9ce7-4cdd-b7b4-8899ea88d289" providerId="ADAL" clId="{ADEEF08A-D719-4B50-A383-4105EDA2C206}" dt="2026-07-14T12:51:15.075" v="6146" actId="14100"/>
          <ac:spMkLst>
            <pc:docMk/>
            <pc:sldMk cId="710783608" sldId="2145706297"/>
            <ac:spMk id="5" creationId="{749FD0AD-E617-98E7-0E99-692C31C4B242}"/>
          </ac:spMkLst>
        </pc:spChg>
        <pc:picChg chg="add mod">
          <ac:chgData name="Graf Thomas, SCS-INI-NET-VNC-E2E" userId="487bc3e3-9ce7-4cdd-b7b4-8899ea88d289" providerId="ADAL" clId="{ADEEF08A-D719-4B50-A383-4105EDA2C206}" dt="2026-07-14T12:50:35.309" v="6144" actId="1076"/>
          <ac:picMkLst>
            <pc:docMk/>
            <pc:sldMk cId="710783608" sldId="2145706297"/>
            <ac:picMk id="3" creationId="{883A53C0-0E1E-9DCE-9996-F8C9123C6621}"/>
          </ac:picMkLst>
        </pc:picChg>
        <pc:picChg chg="del mod">
          <ac:chgData name="Graf Thomas, SCS-INI-NET-VNC-E2E" userId="487bc3e3-9ce7-4cdd-b7b4-8899ea88d289" providerId="ADAL" clId="{ADEEF08A-D719-4B50-A383-4105EDA2C206}" dt="2026-07-14T12:50:27.664" v="6142" actId="478"/>
          <ac:picMkLst>
            <pc:docMk/>
            <pc:sldMk cId="710783608" sldId="2145706297"/>
            <ac:picMk id="4" creationId="{428EBA8D-181B-508E-90C7-3CCEC074640A}"/>
          </ac:picMkLst>
        </pc:picChg>
      </pc:sldChg>
      <pc:sldChg chg="addSp delSp modSp mod ord">
        <pc:chgData name="Graf Thomas, SCS-INI-NET-VNC-E2E" userId="487bc3e3-9ce7-4cdd-b7b4-8899ea88d289" providerId="ADAL" clId="{ADEEF08A-D719-4B50-A383-4105EDA2C206}" dt="2026-07-14T12:56:59.627" v="6207"/>
        <pc:sldMkLst>
          <pc:docMk/>
          <pc:sldMk cId="3625312977" sldId="2145706298"/>
        </pc:sldMkLst>
        <pc:picChg chg="add mod">
          <ac:chgData name="Graf Thomas, SCS-INI-NET-VNC-E2E" userId="487bc3e3-9ce7-4cdd-b7b4-8899ea88d289" providerId="ADAL" clId="{ADEEF08A-D719-4B50-A383-4105EDA2C206}" dt="2026-07-14T12:56:39.058" v="6203" actId="1076"/>
          <ac:picMkLst>
            <pc:docMk/>
            <pc:sldMk cId="3625312977" sldId="2145706298"/>
            <ac:picMk id="3" creationId="{3D20887A-63D9-A4B9-AA81-58DA821129FA}"/>
          </ac:picMkLst>
        </pc:picChg>
        <pc:picChg chg="del">
          <ac:chgData name="Graf Thomas, SCS-INI-NET-VNC-E2E" userId="487bc3e3-9ce7-4cdd-b7b4-8899ea88d289" providerId="ADAL" clId="{ADEEF08A-D719-4B50-A383-4105EDA2C206}" dt="2026-07-14T12:56:26.908" v="6198" actId="478"/>
          <ac:picMkLst>
            <pc:docMk/>
            <pc:sldMk cId="3625312977" sldId="2145706298"/>
            <ac:picMk id="4" creationId="{5B845DB1-AD33-F165-0A69-794539AA8954}"/>
          </ac:picMkLst>
        </pc:picChg>
      </pc:sldChg>
      <pc:sldChg chg="del">
        <pc:chgData name="Graf Thomas, SCS-INI-NET-VNC-E2E" userId="487bc3e3-9ce7-4cdd-b7b4-8899ea88d289" providerId="ADAL" clId="{ADEEF08A-D719-4B50-A383-4105EDA2C206}" dt="2026-03-06T12:57:35.600" v="1725" actId="47"/>
        <pc:sldMkLst>
          <pc:docMk/>
          <pc:sldMk cId="2117458142" sldId="2145706299"/>
        </pc:sldMkLst>
      </pc:sldChg>
      <pc:sldChg chg="del">
        <pc:chgData name="Graf Thomas, SCS-INI-NET-VNC-E2E" userId="487bc3e3-9ce7-4cdd-b7b4-8899ea88d289" providerId="ADAL" clId="{ADEEF08A-D719-4B50-A383-4105EDA2C206}" dt="2026-07-14T12:55:18.417" v="6196" actId="47"/>
        <pc:sldMkLst>
          <pc:docMk/>
          <pc:sldMk cId="1230411846" sldId="2145706300"/>
        </pc:sldMkLst>
      </pc:sldChg>
      <pc:sldChg chg="modSp del mod">
        <pc:chgData name="Graf Thomas, SCS-INI-NET-VNC-E2E" userId="487bc3e3-9ce7-4cdd-b7b4-8899ea88d289" providerId="ADAL" clId="{ADEEF08A-D719-4B50-A383-4105EDA2C206}" dt="2026-07-14T12:55:18.417" v="6196" actId="47"/>
        <pc:sldMkLst>
          <pc:docMk/>
          <pc:sldMk cId="4162477740" sldId="2145706301"/>
        </pc:sldMkLst>
      </pc:sldChg>
      <pc:sldChg chg="modSp mod ord">
        <pc:chgData name="Graf Thomas, SCS-INI-NET-VNC-E2E" userId="487bc3e3-9ce7-4cdd-b7b4-8899ea88d289" providerId="ADAL" clId="{ADEEF08A-D719-4B50-A383-4105EDA2C206}" dt="2026-07-14T13:29:47.977" v="7257" actId="400"/>
        <pc:sldMkLst>
          <pc:docMk/>
          <pc:sldMk cId="1190312228" sldId="2145706302"/>
        </pc:sldMkLst>
        <pc:spChg chg="mod">
          <ac:chgData name="Graf Thomas, SCS-INI-NET-VNC-E2E" userId="487bc3e3-9ce7-4cdd-b7b4-8899ea88d289" providerId="ADAL" clId="{ADEEF08A-D719-4B50-A383-4105EDA2C206}" dt="2026-07-14T13:29:47.977" v="7257" actId="400"/>
          <ac:spMkLst>
            <pc:docMk/>
            <pc:sldMk cId="1190312228" sldId="2145706302"/>
            <ac:spMk id="3" creationId="{16030435-8548-CFD7-E67B-E4D3DD29D75F}"/>
          </ac:spMkLst>
        </pc:spChg>
      </pc:sldChg>
      <pc:sldChg chg="addSp modSp mod ord">
        <pc:chgData name="Graf Thomas, SCS-INI-NET-VNC-E2E" userId="487bc3e3-9ce7-4cdd-b7b4-8899ea88d289" providerId="ADAL" clId="{ADEEF08A-D719-4B50-A383-4105EDA2C206}" dt="2026-07-14T13:14:24.593" v="6603" actId="13926"/>
        <pc:sldMkLst>
          <pc:docMk/>
          <pc:sldMk cId="4251917088" sldId="2145706303"/>
        </pc:sldMkLst>
        <pc:spChg chg="mod">
          <ac:chgData name="Graf Thomas, SCS-INI-NET-VNC-E2E" userId="487bc3e3-9ce7-4cdd-b7b4-8899ea88d289" providerId="ADAL" clId="{ADEEF08A-D719-4B50-A383-4105EDA2C206}" dt="2026-07-14T13:14:03.698" v="6600" actId="20577"/>
          <ac:spMkLst>
            <pc:docMk/>
            <pc:sldMk cId="4251917088" sldId="2145706303"/>
            <ac:spMk id="2" creationId="{9D734BEF-C196-3BAF-0F2E-FB66BF042884}"/>
          </ac:spMkLst>
        </pc:spChg>
        <pc:spChg chg="mod">
          <ac:chgData name="Graf Thomas, SCS-INI-NET-VNC-E2E" userId="487bc3e3-9ce7-4cdd-b7b4-8899ea88d289" providerId="ADAL" clId="{ADEEF08A-D719-4B50-A383-4105EDA2C206}" dt="2026-07-14T13:06:13.034" v="6332" actId="20577"/>
          <ac:spMkLst>
            <pc:docMk/>
            <pc:sldMk cId="4251917088" sldId="2145706303"/>
            <ac:spMk id="3" creationId="{6EA985DA-ABCF-AB10-5C45-1B7050950E17}"/>
          </ac:spMkLst>
        </pc:spChg>
        <pc:spChg chg="add mod">
          <ac:chgData name="Graf Thomas, SCS-INI-NET-VNC-E2E" userId="487bc3e3-9ce7-4cdd-b7b4-8899ea88d289" providerId="ADAL" clId="{ADEEF08A-D719-4B50-A383-4105EDA2C206}" dt="2026-07-14T13:14:24.593" v="6603" actId="13926"/>
          <ac:spMkLst>
            <pc:docMk/>
            <pc:sldMk cId="4251917088" sldId="2145706303"/>
            <ac:spMk id="5" creationId="{9656C51F-D666-FF4B-6E06-11C9E3E8A8A2}"/>
          </ac:spMkLst>
        </pc:spChg>
      </pc:sldChg>
      <pc:sldChg chg="modSp del mod">
        <pc:chgData name="Graf Thomas, SCS-INI-NET-VNC-E2E" userId="487bc3e3-9ce7-4cdd-b7b4-8899ea88d289" providerId="ADAL" clId="{ADEEF08A-D719-4B50-A383-4105EDA2C206}" dt="2026-07-14T12:57:44.073" v="6210" actId="47"/>
        <pc:sldMkLst>
          <pc:docMk/>
          <pc:sldMk cId="2204044421" sldId="2145706304"/>
        </pc:sldMkLst>
      </pc:sldChg>
      <pc:sldChg chg="modSp del mod ord">
        <pc:chgData name="Graf Thomas, SCS-INI-NET-VNC-E2E" userId="487bc3e3-9ce7-4cdd-b7b4-8899ea88d289" providerId="ADAL" clId="{ADEEF08A-D719-4B50-A383-4105EDA2C206}" dt="2026-07-14T13:25:45.052" v="6971" actId="47"/>
        <pc:sldMkLst>
          <pc:docMk/>
          <pc:sldMk cId="3686017286" sldId="2145706305"/>
        </pc:sldMkLst>
      </pc:sldChg>
      <pc:sldChg chg="delSp modSp mod">
        <pc:chgData name="Graf Thomas, SCS-INI-NET-VNC-E2E" userId="487bc3e3-9ce7-4cdd-b7b4-8899ea88d289" providerId="ADAL" clId="{ADEEF08A-D719-4B50-A383-4105EDA2C206}" dt="2026-07-14T13:27:26.795" v="7186" actId="20577"/>
        <pc:sldMkLst>
          <pc:docMk/>
          <pc:sldMk cId="3305081943" sldId="2145706306"/>
        </pc:sldMkLst>
        <pc:spChg chg="mod">
          <ac:chgData name="Graf Thomas, SCS-INI-NET-VNC-E2E" userId="487bc3e3-9ce7-4cdd-b7b4-8899ea88d289" providerId="ADAL" clId="{ADEEF08A-D719-4B50-A383-4105EDA2C206}" dt="2026-07-14T13:25:50.342" v="6972" actId="20577"/>
          <ac:spMkLst>
            <pc:docMk/>
            <pc:sldMk cId="3305081943" sldId="2145706306"/>
            <ac:spMk id="2" creationId="{B37520E1-A4E0-F3CA-29AD-D2D9ADADBEF0}"/>
          </ac:spMkLst>
        </pc:spChg>
        <pc:spChg chg="mod">
          <ac:chgData name="Graf Thomas, SCS-INI-NET-VNC-E2E" userId="487bc3e3-9ce7-4cdd-b7b4-8899ea88d289" providerId="ADAL" clId="{ADEEF08A-D719-4B50-A383-4105EDA2C206}" dt="2026-07-14T13:27:26.795" v="7186" actId="20577"/>
          <ac:spMkLst>
            <pc:docMk/>
            <pc:sldMk cId="3305081943" sldId="2145706306"/>
            <ac:spMk id="3" creationId="{3EA36F6F-A76C-ACD7-BA9E-6565DCCE91FE}"/>
          </ac:spMkLst>
        </pc:spChg>
      </pc:sldChg>
      <pc:sldChg chg="addSp delSp modSp add del mod">
        <pc:chgData name="Graf Thomas, SCS-INI-NET-VNC-E2E" userId="487bc3e3-9ce7-4cdd-b7b4-8899ea88d289" providerId="ADAL" clId="{ADEEF08A-D719-4B50-A383-4105EDA2C206}" dt="2026-07-14T12:55:18.417" v="6196" actId="47"/>
        <pc:sldMkLst>
          <pc:docMk/>
          <pc:sldMk cId="2590364080" sldId="2145706307"/>
        </pc:sldMkLst>
      </pc:sldChg>
      <pc:sldChg chg="addSp delSp modSp add del mod">
        <pc:chgData name="Graf Thomas, SCS-INI-NET-VNC-E2E" userId="487bc3e3-9ce7-4cdd-b7b4-8899ea88d289" providerId="ADAL" clId="{ADEEF08A-D719-4B50-A383-4105EDA2C206}" dt="2026-07-14T12:55:18.417" v="6196" actId="47"/>
        <pc:sldMkLst>
          <pc:docMk/>
          <pc:sldMk cId="1296954665" sldId="2145706308"/>
        </pc:sldMkLst>
      </pc:sldChg>
      <pc:sldChg chg="addSp delSp modSp add del mod">
        <pc:chgData name="Graf Thomas, SCS-INI-NET-VNC-E2E" userId="487bc3e3-9ce7-4cdd-b7b4-8899ea88d289" providerId="ADAL" clId="{ADEEF08A-D719-4B50-A383-4105EDA2C206}" dt="2026-07-14T13:29:15.698" v="7256" actId="20577"/>
        <pc:sldMkLst>
          <pc:docMk/>
          <pc:sldMk cId="2961389282" sldId="2145706309"/>
        </pc:sldMkLst>
        <pc:spChg chg="mod">
          <ac:chgData name="Graf Thomas, SCS-INI-NET-VNC-E2E" userId="487bc3e3-9ce7-4cdd-b7b4-8899ea88d289" providerId="ADAL" clId="{ADEEF08A-D719-4B50-A383-4105EDA2C206}" dt="2026-07-14T13:29:15.698" v="7256" actId="20577"/>
          <ac:spMkLst>
            <pc:docMk/>
            <pc:sldMk cId="2961389282" sldId="2145706309"/>
            <ac:spMk id="3" creationId="{3F4CBE7F-1450-A754-E524-9EE662BEDE60}"/>
          </ac:spMkLst>
        </pc:spChg>
      </pc:sldChg>
      <pc:sldChg chg="modSp add del mod">
        <pc:chgData name="Graf Thomas, SCS-INI-NET-VNC-E2E" userId="487bc3e3-9ce7-4cdd-b7b4-8899ea88d289" providerId="ADAL" clId="{ADEEF08A-D719-4B50-A383-4105EDA2C206}" dt="2026-07-14T12:54:53.444" v="6195" actId="47"/>
        <pc:sldMkLst>
          <pc:docMk/>
          <pc:sldMk cId="3526121720" sldId="2145706310"/>
        </pc:sldMkLst>
      </pc:sldChg>
      <pc:sldChg chg="modSp add mod">
        <pc:chgData name="Graf Thomas, SCS-INI-NET-VNC-E2E" userId="487bc3e3-9ce7-4cdd-b7b4-8899ea88d289" providerId="ADAL" clId="{ADEEF08A-D719-4B50-A383-4105EDA2C206}" dt="2026-07-14T13:24:39.640" v="6968" actId="20577"/>
        <pc:sldMkLst>
          <pc:docMk/>
          <pc:sldMk cId="4128600093" sldId="2145706310"/>
        </pc:sldMkLst>
        <pc:spChg chg="mod">
          <ac:chgData name="Graf Thomas, SCS-INI-NET-VNC-E2E" userId="487bc3e3-9ce7-4cdd-b7b4-8899ea88d289" providerId="ADAL" clId="{ADEEF08A-D719-4B50-A383-4105EDA2C206}" dt="2026-07-14T13:24:39.640" v="6968" actId="20577"/>
          <ac:spMkLst>
            <pc:docMk/>
            <pc:sldMk cId="4128600093" sldId="2145706310"/>
            <ac:spMk id="3" creationId="{CB0EE0D0-E2FC-EC67-C3D8-B007AACC1C77}"/>
          </ac:spMkLst>
        </pc:spChg>
      </pc:sldChg>
      <pc:sldChg chg="add del">
        <pc:chgData name="Graf Thomas, SCS-INI-NET-VNC-E2E" userId="487bc3e3-9ce7-4cdd-b7b4-8899ea88d289" providerId="ADAL" clId="{ADEEF08A-D719-4B50-A383-4105EDA2C206}" dt="2026-07-14T12:42:45.033" v="6134" actId="47"/>
        <pc:sldMkLst>
          <pc:docMk/>
          <pc:sldMk cId="1403244520" sldId="2145706311"/>
        </pc:sldMkLst>
      </pc:sldChg>
      <pc:sldChg chg="modSp add mod">
        <pc:chgData name="Graf Thomas, SCS-INI-NET-VNC-E2E" userId="487bc3e3-9ce7-4cdd-b7b4-8899ea88d289" providerId="ADAL" clId="{ADEEF08A-D719-4B50-A383-4105EDA2C206}" dt="2026-07-14T13:23:36.982" v="6930" actId="1076"/>
        <pc:sldMkLst>
          <pc:docMk/>
          <pc:sldMk cId="2687771710" sldId="2145706311"/>
        </pc:sldMkLst>
        <pc:spChg chg="mod">
          <ac:chgData name="Graf Thomas, SCS-INI-NET-VNC-E2E" userId="487bc3e3-9ce7-4cdd-b7b4-8899ea88d289" providerId="ADAL" clId="{ADEEF08A-D719-4B50-A383-4105EDA2C206}" dt="2026-07-14T13:22:33.586" v="6903" actId="5793"/>
          <ac:spMkLst>
            <pc:docMk/>
            <pc:sldMk cId="2687771710" sldId="2145706311"/>
            <ac:spMk id="2" creationId="{AB2DDFA9-710A-5629-89B2-FB87E211CD78}"/>
          </ac:spMkLst>
        </pc:spChg>
        <pc:spChg chg="mod">
          <ac:chgData name="Graf Thomas, SCS-INI-NET-VNC-E2E" userId="487bc3e3-9ce7-4cdd-b7b4-8899ea88d289" providerId="ADAL" clId="{ADEEF08A-D719-4B50-A383-4105EDA2C206}" dt="2026-07-14T13:22:55.594" v="6923" actId="20577"/>
          <ac:spMkLst>
            <pc:docMk/>
            <pc:sldMk cId="2687771710" sldId="2145706311"/>
            <ac:spMk id="3" creationId="{421E468E-B525-66BD-FBA4-8EB776CE47B6}"/>
          </ac:spMkLst>
        </pc:spChg>
        <pc:spChg chg="mod">
          <ac:chgData name="Graf Thomas, SCS-INI-NET-VNC-E2E" userId="487bc3e3-9ce7-4cdd-b7b4-8899ea88d289" providerId="ADAL" clId="{ADEEF08A-D719-4B50-A383-4105EDA2C206}" dt="2026-07-14T13:23:36.982" v="6930" actId="1076"/>
          <ac:spMkLst>
            <pc:docMk/>
            <pc:sldMk cId="2687771710" sldId="2145706311"/>
            <ac:spMk id="5" creationId="{2D333956-C5AE-D528-B067-D9A012810329}"/>
          </ac:spMkLst>
        </pc:spChg>
      </pc:sldChg>
      <pc:sldChg chg="add del">
        <pc:chgData name="Graf Thomas, SCS-INI-NET-VNC-E2E" userId="487bc3e3-9ce7-4cdd-b7b4-8899ea88d289" providerId="ADAL" clId="{ADEEF08A-D719-4B50-A383-4105EDA2C206}" dt="2026-07-14T12:42:45.033" v="6134" actId="47"/>
        <pc:sldMkLst>
          <pc:docMk/>
          <pc:sldMk cId="632967186" sldId="2145706312"/>
        </pc:sldMkLst>
      </pc:sldChg>
      <pc:sldChg chg="modSp add mod">
        <pc:chgData name="Graf Thomas, SCS-INI-NET-VNC-E2E" userId="487bc3e3-9ce7-4cdd-b7b4-8899ea88d289" providerId="ADAL" clId="{ADEEF08A-D719-4B50-A383-4105EDA2C206}" dt="2026-07-14T13:23:50.593" v="6938" actId="20577"/>
        <pc:sldMkLst>
          <pc:docMk/>
          <pc:sldMk cId="3807185294" sldId="2145706312"/>
        </pc:sldMkLst>
        <pc:spChg chg="mod">
          <ac:chgData name="Graf Thomas, SCS-INI-NET-VNC-E2E" userId="487bc3e3-9ce7-4cdd-b7b4-8899ea88d289" providerId="ADAL" clId="{ADEEF08A-D719-4B50-A383-4105EDA2C206}" dt="2026-07-14T13:23:50.593" v="6938" actId="20577"/>
          <ac:spMkLst>
            <pc:docMk/>
            <pc:sldMk cId="3807185294" sldId="2145706312"/>
            <ac:spMk id="2" creationId="{5B8888DB-A90D-A25F-9FAA-CB0DFB34C2A9}"/>
          </ac:spMkLst>
        </pc:spChg>
        <pc:spChg chg="mod">
          <ac:chgData name="Graf Thomas, SCS-INI-NET-VNC-E2E" userId="487bc3e3-9ce7-4cdd-b7b4-8899ea88d289" providerId="ADAL" clId="{ADEEF08A-D719-4B50-A383-4105EDA2C206}" dt="2026-07-14T13:18:52.189" v="6783" actId="20577"/>
          <ac:spMkLst>
            <pc:docMk/>
            <pc:sldMk cId="3807185294" sldId="2145706312"/>
            <ac:spMk id="3" creationId="{D1A52B7B-3570-1B5D-1F67-9B38890F5748}"/>
          </ac:spMkLst>
        </pc:spChg>
        <pc:spChg chg="mod">
          <ac:chgData name="Graf Thomas, SCS-INI-NET-VNC-E2E" userId="487bc3e3-9ce7-4cdd-b7b4-8899ea88d289" providerId="ADAL" clId="{ADEEF08A-D719-4B50-A383-4105EDA2C206}" dt="2026-07-14T13:21:02.081" v="6809" actId="13926"/>
          <ac:spMkLst>
            <pc:docMk/>
            <pc:sldMk cId="3807185294" sldId="2145706312"/>
            <ac:spMk id="5" creationId="{ACF3B6D0-4561-839A-14B8-04636B057F64}"/>
          </ac:spMkLst>
        </pc:spChg>
      </pc:sldChg>
      <pc:sldChg chg="modSp add mod ord">
        <pc:chgData name="Graf Thomas, SCS-INI-NET-VNC-E2E" userId="487bc3e3-9ce7-4cdd-b7b4-8899ea88d289" providerId="ADAL" clId="{ADEEF08A-D719-4B50-A383-4105EDA2C206}" dt="2026-07-14T13:22:20.653" v="6862"/>
        <pc:sldMkLst>
          <pc:docMk/>
          <pc:sldMk cId="1452467401" sldId="2145706313"/>
        </pc:sldMkLst>
        <pc:spChg chg="mod">
          <ac:chgData name="Graf Thomas, SCS-INI-NET-VNC-E2E" userId="487bc3e3-9ce7-4cdd-b7b4-8899ea88d289" providerId="ADAL" clId="{ADEEF08A-D719-4B50-A383-4105EDA2C206}" dt="2026-07-14T13:21:32.190" v="6845" actId="20577"/>
          <ac:spMkLst>
            <pc:docMk/>
            <pc:sldMk cId="1452467401" sldId="2145706313"/>
            <ac:spMk id="2" creationId="{8DE65009-4589-3EEA-F6BA-6387E69395C3}"/>
          </ac:spMkLst>
        </pc:spChg>
        <pc:spChg chg="mod">
          <ac:chgData name="Graf Thomas, SCS-INI-NET-VNC-E2E" userId="487bc3e3-9ce7-4cdd-b7b4-8899ea88d289" providerId="ADAL" clId="{ADEEF08A-D719-4B50-A383-4105EDA2C206}" dt="2026-07-14T13:21:37.895" v="6847" actId="20577"/>
          <ac:spMkLst>
            <pc:docMk/>
            <pc:sldMk cId="1452467401" sldId="2145706313"/>
            <ac:spMk id="3" creationId="{BC3C6DC3-F83A-8266-9A3C-EC72FFB72F03}"/>
          </ac:spMkLst>
        </pc:spChg>
        <pc:spChg chg="mod">
          <ac:chgData name="Graf Thomas, SCS-INI-NET-VNC-E2E" userId="487bc3e3-9ce7-4cdd-b7b4-8899ea88d289" providerId="ADAL" clId="{ADEEF08A-D719-4B50-A383-4105EDA2C206}" dt="2026-07-14T13:22:09.634" v="6860" actId="1076"/>
          <ac:spMkLst>
            <pc:docMk/>
            <pc:sldMk cId="1452467401" sldId="2145706313"/>
            <ac:spMk id="5" creationId="{7B8D7887-C93D-FC29-FE8D-AB3A78A80370}"/>
          </ac:spMkLst>
        </pc:spChg>
      </pc:sldChg>
      <pc:sldChg chg="add del">
        <pc:chgData name="Graf Thomas, SCS-INI-NET-VNC-E2E" userId="487bc3e3-9ce7-4cdd-b7b4-8899ea88d289" providerId="ADAL" clId="{ADEEF08A-D719-4B50-A383-4105EDA2C206}" dt="2026-07-14T12:42:45.033" v="6134" actId="47"/>
        <pc:sldMkLst>
          <pc:docMk/>
          <pc:sldMk cId="3870071406" sldId="2145706313"/>
        </pc:sldMkLst>
      </pc:sldChg>
      <pc:sldChg chg="add del">
        <pc:chgData name="Graf Thomas, SCS-INI-NET-VNC-E2E" userId="487bc3e3-9ce7-4cdd-b7b4-8899ea88d289" providerId="ADAL" clId="{ADEEF08A-D719-4B50-A383-4105EDA2C206}" dt="2026-07-14T12:42:45.033" v="6134" actId="47"/>
        <pc:sldMkLst>
          <pc:docMk/>
          <pc:sldMk cId="2884885474" sldId="2145706314"/>
        </pc:sldMkLst>
      </pc:sldChg>
      <pc:sldChg chg="modSp add del mod">
        <pc:chgData name="Graf Thomas, SCS-INI-NET-VNC-E2E" userId="487bc3e3-9ce7-4cdd-b7b4-8899ea88d289" providerId="ADAL" clId="{ADEEF08A-D719-4B50-A383-4105EDA2C206}" dt="2026-07-14T12:42:45.033" v="6134" actId="47"/>
        <pc:sldMkLst>
          <pc:docMk/>
          <pc:sldMk cId="822671291" sldId="2145706315"/>
        </pc:sldMkLst>
      </pc:sldChg>
      <pc:sldChg chg="modSp add del mod">
        <pc:chgData name="Graf Thomas, SCS-INI-NET-VNC-E2E" userId="487bc3e3-9ce7-4cdd-b7b4-8899ea88d289" providerId="ADAL" clId="{ADEEF08A-D719-4B50-A383-4105EDA2C206}" dt="2026-03-06T15:27:05.528" v="6106" actId="47"/>
        <pc:sldMkLst>
          <pc:docMk/>
          <pc:sldMk cId="3812470375" sldId="214570631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14.07.2026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12</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yang-message-broker-integration"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draft-ietf-nmop-yang-message-broker-message-key" TargetMode="External"/><Relationship Id="rId4" Type="http://schemas.openxmlformats.org/officeDocument/2006/relationships/hyperlink" Target="https://datatracker.ietf.org/doc/html/draft-ietf-nmop-message-broker-telemetry-messag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datatracker.ietf.org/doc/html/draft-ietf-grow-bmp-tlv"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datatracker.ietf.org/doc/html/draft-ietf-grow-bmp-path-marking-tlv"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datatracker.ietf.org/doc/html/rfc7854"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datatracker.ietf.org/doc/html/rfc7854#section-3.1"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FF0000"/>
                </a:solidFill>
              </a:rPr>
              <a:t>BMP YANG Model </a:t>
            </a:r>
            <a:r>
              <a:rPr lang="en-US" sz="3400" b="1" dirty="0"/>
              <a:t>for </a:t>
            </a:r>
            <a:r>
              <a:rPr lang="en-US" sz="3400" b="1" dirty="0">
                <a:solidFill>
                  <a:schemeClr val="accent6"/>
                </a:solidFill>
              </a:rPr>
              <a:t>Network Telemetry Messages</a:t>
            </a:r>
            <a:br>
              <a:rPr lang="en-US" sz="3600" b="1" dirty="0"/>
            </a:br>
            <a:r>
              <a:rPr lang="en-US" sz="2800" dirty="0"/>
              <a:t>draft-netana-nmop-message-broker-bmp-telemetry-msg-03</a:t>
            </a:r>
          </a:p>
          <a:p>
            <a:endParaRPr lang="en-US" sz="2800" dirty="0"/>
          </a:p>
          <a:p>
            <a:r>
              <a:rPr lang="en-US" sz="2800" dirty="0">
                <a:solidFill>
                  <a:schemeClr val="bg2">
                    <a:lumMod val="75000"/>
                  </a:schemeClr>
                </a:solidFill>
              </a:rPr>
              <a:t>A BGP Monitoring Protocol (BMP) message schema extension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a:t>
            </a:r>
            <a:br>
              <a:rPr lang="en-US" sz="2800" dirty="0">
                <a:solidFill>
                  <a:schemeClr val="bg2">
                    <a:lumMod val="75000"/>
                  </a:schemeClr>
                </a:solidFill>
              </a:rPr>
            </a:br>
            <a:r>
              <a:rPr lang="en-US" sz="2800" dirty="0">
                <a:solidFill>
                  <a:schemeClr val="bg2">
                    <a:lumMod val="75000"/>
                  </a:schemeClr>
                </a:solidFill>
              </a:rPr>
              <a:t>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dirty="0">
                <a:latin typeface="+mj-lt"/>
              </a:rPr>
              <a:t>thomas.graf@swisscom.com</a:t>
            </a:r>
            <a:br>
              <a:rPr lang="en-US" sz="1400" dirty="0">
                <a:latin typeface="+mj-lt"/>
              </a:rPr>
            </a:br>
            <a:r>
              <a:rPr lang="en-US" sz="1400" dirty="0">
                <a:latin typeface="+mj-lt"/>
              </a:rPr>
              <a:t>paolo@ntt.net</a:t>
            </a:r>
            <a:br>
              <a:rPr lang="en-US" sz="1400" dirty="0">
                <a:latin typeface="+mj-lt"/>
              </a:rPr>
            </a:br>
            <a:r>
              <a:rPr lang="en-US" sz="1400" b="1" dirty="0">
                <a:latin typeface="+mj-lt"/>
              </a:rPr>
              <a:t>leonardo.rodoni@swisscom.com</a:t>
            </a:r>
          </a:p>
          <a:p>
            <a:pPr marL="0" indent="0" algn="r">
              <a:spcBef>
                <a:spcPts val="300"/>
              </a:spcBef>
              <a:buNone/>
              <a:defRPr sz="1782"/>
            </a:pPr>
            <a:r>
              <a:rPr lang="en-US" sz="1400" dirty="0">
                <a:latin typeface="+mj-lt"/>
              </a:rPr>
              <a:t>maxence.younsi@insa-lyon.fr</a:t>
            </a:r>
            <a:br>
              <a:rPr lang="en-US" sz="1400" dirty="0">
                <a:latin typeface="+mj-lt"/>
              </a:rPr>
            </a:br>
            <a:endParaRPr lang="en-US" sz="1400" dirty="0">
              <a:latin typeface="+mj-lt"/>
            </a:endParaRPr>
          </a:p>
          <a:p>
            <a:pPr marL="0" indent="0" algn="r">
              <a:spcBef>
                <a:spcPts val="300"/>
              </a:spcBef>
              <a:buNone/>
            </a:pPr>
            <a:r>
              <a:rPr lang="en-US" sz="1400" dirty="0">
                <a:latin typeface="+mj-lt"/>
              </a:rPr>
              <a:t>14. July </a:t>
            </a:r>
            <a:r>
              <a:rPr lang="en-US" sz="1400" dirty="0">
                <a:latin typeface="+mj-lt"/>
                <a:ea typeface="+mj-ea"/>
                <a:cs typeface="+mj-cs"/>
              </a:rPr>
              <a:t>2026</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US" sz="2700" dirty="0">
                <a:solidFill>
                  <a:schemeClr val="bg2">
                    <a:lumMod val="75000"/>
                  </a:schemeClr>
                </a:solidFill>
              </a:rPr>
              <a:t>From YANG-Push, BMP and IPFIX to Network</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90238" cy="4404148"/>
          </a:xfrm>
        </p:spPr>
        <p:txBody>
          <a:bodyPr>
            <a:noAutofit/>
          </a:bodyPr>
          <a:lstStyle/>
          <a:p>
            <a:pPr marL="0" indent="0">
              <a:spcBef>
                <a:spcPts val="600"/>
              </a:spcBef>
              <a:buNone/>
            </a:pPr>
            <a:r>
              <a:rPr lang="en-US" sz="1700" b="1" dirty="0"/>
              <a:t>A network operator aims for:</a:t>
            </a:r>
            <a:endParaRPr lang="en-US" sz="1700" dirty="0"/>
          </a:p>
          <a:p>
            <a:pPr>
              <a:spcBef>
                <a:spcPts val="600"/>
              </a:spcBef>
            </a:pPr>
            <a:r>
              <a:rPr lang="en-US" sz="1700" dirty="0"/>
              <a:t>An </a:t>
            </a:r>
            <a:r>
              <a:rPr lang="en-US" sz="1700" b="1" dirty="0">
                <a:solidFill>
                  <a:srgbClr val="FF0000"/>
                </a:solidFill>
              </a:rPr>
              <a:t>automated data processing pipeline </a:t>
            </a:r>
            <a:r>
              <a:rPr lang="en-US" sz="1700" dirty="0"/>
              <a:t>which starts with YANG-Push, </a:t>
            </a:r>
            <a:r>
              <a:rPr lang="en-US" sz="1700" dirty="0">
                <a:solidFill>
                  <a:schemeClr val="accent6"/>
                </a:solidFill>
              </a:rPr>
              <a:t>BMP and IPFIX</a:t>
            </a:r>
            <a:r>
              <a:rPr lang="en-US" sz="1700" dirty="0"/>
              <a:t>, consolidates at Data Mesh </a:t>
            </a:r>
            <a:r>
              <a:rPr lang="en-US" sz="1700" dirty="0">
                <a:solidFill>
                  <a:schemeClr val="accent6"/>
                </a:solidFill>
              </a:rPr>
              <a:t>with YANG </a:t>
            </a:r>
            <a:r>
              <a:rPr lang="en-US" sz="1700" dirty="0"/>
              <a:t>and ends at Network Analytics.</a:t>
            </a:r>
          </a:p>
          <a:p>
            <a:pPr>
              <a:spcBef>
                <a:spcPts val="600"/>
              </a:spcBef>
            </a:pPr>
            <a:r>
              <a:rPr lang="en-US" sz="1700" dirty="0"/>
              <a:t>Operational metrics where </a:t>
            </a:r>
            <a:r>
              <a:rPr lang="en-US" sz="1700" b="1" dirty="0">
                <a:solidFill>
                  <a:srgbClr val="FF0000"/>
                </a:solidFill>
              </a:rPr>
              <a:t>IETF defines the semantics. </a:t>
            </a:r>
          </a:p>
          <a:p>
            <a:pPr>
              <a:spcBef>
                <a:spcPts val="600"/>
              </a:spcBef>
            </a:pPr>
            <a:r>
              <a:rPr lang="en-US" sz="1700" dirty="0"/>
              <a:t>Analytical metrics where </a:t>
            </a:r>
            <a:r>
              <a:rPr lang="en-US" sz="1700" b="1" dirty="0">
                <a:solidFill>
                  <a:srgbClr val="FF0000"/>
                </a:solidFill>
              </a:rPr>
              <a:t>network operators gain actionable insights.</a:t>
            </a:r>
            <a:endParaRPr lang="en-US" sz="1700" dirty="0"/>
          </a:p>
          <a:p>
            <a:pPr marL="0" indent="0">
              <a:spcBef>
                <a:spcPts val="1800"/>
              </a:spcBef>
              <a:spcAft>
                <a:spcPts val="600"/>
              </a:spcAft>
              <a:buNone/>
            </a:pPr>
            <a:r>
              <a:rPr lang="en-US" sz="1700" b="1" dirty="0"/>
              <a:t>These are the documents relate to the Message Broker integration:</a:t>
            </a:r>
          </a:p>
          <a:p>
            <a:pPr>
              <a:spcBef>
                <a:spcPts val="600"/>
              </a:spcBef>
            </a:pPr>
            <a:r>
              <a:rPr lang="en-US" sz="1700" dirty="0">
                <a:hlinkClick r:id="rId3"/>
              </a:rPr>
              <a:t>draft-</a:t>
            </a:r>
            <a:r>
              <a:rPr lang="en-US" sz="1700" dirty="0" err="1">
                <a:hlinkClick r:id="rId3"/>
              </a:rPr>
              <a:t>ietf</a:t>
            </a:r>
            <a:r>
              <a:rPr lang="en-US" sz="1700" dirty="0">
                <a:hlinkClick r:id="rId3"/>
              </a:rPr>
              <a:t>-</a:t>
            </a:r>
            <a:r>
              <a:rPr lang="en-US" sz="1700" dirty="0" err="1">
                <a:hlinkClick r:id="rId3"/>
              </a:rPr>
              <a:t>nmop</a:t>
            </a:r>
            <a:r>
              <a:rPr lang="en-US" sz="1700" dirty="0">
                <a:hlinkClick r:id="rId3"/>
              </a:rPr>
              <a:t>-yang-message-broker-integration</a:t>
            </a:r>
            <a:r>
              <a:rPr lang="en-US" sz="1700" dirty="0"/>
              <a:t> defines the YANG-Push to message broker integration architecture.</a:t>
            </a:r>
          </a:p>
          <a:p>
            <a:pPr>
              <a:spcBef>
                <a:spcPts val="0"/>
              </a:spcBef>
            </a:pPr>
            <a:r>
              <a:rPr lang="en-US" sz="1700" dirty="0">
                <a:hlinkClick r:id="rId4"/>
              </a:rPr>
              <a:t>draft-</a:t>
            </a:r>
            <a:r>
              <a:rPr lang="en-US" sz="1700" dirty="0" err="1">
                <a:hlinkClick r:id="rId4"/>
              </a:rPr>
              <a:t>ietf</a:t>
            </a:r>
            <a:r>
              <a:rPr lang="en-US" sz="1700" dirty="0">
                <a:hlinkClick r:id="rId4"/>
              </a:rPr>
              <a:t>-</a:t>
            </a:r>
            <a:r>
              <a:rPr lang="en-US" sz="1700" dirty="0" err="1">
                <a:hlinkClick r:id="rId4"/>
              </a:rPr>
              <a:t>nmop</a:t>
            </a:r>
            <a:r>
              <a:rPr lang="en-US" sz="1700" dirty="0">
                <a:hlinkClick r:id="rId4"/>
              </a:rPr>
              <a:t>-message-broker-telemetry-message</a:t>
            </a:r>
            <a:r>
              <a:rPr lang="en-US" sz="1700" dirty="0"/>
              <a:t> defines the message schema being used between YANG data producer and consumer.</a:t>
            </a:r>
          </a:p>
          <a:p>
            <a:pPr>
              <a:spcBef>
                <a:spcPts val="0"/>
              </a:spcBef>
            </a:pPr>
            <a:r>
              <a:rPr lang="en-US" sz="1700" b="1" dirty="0">
                <a:solidFill>
                  <a:srgbClr val="FF0000"/>
                </a:solidFill>
              </a:rPr>
              <a:t>Updated: </a:t>
            </a:r>
            <a:r>
              <a:rPr lang="en-US" sz="1700" dirty="0">
                <a:hlinkClick r:id="rId5"/>
              </a:rPr>
              <a:t>draft-</a:t>
            </a:r>
            <a:r>
              <a:rPr lang="en-US" sz="1700" dirty="0" err="1">
                <a:hlinkClick r:id="rId5"/>
              </a:rPr>
              <a:t>ietf</a:t>
            </a:r>
            <a:r>
              <a:rPr lang="en-US" sz="1700" dirty="0">
                <a:hlinkClick r:id="rId5"/>
              </a:rPr>
              <a:t>-</a:t>
            </a:r>
            <a:r>
              <a:rPr lang="en-US" sz="1700" dirty="0" err="1">
                <a:hlinkClick r:id="rId5"/>
              </a:rPr>
              <a:t>nmop</a:t>
            </a:r>
            <a:r>
              <a:rPr lang="en-US" sz="1700" dirty="0">
                <a:hlinkClick r:id="rId5"/>
              </a:rPr>
              <a:t>-yang-message-broker-message-key</a:t>
            </a:r>
            <a:r>
              <a:rPr lang="en-US" sz="1700" dirty="0"/>
              <a:t> defines how YANG-Push metrics can be indexed and addressed efficiently and therefore reduce the number of consumed messages and reduce the number of stored metrics with topic compaction.</a:t>
            </a:r>
          </a:p>
          <a:p>
            <a:pPr>
              <a:spcBef>
                <a:spcPts val="0"/>
              </a:spcBef>
            </a:pPr>
            <a:r>
              <a:rPr lang="en-US" sz="1700" b="1" dirty="0">
                <a:solidFill>
                  <a:srgbClr val="FF0000"/>
                </a:solidFill>
              </a:rPr>
              <a:t>Updated: </a:t>
            </a:r>
            <a:r>
              <a:rPr lang="en-US" sz="1700" dirty="0">
                <a:hlinkClick r:id="rId6"/>
              </a:rPr>
              <a:t>draft-</a:t>
            </a:r>
            <a:r>
              <a:rPr lang="en-US" sz="1700" dirty="0" err="1">
                <a:hlinkClick r:id="rId6"/>
              </a:rPr>
              <a:t>netana</a:t>
            </a:r>
            <a:r>
              <a:rPr lang="en-US" sz="1700" dirty="0">
                <a:hlinkClick r:id="rId6"/>
              </a:rPr>
              <a:t>-</a:t>
            </a:r>
            <a:r>
              <a:rPr lang="en-US" sz="1700" dirty="0" err="1">
                <a:hlinkClick r:id="rId6"/>
              </a:rPr>
              <a:t>nmop</a:t>
            </a:r>
            <a:r>
              <a:rPr lang="en-US" sz="1700" dirty="0">
                <a:hlinkClick r:id="rId6"/>
              </a:rPr>
              <a:t>-message-broker-bmp-telemetry-msg</a:t>
            </a:r>
            <a:r>
              <a:rPr lang="en-US" sz="1700" dirty="0"/>
              <a:t> defines the message schema extensions for BMP transformation and how message keys and topic names are derived.</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750719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974558" y="4645099"/>
            <a:ext cx="10965396"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a:spcAft>
                <a:spcPts val="0"/>
              </a:spcAft>
            </a:pPr>
            <a:r>
              <a:rPr lang="en-US" sz="1600" b="1" dirty="0"/>
              <a:t>At the message broker, </a:t>
            </a:r>
            <a:r>
              <a:rPr lang="en-US" sz="1600" dirty="0"/>
              <a:t>thanks to the dedicated topic per BMP message type and its YANG message key, BMP </a:t>
            </a:r>
            <a:r>
              <a:rPr lang="en-US" sz="1600" b="1" dirty="0">
                <a:solidFill>
                  <a:srgbClr val="FF0000"/>
                </a:solidFill>
              </a:rPr>
              <a:t>YANG state metrics such as BGP peer, BGP RIB and BMP session state can be compacted to the latest state; </a:t>
            </a:r>
            <a:r>
              <a:rPr lang="en-US" sz="1600" b="1" dirty="0">
                <a:solidFill>
                  <a:schemeClr val="accent6"/>
                </a:solidFill>
              </a:rPr>
              <a:t>reducing the number of stored messages.</a:t>
            </a:r>
          </a:p>
          <a:p>
            <a:pPr>
              <a:spcAft>
                <a:spcPts val="0"/>
              </a:spcAft>
            </a:pPr>
            <a:r>
              <a:rPr lang="en-US" sz="1600" b="1" dirty="0"/>
              <a:t>At the YANG data consumer, </a:t>
            </a:r>
            <a:r>
              <a:rPr lang="en-US" sz="1600" dirty="0"/>
              <a:t>thanks to the YANG awareness of the stream catalog and consumer, a specific topic, partition and subject can be consumed for the interested BMP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9061938" cy="1325563"/>
          </a:xfrm>
        </p:spPr>
        <p:txBody>
          <a:bodyPr>
            <a:normAutofit/>
          </a:bodyPr>
          <a:lstStyle/>
          <a:p>
            <a:r>
              <a:rPr lang="en-US" sz="2800" b="1" dirty="0"/>
              <a:t>YANG Converged Network Telemetry Data Processing Pipeline</a:t>
            </a:r>
            <a:br>
              <a:rPr lang="en-US" sz="3600" dirty="0"/>
            </a:br>
            <a:r>
              <a:rPr lang="en-US" sz="2700" dirty="0">
                <a:solidFill>
                  <a:schemeClr val="bg2">
                    <a:lumMod val="75000"/>
                  </a:schemeClr>
                </a:solidFill>
              </a:rPr>
              <a:t>From network nodes to message broker nodes</a:t>
            </a:r>
          </a:p>
        </p:txBody>
      </p:sp>
      <p:pic>
        <p:nvPicPr>
          <p:cNvPr id="3" name="Picture 2">
            <a:extLst>
              <a:ext uri="{FF2B5EF4-FFF2-40B4-BE49-F238E27FC236}">
                <a16:creationId xmlns:a16="http://schemas.microsoft.com/office/drawing/2014/main" id="{3D20887A-63D9-A4B9-AA81-58DA821129FA}"/>
              </a:ext>
            </a:extLst>
          </p:cNvPr>
          <p:cNvPicPr>
            <a:picLocks noChangeAspect="1"/>
          </p:cNvPicPr>
          <p:nvPr/>
        </p:nvPicPr>
        <p:blipFill>
          <a:blip r:embed="rId2"/>
          <a:stretch>
            <a:fillRect/>
          </a:stretch>
        </p:blipFill>
        <p:spPr>
          <a:xfrm>
            <a:off x="520880" y="1513317"/>
            <a:ext cx="11274137" cy="2953454"/>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session metadata</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5553809" cy="4486275"/>
          </a:xfrm>
        </p:spPr>
        <p:txBody>
          <a:bodyPr>
            <a:noAutofit/>
          </a:bodyPr>
          <a:lstStyle/>
          <a:p>
            <a:pPr marL="0" indent="0">
              <a:spcBef>
                <a:spcPts val="600"/>
              </a:spcBef>
              <a:spcAft>
                <a:spcPts val="600"/>
              </a:spcAft>
              <a:buNone/>
            </a:pPr>
            <a:r>
              <a:rPr lang="en-US" sz="2100" dirty="0"/>
              <a:t>Each </a:t>
            </a:r>
            <a:r>
              <a:rPr lang="de-CH" sz="2100" dirty="0" err="1"/>
              <a:t>ietf</a:t>
            </a:r>
            <a:r>
              <a:rPr lang="de-CH" sz="2100" dirty="0"/>
              <a:t>-</a:t>
            </a:r>
            <a:r>
              <a:rPr lang="de-CH" sz="2100" dirty="0" err="1"/>
              <a:t>bmp</a:t>
            </a:r>
            <a:r>
              <a:rPr lang="de-CH" sz="2100" dirty="0"/>
              <a:t>-</a:t>
            </a:r>
            <a:r>
              <a:rPr lang="de-CH" sz="2100" dirty="0" err="1"/>
              <a:t>telemetry</a:t>
            </a:r>
            <a:r>
              <a:rPr lang="de-CH" sz="2100" dirty="0"/>
              <a:t>-message </a:t>
            </a:r>
            <a:r>
              <a:rPr lang="de-CH" sz="2100" dirty="0" err="1"/>
              <a:t>contains</a:t>
            </a:r>
            <a:r>
              <a:rPr lang="de-CH" sz="2100" dirty="0"/>
              <a:t> </a:t>
            </a:r>
            <a:r>
              <a:rPr lang="de-CH" sz="2100" dirty="0" err="1"/>
              <a:t>now</a:t>
            </a:r>
            <a:r>
              <a:rPr lang="de-CH" sz="2100" dirty="0"/>
              <a:t> BMP </a:t>
            </a:r>
            <a:r>
              <a:rPr lang="de-CH" sz="2100" dirty="0" err="1"/>
              <a:t>session-metadata</a:t>
            </a:r>
            <a:r>
              <a:rPr lang="de-CH" sz="2100" dirty="0"/>
              <a:t> </a:t>
            </a:r>
            <a:r>
              <a:rPr lang="de-CH" sz="2100" dirty="0" err="1"/>
              <a:t>from</a:t>
            </a:r>
            <a:r>
              <a:rPr lang="de-CH" sz="2100" dirty="0"/>
              <a:t> </a:t>
            </a:r>
            <a:r>
              <a:rPr lang="de-CH" sz="2100" dirty="0" err="1"/>
              <a:t>the</a:t>
            </a:r>
            <a:r>
              <a:rPr lang="de-CH" sz="2100" dirty="0"/>
              <a:t> </a:t>
            </a:r>
            <a:r>
              <a:rPr lang="de-CH" sz="2100" dirty="0" err="1"/>
              <a:t>received</a:t>
            </a:r>
            <a:r>
              <a:rPr lang="de-CH" sz="2100" dirty="0"/>
              <a:t> BMP </a:t>
            </a:r>
            <a:r>
              <a:rPr lang="de-CH" sz="2100" dirty="0" err="1"/>
              <a:t>initiation</a:t>
            </a:r>
            <a:r>
              <a:rPr lang="de-CH" sz="2100" dirty="0"/>
              <a:t> </a:t>
            </a:r>
            <a:r>
              <a:rPr lang="de-CH" sz="2100" dirty="0" err="1"/>
              <a:t>message</a:t>
            </a:r>
            <a:r>
              <a:rPr lang="de-CH" sz="2100" dirty="0"/>
              <a:t>.</a:t>
            </a:r>
            <a:endParaRPr lang="en-US" sz="210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
        <p:nvSpPr>
          <p:cNvPr id="5" name="TextBox 4">
            <a:extLst>
              <a:ext uri="{FF2B5EF4-FFF2-40B4-BE49-F238E27FC236}">
                <a16:creationId xmlns:a16="http://schemas.microsoft.com/office/drawing/2014/main" id="{9656C51F-D666-FF4B-6E06-11C9E3E8A8A2}"/>
              </a:ext>
            </a:extLst>
          </p:cNvPr>
          <p:cNvSpPr txBox="1"/>
          <p:nvPr/>
        </p:nvSpPr>
        <p:spPr>
          <a:xfrm>
            <a:off x="7787787" y="1690688"/>
            <a:ext cx="3925242" cy="1938992"/>
          </a:xfrm>
          <a:prstGeom prst="rect">
            <a:avLst/>
          </a:prstGeom>
          <a:noFill/>
        </p:spPr>
        <p:txBody>
          <a:bodyPr wrap="square">
            <a:spAutoFit/>
          </a:bodyPr>
          <a:lstStyle/>
          <a:p>
            <a:r>
              <a:rPr lang="de-CH" sz="1200" dirty="0" err="1">
                <a:latin typeface="Courier New" panose="02070309020205020404" pitchFamily="49" charset="0"/>
                <a:cs typeface="Courier New" panose="02070309020205020404" pitchFamily="49" charset="0"/>
              </a:rPr>
              <a:t>module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ietf</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bmp</a:t>
            </a:r>
            <a:r>
              <a:rPr lang="de-CH" sz="1200" dirty="0">
                <a:latin typeface="Courier New" panose="02070309020205020404" pitchFamily="49" charset="0"/>
                <a:cs typeface="Courier New" panose="02070309020205020404" pitchFamily="49" charset="0"/>
              </a:rPr>
              <a:t>-</a:t>
            </a:r>
            <a:r>
              <a:rPr lang="de-CH" sz="1200" dirty="0" err="1">
                <a:latin typeface="Courier New" panose="02070309020205020404" pitchFamily="49" charset="0"/>
                <a:cs typeface="Courier New" panose="02070309020205020404" pitchFamily="49" charset="0"/>
              </a:rPr>
              <a:t>telemetry</a:t>
            </a:r>
            <a:r>
              <a:rPr lang="de-CH" sz="1200" dirty="0">
                <a:latin typeface="Courier New" panose="02070309020205020404" pitchFamily="49" charset="0"/>
                <a:cs typeface="Courier New" panose="02070309020205020404" pitchFamily="49" charset="0"/>
              </a:rPr>
              <a:t>-message</a:t>
            </a:r>
          </a:p>
          <a:p>
            <a:endParaRPr lang="de-CH" sz="1200" dirty="0">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structure</a:t>
            </a:r>
            <a:r>
              <a:rPr lang="de-CH" sz="1200" dirty="0">
                <a:latin typeface="Courier New" panose="02070309020205020404" pitchFamily="49" charset="0"/>
                <a:cs typeface="Courier New" panose="02070309020205020404" pitchFamily="49" charset="0"/>
              </a:rPr>
              <a:t> </a:t>
            </a:r>
            <a:r>
              <a:rPr lang="de-CH" sz="1200" dirty="0" err="1">
                <a:latin typeface="Courier New" panose="02070309020205020404" pitchFamily="49" charset="0"/>
                <a:cs typeface="Courier New" panose="02070309020205020404" pitchFamily="49" charset="0"/>
              </a:rPr>
              <a:t>message</a:t>
            </a:r>
            <a:r>
              <a:rPr lang="de-CH" sz="1200" dirty="0">
                <a:latin typeface="Courier New" panose="02070309020205020404" pitchFamily="49" charset="0"/>
                <a:cs typeface="Courier New" panose="02070309020205020404" pitchFamily="49" charset="0"/>
              </a:rPr>
              <a:t>:</a:t>
            </a:r>
          </a:p>
          <a:p>
            <a:r>
              <a:rPr lang="de-CH" sz="1200" dirty="0">
                <a:highlight>
                  <a:srgbClr val="FFFF00"/>
                </a:highlight>
                <a:latin typeface="Courier New" panose="02070309020205020404" pitchFamily="49" charset="0"/>
                <a:cs typeface="Courier New" panose="02070309020205020404" pitchFamily="49" charset="0"/>
              </a:rPr>
              <a:t>    +-- </a:t>
            </a:r>
            <a:r>
              <a:rPr lang="de-CH" sz="1200" dirty="0" err="1">
                <a:highlight>
                  <a:srgbClr val="FFFF00"/>
                </a:highlight>
                <a:latin typeface="Courier New" panose="02070309020205020404" pitchFamily="49" charset="0"/>
                <a:cs typeface="Courier New" panose="02070309020205020404" pitchFamily="49" charset="0"/>
              </a:rPr>
              <a:t>session-metadata</a:t>
            </a:r>
            <a:r>
              <a:rPr lang="de-CH" sz="1200" dirty="0">
                <a:highlight>
                  <a:srgbClr val="FFFF00"/>
                </a:highlight>
                <a:latin typeface="Courier New" panose="02070309020205020404" pitchFamily="49" charset="0"/>
                <a:cs typeface="Courier New" panose="02070309020205020404" pitchFamily="49" charset="0"/>
              </a:rPr>
              <a:t>!</a:t>
            </a: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string</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sys-descr</a:t>
            </a:r>
            <a:r>
              <a:rPr lang="de-CH" sz="1200" dirty="0">
                <a:highlight>
                  <a:srgbClr val="FFFF00"/>
                </a:highlight>
                <a:latin typeface="Courier New" panose="02070309020205020404" pitchFamily="49" charset="0"/>
                <a:cs typeface="Courier New" panose="02070309020205020404" pitchFamily="49" charset="0"/>
              </a:rPr>
              <a:t>?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sys</a:t>
            </a:r>
            <a:r>
              <a:rPr lang="de-CH" sz="1200" dirty="0">
                <a:highlight>
                  <a:srgbClr val="FFFF00"/>
                </a:highlight>
                <a:latin typeface="Courier New" panose="02070309020205020404" pitchFamily="49" charset="0"/>
                <a:cs typeface="Courier New" panose="02070309020205020404" pitchFamily="49" charset="0"/>
              </a:rPr>
              <a:t>-name?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highlight>
                  <a:srgbClr val="FFFF00"/>
                </a:highlight>
                <a:latin typeface="Courier New" panose="02070309020205020404" pitchFamily="49" charset="0"/>
                <a:cs typeface="Courier New" panose="02070309020205020404" pitchFamily="49" charset="0"/>
              </a:rPr>
              <a:t>    |  +-- </a:t>
            </a:r>
            <a:r>
              <a:rPr lang="de-CH" sz="1200" dirty="0" err="1">
                <a:highlight>
                  <a:srgbClr val="FFFF00"/>
                </a:highlight>
                <a:latin typeface="Courier New" panose="02070309020205020404" pitchFamily="49" charset="0"/>
                <a:cs typeface="Courier New" panose="02070309020205020404" pitchFamily="49" charset="0"/>
              </a:rPr>
              <a:t>vrf</a:t>
            </a:r>
            <a:r>
              <a:rPr lang="de-CH" sz="1200" dirty="0">
                <a:highlight>
                  <a:srgbClr val="FFFF00"/>
                </a:highlight>
                <a:latin typeface="Courier New" panose="02070309020205020404" pitchFamily="49" charset="0"/>
                <a:cs typeface="Courier New" panose="02070309020205020404" pitchFamily="49" charset="0"/>
              </a:rPr>
              <a:t>-</a:t>
            </a:r>
            <a:r>
              <a:rPr lang="de-CH" sz="1200" dirty="0" err="1">
                <a:highlight>
                  <a:srgbClr val="FFFF00"/>
                </a:highlight>
                <a:latin typeface="Courier New" panose="02070309020205020404" pitchFamily="49" charset="0"/>
                <a:cs typeface="Courier New" panose="02070309020205020404" pitchFamily="49" charset="0"/>
              </a:rPr>
              <a:t>table</a:t>
            </a:r>
            <a:r>
              <a:rPr lang="de-CH" sz="1200" dirty="0">
                <a:highlight>
                  <a:srgbClr val="FFFF00"/>
                </a:highlight>
                <a:latin typeface="Courier New" panose="02070309020205020404" pitchFamily="49" charset="0"/>
                <a:cs typeface="Courier New" panose="02070309020205020404" pitchFamily="49" charset="0"/>
              </a:rPr>
              <a:t>-name?   </a:t>
            </a:r>
            <a:r>
              <a:rPr lang="de-CH" sz="1200" dirty="0" err="1">
                <a:highlight>
                  <a:srgbClr val="FFFF00"/>
                </a:highlight>
                <a:latin typeface="Courier New" panose="02070309020205020404" pitchFamily="49" charset="0"/>
                <a:cs typeface="Courier New" panose="02070309020205020404" pitchFamily="49" charset="0"/>
              </a:rPr>
              <a:t>string</a:t>
            </a:r>
            <a:endParaRPr lang="de-CH" sz="1200" dirty="0">
              <a:highlight>
                <a:srgbClr val="FFFF00"/>
              </a:highlight>
              <a:latin typeface="Courier New" panose="02070309020205020404" pitchFamily="49" charset="0"/>
              <a:cs typeface="Courier New" panose="02070309020205020404" pitchFamily="49" charset="0"/>
            </a:endParaRPr>
          </a:p>
          <a:p>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version</a:t>
            </a:r>
            <a:r>
              <a:rPr lang="de-CH" sz="1200" dirty="0">
                <a:latin typeface="Courier New" panose="02070309020205020404" pitchFamily="49" charset="0"/>
                <a:cs typeface="Courier New" panose="02070309020205020404" pitchFamily="49" charset="0"/>
              </a:rPr>
              <a:t>             uint8</a:t>
            </a:r>
          </a:p>
          <a:p>
            <a:r>
              <a:rPr lang="de-CH" sz="1200" dirty="0">
                <a:latin typeface="Courier New" panose="02070309020205020404" pitchFamily="49" charset="0"/>
                <a:cs typeface="Courier New" panose="02070309020205020404" pitchFamily="49" charset="0"/>
              </a:rPr>
              <a:t>    +-- (</a:t>
            </a:r>
            <a:r>
              <a:rPr lang="de-CH" sz="1200" dirty="0" err="1">
                <a:latin typeface="Courier New" panose="02070309020205020404" pitchFamily="49" charset="0"/>
                <a:cs typeface="Courier New" panose="02070309020205020404" pitchFamily="49" charset="0"/>
              </a:rPr>
              <a:t>message</a:t>
            </a:r>
            <a:r>
              <a:rPr lang="de-CH" sz="1200" dirty="0">
                <a:latin typeface="Courier New" panose="02070309020205020404" pitchFamily="49" charset="0"/>
                <a:cs typeface="Courier New" panose="02070309020205020404" pitchFamily="49" charset="0"/>
              </a:rPr>
              <a:t>-type)?</a:t>
            </a:r>
          </a:p>
        </p:txBody>
      </p:sp>
    </p:spTree>
    <p:extLst>
      <p:ext uri="{BB962C8B-B14F-4D97-AF65-F5344CB8AC3E}">
        <p14:creationId xmlns:p14="http://schemas.microsoft.com/office/powerpoint/2010/main" val="4251917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ACB8B-1E2B-7BF8-1C7C-AE9FEEAFD1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65009-4589-3EEA-F6BA-6387E69395C3}"/>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err="1">
                <a:solidFill>
                  <a:schemeClr val="bg2">
                    <a:lumMod val="75000"/>
                  </a:schemeClr>
                </a:solidFill>
              </a:rPr>
              <a:t>vrf</a:t>
            </a:r>
            <a:r>
              <a:rPr lang="en-US" sz="2700" dirty="0">
                <a:solidFill>
                  <a:schemeClr val="bg2">
                    <a:lumMod val="75000"/>
                  </a:schemeClr>
                </a:solidFill>
              </a:rPr>
              <a:t>, sequence-number and timestamp metadata</a:t>
            </a:r>
          </a:p>
        </p:txBody>
      </p:sp>
      <p:sp>
        <p:nvSpPr>
          <p:cNvPr id="3" name="Content Placeholder 2">
            <a:extLst>
              <a:ext uri="{FF2B5EF4-FFF2-40B4-BE49-F238E27FC236}">
                <a16:creationId xmlns:a16="http://schemas.microsoft.com/office/drawing/2014/main" id="{BC3C6DC3-F83A-8266-9A3C-EC72FFB72F03}"/>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de-CH" sz="2100" dirty="0">
                <a:latin typeface="Calibri body"/>
              </a:rPr>
              <a:t>BMP </a:t>
            </a:r>
            <a:r>
              <a:rPr lang="de-CH" sz="2100" dirty="0" err="1">
                <a:latin typeface="Calibri body"/>
              </a:rPr>
              <a:t>initiation</a:t>
            </a:r>
            <a:r>
              <a:rPr lang="de-CH" sz="2100" dirty="0">
                <a:latin typeface="Calibri body"/>
              </a:rPr>
              <a:t>, peer-</a:t>
            </a:r>
            <a:r>
              <a:rPr lang="de-CH" sz="2100" dirty="0" err="1">
                <a:latin typeface="Calibri body"/>
              </a:rPr>
              <a:t>up</a:t>
            </a:r>
            <a:r>
              <a:rPr lang="de-CH" sz="2100" dirty="0">
                <a:latin typeface="Calibri body"/>
              </a:rPr>
              <a:t> and route-monitoring </a:t>
            </a:r>
            <a:r>
              <a:rPr lang="de-CH" sz="2100" dirty="0" err="1">
                <a:latin typeface="Calibri body"/>
              </a:rPr>
              <a:t>ietf</a:t>
            </a:r>
            <a:r>
              <a:rPr lang="de-CH" sz="2100" dirty="0">
                <a:latin typeface="Calibri body"/>
              </a:rPr>
              <a:t>-</a:t>
            </a:r>
            <a:r>
              <a:rPr lang="de-CH" sz="2100" dirty="0" err="1">
                <a:latin typeface="Calibri body"/>
              </a:rPr>
              <a:t>bmp</a:t>
            </a:r>
            <a:r>
              <a:rPr lang="de-CH" sz="2100" dirty="0">
                <a:latin typeface="Calibri body"/>
              </a:rPr>
              <a:t>-</a:t>
            </a:r>
            <a:r>
              <a:rPr lang="de-CH" sz="2100" dirty="0" err="1">
                <a:latin typeface="Calibri body"/>
              </a:rPr>
              <a:t>telemetry</a:t>
            </a:r>
            <a:r>
              <a:rPr lang="de-CH" sz="2100" dirty="0">
                <a:latin typeface="Calibri body"/>
              </a:rPr>
              <a:t>-message </a:t>
            </a:r>
            <a:r>
              <a:rPr lang="de-CH" sz="2100" dirty="0" err="1">
                <a:latin typeface="Calibri body"/>
              </a:rPr>
              <a:t>contains</a:t>
            </a:r>
            <a:r>
              <a:rPr lang="de-CH" sz="2100" dirty="0">
                <a:latin typeface="Calibri body"/>
              </a:rPr>
              <a:t> </a:t>
            </a:r>
            <a:r>
              <a:rPr lang="de-CH" sz="2100" dirty="0" err="1">
                <a:latin typeface="Calibri body"/>
              </a:rPr>
              <a:t>now</a:t>
            </a:r>
            <a:r>
              <a:rPr lang="de-CH" sz="2100" dirty="0">
                <a:latin typeface="Calibri body"/>
              </a:rPr>
              <a:t> also </a:t>
            </a:r>
            <a:r>
              <a:rPr lang="de-CH" sz="2100" dirty="0" err="1">
                <a:latin typeface="Calibri body"/>
              </a:rPr>
              <a:t>the</a:t>
            </a:r>
            <a:r>
              <a:rPr lang="de-CH" sz="2100" dirty="0">
                <a:latin typeface="Calibri body"/>
              </a:rPr>
              <a:t> </a:t>
            </a:r>
            <a:r>
              <a:rPr lang="de-CH" sz="2100" dirty="0" err="1">
                <a:latin typeface="Calibri body"/>
              </a:rPr>
              <a:t>following</a:t>
            </a:r>
            <a:r>
              <a:rPr lang="de-CH" sz="2100" dirty="0">
                <a:latin typeface="Calibri body"/>
              </a:rPr>
              <a:t> BMP </a:t>
            </a:r>
            <a:r>
              <a:rPr lang="de-CH" sz="2100" dirty="0" err="1">
                <a:latin typeface="Calibri body"/>
              </a:rPr>
              <a:t>metadata</a:t>
            </a:r>
            <a:r>
              <a:rPr lang="de-CH" sz="2100" dirty="0">
                <a:latin typeface="Calibri body"/>
              </a:rPr>
              <a:t>:</a:t>
            </a:r>
          </a:p>
          <a:p>
            <a:pPr marL="0" indent="0">
              <a:spcBef>
                <a:spcPts val="600"/>
              </a:spcBef>
              <a:spcAft>
                <a:spcPts val="600"/>
              </a:spcAft>
              <a:buNone/>
            </a:pPr>
            <a:r>
              <a:rPr lang="de-CH" sz="2100" dirty="0" err="1">
                <a:latin typeface="Calibri body"/>
              </a:rPr>
              <a:t>Timestamp</a:t>
            </a:r>
            <a:r>
              <a:rPr lang="de-CH" sz="2100" dirty="0">
                <a:latin typeface="Calibri body"/>
              </a:rPr>
              <a:t>, </a:t>
            </a:r>
            <a:r>
              <a:rPr lang="de-CH" sz="2100" dirty="0" err="1">
                <a:latin typeface="Calibri body"/>
              </a:rPr>
              <a:t>timestamp</a:t>
            </a:r>
            <a:r>
              <a:rPr lang="de-CH" sz="2100" dirty="0">
                <a:latin typeface="Calibri body"/>
              </a:rPr>
              <a:t>-type, </a:t>
            </a:r>
            <a:r>
              <a:rPr lang="de-CH" sz="2100" dirty="0" err="1">
                <a:latin typeface="Calibri body"/>
              </a:rPr>
              <a:t>vrf</a:t>
            </a:r>
            <a:r>
              <a:rPr lang="de-CH" sz="2100" dirty="0">
                <a:latin typeface="Calibri body"/>
              </a:rPr>
              <a:t>-</a:t>
            </a:r>
            <a:r>
              <a:rPr lang="de-CH" sz="2100" dirty="0" err="1">
                <a:latin typeface="Calibri body"/>
              </a:rPr>
              <a:t>table</a:t>
            </a:r>
            <a:r>
              <a:rPr lang="de-CH" sz="2100" dirty="0">
                <a:latin typeface="Calibri body"/>
              </a:rPr>
              <a:t>-name and </a:t>
            </a:r>
            <a:r>
              <a:rPr lang="de-CH" sz="2100" dirty="0" err="1">
                <a:latin typeface="Calibri body"/>
              </a:rPr>
              <a:t>sequence</a:t>
            </a:r>
            <a:r>
              <a:rPr lang="de-CH" sz="2100" dirty="0">
                <a:latin typeface="Calibri body"/>
              </a:rPr>
              <a:t> </a:t>
            </a:r>
            <a:r>
              <a:rPr lang="de-CH" sz="2100" dirty="0" err="1">
                <a:latin typeface="Calibri body"/>
              </a:rPr>
              <a:t>number</a:t>
            </a:r>
            <a:r>
              <a:rPr lang="de-CH" sz="2100" dirty="0">
                <a:latin typeface="Calibri body"/>
              </a:rPr>
              <a:t> </a:t>
            </a:r>
            <a:r>
              <a:rPr lang="de-CH" sz="2100" dirty="0" err="1">
                <a:latin typeface="Calibri body"/>
              </a:rPr>
              <a:t>from</a:t>
            </a:r>
            <a:r>
              <a:rPr lang="de-CH" sz="2100" dirty="0">
                <a:latin typeface="Calibri body"/>
              </a:rPr>
              <a:t> </a:t>
            </a:r>
            <a:r>
              <a:rPr lang="de-CH" sz="2100" dirty="0">
                <a:latin typeface="Calibri body"/>
                <a:hlinkClick r:id="rId2"/>
              </a:rPr>
              <a:t>draft-ietf-grow-bmp-tlv</a:t>
            </a:r>
            <a:r>
              <a:rPr lang="de-CH" sz="2100" dirty="0">
                <a:latin typeface="Calibri body"/>
              </a:rPr>
              <a:t>.</a:t>
            </a:r>
            <a:endParaRPr lang="de-CH" sz="2100" dirty="0"/>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AD4918B9-2FA7-5287-C789-21B6BD70ACB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5" name="TextBox 4">
            <a:extLst>
              <a:ext uri="{FF2B5EF4-FFF2-40B4-BE49-F238E27FC236}">
                <a16:creationId xmlns:a16="http://schemas.microsoft.com/office/drawing/2014/main" id="{7B8D7887-C93D-FC29-FE8D-AB3A78A80370}"/>
              </a:ext>
            </a:extLst>
          </p:cNvPr>
          <p:cNvSpPr txBox="1"/>
          <p:nvPr/>
        </p:nvSpPr>
        <p:spPr>
          <a:xfrm>
            <a:off x="7141029" y="1652648"/>
            <a:ext cx="4955092" cy="4524315"/>
          </a:xfrm>
          <a:prstGeom prst="rect">
            <a:avLst/>
          </a:prstGeom>
          <a:noFill/>
        </p:spPr>
        <p:txBody>
          <a:bodyPr wrap="square">
            <a:spAutoFit/>
          </a:bodyPr>
          <a:lstStyle/>
          <a:p>
            <a:r>
              <a:rPr lang="de-CH" sz="900" dirty="0" err="1">
                <a:latin typeface="Courier New" panose="02070309020205020404" pitchFamily="49" charset="0"/>
                <a:cs typeface="Courier New" panose="02070309020205020404" pitchFamily="49" charset="0"/>
              </a:rPr>
              <a:t>module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ietf</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bmp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telemetry</a:t>
            </a:r>
            <a:r>
              <a:rPr lang="de-CH" sz="900" dirty="0">
                <a:latin typeface="Courier New" panose="02070309020205020404" pitchFamily="49" charset="0"/>
                <a:cs typeface="Courier New" panose="02070309020205020404" pitchFamily="49" charset="0"/>
              </a:rPr>
              <a:t>-message</a:t>
            </a:r>
          </a:p>
          <a:p>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structure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-type)?</a:t>
            </a:r>
          </a:p>
          <a:p>
            <a:r>
              <a:rPr lang="de-CH" sz="900" dirty="0">
                <a:latin typeface="Courier New" panose="02070309020205020404" pitchFamily="49" charset="0"/>
                <a:cs typeface="Courier New" panose="02070309020205020404" pitchFamily="49" charset="0"/>
              </a:rPr>
              <a:t>       +--:(route-monitoring)</a:t>
            </a:r>
          </a:p>
          <a:p>
            <a:r>
              <a:rPr lang="de-CH" sz="900" dirty="0">
                <a:latin typeface="Courier New" panose="02070309020205020404" pitchFamily="49" charset="0"/>
                <a:cs typeface="Courier New" panose="02070309020205020404" pitchFamily="49" charset="0"/>
              </a:rPr>
              <a:t>       |  +-- route-monitoring</a:t>
            </a:r>
          </a:p>
          <a:p>
            <a:r>
              <a:rPr lang="de-CH" sz="900" dirty="0">
                <a:latin typeface="Courier New" panose="02070309020205020404" pitchFamily="49" charset="0"/>
                <a:cs typeface="Courier New" panose="02070309020205020404" pitchFamily="49" charset="0"/>
              </a:rPr>
              <a:t>       |     +-- peer-type             </a:t>
            </a:r>
            <a:r>
              <a:rPr lang="de-CH" sz="900" dirty="0" err="1">
                <a:latin typeface="Courier New" panose="02070309020205020404" pitchFamily="49" charset="0"/>
                <a:cs typeface="Courier New" panose="02070309020205020404" pitchFamily="49" charset="0"/>
              </a:rPr>
              <a:t>peer-type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flags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ipv6-peer?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post-</a:t>
            </a:r>
            <a:r>
              <a:rPr lang="de-CH" sz="900" dirty="0" err="1">
                <a:latin typeface="Courier New" panose="02070309020205020404" pitchFamily="49" charset="0"/>
                <a:cs typeface="Courier New" panose="02070309020205020404" pitchFamily="49" charset="0"/>
              </a:rPr>
              <a:t>policy</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legacy-</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path</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adj</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rib</a:t>
            </a:r>
            <a:r>
              <a:rPr lang="de-CH" sz="900" dirty="0">
                <a:latin typeface="Courier New" panose="02070309020205020404" pitchFamily="49" charset="0"/>
                <a:cs typeface="Courier New" panose="02070309020205020404" pitchFamily="49" charset="0"/>
              </a:rPr>
              <a:t>-out?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filtered</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distinguisher</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rt-types:route-distinguisher</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address</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inet:ip-address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               uint32</a:t>
            </a: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bgp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id</a:t>
            </a:r>
            <a:r>
              <a:rPr lang="de-CH" sz="900" dirty="0">
                <a:latin typeface="Courier New" panose="02070309020205020404" pitchFamily="49" charset="0"/>
                <a:cs typeface="Courier New" panose="02070309020205020404" pitchFamily="49" charset="0"/>
              </a:rPr>
              <a:t>           inet:ipv4-address</a:t>
            </a: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timestamp</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yang:date-and-time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afi</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safi</a:t>
            </a:r>
            <a:r>
              <a:rPr lang="de-CH" sz="900" dirty="0">
                <a:latin typeface="Courier New" panose="02070309020205020404" pitchFamily="49" charset="0"/>
                <a:cs typeface="Courier New" panose="02070309020205020404" pitchFamily="49" charset="0"/>
              </a:rPr>
              <a:t>-type         </a:t>
            </a:r>
            <a:r>
              <a:rPr lang="de-CH" sz="900" dirty="0" err="1">
                <a:latin typeface="Courier New" panose="02070309020205020404" pitchFamily="49" charset="0"/>
                <a:cs typeface="Courier New" panose="02070309020205020404" pitchFamily="49" charset="0"/>
              </a:rPr>
              <a:t>identityref</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rib-entry</a:t>
            </a:r>
            <a:endParaRPr lang="de-CH" sz="900" dirty="0">
              <a:latin typeface="Courier New" panose="02070309020205020404" pitchFamily="49" charset="0"/>
              <a:cs typeface="Courier New" panose="02070309020205020404" pitchFamily="49" charset="0"/>
            </a:endParaRPr>
          </a:p>
          <a:p>
            <a:endParaRPr lang="de-CH" sz="900" dirty="0">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vrf</a:t>
            </a:r>
            <a:r>
              <a:rPr lang="de-CH" sz="900" dirty="0">
                <a:highlight>
                  <a:srgbClr val="FFFF00"/>
                </a:highlight>
                <a:latin typeface="Courier New" panose="02070309020205020404" pitchFamily="49" charset="0"/>
                <a:cs typeface="Courier New" panose="02070309020205020404" pitchFamily="49" charset="0"/>
              </a:rPr>
              <a:t>-</a:t>
            </a:r>
            <a:r>
              <a:rPr lang="de-CH" sz="900" dirty="0" err="1">
                <a:highlight>
                  <a:srgbClr val="FFFF00"/>
                </a:highlight>
                <a:latin typeface="Courier New" panose="02070309020205020404" pitchFamily="49" charset="0"/>
                <a:cs typeface="Courier New" panose="02070309020205020404" pitchFamily="49" charset="0"/>
              </a:rPr>
              <a:t>table</a:t>
            </a:r>
            <a:r>
              <a:rPr lang="de-CH" sz="900" dirty="0">
                <a:highlight>
                  <a:srgbClr val="FFFF00"/>
                </a:highlight>
                <a:latin typeface="Courier New" panose="02070309020205020404" pitchFamily="49" charset="0"/>
                <a:cs typeface="Courier New" panose="02070309020205020404" pitchFamily="49" charset="0"/>
              </a:rPr>
              <a:t>-name?       </a:t>
            </a:r>
            <a:r>
              <a:rPr lang="de-CH" sz="900" dirty="0" err="1">
                <a:highlight>
                  <a:srgbClr val="FFFF00"/>
                </a:highlight>
                <a:latin typeface="Courier New" panose="02070309020205020404" pitchFamily="49" charset="0"/>
                <a:cs typeface="Courier New" panose="02070309020205020404" pitchFamily="49" charset="0"/>
              </a:rPr>
              <a:t>string</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sequence-number</a:t>
            </a:r>
            <a:r>
              <a:rPr lang="de-CH" sz="900" dirty="0">
                <a:highlight>
                  <a:srgbClr val="FFFF00"/>
                </a:highlight>
                <a:latin typeface="Courier New" panose="02070309020205020404" pitchFamily="49" charset="0"/>
                <a:cs typeface="Courier New" panose="02070309020205020404" pitchFamily="49" charset="0"/>
              </a:rPr>
              <a:t>?      uint64</a:t>
            </a: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timestamps</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a:t>
            </a: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-type</a:t>
            </a: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timestamp</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yang:date-and-time</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extended-flags</a:t>
            </a:r>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        +-- ipv6-peer?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post-</a:t>
            </a:r>
            <a:r>
              <a:rPr lang="de-CH" sz="900" dirty="0" err="1">
                <a:latin typeface="Courier New" panose="02070309020205020404" pitchFamily="49" charset="0"/>
                <a:cs typeface="Courier New" panose="02070309020205020404" pitchFamily="49" charset="0"/>
              </a:rPr>
              <a:t>policy</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legacy-</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path</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adj</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rib</a:t>
            </a:r>
            <a:r>
              <a:rPr lang="de-CH" sz="900" dirty="0">
                <a:latin typeface="Courier New" panose="02070309020205020404" pitchFamily="49" charset="0"/>
                <a:cs typeface="Courier New" panose="02070309020205020404" pitchFamily="49" charset="0"/>
              </a:rPr>
              <a:t>-out?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filtered</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452467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2B08D-E9F8-9EBD-DC77-42D756B50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DDFA9-710A-5629-89B2-FB87E211CD78}"/>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BGP best path decision metadata</a:t>
            </a:r>
          </a:p>
        </p:txBody>
      </p:sp>
      <p:sp>
        <p:nvSpPr>
          <p:cNvPr id="3" name="Content Placeholder 2">
            <a:extLst>
              <a:ext uri="{FF2B5EF4-FFF2-40B4-BE49-F238E27FC236}">
                <a16:creationId xmlns:a16="http://schemas.microsoft.com/office/drawing/2014/main" id="{421E468E-B525-66BD-FBA4-8EB776CE47B6}"/>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de-CH" sz="2100" dirty="0">
                <a:latin typeface="Calibri body"/>
                <a:cs typeface="Courier New" panose="02070309020205020404" pitchFamily="49" charset="0"/>
              </a:rPr>
              <a:t>Rhe </a:t>
            </a:r>
            <a:r>
              <a:rPr lang="de-CH" sz="2100" dirty="0">
                <a:latin typeface="Calibri body"/>
              </a:rPr>
              <a:t>route-monitoring </a:t>
            </a:r>
            <a:r>
              <a:rPr lang="de-CH" sz="2100" dirty="0" err="1">
                <a:latin typeface="Calibri body"/>
              </a:rPr>
              <a:t>ietf</a:t>
            </a:r>
            <a:r>
              <a:rPr lang="de-CH" sz="2100" dirty="0">
                <a:latin typeface="Calibri body"/>
              </a:rPr>
              <a:t>-</a:t>
            </a:r>
            <a:r>
              <a:rPr lang="de-CH" sz="2100" dirty="0" err="1">
                <a:latin typeface="Calibri body"/>
              </a:rPr>
              <a:t>bmp</a:t>
            </a:r>
            <a:r>
              <a:rPr lang="de-CH" sz="2100" dirty="0">
                <a:latin typeface="Calibri body"/>
              </a:rPr>
              <a:t>-</a:t>
            </a:r>
            <a:r>
              <a:rPr lang="de-CH" sz="2100" dirty="0" err="1">
                <a:latin typeface="Calibri body"/>
              </a:rPr>
              <a:t>telemetry</a:t>
            </a:r>
            <a:r>
              <a:rPr lang="de-CH" sz="2100" dirty="0">
                <a:latin typeface="Calibri body"/>
              </a:rPr>
              <a:t>-message </a:t>
            </a:r>
            <a:r>
              <a:rPr lang="de-CH" sz="2100" dirty="0" err="1">
                <a:latin typeface="Calibri body"/>
              </a:rPr>
              <a:t>contains</a:t>
            </a:r>
            <a:r>
              <a:rPr lang="de-CH" sz="2100" dirty="0">
                <a:latin typeface="Calibri body"/>
              </a:rPr>
              <a:t> </a:t>
            </a:r>
            <a:r>
              <a:rPr lang="de-CH" sz="2100" dirty="0" err="1">
                <a:latin typeface="Calibri body"/>
              </a:rPr>
              <a:t>the</a:t>
            </a:r>
            <a:r>
              <a:rPr lang="de-CH" sz="2100" dirty="0">
                <a:latin typeface="Calibri body"/>
              </a:rPr>
              <a:t> </a:t>
            </a:r>
            <a:r>
              <a:rPr lang="de-CH" sz="2100" dirty="0" err="1">
                <a:latin typeface="Calibri body"/>
              </a:rPr>
              <a:t>following</a:t>
            </a:r>
            <a:r>
              <a:rPr lang="de-CH" sz="2100" dirty="0">
                <a:latin typeface="Calibri body"/>
              </a:rPr>
              <a:t> BMP </a:t>
            </a:r>
            <a:r>
              <a:rPr lang="de-CH" sz="2100" dirty="0" err="1">
                <a:latin typeface="Calibri body"/>
              </a:rPr>
              <a:t>metadata</a:t>
            </a:r>
            <a:r>
              <a:rPr lang="de-CH" sz="2100" dirty="0">
                <a:latin typeface="Calibri body"/>
              </a:rPr>
              <a:t>: </a:t>
            </a:r>
            <a:endParaRPr lang="de-CH" sz="2100" dirty="0">
              <a:latin typeface="Calibri body"/>
              <a:cs typeface="Courier New" panose="02070309020205020404" pitchFamily="49" charset="0"/>
            </a:endParaRPr>
          </a:p>
          <a:p>
            <a:pPr marL="0" indent="0">
              <a:spcBef>
                <a:spcPts val="600"/>
              </a:spcBef>
              <a:spcAft>
                <a:spcPts val="600"/>
              </a:spcAft>
              <a:buNone/>
            </a:pPr>
            <a:r>
              <a:rPr lang="de-CH" sz="2100" dirty="0" err="1">
                <a:latin typeface="Calibri body"/>
                <a:cs typeface="Courier New" panose="02070309020205020404" pitchFamily="49" charset="0"/>
              </a:rPr>
              <a:t>path</a:t>
            </a:r>
            <a:r>
              <a:rPr lang="de-CH" sz="2100" dirty="0">
                <a:latin typeface="Calibri body"/>
                <a:cs typeface="Courier New" panose="02070309020205020404" pitchFamily="49" charset="0"/>
              </a:rPr>
              <a:t>-status and </a:t>
            </a:r>
            <a:r>
              <a:rPr lang="de-CH" sz="2100" dirty="0" err="1">
                <a:latin typeface="Calibri body"/>
                <a:cs typeface="Courier New" panose="02070309020205020404" pitchFamily="49" charset="0"/>
              </a:rPr>
              <a:t>reason</a:t>
            </a:r>
            <a:r>
              <a:rPr lang="de-CH" sz="2100" dirty="0">
                <a:latin typeface="Calibri body"/>
                <a:cs typeface="Courier New" panose="02070309020205020404" pitchFamily="49" charset="0"/>
              </a:rPr>
              <a:t>-code </a:t>
            </a:r>
            <a:r>
              <a:rPr lang="de-CH" sz="2100" dirty="0" err="1">
                <a:latin typeface="Calibri body"/>
                <a:cs typeface="Courier New" panose="02070309020205020404" pitchFamily="49" charset="0"/>
              </a:rPr>
              <a:t>leaves</a:t>
            </a:r>
            <a:r>
              <a:rPr lang="de-CH" sz="2100" dirty="0">
                <a:latin typeface="Calibri body"/>
                <a:cs typeface="Courier New" panose="02070309020205020404" pitchFamily="49" charset="0"/>
              </a:rPr>
              <a:t> </a:t>
            </a:r>
            <a:r>
              <a:rPr lang="de-CH" sz="2100" dirty="0" err="1">
                <a:latin typeface="Calibri body"/>
                <a:cs typeface="Courier New" panose="02070309020205020404" pitchFamily="49" charset="0"/>
              </a:rPr>
              <a:t>from</a:t>
            </a:r>
            <a:r>
              <a:rPr lang="de-CH" sz="2100" dirty="0">
                <a:latin typeface="Calibri body"/>
                <a:cs typeface="Courier New" panose="02070309020205020404" pitchFamily="49" charset="0"/>
              </a:rPr>
              <a:t> </a:t>
            </a:r>
            <a:r>
              <a:rPr lang="de-CH" sz="2100" dirty="0">
                <a:latin typeface="Calibri body"/>
                <a:cs typeface="Courier New" panose="02070309020205020404" pitchFamily="49" charset="0"/>
                <a:hlinkClick r:id="rId2"/>
              </a:rPr>
              <a:t>draft-</a:t>
            </a:r>
            <a:r>
              <a:rPr lang="de-CH" sz="2100" dirty="0" err="1">
                <a:latin typeface="Calibri body"/>
                <a:cs typeface="Courier New" panose="02070309020205020404" pitchFamily="49" charset="0"/>
                <a:hlinkClick r:id="rId2"/>
              </a:rPr>
              <a:t>ietf</a:t>
            </a:r>
            <a:r>
              <a:rPr lang="de-CH" sz="2100" dirty="0">
                <a:latin typeface="Calibri body"/>
                <a:cs typeface="Courier New" panose="02070309020205020404" pitchFamily="49" charset="0"/>
                <a:hlinkClick r:id="rId2"/>
              </a:rPr>
              <a:t>-grow-</a:t>
            </a:r>
            <a:r>
              <a:rPr lang="de-CH" sz="2100" dirty="0" err="1">
                <a:latin typeface="Calibri body"/>
                <a:cs typeface="Courier New" panose="02070309020205020404" pitchFamily="49" charset="0"/>
                <a:hlinkClick r:id="rId2"/>
              </a:rPr>
              <a:t>bmp</a:t>
            </a:r>
            <a:r>
              <a:rPr lang="de-CH" sz="2100" dirty="0">
                <a:latin typeface="Calibri body"/>
                <a:cs typeface="Courier New" panose="02070309020205020404" pitchFamily="49" charset="0"/>
                <a:hlinkClick r:id="rId2"/>
              </a:rPr>
              <a:t>-</a:t>
            </a:r>
            <a:r>
              <a:rPr lang="de-CH" sz="2100" dirty="0" err="1">
                <a:latin typeface="Calibri body"/>
                <a:cs typeface="Courier New" panose="02070309020205020404" pitchFamily="49" charset="0"/>
                <a:hlinkClick r:id="rId2"/>
              </a:rPr>
              <a:t>path-marking-tlv</a:t>
            </a:r>
            <a:r>
              <a:rPr lang="de-CH" sz="2100" dirty="0">
                <a:latin typeface="Calibri body"/>
                <a:cs typeface="Courier New" panose="02070309020205020404" pitchFamily="49" charset="0"/>
              </a:rPr>
              <a:t>.</a:t>
            </a:r>
          </a:p>
          <a:p>
            <a:pPr marL="0" indent="0">
              <a:spcBef>
                <a:spcPts val="600"/>
              </a:spcBef>
              <a:spcAft>
                <a:spcPts val="600"/>
              </a:spcAft>
              <a:buNone/>
            </a:pPr>
            <a:endParaRPr lang="de-CH" sz="2100" dirty="0"/>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EAA3FD28-B4F9-EF21-90CE-1024EC014671}"/>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6</a:t>
            </a:fld>
            <a:endParaRPr lang="en-US" sz="1400" dirty="0"/>
          </a:p>
        </p:txBody>
      </p:sp>
      <p:sp>
        <p:nvSpPr>
          <p:cNvPr id="5" name="TextBox 4">
            <a:extLst>
              <a:ext uri="{FF2B5EF4-FFF2-40B4-BE49-F238E27FC236}">
                <a16:creationId xmlns:a16="http://schemas.microsoft.com/office/drawing/2014/main" id="{2D333956-C5AE-D528-B067-D9A012810329}"/>
              </a:ext>
            </a:extLst>
          </p:cNvPr>
          <p:cNvSpPr txBox="1"/>
          <p:nvPr/>
        </p:nvSpPr>
        <p:spPr>
          <a:xfrm>
            <a:off x="7141029" y="1648449"/>
            <a:ext cx="4955092" cy="5078313"/>
          </a:xfrm>
          <a:prstGeom prst="rect">
            <a:avLst/>
          </a:prstGeom>
          <a:noFill/>
        </p:spPr>
        <p:txBody>
          <a:bodyPr wrap="square">
            <a:spAutoFit/>
          </a:bodyPr>
          <a:lstStyle/>
          <a:p>
            <a:r>
              <a:rPr lang="de-CH" sz="900" dirty="0" err="1">
                <a:latin typeface="Courier New" panose="02070309020205020404" pitchFamily="49" charset="0"/>
                <a:cs typeface="Courier New" panose="02070309020205020404" pitchFamily="49" charset="0"/>
              </a:rPr>
              <a:t>module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ietf</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bmp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telemetry</a:t>
            </a:r>
            <a:r>
              <a:rPr lang="de-CH" sz="900" dirty="0">
                <a:latin typeface="Courier New" panose="02070309020205020404" pitchFamily="49" charset="0"/>
                <a:cs typeface="Courier New" panose="02070309020205020404" pitchFamily="49" charset="0"/>
              </a:rPr>
              <a:t>-message</a:t>
            </a:r>
          </a:p>
          <a:p>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structure</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 (</a:t>
            </a:r>
            <a:r>
              <a:rPr lang="de-CH" sz="900" dirty="0" err="1">
                <a:latin typeface="Courier New" panose="02070309020205020404" pitchFamily="49" charset="0"/>
                <a:cs typeface="Courier New" panose="02070309020205020404" pitchFamily="49" charset="0"/>
              </a:rPr>
              <a:t>message</a:t>
            </a:r>
            <a:r>
              <a:rPr lang="de-CH" sz="900" dirty="0">
                <a:latin typeface="Courier New" panose="02070309020205020404" pitchFamily="49" charset="0"/>
                <a:cs typeface="Courier New" panose="02070309020205020404" pitchFamily="49" charset="0"/>
              </a:rPr>
              <a:t>-type)?</a:t>
            </a:r>
          </a:p>
          <a:p>
            <a:r>
              <a:rPr lang="de-CH" sz="900" dirty="0">
                <a:latin typeface="Courier New" panose="02070309020205020404" pitchFamily="49" charset="0"/>
                <a:cs typeface="Courier New" panose="02070309020205020404" pitchFamily="49" charset="0"/>
              </a:rPr>
              <a:t>       +--:(route-monitoring)</a:t>
            </a:r>
          </a:p>
          <a:p>
            <a:r>
              <a:rPr lang="de-CH" sz="900" dirty="0">
                <a:latin typeface="Courier New" panose="02070309020205020404" pitchFamily="49" charset="0"/>
                <a:cs typeface="Courier New" panose="02070309020205020404" pitchFamily="49" charset="0"/>
              </a:rPr>
              <a:t>       |  +-- route-monitoring</a:t>
            </a:r>
          </a:p>
          <a:p>
            <a:r>
              <a:rPr lang="de-CH" sz="900" dirty="0">
                <a:latin typeface="Courier New" panose="02070309020205020404" pitchFamily="49" charset="0"/>
                <a:cs typeface="Courier New" panose="02070309020205020404" pitchFamily="49" charset="0"/>
              </a:rPr>
              <a:t>       |     +-- peer-type             </a:t>
            </a:r>
            <a:r>
              <a:rPr lang="de-CH" sz="900" dirty="0" err="1">
                <a:latin typeface="Courier New" panose="02070309020205020404" pitchFamily="49" charset="0"/>
                <a:cs typeface="Courier New" panose="02070309020205020404" pitchFamily="49" charset="0"/>
              </a:rPr>
              <a:t>peer-type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flags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ipv6-peer?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post-</a:t>
            </a:r>
            <a:r>
              <a:rPr lang="de-CH" sz="900" dirty="0" err="1">
                <a:latin typeface="Courier New" panose="02070309020205020404" pitchFamily="49" charset="0"/>
                <a:cs typeface="Courier New" panose="02070309020205020404" pitchFamily="49" charset="0"/>
              </a:rPr>
              <a:t>policy</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legacy-</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path</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adj</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rib</a:t>
            </a:r>
            <a:r>
              <a:rPr lang="de-CH" sz="900" dirty="0">
                <a:latin typeface="Courier New" panose="02070309020205020404" pitchFamily="49" charset="0"/>
                <a:cs typeface="Courier New" panose="02070309020205020404" pitchFamily="49" charset="0"/>
              </a:rPr>
              <a:t>-out?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 </a:t>
            </a:r>
            <a:r>
              <a:rPr lang="de-CH" sz="900" dirty="0" err="1">
                <a:latin typeface="Courier New" panose="02070309020205020404" pitchFamily="49" charset="0"/>
                <a:cs typeface="Courier New" panose="02070309020205020404" pitchFamily="49" charset="0"/>
              </a:rPr>
              <a:t>filtered</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boolean</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distinguisher</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rt-types:route-distinguisher</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address</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inet:ip-address</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as</a:t>
            </a:r>
            <a:r>
              <a:rPr lang="de-CH" sz="900" dirty="0">
                <a:latin typeface="Courier New" panose="02070309020205020404" pitchFamily="49" charset="0"/>
                <a:cs typeface="Courier New" panose="02070309020205020404" pitchFamily="49" charset="0"/>
              </a:rPr>
              <a:t>               uint32</a:t>
            </a:r>
          </a:p>
          <a:p>
            <a:r>
              <a:rPr lang="de-CH" sz="900" dirty="0">
                <a:latin typeface="Courier New" panose="02070309020205020404" pitchFamily="49" charset="0"/>
                <a:cs typeface="Courier New" panose="02070309020205020404" pitchFamily="49" charset="0"/>
              </a:rPr>
              <a:t>       |     +-- peer-</a:t>
            </a:r>
            <a:r>
              <a:rPr lang="de-CH" sz="900" dirty="0" err="1">
                <a:latin typeface="Courier New" panose="02070309020205020404" pitchFamily="49" charset="0"/>
                <a:cs typeface="Courier New" panose="02070309020205020404" pitchFamily="49" charset="0"/>
              </a:rPr>
              <a:t>bgp</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id</a:t>
            </a:r>
            <a:r>
              <a:rPr lang="de-CH" sz="900" dirty="0">
                <a:latin typeface="Courier New" panose="02070309020205020404" pitchFamily="49" charset="0"/>
                <a:cs typeface="Courier New" panose="02070309020205020404" pitchFamily="49" charset="0"/>
              </a:rPr>
              <a:t>           inet:ipv4-address</a:t>
            </a: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timestamp</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yang:date-and-time</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afi</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safi</a:t>
            </a:r>
            <a:r>
              <a:rPr lang="de-CH" sz="900" dirty="0">
                <a:latin typeface="Courier New" panose="02070309020205020404" pitchFamily="49" charset="0"/>
                <a:cs typeface="Courier New" panose="02070309020205020404" pitchFamily="49" charset="0"/>
              </a:rPr>
              <a:t>-type         </a:t>
            </a:r>
            <a:r>
              <a:rPr lang="de-CH" sz="900" dirty="0" err="1">
                <a:latin typeface="Courier New" panose="02070309020205020404" pitchFamily="49" charset="0"/>
                <a:cs typeface="Courier New" panose="02070309020205020404" pitchFamily="49" charset="0"/>
              </a:rPr>
              <a:t>identityref</a:t>
            </a:r>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     +-- </a:t>
            </a:r>
            <a:r>
              <a:rPr lang="de-CH" sz="900" dirty="0" err="1">
                <a:latin typeface="Courier New" panose="02070309020205020404" pitchFamily="49" charset="0"/>
                <a:cs typeface="Courier New" panose="02070309020205020404" pitchFamily="49" charset="0"/>
              </a:rPr>
              <a:t>rib-entry</a:t>
            </a:r>
            <a:endParaRPr lang="de-CH" sz="900" dirty="0">
              <a:latin typeface="Courier New" panose="02070309020205020404" pitchFamily="49" charset="0"/>
              <a:cs typeface="Courier New" panose="02070309020205020404" pitchFamily="49" charset="0"/>
            </a:endParaRPr>
          </a:p>
          <a:p>
            <a:endParaRPr lang="de-CH" sz="900" dirty="0">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path</a:t>
            </a:r>
            <a:r>
              <a:rPr lang="de-CH" sz="900" dirty="0">
                <a:highlight>
                  <a:srgbClr val="FFFF00"/>
                </a:highlight>
                <a:latin typeface="Courier New" panose="02070309020205020404" pitchFamily="49" charset="0"/>
                <a:cs typeface="Courier New" panose="02070309020205020404" pitchFamily="49" charset="0"/>
              </a:rPr>
              <a:t>-status!</a:t>
            </a:r>
          </a:p>
          <a:p>
            <a:r>
              <a:rPr lang="de-CH" sz="900" dirty="0">
                <a:highlight>
                  <a:srgbClr val="FFFF00"/>
                </a:highlight>
                <a:latin typeface="Courier New" panose="02070309020205020404" pitchFamily="49" charset="0"/>
                <a:cs typeface="Courier New" panose="02070309020205020404" pitchFamily="49" charset="0"/>
              </a:rPr>
              <a:t>       |     |  +-- invalid?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best</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nonselected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primary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backup</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non-</a:t>
            </a:r>
            <a:r>
              <a:rPr lang="de-CH" sz="900" dirty="0" err="1">
                <a:highlight>
                  <a:srgbClr val="FFFF00"/>
                </a:highlight>
                <a:latin typeface="Courier New" panose="02070309020205020404" pitchFamily="49" charset="0"/>
                <a:cs typeface="Courier New" panose="02070309020205020404" pitchFamily="49" charset="0"/>
              </a:rPr>
              <a:t>installed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best-external?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add-path</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filtered-inbound-policy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filtered-outbound-policy</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stale</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suppressed</a:t>
            </a:r>
            <a:r>
              <a:rPr lang="de-CH" sz="900" dirty="0">
                <a:highlight>
                  <a:srgbClr val="FFFF00"/>
                </a:highlight>
                <a:latin typeface="Courier New" panose="02070309020205020404" pitchFamily="49" charset="0"/>
                <a:cs typeface="Courier New" panose="02070309020205020404" pitchFamily="49" charset="0"/>
              </a:rPr>
              <a:t>?                 </a:t>
            </a:r>
            <a:r>
              <a:rPr lang="de-CH" sz="900" dirty="0" err="1">
                <a:highlight>
                  <a:srgbClr val="FFFF00"/>
                </a:highlight>
                <a:latin typeface="Courier New" panose="02070309020205020404" pitchFamily="49" charset="0"/>
                <a:cs typeface="Courier New" panose="02070309020205020404" pitchFamily="49" charset="0"/>
              </a:rPr>
              <a:t>boolean</a:t>
            </a:r>
            <a:endParaRPr lang="de-CH" sz="900" dirty="0">
              <a:highlight>
                <a:srgbClr val="FFFF00"/>
              </a:highlight>
              <a:latin typeface="Courier New" panose="02070309020205020404" pitchFamily="49" charset="0"/>
              <a:cs typeface="Courier New" panose="02070309020205020404" pitchFamily="49" charset="0"/>
            </a:endParaRPr>
          </a:p>
          <a:p>
            <a:r>
              <a:rPr lang="de-CH" sz="900" dirty="0">
                <a:highlight>
                  <a:srgbClr val="FFFF00"/>
                </a:highlight>
                <a:latin typeface="Courier New" panose="02070309020205020404" pitchFamily="49" charset="0"/>
                <a:cs typeface="Courier New" panose="02070309020205020404" pitchFamily="49" charset="0"/>
              </a:rPr>
              <a:t>       |     |  +-- </a:t>
            </a:r>
            <a:r>
              <a:rPr lang="de-CH" sz="900" dirty="0" err="1">
                <a:highlight>
                  <a:srgbClr val="FFFF00"/>
                </a:highlight>
                <a:latin typeface="Courier New" panose="02070309020205020404" pitchFamily="49" charset="0"/>
                <a:cs typeface="Courier New" panose="02070309020205020404" pitchFamily="49" charset="0"/>
              </a:rPr>
              <a:t>reason</a:t>
            </a:r>
            <a:r>
              <a:rPr lang="de-CH" sz="900" dirty="0">
                <a:highlight>
                  <a:srgbClr val="FFFF00"/>
                </a:highlight>
                <a:latin typeface="Courier New" panose="02070309020205020404" pitchFamily="49" charset="0"/>
                <a:cs typeface="Courier New" panose="02070309020205020404" pitchFamily="49" charset="0"/>
              </a:rPr>
              <a:t>-code?</a:t>
            </a:r>
          </a:p>
          <a:p>
            <a:r>
              <a:rPr lang="de-CH" sz="900" dirty="0">
                <a:highlight>
                  <a:srgbClr val="FFFF00"/>
                </a:highlight>
                <a:latin typeface="Courier New" panose="02070309020205020404" pitchFamily="49" charset="0"/>
                <a:cs typeface="Courier New" panose="02070309020205020404" pitchFamily="49" charset="0"/>
              </a:rPr>
              <a:t>       |     |        </a:t>
            </a:r>
            <a:r>
              <a:rPr lang="de-CH" sz="900" dirty="0" err="1">
                <a:highlight>
                  <a:srgbClr val="FFFF00"/>
                </a:highlight>
                <a:latin typeface="Courier New" panose="02070309020205020404" pitchFamily="49" charset="0"/>
                <a:cs typeface="Courier New" panose="02070309020205020404" pitchFamily="49" charset="0"/>
              </a:rPr>
              <a:t>path</a:t>
            </a:r>
            <a:r>
              <a:rPr lang="de-CH" sz="900" dirty="0">
                <a:highlight>
                  <a:srgbClr val="FFFF00"/>
                </a:highlight>
                <a:latin typeface="Courier New" panose="02070309020205020404" pitchFamily="49" charset="0"/>
                <a:cs typeface="Courier New" panose="02070309020205020404" pitchFamily="49" charset="0"/>
              </a:rPr>
              <a:t>-status-</a:t>
            </a:r>
            <a:r>
              <a:rPr lang="de-CH" sz="900" dirty="0" err="1">
                <a:highlight>
                  <a:srgbClr val="FFFF00"/>
                </a:highlight>
                <a:latin typeface="Courier New" panose="02070309020205020404" pitchFamily="49" charset="0"/>
                <a:cs typeface="Courier New" panose="02070309020205020404" pitchFamily="49" charset="0"/>
              </a:rPr>
              <a:t>reason</a:t>
            </a:r>
            <a:r>
              <a:rPr lang="de-CH" sz="900" dirty="0">
                <a:highlight>
                  <a:srgbClr val="FFFF00"/>
                </a:highlight>
                <a:latin typeface="Courier New" panose="02070309020205020404" pitchFamily="49" charset="0"/>
                <a:cs typeface="Courier New" panose="02070309020205020404" pitchFamily="49" charset="0"/>
              </a:rPr>
              <a:t>-code</a:t>
            </a:r>
          </a:p>
        </p:txBody>
      </p:sp>
    </p:spTree>
    <p:extLst>
      <p:ext uri="{BB962C8B-B14F-4D97-AF65-F5344CB8AC3E}">
        <p14:creationId xmlns:p14="http://schemas.microsoft.com/office/powerpoint/2010/main" val="2687771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5F1B3-04C9-EF5B-04F0-77D11F18C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8888DB-A90D-A25F-9FAA-CB0DFB34C2A9}"/>
              </a:ext>
            </a:extLst>
          </p:cNvPr>
          <p:cNvSpPr>
            <a:spLocks noGrp="1"/>
          </p:cNvSpPr>
          <p:nvPr>
            <p:ph type="title"/>
          </p:nvPr>
        </p:nvSpPr>
        <p:spPr/>
        <p:txBody>
          <a:bodyPr>
            <a:normAutofit/>
          </a:bodyPr>
          <a:lstStyle/>
          <a:p>
            <a:r>
              <a:rPr lang="en-US" sz="2800" b="1" dirty="0"/>
              <a:t>BMP YANG Telemetry Message</a:t>
            </a:r>
            <a:br>
              <a:rPr lang="en-US" sz="3600" dirty="0"/>
            </a:br>
            <a:r>
              <a:rPr lang="en-US" sz="2700" dirty="0">
                <a:solidFill>
                  <a:schemeClr val="bg2">
                    <a:lumMod val="75000"/>
                  </a:schemeClr>
                </a:solidFill>
              </a:rPr>
              <a:t>BGP peer capabilities metadata</a:t>
            </a:r>
          </a:p>
        </p:txBody>
      </p:sp>
      <p:sp>
        <p:nvSpPr>
          <p:cNvPr id="3" name="Content Placeholder 2">
            <a:extLst>
              <a:ext uri="{FF2B5EF4-FFF2-40B4-BE49-F238E27FC236}">
                <a16:creationId xmlns:a16="http://schemas.microsoft.com/office/drawing/2014/main" id="{D1A52B7B-3570-1B5D-1F67-9B38890F5748}"/>
              </a:ext>
            </a:extLst>
          </p:cNvPr>
          <p:cNvSpPr>
            <a:spLocks noGrp="1"/>
          </p:cNvSpPr>
          <p:nvPr>
            <p:ph idx="1"/>
          </p:nvPr>
        </p:nvSpPr>
        <p:spPr>
          <a:xfrm>
            <a:off x="838199" y="1690688"/>
            <a:ext cx="6302830" cy="4486275"/>
          </a:xfrm>
        </p:spPr>
        <p:txBody>
          <a:bodyPr>
            <a:noAutofit/>
          </a:bodyPr>
          <a:lstStyle/>
          <a:p>
            <a:pPr marL="0" indent="0">
              <a:spcBef>
                <a:spcPts val="600"/>
              </a:spcBef>
              <a:spcAft>
                <a:spcPts val="600"/>
              </a:spcAft>
              <a:buNone/>
            </a:pPr>
            <a:r>
              <a:rPr lang="de-CH" sz="2100" dirty="0">
                <a:latin typeface="Calibri body"/>
              </a:rPr>
              <a:t>BMP peer-</a:t>
            </a:r>
            <a:r>
              <a:rPr lang="de-CH" sz="2100" dirty="0" err="1">
                <a:latin typeface="Calibri body"/>
              </a:rPr>
              <a:t>up</a:t>
            </a:r>
            <a:r>
              <a:rPr lang="de-CH" sz="2100" dirty="0">
                <a:latin typeface="Calibri body"/>
              </a:rPr>
              <a:t> </a:t>
            </a:r>
            <a:r>
              <a:rPr lang="de-CH" sz="2100" dirty="0" err="1">
                <a:latin typeface="Calibri body"/>
              </a:rPr>
              <a:t>ietf</a:t>
            </a:r>
            <a:r>
              <a:rPr lang="de-CH" sz="2100" dirty="0">
                <a:latin typeface="Calibri body"/>
              </a:rPr>
              <a:t>-</a:t>
            </a:r>
            <a:r>
              <a:rPr lang="de-CH" sz="2100" dirty="0" err="1">
                <a:latin typeface="Calibri body"/>
              </a:rPr>
              <a:t>bmp</a:t>
            </a:r>
            <a:r>
              <a:rPr lang="de-CH" sz="2100" dirty="0">
                <a:latin typeface="Calibri body"/>
              </a:rPr>
              <a:t>-</a:t>
            </a:r>
            <a:r>
              <a:rPr lang="de-CH" sz="2100" dirty="0" err="1">
                <a:latin typeface="Calibri body"/>
              </a:rPr>
              <a:t>telemetry</a:t>
            </a:r>
            <a:r>
              <a:rPr lang="de-CH" sz="2100" dirty="0">
                <a:latin typeface="Calibri body"/>
              </a:rPr>
              <a:t>-message </a:t>
            </a:r>
            <a:r>
              <a:rPr lang="de-CH" sz="2100" dirty="0" err="1">
                <a:latin typeface="Calibri body"/>
              </a:rPr>
              <a:t>contains</a:t>
            </a:r>
            <a:r>
              <a:rPr lang="de-CH" sz="2100" dirty="0">
                <a:latin typeface="Calibri body"/>
              </a:rPr>
              <a:t> </a:t>
            </a:r>
            <a:r>
              <a:rPr lang="de-CH" sz="2100" dirty="0" err="1">
                <a:latin typeface="Calibri body"/>
              </a:rPr>
              <a:t>now</a:t>
            </a:r>
            <a:r>
              <a:rPr lang="de-CH" sz="2100" dirty="0">
                <a:latin typeface="Calibri body"/>
              </a:rPr>
              <a:t> also </a:t>
            </a:r>
            <a:r>
              <a:rPr lang="de-CH" sz="2100" dirty="0" err="1">
                <a:latin typeface="Calibri body"/>
              </a:rPr>
              <a:t>the</a:t>
            </a:r>
            <a:r>
              <a:rPr lang="de-CH" sz="2100" dirty="0">
                <a:latin typeface="Calibri body"/>
              </a:rPr>
              <a:t> </a:t>
            </a:r>
            <a:r>
              <a:rPr lang="de-CH" sz="2100" dirty="0" err="1">
                <a:latin typeface="Calibri body"/>
              </a:rPr>
              <a:t>following</a:t>
            </a:r>
            <a:r>
              <a:rPr lang="de-CH" sz="2100" dirty="0">
                <a:latin typeface="Calibri body"/>
              </a:rPr>
              <a:t> BMP </a:t>
            </a:r>
            <a:r>
              <a:rPr lang="de-CH" sz="2100" dirty="0" err="1">
                <a:latin typeface="Calibri body"/>
              </a:rPr>
              <a:t>metadata</a:t>
            </a:r>
            <a:r>
              <a:rPr lang="de-CH" sz="2100" dirty="0">
                <a:latin typeface="Calibri body"/>
              </a:rPr>
              <a:t>:</a:t>
            </a:r>
          </a:p>
          <a:p>
            <a:pPr marL="0" indent="0">
              <a:spcBef>
                <a:spcPts val="600"/>
              </a:spcBef>
              <a:spcAft>
                <a:spcPts val="600"/>
              </a:spcAft>
              <a:buNone/>
            </a:pPr>
            <a:r>
              <a:rPr lang="de-CH" sz="2100" dirty="0" err="1">
                <a:latin typeface="Calibri body"/>
              </a:rPr>
              <a:t>Received</a:t>
            </a:r>
            <a:r>
              <a:rPr lang="de-CH" sz="2100" dirty="0">
                <a:latin typeface="Calibri body"/>
              </a:rPr>
              <a:t> and </a:t>
            </a:r>
            <a:r>
              <a:rPr lang="de-CH" sz="2100" dirty="0" err="1">
                <a:latin typeface="Calibri body"/>
              </a:rPr>
              <a:t>sent</a:t>
            </a:r>
            <a:r>
              <a:rPr lang="de-CH" sz="2100" dirty="0">
                <a:latin typeface="Calibri body"/>
              </a:rPr>
              <a:t> BGP </a:t>
            </a:r>
            <a:r>
              <a:rPr lang="de-CH" sz="2100" dirty="0" err="1">
                <a:latin typeface="Calibri body"/>
              </a:rPr>
              <a:t>peer</a:t>
            </a:r>
            <a:r>
              <a:rPr lang="de-CH" sz="2100" dirty="0">
                <a:latin typeface="Calibri body"/>
              </a:rPr>
              <a:t> </a:t>
            </a:r>
            <a:r>
              <a:rPr lang="de-CH" sz="2100" dirty="0" err="1">
                <a:latin typeface="Calibri body"/>
              </a:rPr>
              <a:t>capabilities</a:t>
            </a:r>
            <a:r>
              <a:rPr lang="de-CH" sz="2100" dirty="0">
                <a:latin typeface="Calibri body"/>
              </a:rPr>
              <a:t> </a:t>
            </a:r>
            <a:r>
              <a:rPr lang="de-CH" sz="2100" dirty="0" err="1">
                <a:latin typeface="Calibri body"/>
              </a:rPr>
              <a:t>according</a:t>
            </a:r>
            <a:r>
              <a:rPr lang="de-CH" sz="2100" dirty="0">
                <a:latin typeface="Calibri body"/>
              </a:rPr>
              <a:t> </a:t>
            </a:r>
            <a:r>
              <a:rPr lang="de-CH" sz="2100" dirty="0" err="1">
                <a:latin typeface="Calibri body"/>
              </a:rPr>
              <a:t>to</a:t>
            </a:r>
            <a:r>
              <a:rPr lang="de-CH" sz="2100" dirty="0">
                <a:latin typeface="Calibri body"/>
              </a:rPr>
              <a:t> </a:t>
            </a:r>
            <a:r>
              <a:rPr lang="de-CH" sz="2100" dirty="0">
                <a:latin typeface="Calibri body"/>
                <a:hlinkClick r:id="rId2"/>
              </a:rPr>
              <a:t>RFC 7854</a:t>
            </a:r>
            <a:r>
              <a:rPr lang="de-CH" sz="2100" dirty="0">
                <a:latin typeface="Calibri body"/>
              </a:rPr>
              <a:t>.</a:t>
            </a:r>
            <a:endParaRPr lang="de-CH" sz="2100" dirty="0">
              <a:latin typeface="Calibri body"/>
              <a:cs typeface="Courier New" panose="02070309020205020404" pitchFamily="49" charset="0"/>
            </a:endParaRPr>
          </a:p>
          <a:p>
            <a:pPr marL="0" indent="0">
              <a:spcBef>
                <a:spcPts val="600"/>
              </a:spcBef>
              <a:spcAft>
                <a:spcPts val="600"/>
              </a:spcAft>
              <a:buNone/>
            </a:pPr>
            <a:endParaRPr lang="de-CH" sz="2100" dirty="0"/>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11EBCAA3-E888-A370-2B06-81E5787B03C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7</a:t>
            </a:fld>
            <a:endParaRPr lang="en-US" sz="1400" dirty="0"/>
          </a:p>
        </p:txBody>
      </p:sp>
      <p:sp>
        <p:nvSpPr>
          <p:cNvPr id="5" name="TextBox 4">
            <a:extLst>
              <a:ext uri="{FF2B5EF4-FFF2-40B4-BE49-F238E27FC236}">
                <a16:creationId xmlns:a16="http://schemas.microsoft.com/office/drawing/2014/main" id="{ACF3B6D0-4561-839A-14B8-04636B057F64}"/>
              </a:ext>
            </a:extLst>
          </p:cNvPr>
          <p:cNvSpPr txBox="1"/>
          <p:nvPr/>
        </p:nvSpPr>
        <p:spPr>
          <a:xfrm>
            <a:off x="7628794" y="131238"/>
            <a:ext cx="4955092" cy="6555641"/>
          </a:xfrm>
          <a:prstGeom prst="rect">
            <a:avLst/>
          </a:prstGeom>
          <a:noFill/>
        </p:spPr>
        <p:txBody>
          <a:bodyPr wrap="square">
            <a:spAutoFit/>
          </a:bodyPr>
          <a:lstStyle/>
          <a:p>
            <a:r>
              <a:rPr lang="de-CH" sz="750" dirty="0" err="1">
                <a:latin typeface="Courier New" panose="02070309020205020404" pitchFamily="49" charset="0"/>
                <a:cs typeface="Courier New" panose="02070309020205020404" pitchFamily="49" charset="0"/>
              </a:rPr>
              <a:t>module</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ietf</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bmp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telemetry</a:t>
            </a:r>
            <a:r>
              <a:rPr lang="de-CH" sz="750" dirty="0">
                <a:latin typeface="Courier New" panose="02070309020205020404" pitchFamily="49" charset="0"/>
                <a:cs typeface="Courier New" panose="02070309020205020404" pitchFamily="49" charset="0"/>
              </a:rPr>
              <a:t>-message</a:t>
            </a:r>
          </a:p>
          <a:p>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structure</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message</a:t>
            </a:r>
            <a:r>
              <a:rPr lang="de-CH" sz="750" dirty="0">
                <a:latin typeface="Courier New" panose="02070309020205020404" pitchFamily="49" charset="0"/>
                <a:cs typeface="Courier New" panose="02070309020205020404" pitchFamily="49" charset="0"/>
              </a:rPr>
              <a:t>:</a:t>
            </a:r>
          </a:p>
          <a:p>
            <a:r>
              <a:rPr lang="de-CH" sz="750" dirty="0">
                <a:latin typeface="Courier New" panose="02070309020205020404" pitchFamily="49" charset="0"/>
                <a:cs typeface="Courier New" panose="02070309020205020404" pitchFamily="49" charset="0"/>
              </a:rPr>
              <a:t>    +-- (</a:t>
            </a:r>
            <a:r>
              <a:rPr lang="de-CH" sz="750" dirty="0" err="1">
                <a:latin typeface="Courier New" panose="02070309020205020404" pitchFamily="49" charset="0"/>
                <a:cs typeface="Courier New" panose="02070309020205020404" pitchFamily="49" charset="0"/>
              </a:rPr>
              <a:t>message</a:t>
            </a:r>
            <a:r>
              <a:rPr lang="de-CH" sz="750" dirty="0">
                <a:latin typeface="Courier New" panose="02070309020205020404" pitchFamily="49" charset="0"/>
                <a:cs typeface="Courier New" panose="02070309020205020404" pitchFamily="49" charset="0"/>
              </a:rPr>
              <a:t>-type)?</a:t>
            </a:r>
          </a:p>
          <a:p>
            <a:r>
              <a:rPr lang="de-CH" sz="750" dirty="0">
                <a:latin typeface="Courier New" panose="02070309020205020404" pitchFamily="49" charset="0"/>
                <a:cs typeface="Courier New" panose="02070309020205020404" pitchFamily="49" charset="0"/>
              </a:rPr>
              <a:t>       +--:(peer-</a:t>
            </a:r>
            <a:r>
              <a:rPr lang="de-CH" sz="750" dirty="0" err="1">
                <a:latin typeface="Courier New" panose="02070309020205020404" pitchFamily="49" charset="0"/>
                <a:cs typeface="Courier New" panose="02070309020205020404" pitchFamily="49" charset="0"/>
              </a:rPr>
              <a:t>up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notification</a:t>
            </a:r>
            <a:r>
              <a:rPr lang="de-CH" sz="750" dirty="0">
                <a:latin typeface="Courier New" panose="02070309020205020404" pitchFamily="49" charset="0"/>
                <a:cs typeface="Courier New" panose="02070309020205020404" pitchFamily="49" charset="0"/>
              </a:rPr>
              <a:t>)</a:t>
            </a: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up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notification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peer-type             </a:t>
            </a:r>
            <a:r>
              <a:rPr lang="de-CH" sz="750" dirty="0" err="1">
                <a:latin typeface="Courier New" panose="02070309020205020404" pitchFamily="49" charset="0"/>
                <a:cs typeface="Courier New" panose="02070309020205020404" pitchFamily="49" charset="0"/>
              </a:rPr>
              <a:t>peer-type</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flags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ipv6-peer?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post-</a:t>
            </a:r>
            <a:r>
              <a:rPr lang="de-CH" sz="750" dirty="0" err="1">
                <a:latin typeface="Courier New" panose="02070309020205020404" pitchFamily="49" charset="0"/>
                <a:cs typeface="Courier New" panose="02070309020205020404" pitchFamily="49" charset="0"/>
              </a:rPr>
              <a:t>policy</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legacy-</a:t>
            </a:r>
            <a:r>
              <a:rPr lang="de-CH" sz="750" dirty="0" err="1">
                <a:latin typeface="Courier New" panose="02070309020205020404" pitchFamily="49" charset="0"/>
                <a:cs typeface="Courier New" panose="02070309020205020404" pitchFamily="49" charset="0"/>
              </a:rPr>
              <a:t>as</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path</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a:t>
            </a:r>
            <a:r>
              <a:rPr lang="de-CH" sz="750" dirty="0" err="1">
                <a:latin typeface="Courier New" panose="02070309020205020404" pitchFamily="49" charset="0"/>
                <a:cs typeface="Courier New" panose="02070309020205020404" pitchFamily="49" charset="0"/>
              </a:rPr>
              <a:t>adj</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rib</a:t>
            </a:r>
            <a:r>
              <a:rPr lang="de-CH" sz="750" dirty="0">
                <a:latin typeface="Courier New" panose="02070309020205020404" pitchFamily="49" charset="0"/>
                <a:cs typeface="Courier New" panose="02070309020205020404" pitchFamily="49" charset="0"/>
              </a:rPr>
              <a:t>-out?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 </a:t>
            </a:r>
            <a:r>
              <a:rPr lang="de-CH" sz="750" dirty="0" err="1">
                <a:latin typeface="Courier New" panose="02070309020205020404" pitchFamily="49" charset="0"/>
                <a:cs typeface="Courier New" panose="02070309020205020404" pitchFamily="49" charset="0"/>
              </a:rPr>
              <a:t>filtered</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boolean</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distinguisher</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rt-types:route-distinguisher</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address</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inet:ip-address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as</a:t>
            </a:r>
            <a:r>
              <a:rPr lang="de-CH" sz="750" dirty="0">
                <a:latin typeface="Courier New" panose="02070309020205020404" pitchFamily="49" charset="0"/>
                <a:cs typeface="Courier New" panose="02070309020205020404" pitchFamily="49" charset="0"/>
              </a:rPr>
              <a:t>               uint32</a:t>
            </a:r>
          </a:p>
          <a:p>
            <a:r>
              <a:rPr lang="de-CH" sz="750" dirty="0">
                <a:latin typeface="Courier New" panose="02070309020205020404" pitchFamily="49" charset="0"/>
                <a:cs typeface="Courier New" panose="02070309020205020404" pitchFamily="49" charset="0"/>
              </a:rPr>
              <a:t>       |     +-- peer-</a:t>
            </a:r>
            <a:r>
              <a:rPr lang="de-CH" sz="750" dirty="0" err="1">
                <a:latin typeface="Courier New" panose="02070309020205020404" pitchFamily="49" charset="0"/>
                <a:cs typeface="Courier New" panose="02070309020205020404" pitchFamily="49" charset="0"/>
              </a:rPr>
              <a:t>bgp</a:t>
            </a:r>
            <a:r>
              <a:rPr lang="de-CH" sz="750" dirty="0">
                <a:latin typeface="Courier New" panose="02070309020205020404" pitchFamily="49" charset="0"/>
                <a:cs typeface="Courier New" panose="02070309020205020404" pitchFamily="49" charset="0"/>
              </a:rPr>
              <a:t>-</a:t>
            </a:r>
            <a:r>
              <a:rPr lang="de-CH" sz="750" dirty="0" err="1">
                <a:latin typeface="Courier New" panose="02070309020205020404" pitchFamily="49" charset="0"/>
                <a:cs typeface="Courier New" panose="02070309020205020404" pitchFamily="49" charset="0"/>
              </a:rPr>
              <a:t>id</a:t>
            </a:r>
            <a:r>
              <a:rPr lang="de-CH" sz="750" dirty="0">
                <a:latin typeface="Courier New" panose="02070309020205020404" pitchFamily="49" charset="0"/>
                <a:cs typeface="Courier New" panose="02070309020205020404" pitchFamily="49" charset="0"/>
              </a:rPr>
              <a:t>           inet:ipv4-address</a:t>
            </a: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timestamp</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yang:date-and-time</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local-address</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inet:ip-address</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a:t>
            </a:r>
            <a:r>
              <a:rPr lang="de-CH" sz="750" dirty="0" err="1">
                <a:latin typeface="Courier New" panose="02070309020205020404" pitchFamily="49" charset="0"/>
                <a:cs typeface="Courier New" panose="02070309020205020404" pitchFamily="49" charset="0"/>
              </a:rPr>
              <a:t>local-port</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inet:port-number</a:t>
            </a:r>
            <a:endParaRPr lang="de-CH" sz="750" dirty="0">
              <a:latin typeface="Courier New" panose="02070309020205020404" pitchFamily="49" charset="0"/>
              <a:cs typeface="Courier New" panose="02070309020205020404" pitchFamily="49" charset="0"/>
            </a:endParaRPr>
          </a:p>
          <a:p>
            <a:r>
              <a:rPr lang="de-CH" sz="750" dirty="0">
                <a:latin typeface="Courier New" panose="02070309020205020404" pitchFamily="49" charset="0"/>
                <a:cs typeface="Courier New" panose="02070309020205020404" pitchFamily="49" charset="0"/>
              </a:rPr>
              <a:t>       |     +-- remote-</a:t>
            </a:r>
            <a:r>
              <a:rPr lang="de-CH" sz="750" dirty="0" err="1">
                <a:latin typeface="Courier New" panose="02070309020205020404" pitchFamily="49" charset="0"/>
                <a:cs typeface="Courier New" panose="02070309020205020404" pitchFamily="49" charset="0"/>
              </a:rPr>
              <a:t>port</a:t>
            </a:r>
            <a:r>
              <a:rPr lang="de-CH" sz="750" dirty="0">
                <a:latin typeface="Courier New" panose="02070309020205020404" pitchFamily="49" charset="0"/>
                <a:cs typeface="Courier New" panose="02070309020205020404" pitchFamily="49" charset="0"/>
              </a:rPr>
              <a:t>?          </a:t>
            </a:r>
            <a:r>
              <a:rPr lang="de-CH" sz="750" dirty="0" err="1">
                <a:latin typeface="Courier New" panose="02070309020205020404" pitchFamily="49" charset="0"/>
                <a:cs typeface="Courier New" panose="02070309020205020404" pitchFamily="49" charset="0"/>
              </a:rPr>
              <a:t>inet:port-number</a:t>
            </a:r>
            <a:endParaRPr lang="de-CH" sz="750" dirty="0">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a:t>
            </a:r>
            <a:r>
              <a:rPr lang="de-CH" sz="750" dirty="0" err="1">
                <a:highlight>
                  <a:srgbClr val="FFFF00"/>
                </a:highlight>
                <a:latin typeface="Courier New" panose="02070309020205020404" pitchFamily="49" charset="0"/>
                <a:cs typeface="Courier New" panose="02070309020205020404" pitchFamily="49" charset="0"/>
              </a:rPr>
              <a:t>sent</a:t>
            </a:r>
            <a:r>
              <a:rPr lang="de-CH" sz="750" dirty="0">
                <a:highlight>
                  <a:srgbClr val="FFFF00"/>
                </a:highlight>
                <a:latin typeface="Courier New" panose="02070309020205020404" pitchFamily="49" charset="0"/>
                <a:cs typeface="Courier New" panose="02070309020205020404" pitchFamily="49" charset="0"/>
              </a:rPr>
              <a:t>-open</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version</a:t>
            </a:r>
            <a:r>
              <a:rPr lang="de-CH" sz="750" dirty="0">
                <a:highlight>
                  <a:srgbClr val="FFFF00"/>
                </a:highlight>
                <a:latin typeface="Courier New" panose="02070309020205020404" pitchFamily="49" charset="0"/>
                <a:cs typeface="Courier New" panose="02070309020205020404" pitchFamily="49" charset="0"/>
              </a:rPr>
              <a:t>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my-as</a:t>
            </a:r>
            <a:r>
              <a:rPr lang="de-CH" sz="750" dirty="0">
                <a:highlight>
                  <a:srgbClr val="FFFF00"/>
                </a:highlight>
                <a:latin typeface="Courier New" panose="02070309020205020404" pitchFamily="49" charset="0"/>
                <a:cs typeface="Courier New" panose="02070309020205020404" pitchFamily="49" charset="0"/>
              </a:rPr>
              <a:t>             uint32</a:t>
            </a:r>
          </a:p>
          <a:p>
            <a:r>
              <a:rPr lang="de-CH" sz="750" dirty="0">
                <a:highlight>
                  <a:srgbClr val="FFFF00"/>
                </a:highlight>
                <a:latin typeface="Courier New" panose="02070309020205020404" pitchFamily="49" charset="0"/>
                <a:cs typeface="Courier New" panose="02070309020205020404" pitchFamily="49" charset="0"/>
              </a:rPr>
              <a:t>       |     |  +-- hold-time         uint16</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bgp-identifier</a:t>
            </a:r>
            <a:r>
              <a:rPr lang="de-CH" sz="750" dirty="0">
                <a:highlight>
                  <a:srgbClr val="FFFF00"/>
                </a:highlight>
                <a:latin typeface="Courier New" panose="02070309020205020404" pitchFamily="49" charset="0"/>
                <a:cs typeface="Courier New" panose="02070309020205020404" pitchFamily="49" charset="0"/>
              </a:rPr>
              <a:t>    inet:ipv4-address</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capabilities</a:t>
            </a:r>
            <a:r>
              <a:rPr lang="de-CH" sz="750" dirty="0">
                <a:highlight>
                  <a:srgbClr val="FFFF00"/>
                </a:highlight>
                <a:latin typeface="Courier New" panose="02070309020205020404" pitchFamily="49" charset="0"/>
                <a:cs typeface="Courier New" panose="02070309020205020404" pitchFamily="49" charset="0"/>
              </a:rPr>
              <a:t>* [code </a:t>
            </a:r>
            <a:r>
              <a:rPr lang="de-CH" sz="750" dirty="0" err="1">
                <a:highlight>
                  <a:srgbClr val="FFFF00"/>
                </a:highlight>
                <a:latin typeface="Courier New" panose="02070309020205020404" pitchFamily="49" charset="0"/>
                <a:cs typeface="Courier New" panose="02070309020205020404" pitchFamily="49" charset="0"/>
              </a:rPr>
              <a:t>index</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code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index</a:t>
            </a:r>
            <a:r>
              <a:rPr lang="de-CH" sz="750" dirty="0">
                <a:highlight>
                  <a:srgbClr val="FFFF00"/>
                </a:highlight>
                <a:latin typeface="Courier New" panose="02070309020205020404" pitchFamily="49" charset="0"/>
                <a:cs typeface="Courier New" panose="02070309020205020404" pitchFamily="49" charset="0"/>
              </a:rPr>
              <a:t>    uint8</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name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identityref</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value</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mpbgp</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name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identityref</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graceful-restart</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flags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bt:graceful-restart-flags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unknown-flags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bits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restart-time?</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bt:graceful-restart-time-type</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afi-safi-flags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bt:graceful-restart-flags-for-afi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afi-safi-unknown-flags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bits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asn32</a:t>
            </a:r>
          </a:p>
          <a:p>
            <a:r>
              <a:rPr lang="de-CH" sz="750" dirty="0">
                <a:highlight>
                  <a:srgbClr val="FFFF00"/>
                </a:highlight>
                <a:latin typeface="Courier New" panose="02070309020205020404" pitchFamily="49" charset="0"/>
                <a:cs typeface="Courier New" panose="02070309020205020404" pitchFamily="49" charset="0"/>
              </a:rPr>
              <a:t>       |     |        |  +-- </a:t>
            </a:r>
            <a:r>
              <a:rPr lang="de-CH" sz="750" dirty="0" err="1">
                <a:highlight>
                  <a:srgbClr val="FFFF00"/>
                </a:highlight>
                <a:latin typeface="Courier New" panose="02070309020205020404" pitchFamily="49" charset="0"/>
                <a:cs typeface="Courier New" panose="02070309020205020404" pitchFamily="49" charset="0"/>
              </a:rPr>
              <a:t>as</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inet:as-number</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add-paths</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afi-safis</a:t>
            </a:r>
            <a:r>
              <a:rPr lang="de-CH" sz="750" dirty="0">
                <a:highlight>
                  <a:srgbClr val="FFFF00"/>
                </a:highlight>
                <a:latin typeface="Courier New" panose="02070309020205020404" pitchFamily="49" charset="0"/>
                <a:cs typeface="Courier New" panose="02070309020205020404" pitchFamily="49" charset="0"/>
              </a:rPr>
              <a:t>*</a:t>
            </a: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iana-rt-types:address-family</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safi</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iana-rt-types:bgp-safi</a:t>
            </a:r>
            <a:endParaRPr lang="de-CH" sz="750" dirty="0">
              <a:highlight>
                <a:srgbClr val="FFFF00"/>
              </a:highlight>
              <a:latin typeface="Courier New" panose="02070309020205020404" pitchFamily="49" charset="0"/>
              <a:cs typeface="Courier New" panose="02070309020205020404" pitchFamily="49" charset="0"/>
            </a:endParaRPr>
          </a:p>
          <a:p>
            <a:r>
              <a:rPr lang="de-CH" sz="750" dirty="0">
                <a:highlight>
                  <a:srgbClr val="FFFF00"/>
                </a:highlight>
                <a:latin typeface="Courier New" panose="02070309020205020404" pitchFamily="49" charset="0"/>
                <a:cs typeface="Courier New" panose="02070309020205020404" pitchFamily="49" charset="0"/>
              </a:rPr>
              <a:t>       |     |              +-- </a:t>
            </a:r>
            <a:r>
              <a:rPr lang="de-CH" sz="750" dirty="0" err="1">
                <a:highlight>
                  <a:srgbClr val="FFFF00"/>
                </a:highlight>
                <a:latin typeface="Courier New" panose="02070309020205020404" pitchFamily="49" charset="0"/>
                <a:cs typeface="Courier New" panose="02070309020205020404" pitchFamily="49" charset="0"/>
              </a:rPr>
              <a:t>mode</a:t>
            </a:r>
            <a:r>
              <a:rPr lang="de-CH" sz="750" dirty="0">
                <a:highlight>
                  <a:srgbClr val="FFFF00"/>
                </a:highlight>
                <a:latin typeface="Courier New" panose="02070309020205020404" pitchFamily="49" charset="0"/>
                <a:cs typeface="Courier New" panose="02070309020205020404" pitchFamily="49" charset="0"/>
              </a:rPr>
              <a:t>?   </a:t>
            </a:r>
            <a:r>
              <a:rPr lang="de-CH" sz="750" dirty="0" err="1">
                <a:highlight>
                  <a:srgbClr val="FFFF00"/>
                </a:highlight>
                <a:latin typeface="Courier New" panose="02070309020205020404" pitchFamily="49" charset="0"/>
                <a:cs typeface="Courier New" panose="02070309020205020404" pitchFamily="49" charset="0"/>
              </a:rPr>
              <a:t>enumeration</a:t>
            </a:r>
            <a:endParaRPr lang="de-CH" sz="750" dirty="0">
              <a:highlight>
                <a:srgbClr val="FFFF00"/>
              </a:highligh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071852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3D013-3198-4A3F-ECEE-9E1B5F8BD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B78623-AE09-8F4D-E69C-B2074F2E34BB}"/>
              </a:ext>
            </a:extLst>
          </p:cNvPr>
          <p:cNvSpPr>
            <a:spLocks noGrp="1"/>
          </p:cNvSpPr>
          <p:nvPr>
            <p:ph type="title"/>
          </p:nvPr>
        </p:nvSpPr>
        <p:spPr/>
        <p:txBody>
          <a:bodyPr>
            <a:normAutofit/>
          </a:bodyPr>
          <a:lstStyle/>
          <a:p>
            <a:r>
              <a:rPr lang="en-US" sz="2800" b="1" dirty="0"/>
              <a:t>BMP YANG Message Broker Topic Naming</a:t>
            </a:r>
            <a:br>
              <a:rPr lang="en-US" sz="3600" dirty="0"/>
            </a:br>
            <a:r>
              <a:rPr lang="en-US" sz="2700" dirty="0">
                <a:solidFill>
                  <a:schemeClr val="bg2">
                    <a:lumMod val="75000"/>
                  </a:schemeClr>
                </a:solidFill>
              </a:rPr>
              <a:t>Created at the YANG Message Broker Producer</a:t>
            </a:r>
          </a:p>
        </p:txBody>
      </p:sp>
      <p:sp>
        <p:nvSpPr>
          <p:cNvPr id="3" name="Content Placeholder 2">
            <a:extLst>
              <a:ext uri="{FF2B5EF4-FFF2-40B4-BE49-F238E27FC236}">
                <a16:creationId xmlns:a16="http://schemas.microsoft.com/office/drawing/2014/main" id="{CB0EE0D0-E2FC-EC67-C3D8-B007AACC1C7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BMP data can be subscribed for BMP session and BGP peering session state-changes, BGP peering statistics or BGP RIB states. as defined in </a:t>
            </a:r>
            <a:r>
              <a:rPr lang="en-US" sz="2100" dirty="0">
                <a:hlinkClick r:id="rId2"/>
              </a:rPr>
              <a:t>Section 3.1 of RFC 7854</a:t>
            </a:r>
            <a:r>
              <a:rPr lang="en-US" sz="2100" dirty="0"/>
              <a:t>.</a:t>
            </a:r>
          </a:p>
          <a:p>
            <a:pPr marL="0" indent="0">
              <a:spcBef>
                <a:spcPts val="600"/>
              </a:spcBef>
              <a:spcAft>
                <a:spcPts val="600"/>
              </a:spcAft>
              <a:buNone/>
            </a:pPr>
            <a:r>
              <a:rPr lang="en-US" sz="2100" dirty="0"/>
              <a:t>Message Brokers topics are addressed with a unique name.  The document defines </a:t>
            </a:r>
            <a:r>
              <a:rPr lang="en-US" sz="2100" b="1" dirty="0">
                <a:solidFill>
                  <a:srgbClr val="FF0000"/>
                </a:solidFill>
              </a:rPr>
              <a:t>"s</a:t>
            </a:r>
            <a:r>
              <a:rPr lang="de-CH" sz="2100" b="1" dirty="0" err="1">
                <a:solidFill>
                  <a:srgbClr val="FF0000"/>
                </a:solidFill>
              </a:rPr>
              <a:t>tate</a:t>
            </a:r>
            <a:r>
              <a:rPr lang="de-CH" sz="2100" b="1" dirty="0">
                <a:solidFill>
                  <a:srgbClr val="FF0000"/>
                </a:solidFill>
              </a:rPr>
              <a:t>-</a:t>
            </a:r>
            <a:r>
              <a:rPr lang="de-CH" sz="2100" b="1" dirty="0" err="1">
                <a:solidFill>
                  <a:srgbClr val="FF0000"/>
                </a:solidFill>
              </a:rPr>
              <a:t>changes</a:t>
            </a:r>
            <a:r>
              <a:rPr lang="de-CH" sz="2100" b="1" dirty="0">
                <a:solidFill>
                  <a:srgbClr val="FF0000"/>
                </a:solidFill>
              </a:rPr>
              <a:t>-and-</a:t>
            </a:r>
            <a:r>
              <a:rPr lang="de-CH" sz="2100" b="1" dirty="0" err="1">
                <a:solidFill>
                  <a:srgbClr val="FF0000"/>
                </a:solidFill>
              </a:rPr>
              <a:t>statistics</a:t>
            </a:r>
            <a:r>
              <a:rPr lang="en-US" sz="2100" b="1" dirty="0">
                <a:solidFill>
                  <a:srgbClr val="FF0000"/>
                </a:solidFill>
              </a:rPr>
              <a:t>" and "current-state" </a:t>
            </a:r>
            <a:r>
              <a:rPr lang="en-US" sz="2100" dirty="0"/>
              <a:t>in the topic name as the first part to denote the types of data. </a:t>
            </a:r>
            <a:r>
              <a:rPr lang="en-US" sz="2100" b="1" dirty="0">
                <a:solidFill>
                  <a:srgbClr val="FF0000"/>
                </a:solidFill>
              </a:rPr>
              <a:t>"current-state" topics are compacted.</a:t>
            </a:r>
            <a:endParaRPr lang="en-US" sz="2100" dirty="0"/>
          </a:p>
        </p:txBody>
      </p:sp>
      <p:sp>
        <p:nvSpPr>
          <p:cNvPr id="6" name="Slide Number Placeholder 1">
            <a:extLst>
              <a:ext uri="{FF2B5EF4-FFF2-40B4-BE49-F238E27FC236}">
                <a16:creationId xmlns:a16="http://schemas.microsoft.com/office/drawing/2014/main" id="{6D9F34EB-33A7-288C-5CB5-25B4EF2C2A97}"/>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8</a:t>
            </a:fld>
            <a:endParaRPr lang="en-US" sz="1400" dirty="0"/>
          </a:p>
        </p:txBody>
      </p:sp>
    </p:spTree>
    <p:extLst>
      <p:ext uri="{BB962C8B-B14F-4D97-AF65-F5344CB8AC3E}">
        <p14:creationId xmlns:p14="http://schemas.microsoft.com/office/powerpoint/2010/main" val="41286000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Message Broker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A Message Broker uses a Message Key to index the Message and a value to carry the Message content. </a:t>
            </a:r>
            <a:r>
              <a:rPr lang="en-US" sz="2100" b="1" dirty="0">
                <a:solidFill>
                  <a:srgbClr val="FF0000"/>
                </a:solidFill>
              </a:rPr>
              <a:t>The Partition Key is being used as input for the Message Broker Producer hash function to distribute across Partitions and Message Key at the Message Broker for topic compaction.</a:t>
            </a:r>
          </a:p>
          <a:p>
            <a:pPr marL="0" indent="0">
              <a:spcBef>
                <a:spcPts val="600"/>
              </a:spcBef>
              <a:spcAft>
                <a:spcPts val="600"/>
              </a:spcAft>
              <a:buNone/>
            </a:pPr>
            <a:r>
              <a:rPr lang="en-US" sz="2100" strike="sngStrike" dirty="0"/>
              <a:t>For BMP, </a:t>
            </a:r>
            <a:r>
              <a:rPr lang="en-US" sz="2100" b="1" strike="sngStrike" dirty="0">
                <a:solidFill>
                  <a:srgbClr val="FF0000"/>
                </a:solidFill>
              </a:rPr>
              <a:t>the network node hostname, what BMP Message Type the data represents and </a:t>
            </a:r>
            <a:r>
              <a:rPr lang="en-US" sz="2100" strike="sngStrike" dirty="0"/>
              <a:t>apart from the initiation-message and termination-message </a:t>
            </a:r>
            <a:r>
              <a:rPr lang="en-US" sz="2100" b="1" strike="sngStrike" dirty="0">
                <a:solidFill>
                  <a:srgbClr val="FF0000"/>
                </a:solidFill>
              </a:rPr>
              <a:t>the BMP index </a:t>
            </a:r>
            <a:r>
              <a:rPr lang="en-US" sz="2100" strike="sngStrike" dirty="0"/>
              <a:t>is used to generate the Message Key. The BMP index is calculated depending on BMP Message Type as following:</a:t>
            </a:r>
          </a:p>
          <a:p>
            <a:pPr>
              <a:spcBef>
                <a:spcPts val="600"/>
              </a:spcBef>
            </a:pPr>
            <a:r>
              <a:rPr lang="en-US" sz="2100" strike="sngStrike" dirty="0"/>
              <a:t>peer-up-notification: "peer-distinguisher" and "peer-address".</a:t>
            </a:r>
          </a:p>
          <a:p>
            <a:pPr>
              <a:spcBef>
                <a:spcPts val="600"/>
              </a:spcBef>
            </a:pPr>
            <a:r>
              <a:rPr lang="en-US" sz="2100" strike="sngStrike" dirty="0"/>
              <a:t>peer-down-notification: "peer-distinguisher" and "peer-address".</a:t>
            </a:r>
          </a:p>
          <a:p>
            <a:pPr>
              <a:spcBef>
                <a:spcPts val="600"/>
              </a:spcBef>
            </a:pPr>
            <a:r>
              <a:rPr lang="en-US" sz="2100" strike="sngStrike" dirty="0"/>
              <a:t>statistics: "peer-distinguisher" and "peer-address".</a:t>
            </a:r>
          </a:p>
          <a:p>
            <a:pPr>
              <a:spcBef>
                <a:spcPts val="600"/>
              </a:spcBef>
            </a:pPr>
            <a:r>
              <a:rPr lang="en-US" sz="2100" strike="sngStrike" dirty="0"/>
              <a:t>route-monitoring: "peer-distinguisher", "peer-address" </a:t>
            </a:r>
            <a:r>
              <a:rPr lang="en-US" sz="2100" strike="sngStrike" dirty="0" err="1"/>
              <a:t>afi-safi</a:t>
            </a:r>
            <a:r>
              <a:rPr lang="en-US" sz="2100" strike="sngStrike" dirty="0"/>
              <a:t> name, address family, name of the BGP RIB, "prefix" "origin" "path-id" route attributes and the index of the used </a:t>
            </a:r>
            <a:r>
              <a:rPr lang="en-US" sz="2100" strike="sngStrike" dirty="0" err="1"/>
              <a:t>attr</a:t>
            </a:r>
            <a:r>
              <a:rPr lang="en-US" sz="2100" strike="sngStrike" dirty="0"/>
              <a:t>-set.</a:t>
            </a:r>
          </a:p>
          <a:p>
            <a:pPr>
              <a:spcBef>
                <a:spcPts val="600"/>
              </a:spcBef>
            </a:pPr>
            <a:r>
              <a:rPr lang="en-US" sz="2100" strike="sngStrike" dirty="0"/>
              <a:t>route-mirroring: "peer-distinguisher", "peer-address" </a:t>
            </a:r>
            <a:r>
              <a:rPr lang="en-US" sz="2100" strike="sngStrike" dirty="0" err="1"/>
              <a:t>afi-safi</a:t>
            </a:r>
            <a:r>
              <a:rPr lang="en-US" sz="2100" strike="sngStrike" dirty="0"/>
              <a:t> name, address family, name of the BGP RIB, "prefix" "origin" "path-id" route attributes, index of the used </a:t>
            </a:r>
            <a:r>
              <a:rPr lang="en-US" sz="2100" strike="sngStrike" dirty="0" err="1"/>
              <a:t>attr</a:t>
            </a:r>
            <a:r>
              <a:rPr lang="en-US" sz="2100" strike="sngStrike" dirty="0"/>
              <a:t>-set and information enumeration.</a:t>
            </a:r>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9</a:t>
            </a:fld>
            <a:endParaRPr lang="en-US" sz="1400" dirty="0"/>
          </a:p>
        </p:txBody>
      </p:sp>
    </p:spTree>
    <p:extLst>
      <p:ext uri="{BB962C8B-B14F-4D97-AF65-F5344CB8AC3E}">
        <p14:creationId xmlns:p14="http://schemas.microsoft.com/office/powerpoint/2010/main" val="119031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noProof="0" dirty="0"/>
              <a:t>Questions to…</a:t>
            </a:r>
            <a:br>
              <a:rPr lang="en-US" sz="3600" noProof="0" dirty="0"/>
            </a:br>
            <a:r>
              <a:rPr lang="en-US" sz="2700" noProof="0" dirty="0">
                <a:solidFill>
                  <a:schemeClr val="bg2">
                    <a:lumMod val="75000"/>
                  </a:schemeClr>
                </a:solidFill>
              </a:rPr>
              <a:t>NMOP</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9659816" cy="4486275"/>
          </a:xfrm>
        </p:spPr>
        <p:txBody>
          <a:bodyPr>
            <a:noAutofit/>
          </a:bodyPr>
          <a:lstStyle/>
          <a:p>
            <a:pPr>
              <a:spcBef>
                <a:spcPts val="600"/>
              </a:spcBef>
            </a:pPr>
            <a:r>
              <a:rPr lang="en-US" sz="2100" noProof="0" dirty="0"/>
              <a:t>Does the topic naming concept and the split between Message and Partition key makes sense?</a:t>
            </a:r>
          </a:p>
          <a:p>
            <a:pPr>
              <a:spcBef>
                <a:spcPts val="600"/>
              </a:spcBef>
            </a:pPr>
            <a:r>
              <a:rPr lang="en-US" sz="2100" noProof="0" dirty="0"/>
              <a:t>Do you agree on the data modelling of the BMP related metadata. Any comments?</a:t>
            </a:r>
          </a:p>
          <a:p>
            <a:pPr>
              <a:spcBef>
                <a:spcPts val="600"/>
              </a:spcBef>
            </a:pPr>
            <a:r>
              <a:rPr lang="en-US" sz="2100" noProof="0" dirty="0"/>
              <a:t>Do you still resonate of having BMP and IPFIX data being transformed to YANG and integrated uniformly to Message Broker to ease data consumption for network operation and next generation AI applications?</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noProof="0" smtClean="0"/>
              <a:t>10</a:t>
            </a:fld>
            <a:endParaRPr lang="en-US" sz="1400" noProof="0" dirty="0"/>
          </a:p>
        </p:txBody>
      </p:sp>
    </p:spTree>
    <p:extLst>
      <p:ext uri="{BB962C8B-B14F-4D97-AF65-F5344CB8AC3E}">
        <p14:creationId xmlns:p14="http://schemas.microsoft.com/office/powerpoint/2010/main" val="3305081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BD2C3-1617-C66C-FED5-A4C8EFBEF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0DAF-D462-6EB1-0CF1-478F85BDA7CE}"/>
              </a:ext>
            </a:extLst>
          </p:cNvPr>
          <p:cNvSpPr>
            <a:spLocks noGrp="1"/>
          </p:cNvSpPr>
          <p:nvPr>
            <p:ph type="title"/>
          </p:nvPr>
        </p:nvSpPr>
        <p:spPr/>
        <p:txBody>
          <a:bodyPr>
            <a:normAutofit/>
          </a:bodyPr>
          <a:lstStyle/>
          <a:p>
            <a:r>
              <a:rPr lang="en-US" sz="2800" b="1" dirty="0"/>
              <a:t>Next Steps</a:t>
            </a:r>
            <a:br>
              <a:rPr lang="en-US" sz="3600" dirty="0"/>
            </a:br>
            <a:r>
              <a:rPr lang="en-US" sz="2700" dirty="0">
                <a:solidFill>
                  <a:schemeClr val="bg2">
                    <a:lumMod val="75000"/>
                  </a:schemeClr>
                </a:solidFill>
              </a:rPr>
              <a:t>Extend model, working group adoption and code contribution</a:t>
            </a:r>
          </a:p>
        </p:txBody>
      </p:sp>
      <p:sp>
        <p:nvSpPr>
          <p:cNvPr id="3" name="Content Placeholder 2">
            <a:extLst>
              <a:ext uri="{FF2B5EF4-FFF2-40B4-BE49-F238E27FC236}">
                <a16:creationId xmlns:a16="http://schemas.microsoft.com/office/drawing/2014/main" id="{3F4CBE7F-1450-A754-E524-9EE662BEDE60}"/>
              </a:ext>
            </a:extLst>
          </p:cNvPr>
          <p:cNvSpPr>
            <a:spLocks noGrp="1"/>
          </p:cNvSpPr>
          <p:nvPr>
            <p:ph idx="1"/>
          </p:nvPr>
        </p:nvSpPr>
        <p:spPr>
          <a:xfrm>
            <a:off x="838199" y="1690688"/>
            <a:ext cx="10749694" cy="4486275"/>
          </a:xfrm>
        </p:spPr>
        <p:txBody>
          <a:bodyPr>
            <a:noAutofit/>
          </a:bodyPr>
          <a:lstStyle/>
          <a:p>
            <a:pPr>
              <a:spcBef>
                <a:spcPts val="600"/>
              </a:spcBef>
            </a:pPr>
            <a:r>
              <a:rPr lang="en-US" sz="2100" dirty="0"/>
              <a:t>Extend document to cover:</a:t>
            </a:r>
          </a:p>
          <a:p>
            <a:pPr lvl="1">
              <a:spcBef>
                <a:spcPts val="600"/>
              </a:spcBef>
            </a:pPr>
            <a:r>
              <a:rPr lang="en-US" sz="2100" dirty="0"/>
              <a:t>Additional BGP address families</a:t>
            </a:r>
          </a:p>
          <a:p>
            <a:pPr>
              <a:spcBef>
                <a:spcPts val="1800"/>
              </a:spcBef>
            </a:pPr>
            <a:r>
              <a:rPr lang="en-US" sz="2100" dirty="0"/>
              <a:t>Request NMOP working group feedback adoption.</a:t>
            </a:r>
          </a:p>
          <a:p>
            <a:pPr>
              <a:spcBef>
                <a:spcPts val="600"/>
              </a:spcBef>
            </a:pPr>
            <a:r>
              <a:rPr lang="en-US" sz="2100" dirty="0"/>
              <a:t>Implement document in BMP data collection and YANG Message Broker Producer.</a:t>
            </a:r>
          </a:p>
        </p:txBody>
      </p:sp>
      <p:sp>
        <p:nvSpPr>
          <p:cNvPr id="6" name="Slide Number Placeholder 1">
            <a:extLst>
              <a:ext uri="{FF2B5EF4-FFF2-40B4-BE49-F238E27FC236}">
                <a16:creationId xmlns:a16="http://schemas.microsoft.com/office/drawing/2014/main" id="{0CBED57A-F23C-CED6-969C-010C98EA86D8}"/>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spTree>
    <p:extLst>
      <p:ext uri="{BB962C8B-B14F-4D97-AF65-F5344CB8AC3E}">
        <p14:creationId xmlns:p14="http://schemas.microsoft.com/office/powerpoint/2010/main" val="2961389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12</a:t>
            </a:fld>
            <a:endParaRPr lang="de-CH"/>
          </a:p>
        </p:txBody>
      </p:sp>
      <p:sp>
        <p:nvSpPr>
          <p:cNvPr id="2" name="TextBox 1">
            <a:extLst>
              <a:ext uri="{FF2B5EF4-FFF2-40B4-BE49-F238E27FC236}">
                <a16:creationId xmlns:a16="http://schemas.microsoft.com/office/drawing/2014/main" id="{EEA3D53E-0417-612A-953E-97583F6E2AE3}"/>
              </a:ext>
            </a:extLst>
          </p:cNvPr>
          <p:cNvSpPr txBox="1"/>
          <p:nvPr/>
        </p:nvSpPr>
        <p:spPr>
          <a:xfrm>
            <a:off x="7315200" y="88489"/>
            <a:ext cx="4680156" cy="1261884"/>
          </a:xfrm>
          <a:prstGeom prst="rect">
            <a:avLst/>
          </a:prstGeom>
          <a:noFill/>
        </p:spPr>
        <p:txBody>
          <a:bodyPr wrap="square" rtlCol="0">
            <a:spAutoFit/>
          </a:bodyPr>
          <a:lstStyle/>
          <a:p>
            <a:pPr algn="r"/>
            <a:r>
              <a:rPr lang="de-CH" sz="3800" dirty="0">
                <a:solidFill>
                  <a:srgbClr val="FF0000"/>
                </a:solidFill>
                <a:latin typeface="Comic Sans MS" panose="030F0702030302020204" pitchFamily="66" charset="0"/>
              </a:rPr>
              <a:t>…and BMP and </a:t>
            </a:r>
            <a:r>
              <a:rPr lang="de-CH" sz="3800" dirty="0" err="1">
                <a:solidFill>
                  <a:srgbClr val="FF0000"/>
                </a:solidFill>
                <a:latin typeface="Comic Sans MS" panose="030F0702030302020204" pitchFamily="66" charset="0"/>
              </a:rPr>
              <a:t>soon</a:t>
            </a:r>
            <a:r>
              <a:rPr lang="de-CH" sz="3800" dirty="0">
                <a:solidFill>
                  <a:srgbClr val="FF0000"/>
                </a:solidFill>
                <a:latin typeface="Comic Sans MS" panose="030F0702030302020204" pitchFamily="66" charset="0"/>
              </a:rPr>
              <a:t> also IPFIX </a:t>
            </a:r>
            <a:r>
              <a:rPr lang="de-CH" sz="3800" dirty="0" err="1">
                <a:solidFill>
                  <a:srgbClr val="FF0000"/>
                </a:solidFill>
                <a:latin typeface="Comic Sans MS" panose="030F0702030302020204" pitchFamily="66" charset="0"/>
              </a:rPr>
              <a:t>as</a:t>
            </a:r>
            <a:r>
              <a:rPr lang="de-CH" sz="3800" dirty="0">
                <a:solidFill>
                  <a:srgbClr val="FF0000"/>
                </a:solidFill>
                <a:latin typeface="Comic Sans MS" panose="030F0702030302020204" pitchFamily="66" charset="0"/>
              </a:rPr>
              <a:t> </a:t>
            </a:r>
            <a:r>
              <a:rPr lang="de-CH" sz="3800" dirty="0" err="1">
                <a:solidFill>
                  <a:srgbClr val="FF0000"/>
                </a:solidFill>
                <a:latin typeface="Comic Sans MS" panose="030F0702030302020204" pitchFamily="66" charset="0"/>
              </a:rPr>
              <a:t>well</a:t>
            </a:r>
            <a:endParaRPr lang="de-CH" sz="3800" dirty="0">
              <a:solidFill>
                <a:srgbClr val="FF0000"/>
              </a:solidFill>
              <a:latin typeface="Comic Sans MS" panose="030F0702030302020204" pitchFamily="66" charset="0"/>
            </a:endParaRPr>
          </a:p>
        </p:txBody>
      </p:sp>
    </p:spTree>
    <p:extLst>
      <p:ext uri="{BB962C8B-B14F-4D97-AF65-F5344CB8AC3E}">
        <p14:creationId xmlns:p14="http://schemas.microsoft.com/office/powerpoint/2010/main" val="670772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1742</Words>
  <Application>Microsoft Office PowerPoint</Application>
  <PresentationFormat>Widescreen</PresentationFormat>
  <Paragraphs>199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Calibri body</vt:lpstr>
      <vt:lpstr>Calibri Light</vt:lpstr>
      <vt:lpstr>Comic Sans MS</vt:lpstr>
      <vt:lpstr>Courier New</vt:lpstr>
      <vt:lpstr>Office Theme</vt:lpstr>
      <vt:lpstr>PowerPoint Presentation</vt:lpstr>
      <vt:lpstr>An Architecture for YANG-Push to Message Broker Integration From YANG-Push, BMP and IPFIX to Network</vt:lpstr>
      <vt:lpstr>YANG Converged Network Telemetry Data Processing Pipeline From network nodes to message broker nodes</vt:lpstr>
      <vt:lpstr>BMP YANG Telemetry Message session metadata</vt:lpstr>
      <vt:lpstr>BMP YANG Telemetry Message vrf, sequence-number and timestamp metadata</vt:lpstr>
      <vt:lpstr>BMP YANG Telemetry Message BGP best path decision metadata</vt:lpstr>
      <vt:lpstr>BMP YANG Telemetry Message BGP peer capabilities metadata</vt:lpstr>
      <vt:lpstr>BMP YANG Message Broker Topic Naming Created at the YANG Message Broker Producer</vt:lpstr>
      <vt:lpstr>YANG Message Keys and Indexes Calculated and Used at the YANG Message Broker Producer</vt:lpstr>
      <vt:lpstr>Questions to… NMOP</vt:lpstr>
      <vt:lpstr>Next Steps Extend model, working group adoption and code contribution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266</cp:revision>
  <dcterms:created xsi:type="dcterms:W3CDTF">2019-11-29T14:22:02Z</dcterms:created>
  <dcterms:modified xsi:type="dcterms:W3CDTF">2026-07-14T13:29:56Z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