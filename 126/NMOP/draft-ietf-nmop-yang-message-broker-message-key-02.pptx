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1041" r:id="rId2"/>
    <p:sldId id="2145706298" r:id="rId3"/>
    <p:sldId id="2145706305" r:id="rId4"/>
    <p:sldId id="2145706304" r:id="rId5"/>
    <p:sldId id="2145706308" r:id="rId6"/>
    <p:sldId id="2145706310" r:id="rId7"/>
    <p:sldId id="2145706309" r:id="rId8"/>
    <p:sldId id="2145706307" r:id="rId9"/>
    <p:sldId id="2145706306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2B30"/>
    <a:srgbClr val="AC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45" autoAdjust="0"/>
    <p:restoredTop sz="91712" autoAdjust="0"/>
  </p:normalViewPr>
  <p:slideViewPr>
    <p:cSldViewPr snapToGrid="0">
      <p:cViewPr varScale="1">
        <p:scale>
          <a:sx n="116" d="100"/>
          <a:sy n="116" d="100"/>
        </p:scale>
        <p:origin x="792" y="18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E705E9-673F-4AC4-B29E-A7B26F3B8523}" type="datetimeFigureOut">
              <a:rPr lang="de-CH" smtClean="0"/>
              <a:t>18.07.26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BC52A0-2F3F-497F-8536-39D60282E9C2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1673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E4512-1D3B-4B73-B042-476E6184E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168D7F-8149-41A1-BACA-3AE93B5EB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1F274-2081-4043-A760-EBE78731B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18.07.26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4A492-DE76-49D9-B2D6-119D939A6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59CCC-4F98-451F-BD3B-E72AFDCA6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85822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BBDF6-FBD2-40AF-9486-BB4A908B2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C614F-9AF2-40AF-A811-367A6AFA5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87B81-7873-4625-90C6-65B7D39F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18.07.26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62558-7E3E-4F68-94CA-8F448DCC8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E61FB-1357-46F5-903C-1994E98B2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9938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FD0C7-725B-4BFF-9522-83239C8F8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E1048-3DC5-4B9C-899F-DED6314AE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5DBFD-FBBF-4914-87A2-F3A61F56D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18.07.26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571A4-73D2-444B-9013-7EFE083B1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CFB92-7142-4854-ACC6-4129F01E7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90372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36279-2318-4AD6-A5F8-75FAC2F47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0583D-F808-46BC-A112-FEA6430F47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9A202-30E0-43D7-8764-65A6F84FD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91E6B-307F-487A-ACE7-95C6B653C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18.07.26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1F60B-CB79-4100-B5DF-1E9EA55C1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93C06A-1F3A-41DA-8ED0-F1B053432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8735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837BF-12E0-4609-8885-BA3B61207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6F202-5F12-4652-B24C-DE18E1A33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F7499-BB9D-474C-80E4-FBDD9AF94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E8ABCD-03D9-487D-A401-5C46542B96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90E7B8-775C-4651-8505-06EEF69C7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E55546-7C7E-4AE1-B224-70E058A0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18.07.26</a:t>
            </a:fld>
            <a:endParaRPr lang="de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87DA8F-0A89-45FF-A3CC-8973287CF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2A632D-9625-4B76-A006-24C009E1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0005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2A4D9-592C-47DB-A38B-6773D38A3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F8F040-BDDF-4877-8526-169F2DA14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18.07.26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0B3BB-C496-4AF5-8EB6-7559F47A6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E77DB-3A65-40BB-95CE-131D701F6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49343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86202C-9526-41D5-A80B-2DF289677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18.07.26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3DB588-08C7-4A6C-AB92-AA66E93DA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035E7-88C8-4D96-B785-776340A7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58112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C2E0B-BAAE-488E-8A9B-5E2F97281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C22BD-ADB1-4F08-B9D6-E993F811F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329BCF-9547-4664-BC89-023CF460C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46FE1-476B-4893-8CD9-264AC97F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18.07.26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5B88A-2D78-46C2-BBA5-A7E4B6C77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BCD13-0D0A-4531-9C78-280B19232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48955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82F91-0DE7-463A-B320-CFD88985B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8FAE06-08B0-40A8-8F3E-C20E2667A7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DC7CF-A958-437D-97CD-D3E81DB92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2DCF7-E5CF-40ED-9C23-5F54FB7C5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18.07.26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598A1-F516-4BF3-A1DB-EFB3FD805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CE8FE-0171-448F-8772-43B1E4122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40261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7D866-2D41-48BC-9DC3-7FEE77BA7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477519-4E02-40D8-8B6A-3A512977D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31AF6-5DD6-4C3B-B500-F46F75D54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18.07.26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992F3-29F5-4955-B2D5-391EC52DB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B107A-54F3-441F-911A-3CD57FDE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4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349AB2-2AB2-43A7-8656-1622691F7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3361E9-F971-441C-8CE6-36B504422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F5765-AAA1-4EBA-9889-B58751F15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18.07.26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360DF-246C-4E18-B36B-092273368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95E4A-A865-4DAD-8AEC-EE7D584D6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55912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1199456" y="1484784"/>
            <a:ext cx="10512000" cy="489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text. Use the buttons “Increase List Level” and “Decrease List Level” for copytext or bullet levels.</a:t>
            </a:r>
          </a:p>
          <a:p>
            <a:pPr lvl="1"/>
            <a:r>
              <a:rPr lang="en-GB"/>
              <a:t>Level 2</a:t>
            </a:r>
          </a:p>
          <a:p>
            <a:pPr lvl="2"/>
            <a:r>
              <a:rPr lang="en-GB"/>
              <a:t>Level 3</a:t>
            </a:r>
          </a:p>
          <a:p>
            <a:pPr lvl="3"/>
            <a:r>
              <a:rPr lang="en-GB"/>
              <a:t>Level 4</a:t>
            </a:r>
          </a:p>
          <a:p>
            <a:pPr lvl="4"/>
            <a:r>
              <a:rPr lang="en-GB"/>
              <a:t>Level 5</a:t>
            </a:r>
          </a:p>
          <a:p>
            <a:pPr lvl="5"/>
            <a:r>
              <a:rPr lang="en-GB"/>
              <a:t>Level 6</a:t>
            </a:r>
          </a:p>
          <a:p>
            <a:pPr lvl="6"/>
            <a:r>
              <a:rPr lang="en-GB"/>
              <a:t>Level 7</a:t>
            </a:r>
          </a:p>
          <a:p>
            <a:pPr lvl="7"/>
            <a:r>
              <a:rPr lang="en-GB"/>
              <a:t>Level 8</a:t>
            </a:r>
          </a:p>
          <a:p>
            <a:pPr lvl="8"/>
            <a:r>
              <a:rPr lang="en-GB"/>
              <a:t>Level 9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>
          <a:xfrm rot="16200000">
            <a:off x="-1645334" y="3392999"/>
            <a:ext cx="4105278" cy="287903"/>
          </a:xfrm>
        </p:spPr>
        <p:txBody>
          <a:bodyPr/>
          <a:lstStyle/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black">
          <a:xfrm>
            <a:off x="1199456" y="332656"/>
            <a:ext cx="10512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606464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CDFDE9-18F4-48C4-A401-3E984B39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7C9F2-47EC-46EF-9DAA-721B9E5EF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2DCEB-FFB0-4E16-B62A-C5FBA3476A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B238C-2335-4007-98C9-471C02CC43B6}" type="datetimeFigureOut">
              <a:rPr lang="de-CH" smtClean="0"/>
              <a:t>18.07.26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C72CA-B967-43BF-81A8-8AE258386D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67793-ADCE-4178-B0C6-9992EC74B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75956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draft-ietf-nmop-message-broker-telemetry-message" TargetMode="External"/><Relationship Id="rId2" Type="http://schemas.openxmlformats.org/officeDocument/2006/relationships/hyperlink" Target="https://datatracker.ietf.org/doc/html/draft-ietf-nmop-yang-message-broker-integrat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atatracker.ietf.org/doc/html/draft-ietf-nmop-yang-message-broker-message-key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hassany/yang-push-key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hassany/yang-push-ke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C26208B2-0D10-4C23-B2DE-372A62E98644}"/>
              </a:ext>
            </a:extLst>
          </p:cNvPr>
          <p:cNvSpPr txBox="1">
            <a:spLocks/>
          </p:cNvSpPr>
          <p:nvPr/>
        </p:nvSpPr>
        <p:spPr>
          <a:xfrm>
            <a:off x="606830" y="1365772"/>
            <a:ext cx="11395314" cy="3239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 dirty="0"/>
              <a:t>YANG </a:t>
            </a:r>
            <a:r>
              <a:rPr lang="en-US" sz="3400" b="1" dirty="0">
                <a:solidFill>
                  <a:srgbClr val="FF0000"/>
                </a:solidFill>
              </a:rPr>
              <a:t>Message Keys </a:t>
            </a:r>
            <a:r>
              <a:rPr lang="en-US" sz="3400" b="1" dirty="0"/>
              <a:t>for Message Broker Integration</a:t>
            </a:r>
            <a:br>
              <a:rPr lang="en-US" sz="3600" b="1" dirty="0"/>
            </a:br>
            <a:r>
              <a:rPr lang="en-US" sz="2800" dirty="0"/>
              <a:t>draft-ietf-nmop-yang-message-broker-message-key-02</a:t>
            </a:r>
          </a:p>
          <a:p>
            <a:endParaRPr lang="en-US" sz="2800" dirty="0"/>
          </a:p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</a:rPr>
              <a:t>A mechanism to define a unique message key for a</a:t>
            </a:r>
          </a:p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</a:rPr>
              <a:t>	YANG to message broker integration and a topic addressing scheme 			based on YANG-Push subscription type and a YANG index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23057C-339A-4254-8994-8EB77B8B4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en-US" sz="2200" smtClean="0"/>
              <a:t>1</a:t>
            </a:fld>
            <a:endParaRPr lang="en-US" sz="2200" dirty="0"/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6CAA0765-1318-4A03-8F91-D3ECC43D8FA7}"/>
              </a:ext>
            </a:extLst>
          </p:cNvPr>
          <p:cNvSpPr txBox="1">
            <a:spLocks/>
          </p:cNvSpPr>
          <p:nvPr/>
        </p:nvSpPr>
        <p:spPr>
          <a:xfrm>
            <a:off x="838200" y="5041232"/>
            <a:ext cx="11163943" cy="13204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300"/>
              </a:spcBef>
              <a:buNone/>
              <a:defRPr sz="1782"/>
            </a:pPr>
            <a:r>
              <a:rPr lang="en-US" sz="1400" dirty="0">
                <a:latin typeface="+mj-lt"/>
              </a:rPr>
              <a:t>thomas.graf@swisscom.com</a:t>
            </a:r>
            <a:br>
              <a:rPr lang="en-US" sz="1400" dirty="0">
                <a:latin typeface="+mj-lt"/>
              </a:rPr>
            </a:br>
            <a:r>
              <a:rPr lang="en-US" sz="1400" b="1" dirty="0">
                <a:latin typeface="+mj-lt"/>
              </a:rPr>
              <a:t>ahmed.elhassany@swisscom.com</a:t>
            </a:r>
          </a:p>
          <a:p>
            <a:pPr marL="0" indent="0" algn="r">
              <a:spcBef>
                <a:spcPts val="300"/>
              </a:spcBef>
              <a:buNone/>
              <a:defRPr sz="1782"/>
            </a:pPr>
            <a:r>
              <a:rPr lang="en-US" sz="1400" dirty="0">
                <a:latin typeface="+mj-lt"/>
              </a:rPr>
              <a:t>alex.huang-feng@insa-lyon.fr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benoit@everything-ops.net</a:t>
            </a:r>
          </a:p>
          <a:p>
            <a:pPr marL="0" indent="0" algn="r">
              <a:spcBef>
                <a:spcPts val="300"/>
              </a:spcBef>
              <a:buNone/>
              <a:defRPr sz="1782"/>
            </a:pPr>
            <a:r>
              <a:rPr lang="en-US" sz="1400" dirty="0">
                <a:latin typeface="+mj-lt"/>
              </a:rPr>
              <a:t>paolo@ntt.net</a:t>
            </a:r>
            <a:br>
              <a:rPr lang="en-US" sz="1400" dirty="0">
                <a:latin typeface="+mj-lt"/>
              </a:rPr>
            </a:br>
            <a:endParaRPr lang="en-US" sz="1400" dirty="0">
              <a:latin typeface="+mj-lt"/>
            </a:endParaRPr>
          </a:p>
          <a:p>
            <a:pPr marL="0" indent="0" algn="r">
              <a:spcBef>
                <a:spcPts val="300"/>
              </a:spcBef>
              <a:buNone/>
            </a:pPr>
            <a:r>
              <a:rPr lang="en-US" sz="1400" dirty="0">
                <a:latin typeface="+mj-lt"/>
              </a:rPr>
              <a:t>23. July </a:t>
            </a:r>
            <a:r>
              <a:rPr lang="en-US" sz="1400" dirty="0">
                <a:latin typeface="+mj-lt"/>
                <a:ea typeface="+mj-ea"/>
                <a:cs typeface="+mj-cs"/>
              </a:rPr>
              <a:t>2026</a:t>
            </a:r>
            <a:endParaRPr lang="en-US" sz="1400" dirty="0">
              <a:latin typeface="+mj-lt"/>
            </a:endParaRPr>
          </a:p>
          <a:p>
            <a:pPr algn="r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78665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55DE4-90E0-6888-D53C-A5BA3A11B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0043E546-3EFB-8EDB-7A28-39107D8F2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de-CH" sz="1400" smtClean="0"/>
              <a:t>2</a:t>
            </a:fld>
            <a:endParaRPr lang="de-CH" sz="1400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90BA4D8C-8860-D940-C29D-3420754484A0}"/>
              </a:ext>
            </a:extLst>
          </p:cNvPr>
          <p:cNvSpPr txBox="1">
            <a:spLocks/>
          </p:cNvSpPr>
          <p:nvPr/>
        </p:nvSpPr>
        <p:spPr bwMode="black">
          <a:xfrm>
            <a:off x="838200" y="4645099"/>
            <a:ext cx="10779856" cy="153821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4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At the YANG data producer, </a:t>
            </a:r>
            <a:r>
              <a:rPr lang="en-US" sz="1600" dirty="0"/>
              <a:t>thanks to the YANG awareness to the YANG data producer and the YANG schema registry, </a:t>
            </a:r>
            <a:r>
              <a:rPr lang="en-US" sz="1600" b="1" dirty="0">
                <a:solidFill>
                  <a:srgbClr val="FF0000"/>
                </a:solidFill>
              </a:rPr>
              <a:t>for each unique YANG schema tree a message broker topic and subject is being created, and messages are being indexed and hashed according to the message key</a:t>
            </a:r>
            <a:r>
              <a:rPr lang="en-US" sz="1600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At the message broker, </a:t>
            </a:r>
            <a:r>
              <a:rPr lang="en-US" sz="1600" dirty="0"/>
              <a:t>thanks to the dedicated topic per YANG schema and its message key, </a:t>
            </a:r>
            <a:r>
              <a:rPr lang="en-US" sz="1600" b="1" dirty="0">
                <a:solidFill>
                  <a:srgbClr val="FF0000"/>
                </a:solidFill>
              </a:rPr>
              <a:t>YANG state metrics can be compacted to the latest state; </a:t>
            </a:r>
            <a:r>
              <a:rPr lang="en-US" sz="1600" b="1" dirty="0">
                <a:solidFill>
                  <a:schemeClr val="accent6"/>
                </a:solidFill>
              </a:rPr>
              <a:t>reducing the number of stored messages.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At the YANG data consumer, </a:t>
            </a:r>
            <a:r>
              <a:rPr lang="en-US" sz="1600" dirty="0"/>
              <a:t>thanks to the YANG awareness of the stream catalog and consumer, a specific topic, partition and subject can be consumed for the interested YANG metrics; </a:t>
            </a:r>
            <a:r>
              <a:rPr lang="en-US" sz="1600" b="1" dirty="0">
                <a:solidFill>
                  <a:schemeClr val="accent6"/>
                </a:solidFill>
              </a:rPr>
              <a:t>reducing the number of messages to be consumed.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FB5448B-9146-4CF5-54FA-872A8BB2B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314568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We aim for a fully YANG aware Data Pipeline</a:t>
            </a:r>
            <a:br>
              <a:rPr lang="en-US" sz="3600" dirty="0"/>
            </a:br>
            <a:r>
              <a:rPr lang="en-US" sz="2700" dirty="0">
                <a:solidFill>
                  <a:schemeClr val="bg2">
                    <a:lumMod val="75000"/>
                  </a:schemeClr>
                </a:solidFill>
              </a:rPr>
              <a:t>From network nodes to message broker nodes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9BCB33-C892-431B-F8AF-15D7375C5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87" y="1690688"/>
            <a:ext cx="11618056" cy="275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312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76F2D-4A59-3EAC-54AD-8473DAE26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E132A-D116-CDE2-7382-6119AE1C9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Message Broker Integration</a:t>
            </a:r>
            <a:br>
              <a:rPr lang="en-US" sz="3600" dirty="0"/>
            </a:br>
            <a:r>
              <a:rPr lang="en-US" sz="2700" dirty="0">
                <a:solidFill>
                  <a:schemeClr val="bg2">
                    <a:lumMod val="75000"/>
                  </a:schemeClr>
                </a:solidFill>
              </a:rPr>
              <a:t>Document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459B2-AF0B-A44B-E182-6B111FE67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100" dirty="0"/>
              <a:t>These are the documents related to the Message Broker integration:</a:t>
            </a:r>
          </a:p>
          <a:p>
            <a:pPr>
              <a:spcBef>
                <a:spcPts val="600"/>
              </a:spcBef>
            </a:pPr>
            <a:r>
              <a:rPr lang="en-US" sz="2100" dirty="0">
                <a:hlinkClick r:id="rId2"/>
              </a:rPr>
              <a:t>draft-</a:t>
            </a:r>
            <a:r>
              <a:rPr lang="en-US" sz="2100" dirty="0" err="1">
                <a:hlinkClick r:id="rId2"/>
              </a:rPr>
              <a:t>ietf</a:t>
            </a:r>
            <a:r>
              <a:rPr lang="en-US" sz="2100" dirty="0">
                <a:hlinkClick r:id="rId2"/>
              </a:rPr>
              <a:t>-</a:t>
            </a:r>
            <a:r>
              <a:rPr lang="en-US" sz="2100" dirty="0" err="1">
                <a:hlinkClick r:id="rId2"/>
              </a:rPr>
              <a:t>nmop</a:t>
            </a:r>
            <a:r>
              <a:rPr lang="en-US" sz="2100" dirty="0">
                <a:hlinkClick r:id="rId2"/>
              </a:rPr>
              <a:t>-yang-message-broker-integration</a:t>
            </a:r>
            <a:r>
              <a:rPr lang="en-US" sz="2100" dirty="0"/>
              <a:t> defines the YANG-Push to message broker integration architecture.</a:t>
            </a:r>
          </a:p>
          <a:p>
            <a:pPr>
              <a:spcBef>
                <a:spcPts val="0"/>
              </a:spcBef>
            </a:pPr>
            <a:r>
              <a:rPr lang="en-US" sz="2100" dirty="0">
                <a:hlinkClick r:id="rId3"/>
              </a:rPr>
              <a:t>draft-</a:t>
            </a:r>
            <a:r>
              <a:rPr lang="en-US" sz="2100" dirty="0" err="1">
                <a:hlinkClick r:id="rId3"/>
              </a:rPr>
              <a:t>ietf</a:t>
            </a:r>
            <a:r>
              <a:rPr lang="en-US" sz="2100" dirty="0">
                <a:hlinkClick r:id="rId3"/>
              </a:rPr>
              <a:t>-</a:t>
            </a:r>
            <a:r>
              <a:rPr lang="en-US" sz="2100" dirty="0" err="1">
                <a:hlinkClick r:id="rId3"/>
              </a:rPr>
              <a:t>nmop</a:t>
            </a:r>
            <a:r>
              <a:rPr lang="en-US" sz="2100" dirty="0">
                <a:hlinkClick r:id="rId3"/>
              </a:rPr>
              <a:t>-message-broker-telemetry-message</a:t>
            </a:r>
            <a:r>
              <a:rPr lang="en-US" sz="2100" dirty="0"/>
              <a:t> defines the message schema being used between YANG data producer and consumer.</a:t>
            </a:r>
          </a:p>
          <a:p>
            <a:pPr>
              <a:spcBef>
                <a:spcPts val="0"/>
              </a:spcBef>
            </a:pPr>
            <a:r>
              <a:rPr lang="en-US" sz="2100" b="1" dirty="0">
                <a:solidFill>
                  <a:srgbClr val="FF0000"/>
                </a:solidFill>
              </a:rPr>
              <a:t>This document: </a:t>
            </a:r>
            <a:r>
              <a:rPr lang="en-US" sz="2100" dirty="0">
                <a:hlinkClick r:id="rId4"/>
              </a:rPr>
              <a:t>draft-</a:t>
            </a:r>
            <a:r>
              <a:rPr lang="en-US" sz="2100" dirty="0" err="1">
                <a:hlinkClick r:id="rId4"/>
              </a:rPr>
              <a:t>ietf</a:t>
            </a:r>
            <a:r>
              <a:rPr lang="en-US" sz="2100" dirty="0">
                <a:hlinkClick r:id="rId4"/>
              </a:rPr>
              <a:t>-</a:t>
            </a:r>
            <a:r>
              <a:rPr lang="en-US" sz="2100" dirty="0" err="1">
                <a:hlinkClick r:id="rId4"/>
              </a:rPr>
              <a:t>nmop</a:t>
            </a:r>
            <a:r>
              <a:rPr lang="en-US" sz="2100" dirty="0">
                <a:hlinkClick r:id="rId4"/>
              </a:rPr>
              <a:t>-yang-message-broker-message-key</a:t>
            </a:r>
            <a:r>
              <a:rPr lang="en-US" sz="2100" dirty="0"/>
              <a:t> defines how YANG-Push metrics can be indexed and addressed efficiently and therefore reduce the number of consumed messages and reduce the number of stored metrics with topic compaction.</a:t>
            </a:r>
          </a:p>
          <a:p>
            <a:pPr marL="0" indent="0">
              <a:spcBef>
                <a:spcPts val="0"/>
              </a:spcBef>
              <a:buNone/>
            </a:pPr>
            <a:endParaRPr lang="en-US" sz="2100" dirty="0"/>
          </a:p>
          <a:p>
            <a:pPr marL="0" indent="0">
              <a:spcBef>
                <a:spcPts val="1200"/>
              </a:spcBef>
              <a:buNone/>
            </a:pPr>
            <a:r>
              <a:rPr lang="en-US" sz="2100" dirty="0"/>
              <a:t>At IETF 124 we introduced the keys for message broker concepts; at IETF 125 the successful working group adoption and the hackathon proof of concept. Today we present revision -02, addressing the hackathon findings, and the first open-source implementation of message keys and topic names.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26AA2D5F-D741-6D6F-EF24-BE2273804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en-US" sz="1400" smtClean="0"/>
              <a:t>3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86017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6891B-662A-4F2C-DF54-E78083D99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96293-090C-9776-9593-882BE2834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What’s New in Revision -02</a:t>
            </a:r>
            <a:br>
              <a:rPr lang="en-US" sz="3600" dirty="0"/>
            </a:br>
            <a:r>
              <a:rPr lang="en-US" sz="2700" dirty="0">
                <a:solidFill>
                  <a:schemeClr val="bg2">
                    <a:lumMod val="75000"/>
                  </a:schemeClr>
                </a:solidFill>
              </a:rPr>
              <a:t>Major changes since the last presented revision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239C7-8F4E-0634-8F9F-D16A95D3A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515600" cy="4486275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sz="1800" b="1" dirty="0">
                <a:solidFill>
                  <a:srgbClr val="FF0000"/>
                </a:solidFill>
              </a:rPr>
              <a:t>Message Key and Topic Name derivation fully specified </a:t>
            </a:r>
            <a:r>
              <a:rPr lang="en-US" sz="1800" dirty="0"/>
              <a:t>as a three-phase algorithm, addressing the IETF 125 hackathon findings (next slides).</a:t>
            </a:r>
          </a:p>
          <a:p>
            <a:pPr>
              <a:spcBef>
                <a:spcPts val="600"/>
              </a:spcBef>
            </a:pPr>
            <a:r>
              <a:rPr lang="en-US" sz="1800" b="1" dirty="0">
                <a:solidFill>
                  <a:srgbClr val="FF0000"/>
                </a:solidFill>
              </a:rPr>
              <a:t>Message Key format is defined</a:t>
            </a:r>
            <a:endParaRPr lang="en-US" sz="1800" dirty="0"/>
          </a:p>
          <a:p>
            <a:pPr>
              <a:spcBef>
                <a:spcPts val="600"/>
              </a:spcBef>
            </a:pPr>
            <a:r>
              <a:rPr lang="en-US" sz="1800" b="1" dirty="0">
                <a:solidFill>
                  <a:srgbClr val="FF0000"/>
                </a:solidFill>
              </a:rPr>
              <a:t>Terminology refined: </a:t>
            </a:r>
            <a:r>
              <a:rPr lang="en-US" sz="1800" dirty="0"/>
              <a:t>a Subject now corresponds to a unique schema tree within a Schema Registry and identifies Messages within a Topic.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9440010B-7A13-162E-DA83-39AB61390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en-US" sz="1400" smtClean="0"/>
              <a:t>4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04044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6891B-662A-4F2C-DF54-E78083D99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96293-090C-9776-9593-882BE2834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Three-Phase Message Key Algorithm</a:t>
            </a:r>
            <a:br>
              <a:rPr lang="en-US" sz="3600" dirty="0"/>
            </a:br>
            <a:r>
              <a:rPr lang="en-US" sz="2700" dirty="0">
                <a:solidFill>
                  <a:schemeClr val="bg2">
                    <a:lumMod val="75000"/>
                  </a:schemeClr>
                </a:solidFill>
              </a:rPr>
              <a:t>As specified in the draft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239C7-8F4E-0634-8F9F-D16A95D3A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950000"/>
            <a:ext cx="10515600" cy="230000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600" b="1" dirty="0"/>
              <a:t>Message Key = three line-delimited fields: </a:t>
            </a:r>
            <a:r>
              <a:rPr lang="en-US" sz="1600" dirty="0"/>
              <a:t>node name, YANG-Push subscription ID, and the sorted concrete XPath(s):</a:t>
            </a:r>
          </a:p>
          <a:p>
            <a:pPr lvl="1">
              <a:spcBef>
                <a:spcPts val="600"/>
              </a:spcBef>
            </a:pPr>
            <a:r>
              <a:rPr lang="en-US" sz="1500" dirty="0">
                <a:latin typeface="Courier New" panose="02070309020205020404" pitchFamily="49" charset="0"/>
              </a:rPr>
              <a:t>router-01 • 1042 • /ietf-interfaces:interfaces/interface[name='eth0']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 b="1" dirty="0"/>
              <a:t>Deterministic by design: </a:t>
            </a:r>
            <a:r>
              <a:rPr lang="en-US" sz="1600" dirty="0"/>
              <a:t>the same data instance always produces the same key — the basis for partition placement and topic compaction.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 dirty="0"/>
              <a:t>Phases 1 and 2 run once at subscription time; only Phase 3 runs per notification — minimal overhead at delivery.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9440010B-7A13-162E-DA83-39AB61390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en-US" sz="1400" smtClean="0"/>
              <a:t>5</a:t>
            </a:fld>
            <a:endParaRPr lang="en-US" sz="1400" dirty="0"/>
          </a:p>
        </p:txBody>
      </p:sp>
      <p:sp>
        <p:nvSpPr>
          <p:cNvPr id="20" name="Phase1Box"/>
          <p:cNvSpPr/>
          <p:nvPr/>
        </p:nvSpPr>
        <p:spPr>
          <a:xfrm>
            <a:off x="610000" y="1800000"/>
            <a:ext cx="3400000" cy="190000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 w="12700">
            <a:solidFill>
              <a:srgbClr val="7F7F7F"/>
            </a:solidFill>
          </a:ln>
        </p:spPr>
        <p:txBody>
          <a:bodyPr vert="horz" lIns="137160" tIns="91440" rIns="137160" bIns="91440" rtlCol="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500" b="1" dirty="0">
                <a:solidFill>
                  <a:srgbClr val="FF0000"/>
                </a:solidFill>
              </a:rPr>
              <a:t>Phase 1 — Normalize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300" dirty="0"/>
              <a:t>RFC 6241 subtree filter → XPath expression(s).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300" dirty="0"/>
              <a:t>Multiple roots become a union of XPaths.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i="1" dirty="0">
                <a:solidFill>
                  <a:schemeClr val="bg2">
                    <a:lumMod val="75000"/>
                  </a:schemeClr>
                </a:solidFill>
              </a:rPr>
              <a:t>once, at subscription time</a:t>
            </a:r>
          </a:p>
        </p:txBody>
      </p:sp>
      <p:sp>
        <p:nvSpPr>
          <p:cNvPr id="23" name="Arrow23"/>
          <p:cNvSpPr/>
          <p:nvPr/>
        </p:nvSpPr>
        <p:spPr>
          <a:xfrm>
            <a:off x="4030000" y="2500000"/>
            <a:ext cx="400000" cy="2800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Phase2Box"/>
          <p:cNvSpPr/>
          <p:nvPr/>
        </p:nvSpPr>
        <p:spPr>
          <a:xfrm>
            <a:off x="4490000" y="1800000"/>
            <a:ext cx="3400000" cy="190000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 w="12700">
            <a:solidFill>
              <a:srgbClr val="7F7F7F"/>
            </a:solidFill>
          </a:ln>
        </p:spPr>
        <p:txBody>
          <a:bodyPr vert="horz" lIns="137160" tIns="91440" rIns="137160" bIns="91440" rtlCol="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500" b="1" dirty="0">
                <a:solidFill>
                  <a:srgbClr val="FF0000"/>
                </a:solidFill>
              </a:rPr>
              <a:t>Phase 2 — Derive key template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300" dirty="0"/>
              <a:t>XPath + YANG schema → key template with list-key placeholders + extraction paths: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latin typeface="Courier New" panose="02070309020205020404" pitchFamily="49" charset="0"/>
              </a:rPr>
              <a:t>…/interface[name='%s']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i="1" dirty="0">
                <a:solidFill>
                  <a:schemeClr val="bg2">
                    <a:lumMod val="75000"/>
                  </a:schemeClr>
                </a:solidFill>
              </a:rPr>
              <a:t>once, at subscription time</a:t>
            </a:r>
          </a:p>
        </p:txBody>
      </p:sp>
      <p:sp>
        <p:nvSpPr>
          <p:cNvPr id="24" name="Arrow24"/>
          <p:cNvSpPr/>
          <p:nvPr/>
        </p:nvSpPr>
        <p:spPr>
          <a:xfrm>
            <a:off x="7910000" y="2500000"/>
            <a:ext cx="400000" cy="2800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Phase3Box"/>
          <p:cNvSpPr/>
          <p:nvPr/>
        </p:nvSpPr>
        <p:spPr>
          <a:xfrm>
            <a:off x="8370000" y="1800000"/>
            <a:ext cx="3400000" cy="190000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 w="12700">
            <a:solidFill>
              <a:srgbClr val="7F7F7F"/>
            </a:solidFill>
          </a:ln>
        </p:spPr>
        <p:txBody>
          <a:bodyPr vert="horz" lIns="137160" tIns="91440" rIns="137160" bIns="91440" rtlCol="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500" b="1" dirty="0">
                <a:solidFill>
                  <a:srgbClr val="FF0000"/>
                </a:solidFill>
              </a:rPr>
              <a:t>Phase 3 — Produce Message Key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300" dirty="0"/>
              <a:t>Notification data fills the placeholders → concrete Message Key.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latin typeface="Courier New" panose="02070309020205020404" pitchFamily="49" charset="0"/>
              </a:rPr>
              <a:t>…/interface[name='eth0']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i="1" dirty="0">
                <a:solidFill>
                  <a:schemeClr val="bg2">
                    <a:lumMod val="75000"/>
                  </a:schemeClr>
                </a:solidFill>
              </a:rPr>
              <a:t>for every notification</a:t>
            </a:r>
          </a:p>
        </p:txBody>
      </p:sp>
    </p:spTree>
    <p:extLst>
      <p:ext uri="{BB962C8B-B14F-4D97-AF65-F5344CB8AC3E}">
        <p14:creationId xmlns:p14="http://schemas.microsoft.com/office/powerpoint/2010/main" val="2204044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6891B-662A-4F2C-DF54-E78083D99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96293-090C-9776-9593-882BE2834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Topic Name Derivation Algorithm</a:t>
            </a:r>
            <a:br>
              <a:rPr lang="en-US" sz="3600" dirty="0"/>
            </a:br>
            <a:r>
              <a:rPr lang="en-US" sz="2700" dirty="0">
                <a:solidFill>
                  <a:schemeClr val="bg2">
                    <a:lumMod val="75000"/>
                  </a:schemeClr>
                </a:solidFill>
              </a:rPr>
              <a:t>As specified in the draft — schema path to broker-safe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239C7-8F4E-0634-8F9F-D16A95D3A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600" b="1" dirty="0"/>
              <a:t>Derived from the Phase 2 key template — a pure, schema-path-only transformation: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FF0000"/>
                </a:solidFill>
              </a:rPr>
              <a:t>1. Strip predicates </a:t>
            </a:r>
            <a:r>
              <a:rPr lang="en-US" sz="1600" dirty="0"/>
              <a:t>to get the pure schema path: </a:t>
            </a:r>
            <a:r>
              <a:rPr lang="en-US" sz="1500" dirty="0">
                <a:latin typeface="Courier New" panose="02070309020205020404" pitchFamily="49" charset="0"/>
              </a:rPr>
              <a:t>/ietf-interfaces:interfaces/interface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FF0000"/>
                </a:solidFill>
              </a:rPr>
              <a:t>2. Substitute module names </a:t>
            </a:r>
            <a:r>
              <a:rPr lang="en-US" sz="1600" dirty="0"/>
              <a:t>with their YANG prefix statement: </a:t>
            </a:r>
            <a:r>
              <a:rPr lang="en-US" sz="1500" dirty="0">
                <a:latin typeface="Courier New" panose="02070309020205020404" pitchFamily="49" charset="0"/>
              </a:rPr>
              <a:t>ietf-interfaces → if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FF0000"/>
                </a:solidFill>
              </a:rPr>
              <a:t>3. Flatten </a:t>
            </a:r>
            <a:r>
              <a:rPr lang="en-US" sz="1600" dirty="0"/>
              <a:t>— drop the leading '/'; ':' and '/' become '-': </a:t>
            </a:r>
            <a:r>
              <a:rPr lang="en-US" sz="1500" dirty="0">
                <a:latin typeface="Courier New" panose="02070309020205020404" pitchFamily="49" charset="0"/>
              </a:rPr>
              <a:t>if-interfaces-interface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FF0000"/>
                </a:solidFill>
              </a:rPr>
              <a:t>4. Prepend an organization prefix </a:t>
            </a:r>
            <a:r>
              <a:rPr lang="en-US" sz="1600" dirty="0"/>
              <a:t>(optional): </a:t>
            </a:r>
            <a:r>
              <a:rPr lang="en-US" sz="1500" dirty="0">
                <a:latin typeface="Courier New" panose="02070309020205020404" pitchFamily="49" charset="0"/>
              </a:rPr>
              <a:t>netops-if-interfaces-interface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FF0000"/>
                </a:solidFill>
              </a:rPr>
              <a:t>5. Truncate </a:t>
            </a:r>
            <a:r>
              <a:rPr lang="en-US" sz="1600" dirty="0"/>
              <a:t>names exceeding the broker limit (Kafka: 249 chars) at a '-' boundary and append a hash suffix.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1600" b="1" dirty="0"/>
              <a:t>Properties:</a:t>
            </a:r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rgbClr val="FF0000"/>
                </a:solidFill>
              </a:rPr>
              <a:t>Deterministic </a:t>
            </a:r>
            <a:r>
              <a:rPr lang="en-US" sz="1600" dirty="0"/>
              <a:t>— a pure function of the schema path — and </a:t>
            </a:r>
            <a:r>
              <a:rPr lang="en-US" sz="1600" b="1" dirty="0">
                <a:solidFill>
                  <a:srgbClr val="FF0000"/>
                </a:solidFill>
              </a:rPr>
              <a:t>collision-free </a:t>
            </a:r>
            <a:r>
              <a:rPr lang="en-US" sz="1600" dirty="0"/>
              <a:t>— the mapping is injective, no two schema paths share a topic name.</a:t>
            </a:r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rgbClr val="FF0000"/>
                </a:solidFill>
              </a:rPr>
              <a:t>Stable under schema evolution </a:t>
            </a:r>
            <a:r>
              <a:rPr lang="en-US" sz="1600" dirty="0"/>
              <a:t>— augmenting a module adds new topic names but never changes existing ones.</a:t>
            </a:r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rgbClr val="FF0000"/>
                </a:solidFill>
              </a:rPr>
              <a:t>Regex- and wildcard-friendly </a:t>
            </a:r>
            <a:r>
              <a:rPr lang="en-US" sz="1600" dirty="0"/>
              <a:t>— </a:t>
            </a:r>
            <a:r>
              <a:rPr lang="en-US" sz="1500" dirty="0">
                <a:latin typeface="Courier New" panose="02070309020205020404" pitchFamily="49" charset="0"/>
              </a:rPr>
              <a:t>if-interfaces-interface-.*</a:t>
            </a:r>
            <a:r>
              <a:rPr lang="en-US" sz="1600" dirty="0"/>
              <a:t> matches all interface metrics, </a:t>
            </a:r>
            <a:r>
              <a:rPr lang="en-US" sz="1500" dirty="0">
                <a:latin typeface="Courier New" panose="02070309020205020404" pitchFamily="49" charset="0"/>
              </a:rPr>
              <a:t>if-.*</a:t>
            </a:r>
            <a:r>
              <a:rPr lang="en-US" sz="1600" dirty="0"/>
              <a:t> everything from ietf-interfaces — and </a:t>
            </a:r>
            <a:r>
              <a:rPr lang="en-US" sz="1600" b="1" dirty="0">
                <a:solidFill>
                  <a:srgbClr val="FF0000"/>
                </a:solidFill>
              </a:rPr>
              <a:t>human readable</a:t>
            </a:r>
            <a:r>
              <a:rPr lang="en-US" sz="1600" dirty="0"/>
              <a:t>: prefix identifies the module, node names stay unabbreviated.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9440010B-7A13-162E-DA83-39AB61390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en-US" sz="1400" smtClean="0"/>
              <a:t>6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04044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6891B-662A-4F2C-DF54-E78083D99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96293-090C-9776-9593-882BE2834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IETF 125 Hackathon Learnings</a:t>
            </a:r>
            <a:br>
              <a:rPr lang="en-US" sz="3600" dirty="0"/>
            </a:br>
            <a:r>
              <a:rPr lang="en-US" sz="2700" dirty="0">
                <a:solidFill>
                  <a:schemeClr val="bg2">
                    <a:lumMod val="75000"/>
                  </a:schemeClr>
                </a:solidFill>
              </a:rPr>
              <a:t>Issues found in the proof of concept — addressed in -02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239C7-8F4E-0634-8F9F-D16A95D3A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515600" cy="4486275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sz="1600" b="1" dirty="0">
                <a:solidFill>
                  <a:srgbClr val="FF0000"/>
                </a:solidFill>
              </a:rPr>
              <a:t>Topic naming restrictions: </a:t>
            </a:r>
            <a:r>
              <a:rPr lang="en-US" sz="1600" dirty="0"/>
              <a:t>topic derivation now uses YANG module prefixes and '-' separators only — collision-free mapping, length capped with a hash suffix, safe for Kafka (no ':', no '_' and '.' mix).</a:t>
            </a:r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rgbClr val="FF0000"/>
                </a:solidFill>
              </a:rPr>
              <a:t>Subtree filter underspecified: </a:t>
            </a:r>
            <a:r>
              <a:rPr lang="en-US" sz="1600" dirty="0"/>
              <a:t>Phase 1 defines the normalization of subtree filters into XPath; multiple roots become a union of branches.</a:t>
            </a:r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rgbClr val="FF0000"/>
                </a:solidFill>
              </a:rPr>
              <a:t>Message Key format not fully defined: </a:t>
            </a:r>
            <a:r>
              <a:rPr lang="en-US" sz="1600" dirty="0"/>
              <a:t>now explicit — node name, subscription ID and sorted concrete XPaths as line-delimited fields; separator and datastore ambiguities resolved.</a:t>
            </a:r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rgbClr val="FF0000"/>
                </a:solidFill>
              </a:rPr>
              <a:t>Key derivation for lists underspecified: </a:t>
            </a:r>
            <a:r>
              <a:rPr lang="en-US" sz="1600" dirty="0"/>
              <a:t>key templates cover nested lists, composite (multi-key) lists and key value quoting and escaping.</a:t>
            </a:r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rgbClr val="FF0000"/>
                </a:solidFill>
              </a:rPr>
              <a:t>XPath is more expressive than a simple path: </a:t>
            </a:r>
            <a:r>
              <a:rPr lang="en-US" sz="1600" dirty="0"/>
              <a:t>defined handling for union expressions, positional predicates and predicates on non-key leaves.</a:t>
            </a:r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rgbClr val="FF0000"/>
                </a:solidFill>
              </a:rPr>
              <a:t>Module revisions, features and prefixes: </a:t>
            </a:r>
            <a:r>
              <a:rPr lang="en-US" sz="1600" dirty="0"/>
              <a:t>the schema context is loaded from the YANG Library (RFC 8525), including module revisions and features; topic names use the module’s own prefix statement.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sz="1400" i="1" dirty="0">
                <a:solidFill>
                  <a:schemeClr val="bg2">
                    <a:lumMod val="75000"/>
                  </a:schemeClr>
                </a:solidFill>
              </a:rPr>
              <a:t>Thanks to the hackathon team: Thomas Graf, Wanting Du, Maxence Younsi and Pierre Francois.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9440010B-7A13-162E-DA83-39AB61390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en-US" sz="1400" smtClean="0"/>
              <a:t>7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04044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6891B-662A-4F2C-DF54-E78083D99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96293-090C-9776-9593-882BE2834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First Implementation: yang-push-key</a:t>
            </a:r>
            <a:br>
              <a:rPr lang="en-US" sz="3600" dirty="0"/>
            </a:br>
            <a:r>
              <a:rPr lang="en-US" sz="2700" dirty="0">
                <a:solidFill>
                  <a:schemeClr val="bg2">
                    <a:lumMod val="75000"/>
                  </a:schemeClr>
                </a:solidFill>
              </a:rPr>
              <a:t>github.com/ahassany/yang-push-key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239C7-8F4E-0634-8F9F-D16A95D3A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700" b="1" dirty="0">
                <a:solidFill>
                  <a:srgbClr val="FF0000"/>
                </a:solidFill>
              </a:rPr>
              <a:t>Implements the Message Key and Topic Name algorithms as specified in the draft. </a:t>
            </a:r>
            <a:r>
              <a:rPr lang="en-US" sz="1700" dirty="0"/>
              <a:t>Open-source Rust library and CLI (Apache 2.0), YANG schema aware through libyang. See: </a:t>
            </a:r>
            <a:r>
              <a:rPr lang="en-US" sz="1700" dirty="0">
                <a:hlinkClick r:id="rId2"/>
              </a:rPr>
              <a:t>github.com/ahassany/yang-push-key</a:t>
            </a:r>
          </a:p>
          <a:p>
            <a:pPr>
              <a:spcBef>
                <a:spcPts val="600"/>
              </a:spcBef>
            </a:pPr>
            <a:r>
              <a:rPr lang="en-US" sz="1700" dirty="0"/>
              <a:t>The CLI mirrors the draft’s phases — </a:t>
            </a:r>
            <a:r>
              <a:rPr lang="en-US" sz="1500" dirty="0">
                <a:latin typeface="Courier New" panose="02070309020205020404" pitchFamily="49" charset="0"/>
              </a:rPr>
              <a:t>phase1</a:t>
            </a:r>
            <a:r>
              <a:rPr lang="en-US" sz="1700" dirty="0"/>
              <a:t>, </a:t>
            </a:r>
            <a:r>
              <a:rPr lang="en-US" sz="1500" dirty="0">
                <a:latin typeface="Courier New" panose="02070309020205020404" pitchFamily="49" charset="0"/>
              </a:rPr>
              <a:t>phase2</a:t>
            </a:r>
            <a:r>
              <a:rPr lang="en-US" sz="1700" dirty="0"/>
              <a:t>, </a:t>
            </a:r>
            <a:r>
              <a:rPr lang="en-US" sz="1500" dirty="0">
                <a:latin typeface="Courier New" panose="02070309020205020404" pitchFamily="49" charset="0"/>
              </a:rPr>
              <a:t>phase3</a:t>
            </a:r>
            <a:r>
              <a:rPr lang="en-US" sz="1700" dirty="0"/>
              <a:t>, </a:t>
            </a:r>
            <a:r>
              <a:rPr lang="en-US" sz="1500" dirty="0">
                <a:latin typeface="Courier New" panose="02070309020205020404" pitchFamily="49" charset="0"/>
              </a:rPr>
              <a:t>pipeline</a:t>
            </a:r>
            <a:r>
              <a:rPr lang="en-US" sz="1700" dirty="0"/>
              <a:t> and </a:t>
            </a:r>
            <a:r>
              <a:rPr lang="en-US" sz="1500" dirty="0">
                <a:latin typeface="Courier New" panose="02070309020205020404" pitchFamily="49" charset="0"/>
              </a:rPr>
              <a:t>topic</a:t>
            </a:r>
            <a:r>
              <a:rPr lang="en-US" sz="1700" dirty="0"/>
              <a:t> — so each step of the specification can be validated and debugged independently.</a:t>
            </a:r>
          </a:p>
          <a:p>
            <a:pPr>
              <a:spcBef>
                <a:spcPts val="600"/>
              </a:spcBef>
            </a:pPr>
            <a:r>
              <a:rPr lang="en-US" sz="1700" dirty="0"/>
              <a:t>Schema context from individual YANG modules or an RFC 8525 YANG Library, including features.</a:t>
            </a:r>
          </a:p>
          <a:p>
            <a:pPr>
              <a:spcBef>
                <a:spcPts val="600"/>
              </a:spcBef>
            </a:pPr>
            <a:r>
              <a:rPr lang="en-US" sz="1700" dirty="0"/>
              <a:t>Example: </a:t>
            </a:r>
            <a:r>
              <a:rPr lang="en-US" sz="1500" dirty="0">
                <a:latin typeface="Courier New" panose="02070309020205020404" pitchFamily="49" charset="0"/>
              </a:rPr>
              <a:t>topic /ietf-interfaces:interfaces/interface</a:t>
            </a:r>
            <a:r>
              <a:rPr lang="en-US" sz="1700" dirty="0"/>
              <a:t> ⇒ </a:t>
            </a:r>
            <a:r>
              <a:rPr lang="en-US" sz="1500" dirty="0">
                <a:latin typeface="Courier New" panose="02070309020205020404" pitchFamily="49" charset="0"/>
              </a:rPr>
              <a:t>netops-if-interfaces-interface</a:t>
            </a:r>
          </a:p>
          <a:p>
            <a:pPr>
              <a:spcBef>
                <a:spcPts val="600"/>
              </a:spcBef>
            </a:pPr>
            <a:r>
              <a:rPr lang="en-US" sz="1700" dirty="0"/>
              <a:t>Covers composite keys, nested lists, leaf-lists, positional predicates and quoting edge cases — validated by 116 tests.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sz="1700" b="1" dirty="0">
                <a:solidFill>
                  <a:srgbClr val="FF0000"/>
                </a:solidFill>
              </a:rPr>
              <a:t>Feedback and additional implementations welcome!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9440010B-7A13-162E-DA83-39AB61390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en-US" sz="1400" smtClean="0"/>
              <a:t>8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04044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30A70-FC9F-6E89-ADE8-150C7C6DA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520E1-A4E0-F3CA-29AD-D2D9ADADB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Status and Next Steps</a:t>
            </a:r>
            <a:br>
              <a:rPr lang="en-US" sz="3600" dirty="0"/>
            </a:br>
            <a:r>
              <a:rPr lang="en-US" sz="2700" dirty="0">
                <a:solidFill>
                  <a:schemeClr val="bg2">
                    <a:lumMod val="75000"/>
                  </a:schemeClr>
                </a:solidFill>
              </a:rPr>
              <a:t>Revision -02, First Implementation,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36F6F-A76C-ACD7-BA9E-6565DCCE9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8748254" cy="4486275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800" b="1" dirty="0"/>
              <a:t>Status</a:t>
            </a:r>
          </a:p>
          <a:p>
            <a:pPr>
              <a:spcBef>
                <a:spcPts val="600"/>
              </a:spcBef>
            </a:pPr>
            <a:r>
              <a:rPr lang="en-US" sz="1800" b="1" dirty="0">
                <a:solidFill>
                  <a:srgbClr val="FF0000"/>
                </a:solidFill>
              </a:rPr>
              <a:t>Revision -02 posted. </a:t>
            </a:r>
            <a:r>
              <a:rPr lang="en-US" sz="1800" dirty="0"/>
              <a:t>It fully specifies the Message Key and Topic Name derivation, addressing the IETF 125 hackathon findings, and promotes the telemetry message and notification envelope drafts to normative references.</a:t>
            </a:r>
          </a:p>
          <a:p>
            <a:pPr>
              <a:spcBef>
                <a:spcPts val="600"/>
              </a:spcBef>
            </a:pPr>
            <a:r>
              <a:rPr lang="en-US" sz="1800" b="1" dirty="0">
                <a:solidFill>
                  <a:srgbClr val="FF0000"/>
                </a:solidFill>
              </a:rPr>
              <a:t>First open-source implementation available: </a:t>
            </a:r>
            <a:r>
              <a:rPr lang="en-US" sz="1800" dirty="0">
                <a:hlinkClick r:id="rId2"/>
              </a:rPr>
              <a:t>github.com/ahassany/yang-push-key</a:t>
            </a:r>
            <a:r>
              <a:rPr lang="en-US" sz="1800" dirty="0"/>
              <a:t> validates the Message Key and Topic Name algorithms end to end against real YANG schemas and notifications.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800" b="1" dirty="0"/>
              <a:t>Next Steps</a:t>
            </a:r>
          </a:p>
          <a:p>
            <a:pPr>
              <a:spcBef>
                <a:spcPts val="600"/>
              </a:spcBef>
            </a:pPr>
            <a:r>
              <a:rPr lang="en-US" sz="1800" b="1" dirty="0">
                <a:solidFill>
                  <a:srgbClr val="FF0000"/>
                </a:solidFill>
              </a:rPr>
              <a:t>NetGauze® integration. </a:t>
            </a:r>
            <a:r>
              <a:rPr lang="en-US" sz="1800" dirty="0"/>
              <a:t>Integrate the open-source implementation library in NetGauze YANG-Push collector and test the full chain.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B9866352-2EDF-D4FC-27E7-72035010F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en-US" sz="1400" smtClean="0"/>
              <a:t>9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05081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2e1fccfb-80ca-4fe1-a574-1516544edb53}" enabled="1" method="Standard" siteId="{364e5b87-c1c7-420d-9bee-c35d19b557a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2286</TotalTime>
  <Words>1232</Words>
  <Application>Microsoft Macintosh PowerPoint</Application>
  <PresentationFormat>Widescreen</PresentationFormat>
  <Paragraphs>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Office Theme</vt:lpstr>
      <vt:lpstr>PowerPoint Presentation</vt:lpstr>
      <vt:lpstr>We aim for a fully YANG aware Data Pipeline From network nodes to message broker nodes</vt:lpstr>
      <vt:lpstr>Message Broker Integration Document Relationships</vt:lpstr>
      <vt:lpstr>What’s New in Revision -02 Major changes since the last presented revision</vt:lpstr>
      <vt:lpstr>Three-Phase Message Key Algorithm As specified in the draft</vt:lpstr>
      <vt:lpstr>Topic Name Derivation Algorithm As specified in the draft — schema path to broker-safe name</vt:lpstr>
      <vt:lpstr>IETF 125 Hackathon Learnings Issues found in the proof of concept — addressed in -02</vt:lpstr>
      <vt:lpstr>First Implementation: yang-push-key github.com/ahassany/yang-push-key</vt:lpstr>
      <vt:lpstr>Status and Next Steps Revision -02, First Implementation, 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 Präsentation</dc:title>
  <dc:creator>Graf Thomas, INI-ONE-WSN-DCF</dc:creator>
  <cp:lastModifiedBy>Elhassany Ahmed, SCS-INI-NET-VNC-E2E</cp:lastModifiedBy>
  <cp:revision>275</cp:revision>
  <dcterms:created xsi:type="dcterms:W3CDTF">2019-11-29T14:22:02Z</dcterms:created>
  <dcterms:modified xsi:type="dcterms:W3CDTF">2026-07-18T08:33:28Z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e1fccfb-80ca-4fe1-a574-1516544edb53_Enabled">
    <vt:lpwstr>true</vt:lpwstr>
  </property>
  <property fmtid="{D5CDD505-2E9C-101B-9397-08002B2CF9AE}" pid="3" name="MSIP_Label_2e1fccfb-80ca-4fe1-a574-1516544edb53_SetDate">
    <vt:lpwstr>2023-03-20T10:46:29Z</vt:lpwstr>
  </property>
  <property fmtid="{D5CDD505-2E9C-101B-9397-08002B2CF9AE}" pid="4" name="MSIP_Label_2e1fccfb-80ca-4fe1-a574-1516544edb53_Method">
    <vt:lpwstr>Standard</vt:lpwstr>
  </property>
  <property fmtid="{D5CDD505-2E9C-101B-9397-08002B2CF9AE}" pid="5" name="MSIP_Label_2e1fccfb-80ca-4fe1-a574-1516544edb53_Name">
    <vt:lpwstr>C2 Internal</vt:lpwstr>
  </property>
  <property fmtid="{D5CDD505-2E9C-101B-9397-08002B2CF9AE}" pid="6" name="MSIP_Label_2e1fccfb-80ca-4fe1-a574-1516544edb53_SiteId">
    <vt:lpwstr>364e5b87-c1c7-420d-9bee-c35d19b557a1</vt:lpwstr>
  </property>
  <property fmtid="{D5CDD505-2E9C-101B-9397-08002B2CF9AE}" pid="7" name="MSIP_Label_2e1fccfb-80ca-4fe1-a574-1516544edb53_ActionId">
    <vt:lpwstr>f20e7325-fc30-45a7-a02f-991797c0d813</vt:lpwstr>
  </property>
  <property fmtid="{D5CDD505-2E9C-101B-9397-08002B2CF9AE}" pid="8" name="MSIP_Label_2e1fccfb-80ca-4fe1-a574-1516544edb53_ContentBits">
    <vt:lpwstr>0</vt:lpwstr>
  </property>
  <property fmtid="{D5CDD505-2E9C-101B-9397-08002B2CF9AE}" pid="9" name="Sensitivity">
    <vt:lpwstr>C2 General</vt:lpwstr>
  </property>
</Properties>
</file>